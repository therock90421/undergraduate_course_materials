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7"/>
  </p:notesMasterIdLst>
  <p:handoutMasterIdLst>
    <p:handoutMasterId r:id="rId58"/>
  </p:handoutMasterIdLst>
  <p:sldIdLst>
    <p:sldId id="256" r:id="rId2"/>
    <p:sldId id="292" r:id="rId3"/>
    <p:sldId id="294" r:id="rId4"/>
    <p:sldId id="432" r:id="rId5"/>
    <p:sldId id="295" r:id="rId6"/>
    <p:sldId id="430" r:id="rId7"/>
    <p:sldId id="299" r:id="rId8"/>
    <p:sldId id="435" r:id="rId9"/>
    <p:sldId id="301" r:id="rId10"/>
    <p:sldId id="303" r:id="rId11"/>
    <p:sldId id="436" r:id="rId12"/>
    <p:sldId id="304" r:id="rId13"/>
    <p:sldId id="305" r:id="rId14"/>
    <p:sldId id="306" r:id="rId15"/>
    <p:sldId id="307" r:id="rId16"/>
    <p:sldId id="308" r:id="rId17"/>
    <p:sldId id="462" r:id="rId18"/>
    <p:sldId id="310" r:id="rId19"/>
    <p:sldId id="474" r:id="rId20"/>
    <p:sldId id="467" r:id="rId21"/>
    <p:sldId id="316" r:id="rId22"/>
    <p:sldId id="442" r:id="rId23"/>
    <p:sldId id="469" r:id="rId24"/>
    <p:sldId id="458" r:id="rId25"/>
    <p:sldId id="459" r:id="rId26"/>
    <p:sldId id="460" r:id="rId27"/>
    <p:sldId id="461" r:id="rId28"/>
    <p:sldId id="320" r:id="rId29"/>
    <p:sldId id="470" r:id="rId30"/>
    <p:sldId id="471" r:id="rId31"/>
    <p:sldId id="472" r:id="rId32"/>
    <p:sldId id="478" r:id="rId33"/>
    <p:sldId id="473" r:id="rId34"/>
    <p:sldId id="479" r:id="rId35"/>
    <p:sldId id="484" r:id="rId36"/>
    <p:sldId id="431" r:id="rId37"/>
    <p:sldId id="448" r:id="rId38"/>
    <p:sldId id="321" r:id="rId39"/>
    <p:sldId id="476" r:id="rId40"/>
    <p:sldId id="481" r:id="rId41"/>
    <p:sldId id="324" r:id="rId42"/>
    <p:sldId id="483" r:id="rId43"/>
    <p:sldId id="326" r:id="rId44"/>
    <p:sldId id="325" r:id="rId45"/>
    <p:sldId id="328" r:id="rId46"/>
    <p:sldId id="477" r:id="rId47"/>
    <p:sldId id="331" r:id="rId48"/>
    <p:sldId id="485" r:id="rId49"/>
    <p:sldId id="449" r:id="rId50"/>
    <p:sldId id="450" r:id="rId51"/>
    <p:sldId id="332" r:id="rId52"/>
    <p:sldId id="452" r:id="rId53"/>
    <p:sldId id="451" r:id="rId54"/>
    <p:sldId id="453" r:id="rId55"/>
    <p:sldId id="455" r:id="rId56"/>
  </p:sldIdLst>
  <p:sldSz cx="9144000" cy="6858000" type="screen4x3"/>
  <p:notesSz cx="9874250" cy="679767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CC"/>
    <a:srgbClr val="0000FF"/>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72" autoAdjust="0"/>
    <p:restoredTop sz="67518" autoAdjust="0"/>
  </p:normalViewPr>
  <p:slideViewPr>
    <p:cSldViewPr>
      <p:cViewPr varScale="1">
        <p:scale>
          <a:sx n="98" d="100"/>
          <a:sy n="98" d="100"/>
        </p:scale>
        <p:origin x="54" y="156"/>
      </p:cViewPr>
      <p:guideLst>
        <p:guide orient="horz" pos="2160"/>
        <p:guide pos="2880"/>
      </p:guideLst>
    </p:cSldViewPr>
  </p:slideViewPr>
  <p:notesTextViewPr>
    <p:cViewPr>
      <p:scale>
        <a:sx n="100" d="100"/>
        <a:sy n="100" d="100"/>
      </p:scale>
      <p:origin x="0" y="0"/>
    </p:cViewPr>
  </p:notesTextViewPr>
  <p:sorterViewPr>
    <p:cViewPr>
      <p:scale>
        <a:sx n="58" d="100"/>
        <a:sy n="58" d="100"/>
      </p:scale>
      <p:origin x="0" y="-469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278842" cy="339884"/>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sz="quarter" idx="1"/>
          </p:nvPr>
        </p:nvSpPr>
        <p:spPr>
          <a:xfrm>
            <a:off x="5593123" y="0"/>
            <a:ext cx="4278842" cy="339884"/>
          </a:xfrm>
          <a:prstGeom prst="rect">
            <a:avLst/>
          </a:prstGeom>
        </p:spPr>
        <p:txBody>
          <a:bodyPr vert="horz" lIns="91440" tIns="45720" rIns="91440" bIns="45720" rtlCol="0"/>
          <a:lstStyle>
            <a:lvl1pPr algn="r">
              <a:defRPr sz="1200"/>
            </a:lvl1pPr>
          </a:lstStyle>
          <a:p>
            <a:fld id="{3CFB2F0E-1649-4FDB-9622-A4547210FD41}" type="datetimeFigureOut">
              <a:rPr lang="en-US" smtClean="0"/>
              <a:t>5/24/2019</a:t>
            </a:fld>
            <a:endParaRPr lang="en-US"/>
          </a:p>
        </p:txBody>
      </p:sp>
      <p:sp>
        <p:nvSpPr>
          <p:cNvPr id="4" name="页脚占位符 3"/>
          <p:cNvSpPr>
            <a:spLocks noGrp="1"/>
          </p:cNvSpPr>
          <p:nvPr>
            <p:ph type="ftr" sz="quarter" idx="2"/>
          </p:nvPr>
        </p:nvSpPr>
        <p:spPr>
          <a:xfrm>
            <a:off x="0" y="6456612"/>
            <a:ext cx="4278842" cy="339884"/>
          </a:xfrm>
          <a:prstGeom prst="rect">
            <a:avLst/>
          </a:prstGeom>
        </p:spPr>
        <p:txBody>
          <a:bodyPr vert="horz" lIns="91440" tIns="45720" rIns="91440" bIns="45720" rtlCol="0" anchor="b"/>
          <a:lstStyle>
            <a:lvl1pPr algn="l">
              <a:defRPr sz="1200"/>
            </a:lvl1pPr>
          </a:lstStyle>
          <a:p>
            <a:endParaRPr lang="en-US"/>
          </a:p>
        </p:txBody>
      </p:sp>
      <p:sp>
        <p:nvSpPr>
          <p:cNvPr id="5" name="灯片编号占位符 4"/>
          <p:cNvSpPr>
            <a:spLocks noGrp="1"/>
          </p:cNvSpPr>
          <p:nvPr>
            <p:ph type="sldNum" sz="quarter" idx="3"/>
          </p:nvPr>
        </p:nvSpPr>
        <p:spPr>
          <a:xfrm>
            <a:off x="5593123" y="6456612"/>
            <a:ext cx="4278842" cy="339884"/>
          </a:xfrm>
          <a:prstGeom prst="rect">
            <a:avLst/>
          </a:prstGeom>
        </p:spPr>
        <p:txBody>
          <a:bodyPr vert="horz" lIns="91440" tIns="45720" rIns="91440" bIns="45720" rtlCol="0" anchor="b"/>
          <a:lstStyle>
            <a:lvl1pPr algn="r">
              <a:defRPr sz="1200"/>
            </a:lvl1pPr>
          </a:lstStyle>
          <a:p>
            <a:fld id="{CF3205BD-19C3-4645-B041-0D369F844E4B}" type="slidenum">
              <a:rPr lang="en-US" smtClean="0"/>
              <a:t>‹#›</a:t>
            </a:fld>
            <a:endParaRPr lang="en-US"/>
          </a:p>
        </p:txBody>
      </p:sp>
    </p:spTree>
    <p:extLst>
      <p:ext uri="{BB962C8B-B14F-4D97-AF65-F5344CB8AC3E}">
        <p14:creationId xmlns:p14="http://schemas.microsoft.com/office/powerpoint/2010/main" val="41733527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278842" cy="339884"/>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5593123" y="0"/>
            <a:ext cx="4278842" cy="339884"/>
          </a:xfrm>
          <a:prstGeom prst="rect">
            <a:avLst/>
          </a:prstGeom>
        </p:spPr>
        <p:txBody>
          <a:bodyPr vert="horz" lIns="91440" tIns="45720" rIns="91440" bIns="45720" rtlCol="0"/>
          <a:lstStyle>
            <a:lvl1pPr algn="r">
              <a:defRPr sz="1200"/>
            </a:lvl1pPr>
          </a:lstStyle>
          <a:p>
            <a:fld id="{2F349429-7AEC-40B9-B018-84F7C02F90AD}" type="datetimeFigureOut">
              <a:rPr lang="en-US" smtClean="0"/>
              <a:t>5/24/2019</a:t>
            </a:fld>
            <a:endParaRPr lang="en-US"/>
          </a:p>
        </p:txBody>
      </p:sp>
      <p:sp>
        <p:nvSpPr>
          <p:cNvPr id="4" name="幻灯片图像占位符 3"/>
          <p:cNvSpPr>
            <a:spLocks noGrp="1" noRot="1" noChangeAspect="1"/>
          </p:cNvSpPr>
          <p:nvPr>
            <p:ph type="sldImg" idx="2"/>
          </p:nvPr>
        </p:nvSpPr>
        <p:spPr>
          <a:xfrm>
            <a:off x="3236913" y="509588"/>
            <a:ext cx="3400425" cy="2549525"/>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987425" y="3228895"/>
            <a:ext cx="7899400" cy="3058954"/>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页脚占位符 5"/>
          <p:cNvSpPr>
            <a:spLocks noGrp="1"/>
          </p:cNvSpPr>
          <p:nvPr>
            <p:ph type="ftr" sz="quarter" idx="4"/>
          </p:nvPr>
        </p:nvSpPr>
        <p:spPr>
          <a:xfrm>
            <a:off x="0" y="6456612"/>
            <a:ext cx="4278842" cy="339884"/>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5593123" y="6456612"/>
            <a:ext cx="4278842" cy="339884"/>
          </a:xfrm>
          <a:prstGeom prst="rect">
            <a:avLst/>
          </a:prstGeom>
        </p:spPr>
        <p:txBody>
          <a:bodyPr vert="horz" lIns="91440" tIns="45720" rIns="91440" bIns="45720" rtlCol="0" anchor="b"/>
          <a:lstStyle>
            <a:lvl1pPr algn="r">
              <a:defRPr sz="1200"/>
            </a:lvl1pPr>
          </a:lstStyle>
          <a:p>
            <a:fld id="{A2A1643A-76C6-4418-8C90-D4A34E557575}" type="slidenum">
              <a:rPr lang="en-US" smtClean="0"/>
              <a:t>‹#›</a:t>
            </a:fld>
            <a:endParaRPr lang="en-US"/>
          </a:p>
        </p:txBody>
      </p:sp>
    </p:spTree>
    <p:extLst>
      <p:ext uri="{BB962C8B-B14F-4D97-AF65-F5344CB8AC3E}">
        <p14:creationId xmlns:p14="http://schemas.microsoft.com/office/powerpoint/2010/main" val="3499690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A1643A-76C6-4418-8C90-D4A34E557575}" type="slidenum">
              <a:rPr lang="en-US" smtClean="0"/>
              <a:t>1</a:t>
            </a:fld>
            <a:endParaRPr lang="en-US"/>
          </a:p>
        </p:txBody>
      </p:sp>
    </p:spTree>
    <p:extLst>
      <p:ext uri="{BB962C8B-B14F-4D97-AF65-F5344CB8AC3E}">
        <p14:creationId xmlns:p14="http://schemas.microsoft.com/office/powerpoint/2010/main" val="42018742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A1643A-76C6-4418-8C90-D4A34E557575}" type="slidenum">
              <a:rPr lang="en-US" smtClean="0"/>
              <a:t>2</a:t>
            </a:fld>
            <a:endParaRPr lang="en-US"/>
          </a:p>
        </p:txBody>
      </p:sp>
    </p:spTree>
    <p:extLst>
      <p:ext uri="{BB962C8B-B14F-4D97-AF65-F5344CB8AC3E}">
        <p14:creationId xmlns:p14="http://schemas.microsoft.com/office/powerpoint/2010/main" val="38766725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A2A1643A-76C6-4418-8C90-D4A34E557575}" type="slidenum">
              <a:rPr lang="en-US" smtClean="0"/>
              <a:t>3</a:t>
            </a:fld>
            <a:endParaRPr lang="en-US"/>
          </a:p>
        </p:txBody>
      </p:sp>
    </p:spTree>
    <p:extLst>
      <p:ext uri="{BB962C8B-B14F-4D97-AF65-F5344CB8AC3E}">
        <p14:creationId xmlns:p14="http://schemas.microsoft.com/office/powerpoint/2010/main" val="11156323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Arial" pitchFamily="34" charset="0"/>
              <a:buNone/>
            </a:pPr>
            <a:r>
              <a:rPr lang="en-US" altLang="en-US"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en-US" dirty="0" err="1">
                <a:latin typeface="Times New Roman" panose="02020603050405020304" pitchFamily="18" charset="0"/>
                <a:ea typeface="华文楷体" panose="02010600040101010101" pitchFamily="2" charset="-122"/>
                <a:cs typeface="Times New Roman" panose="02020603050405020304" pitchFamily="18" charset="0"/>
              </a:rPr>
              <a:t>对数值型关键字</a:t>
            </a:r>
            <a:r>
              <a:rPr lang="en-US" altLang="en-US" dirty="0">
                <a:latin typeface="Times New Roman" panose="02020603050405020304" pitchFamily="18" charset="0"/>
                <a:ea typeface="华文楷体" panose="02010600040101010101" pitchFamily="2" charset="-122"/>
                <a:cs typeface="Times New Roman" panose="02020603050405020304" pitchFamily="18" charset="0"/>
              </a:rPr>
              <a:t> </a:t>
            </a:r>
          </a:p>
          <a:p>
            <a:pPr marL="400050" lvl="1" indent="0">
              <a:buFont typeface="Arial" pitchFamily="34" charset="0"/>
              <a:buNone/>
            </a:pPr>
            <a:r>
              <a:rPr lang="en-US" altLang="en-US" sz="3200" dirty="0">
                <a:latin typeface="Times New Roman" panose="02020603050405020304" pitchFamily="18" charset="0"/>
                <a:ea typeface="华文楷体" panose="02010600040101010101" pitchFamily="2" charset="-122"/>
                <a:cs typeface="Times New Roman" panose="02020603050405020304" pitchFamily="18" charset="0"/>
              </a:rPr>
              <a:t>#define  EQ(a, b)   ((a)==(b))</a:t>
            </a:r>
          </a:p>
          <a:p>
            <a:pPr marL="400050" lvl="1" indent="0">
              <a:buFont typeface="Arial" pitchFamily="34" charset="0"/>
              <a:buNone/>
            </a:pPr>
            <a:r>
              <a:rPr lang="en-US" altLang="en-US" sz="3200" dirty="0">
                <a:latin typeface="Times New Roman" panose="02020603050405020304" pitchFamily="18" charset="0"/>
                <a:ea typeface="华文楷体" panose="02010600040101010101" pitchFamily="2" charset="-122"/>
                <a:cs typeface="Times New Roman" panose="02020603050405020304" pitchFamily="18" charset="0"/>
              </a:rPr>
              <a:t>#define  LT(a, b)    ((a)&lt;(b))</a:t>
            </a:r>
          </a:p>
          <a:p>
            <a:pPr marL="400050" lvl="1" indent="0">
              <a:buFont typeface="Arial" pitchFamily="34" charset="0"/>
              <a:buNone/>
            </a:pPr>
            <a:r>
              <a:rPr lang="en-US" altLang="en-US" sz="3200" dirty="0">
                <a:latin typeface="Times New Roman" panose="02020603050405020304" pitchFamily="18" charset="0"/>
                <a:ea typeface="华文楷体" panose="02010600040101010101" pitchFamily="2" charset="-122"/>
                <a:cs typeface="Times New Roman" panose="02020603050405020304" pitchFamily="18" charset="0"/>
              </a:rPr>
              <a:t>#define  LQ(a, b)   ((a)&lt;=(b))</a:t>
            </a:r>
          </a:p>
          <a:p>
            <a:endParaRPr lang="en-US" dirty="0"/>
          </a:p>
          <a:p>
            <a:pPr marL="0" indent="0">
              <a:buFont typeface="Arial" pitchFamily="34" charset="0"/>
              <a:buNone/>
            </a:pPr>
            <a:r>
              <a:rPr lang="en-US" altLang="en-US"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en-US" dirty="0" err="1">
                <a:latin typeface="Times New Roman" panose="02020603050405020304" pitchFamily="18" charset="0"/>
                <a:ea typeface="华文楷体" panose="02010600040101010101" pitchFamily="2" charset="-122"/>
                <a:cs typeface="Times New Roman" panose="02020603050405020304" pitchFamily="18" charset="0"/>
              </a:rPr>
              <a:t>对字符串型关键字</a:t>
            </a:r>
            <a:endParaRPr lang="en-US" altLang="en-US" dirty="0">
              <a:latin typeface="Times New Roman" panose="02020603050405020304" pitchFamily="18" charset="0"/>
              <a:ea typeface="华文楷体" panose="02010600040101010101" pitchFamily="2" charset="-122"/>
              <a:cs typeface="Times New Roman" panose="02020603050405020304" pitchFamily="18" charset="0"/>
            </a:endParaRPr>
          </a:p>
          <a:p>
            <a:pPr marL="400050" lvl="1" indent="0">
              <a:buFont typeface="Arial" pitchFamily="34" charset="0"/>
              <a:buNone/>
            </a:pPr>
            <a:r>
              <a:rPr lang="en-US" altLang="en-US" sz="3200" dirty="0">
                <a:latin typeface="Times New Roman" panose="02020603050405020304" pitchFamily="18" charset="0"/>
                <a:ea typeface="华文楷体" panose="02010600040101010101" pitchFamily="2" charset="-122"/>
                <a:cs typeface="Times New Roman" panose="02020603050405020304" pitchFamily="18" charset="0"/>
              </a:rPr>
              <a:t>#define  EQ(a, b)   (!</a:t>
            </a:r>
            <a:r>
              <a:rPr lang="en-US" altLang="en-US" sz="3200" dirty="0" err="1">
                <a:latin typeface="Times New Roman" panose="02020603050405020304" pitchFamily="18" charset="0"/>
                <a:ea typeface="华文楷体" panose="02010600040101010101" pitchFamily="2" charset="-122"/>
                <a:cs typeface="Times New Roman" panose="02020603050405020304" pitchFamily="18" charset="0"/>
              </a:rPr>
              <a:t>strcmp</a:t>
            </a:r>
            <a:r>
              <a:rPr lang="en-US" altLang="en-US" sz="3200" dirty="0">
                <a:latin typeface="Times New Roman" panose="02020603050405020304" pitchFamily="18" charset="0"/>
                <a:ea typeface="华文楷体" panose="02010600040101010101" pitchFamily="2" charset="-122"/>
                <a:cs typeface="Times New Roman" panose="02020603050405020304" pitchFamily="18" charset="0"/>
              </a:rPr>
              <a:t>((a), (b)) )</a:t>
            </a:r>
          </a:p>
          <a:p>
            <a:pPr marL="400050" lvl="1" indent="0">
              <a:buFont typeface="Arial" pitchFamily="34" charset="0"/>
              <a:buNone/>
            </a:pPr>
            <a:r>
              <a:rPr lang="en-US" altLang="en-US" sz="3200" dirty="0">
                <a:latin typeface="Times New Roman" panose="02020603050405020304" pitchFamily="18" charset="0"/>
                <a:ea typeface="华文楷体" panose="02010600040101010101" pitchFamily="2" charset="-122"/>
                <a:cs typeface="Times New Roman" panose="02020603050405020304" pitchFamily="18" charset="0"/>
              </a:rPr>
              <a:t>#define  LT(a, b)    (</a:t>
            </a:r>
            <a:r>
              <a:rPr lang="en-US" altLang="en-US" sz="3200" dirty="0" err="1">
                <a:latin typeface="Times New Roman" panose="02020603050405020304" pitchFamily="18" charset="0"/>
                <a:ea typeface="华文楷体" panose="02010600040101010101" pitchFamily="2" charset="-122"/>
                <a:cs typeface="Times New Roman" panose="02020603050405020304" pitchFamily="18" charset="0"/>
              </a:rPr>
              <a:t>strcmp</a:t>
            </a:r>
            <a:r>
              <a:rPr lang="en-US" altLang="en-US" sz="3200" dirty="0">
                <a:latin typeface="Times New Roman" panose="02020603050405020304" pitchFamily="18" charset="0"/>
                <a:ea typeface="华文楷体" panose="02010600040101010101" pitchFamily="2" charset="-122"/>
                <a:cs typeface="Times New Roman" panose="02020603050405020304" pitchFamily="18" charset="0"/>
              </a:rPr>
              <a:t>((a), (b))&lt;0 )</a:t>
            </a:r>
          </a:p>
          <a:p>
            <a:pPr marL="400050" lvl="1" indent="0">
              <a:buFont typeface="Arial" pitchFamily="34" charset="0"/>
              <a:buNone/>
            </a:pPr>
            <a:r>
              <a:rPr lang="en-US" altLang="en-US" sz="3200" dirty="0">
                <a:latin typeface="Times New Roman" panose="02020603050405020304" pitchFamily="18" charset="0"/>
                <a:ea typeface="华文楷体" panose="02010600040101010101" pitchFamily="2" charset="-122"/>
                <a:cs typeface="Times New Roman" panose="02020603050405020304" pitchFamily="18" charset="0"/>
              </a:rPr>
              <a:t>#define  LQ(a, b)   (</a:t>
            </a:r>
            <a:r>
              <a:rPr lang="en-US" altLang="en-US" sz="3200" dirty="0" err="1">
                <a:latin typeface="Times New Roman" panose="02020603050405020304" pitchFamily="18" charset="0"/>
                <a:ea typeface="华文楷体" panose="02010600040101010101" pitchFamily="2" charset="-122"/>
                <a:cs typeface="Times New Roman" panose="02020603050405020304" pitchFamily="18" charset="0"/>
              </a:rPr>
              <a:t>strcmp</a:t>
            </a:r>
            <a:r>
              <a:rPr lang="en-US" altLang="en-US" sz="3200" dirty="0">
                <a:latin typeface="Times New Roman" panose="02020603050405020304" pitchFamily="18" charset="0"/>
                <a:ea typeface="华文楷体" panose="02010600040101010101" pitchFamily="2" charset="-122"/>
                <a:cs typeface="Times New Roman" panose="02020603050405020304" pitchFamily="18" charset="0"/>
              </a:rPr>
              <a:t>((a), (b))&lt;=0 )</a:t>
            </a:r>
          </a:p>
          <a:p>
            <a:endParaRPr lang="en-US" dirty="0"/>
          </a:p>
          <a:p>
            <a:endParaRPr lang="en-US" dirty="0"/>
          </a:p>
        </p:txBody>
      </p:sp>
      <p:sp>
        <p:nvSpPr>
          <p:cNvPr id="4" name="灯片编号占位符 3"/>
          <p:cNvSpPr>
            <a:spLocks noGrp="1"/>
          </p:cNvSpPr>
          <p:nvPr>
            <p:ph type="sldNum" sz="quarter" idx="10"/>
          </p:nvPr>
        </p:nvSpPr>
        <p:spPr/>
        <p:txBody>
          <a:bodyPr/>
          <a:lstStyle/>
          <a:p>
            <a:fld id="{A2A1643A-76C6-4418-8C90-D4A34E557575}" type="slidenum">
              <a:rPr lang="en-US" smtClean="0"/>
              <a:t>4</a:t>
            </a:fld>
            <a:endParaRPr lang="en-US"/>
          </a:p>
        </p:txBody>
      </p:sp>
    </p:spTree>
    <p:extLst>
      <p:ext uri="{BB962C8B-B14F-4D97-AF65-F5344CB8AC3E}">
        <p14:creationId xmlns:p14="http://schemas.microsoft.com/office/powerpoint/2010/main" val="583622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lnSpc>
                <a:spcPct val="120000"/>
              </a:lnSpc>
              <a:spcBef>
                <a:spcPts val="0"/>
              </a:spcBef>
            </a:pPr>
            <a:endParaRPr lang="en-US" altLang="en-US" dirty="0">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10"/>
          </p:nvPr>
        </p:nvSpPr>
        <p:spPr/>
        <p:txBody>
          <a:bodyPr/>
          <a:lstStyle/>
          <a:p>
            <a:fld id="{A2A1643A-76C6-4418-8C90-D4A34E557575}" type="slidenum">
              <a:rPr lang="en-US" smtClean="0"/>
              <a:t>5</a:t>
            </a:fld>
            <a:endParaRPr lang="en-US"/>
          </a:p>
        </p:txBody>
      </p:sp>
    </p:spTree>
    <p:extLst>
      <p:ext uri="{BB962C8B-B14F-4D97-AF65-F5344CB8AC3E}">
        <p14:creationId xmlns:p14="http://schemas.microsoft.com/office/powerpoint/2010/main" val="25470484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A1643A-76C6-4418-8C90-D4A34E557575}" type="slidenum">
              <a:rPr lang="en-US" smtClean="0"/>
              <a:t>6</a:t>
            </a:fld>
            <a:endParaRPr lang="en-US"/>
          </a:p>
        </p:txBody>
      </p:sp>
    </p:spTree>
    <p:extLst>
      <p:ext uri="{BB962C8B-B14F-4D97-AF65-F5344CB8AC3E}">
        <p14:creationId xmlns:p14="http://schemas.microsoft.com/office/powerpoint/2010/main" val="1420657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华文楷体" panose="02010600040101010101" pitchFamily="2" charset="-122"/>
              <a:ea typeface="华文楷体" panose="0201060004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华文楷体" panose="02010600040101010101" pitchFamily="2" charset="-122"/>
              <a:ea typeface="华文楷体" panose="0201060004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5"/>
          </p:nvPr>
        </p:nvSpPr>
        <p:spPr/>
        <p:txBody>
          <a:bodyPr/>
          <a:lstStyle/>
          <a:p>
            <a:fld id="{A2A1643A-76C6-4418-8C90-D4A34E557575}" type="slidenum">
              <a:rPr lang="en-US" smtClean="0"/>
              <a:t>7</a:t>
            </a:fld>
            <a:endParaRPr lang="en-US"/>
          </a:p>
        </p:txBody>
      </p:sp>
    </p:spTree>
    <p:extLst>
      <p:ext uri="{BB962C8B-B14F-4D97-AF65-F5344CB8AC3E}">
        <p14:creationId xmlns:p14="http://schemas.microsoft.com/office/powerpoint/2010/main" val="9002036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华文楷体" panose="02010600040101010101" pitchFamily="2" charset="-122"/>
              <a:ea typeface="华文楷体" panose="0201060004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华文楷体" panose="02010600040101010101" pitchFamily="2" charset="-122"/>
              <a:ea typeface="华文楷体" panose="0201060004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10"/>
          </p:nvPr>
        </p:nvSpPr>
        <p:spPr/>
        <p:txBody>
          <a:bodyPr/>
          <a:lstStyle/>
          <a:p>
            <a:fld id="{A2A1643A-76C6-4418-8C90-D4A34E557575}" type="slidenum">
              <a:rPr lang="en-US" smtClean="0"/>
              <a:t>8</a:t>
            </a:fld>
            <a:endParaRPr lang="en-US"/>
          </a:p>
        </p:txBody>
      </p:sp>
    </p:spTree>
    <p:extLst>
      <p:ext uri="{BB962C8B-B14F-4D97-AF65-F5344CB8AC3E}">
        <p14:creationId xmlns:p14="http://schemas.microsoft.com/office/powerpoint/2010/main" val="8248410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A1643A-76C6-4418-8C90-D4A34E557575}" type="slidenum">
              <a:rPr lang="en-US" smtClean="0"/>
              <a:t>9</a:t>
            </a:fld>
            <a:endParaRPr lang="en-US"/>
          </a:p>
        </p:txBody>
      </p:sp>
    </p:spTree>
    <p:extLst>
      <p:ext uri="{BB962C8B-B14F-4D97-AF65-F5344CB8AC3E}">
        <p14:creationId xmlns:p14="http://schemas.microsoft.com/office/powerpoint/2010/main" val="24099137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A1643A-76C6-4418-8C90-D4A34E557575}" type="slidenum">
              <a:rPr lang="en-US" smtClean="0"/>
              <a:t>10</a:t>
            </a:fld>
            <a:endParaRPr lang="en-US"/>
          </a:p>
        </p:txBody>
      </p:sp>
    </p:spTree>
    <p:extLst>
      <p:ext uri="{BB962C8B-B14F-4D97-AF65-F5344CB8AC3E}">
        <p14:creationId xmlns:p14="http://schemas.microsoft.com/office/powerpoint/2010/main" val="14986585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A1643A-76C6-4418-8C90-D4A34E557575}" type="slidenum">
              <a:rPr lang="en-US" smtClean="0"/>
              <a:t>11</a:t>
            </a:fld>
            <a:endParaRPr lang="en-US"/>
          </a:p>
        </p:txBody>
      </p:sp>
    </p:spTree>
    <p:extLst>
      <p:ext uri="{BB962C8B-B14F-4D97-AF65-F5344CB8AC3E}">
        <p14:creationId xmlns:p14="http://schemas.microsoft.com/office/powerpoint/2010/main" val="13030138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A1643A-76C6-4418-8C90-D4A34E557575}" type="slidenum">
              <a:rPr lang="en-US" smtClean="0"/>
              <a:t>12</a:t>
            </a:fld>
            <a:endParaRPr lang="en-US"/>
          </a:p>
        </p:txBody>
      </p:sp>
    </p:spTree>
    <p:extLst>
      <p:ext uri="{BB962C8B-B14F-4D97-AF65-F5344CB8AC3E}">
        <p14:creationId xmlns:p14="http://schemas.microsoft.com/office/powerpoint/2010/main" val="15938886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A1643A-76C6-4418-8C90-D4A34E557575}" type="slidenum">
              <a:rPr lang="en-US" smtClean="0"/>
              <a:t>13</a:t>
            </a:fld>
            <a:endParaRPr lang="en-US"/>
          </a:p>
        </p:txBody>
      </p:sp>
    </p:spTree>
    <p:extLst>
      <p:ext uri="{BB962C8B-B14F-4D97-AF65-F5344CB8AC3E}">
        <p14:creationId xmlns:p14="http://schemas.microsoft.com/office/powerpoint/2010/main" val="9751593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2A1643A-76C6-4418-8C90-D4A34E557575}" type="slidenum">
              <a:rPr lang="en-US" smtClean="0"/>
              <a:t>14</a:t>
            </a:fld>
            <a:endParaRPr lang="en-US"/>
          </a:p>
        </p:txBody>
      </p:sp>
    </p:spTree>
    <p:extLst>
      <p:ext uri="{BB962C8B-B14F-4D97-AF65-F5344CB8AC3E}">
        <p14:creationId xmlns:p14="http://schemas.microsoft.com/office/powerpoint/2010/main" val="24539778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A1643A-76C6-4418-8C90-D4A34E557575}" type="slidenum">
              <a:rPr lang="en-US" smtClean="0"/>
              <a:t>16</a:t>
            </a:fld>
            <a:endParaRPr lang="en-US"/>
          </a:p>
        </p:txBody>
      </p:sp>
    </p:spTree>
    <p:extLst>
      <p:ext uri="{BB962C8B-B14F-4D97-AF65-F5344CB8AC3E}">
        <p14:creationId xmlns:p14="http://schemas.microsoft.com/office/powerpoint/2010/main" val="5014892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1F6B3A3-5EFF-4271-A948-F701149B7847}" type="slidenum">
              <a:rPr lang="zh-CN" altLang="en-US"/>
              <a:pPr/>
              <a:t>17</a:t>
            </a:fld>
            <a:endParaRPr lang="en-US" altLang="zh-CN"/>
          </a:p>
        </p:txBody>
      </p:sp>
      <p:sp>
        <p:nvSpPr>
          <p:cNvPr id="534530" name="Rectangle 2"/>
          <p:cNvSpPr>
            <a:spLocks noGrp="1" noRot="1" noChangeAspect="1" noChangeArrowheads="1" noTextEdit="1"/>
          </p:cNvSpPr>
          <p:nvPr>
            <p:ph type="sldImg"/>
          </p:nvPr>
        </p:nvSpPr>
        <p:spPr>
          <a:ln/>
        </p:spPr>
      </p:sp>
      <p:sp>
        <p:nvSpPr>
          <p:cNvPr id="534531" name="Rectangle 3"/>
          <p:cNvSpPr>
            <a:spLocks noGrp="1" noChangeArrowheads="1"/>
          </p:cNvSpPr>
          <p:nvPr>
            <p:ph type="body" idx="1"/>
          </p:nvPr>
        </p:nvSpPr>
        <p:spPr/>
        <p:txBody>
          <a:bodyPr/>
          <a:lstStyle/>
          <a:p>
            <a:r>
              <a:rPr lang="zh-CN" altLang="en-US" dirty="0">
                <a:solidFill>
                  <a:schemeClr val="accent2"/>
                </a:solidFill>
              </a:rPr>
              <a:t>从我们以上讲解可以看到，这样的一个二分查找的过程可以用这样一棵二叉树来描述。其中数据元素对应这课判定树的内部节点，而不成功对应于判定树的外部节点。</a:t>
            </a:r>
            <a:endParaRPr lang="en-US" altLang="zh-CN" dirty="0">
              <a:solidFill>
                <a:schemeClr val="accent2"/>
              </a:solidFill>
            </a:endParaRPr>
          </a:p>
          <a:p>
            <a:endParaRPr lang="en-US" altLang="zh-CN" dirty="0">
              <a:solidFill>
                <a:schemeClr val="accent2"/>
              </a:solidFill>
            </a:endParaRPr>
          </a:p>
          <a:p>
            <a:r>
              <a:rPr lang="zh-CN" altLang="en-US" dirty="0">
                <a:latin typeface="华文楷体" panose="02010600040101010101" pitchFamily="2" charset="-122"/>
                <a:ea typeface="华文楷体" panose="02010600040101010101" pitchFamily="2" charset="-122"/>
              </a:rPr>
              <a:t>查找时，每经过一次比较，查找范围就缩小一半，该过程可用一棵</a:t>
            </a:r>
            <a:r>
              <a:rPr lang="zh-CN" altLang="en-US" b="1" dirty="0">
                <a:solidFill>
                  <a:srgbClr val="0000FF"/>
                </a:solidFill>
                <a:latin typeface="华文楷体" panose="02010600040101010101" pitchFamily="2" charset="-122"/>
                <a:ea typeface="华文楷体" panose="02010600040101010101" pitchFamily="2" charset="-122"/>
              </a:rPr>
              <a:t>二叉树</a:t>
            </a:r>
            <a:r>
              <a:rPr lang="zh-CN" altLang="en-US" dirty="0">
                <a:latin typeface="华文楷体" panose="02010600040101010101" pitchFamily="2" charset="-122"/>
                <a:ea typeface="华文楷体" panose="02010600040101010101" pitchFamily="2" charset="-122"/>
              </a:rPr>
              <a:t>表示：</a:t>
            </a:r>
          </a:p>
          <a:p>
            <a:pPr lvl="1"/>
            <a:r>
              <a:rPr lang="zh-CN" altLang="en-US" dirty="0">
                <a:latin typeface="华文楷体" panose="02010600040101010101" pitchFamily="2" charset="-122"/>
                <a:ea typeface="华文楷体" panose="02010600040101010101" pitchFamily="2" charset="-122"/>
              </a:rPr>
              <a:t>把当前查找区间的中点作为根结点</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左子区间和右子区间分别作为根的左子树和右子树</a:t>
            </a:r>
          </a:p>
          <a:p>
            <a:pPr lvl="1"/>
            <a:r>
              <a:rPr lang="zh-CN" altLang="en-US" dirty="0">
                <a:latin typeface="华文楷体" panose="02010600040101010101" pitchFamily="2" charset="-122"/>
                <a:ea typeface="华文楷体" panose="02010600040101010101" pitchFamily="2" charset="-122"/>
              </a:rPr>
              <a:t>排在中间位置前面的作为左子树的结点</a:t>
            </a:r>
          </a:p>
          <a:p>
            <a:pPr lvl="1"/>
            <a:r>
              <a:rPr lang="zh-CN" altLang="en-US" dirty="0">
                <a:latin typeface="华文楷体" panose="02010600040101010101" pitchFamily="2" charset="-122"/>
                <a:ea typeface="华文楷体" panose="02010600040101010101" pitchFamily="2" charset="-122"/>
              </a:rPr>
              <a:t>排在中间位置后面的作为右子树的结点 </a:t>
            </a:r>
          </a:p>
          <a:p>
            <a:r>
              <a:rPr lang="zh-CN" altLang="en-US" dirty="0">
                <a:latin typeface="华文楷体" panose="02010600040101010101" pitchFamily="2" charset="-122"/>
                <a:ea typeface="华文楷体" panose="02010600040101010101" pitchFamily="2" charset="-122"/>
              </a:rPr>
              <a:t>上述描述查找过程的二叉树被称为二分查找的</a:t>
            </a:r>
            <a:r>
              <a:rPr lang="zh-CN" altLang="en-US" b="1" dirty="0">
                <a:solidFill>
                  <a:srgbClr val="0000FF"/>
                </a:solidFill>
                <a:latin typeface="华文楷体" panose="02010600040101010101" pitchFamily="2" charset="-122"/>
                <a:ea typeface="华文楷体" panose="02010600040101010101" pitchFamily="2" charset="-122"/>
              </a:rPr>
              <a:t>判定树</a:t>
            </a:r>
            <a:r>
              <a:rPr lang="en-US" altLang="en-US" b="1" dirty="0">
                <a:solidFill>
                  <a:srgbClr val="0000FF"/>
                </a:solidFill>
                <a:latin typeface="华文楷体" panose="02010600040101010101" pitchFamily="2" charset="-122"/>
                <a:ea typeface="华文楷体" panose="02010600040101010101" pitchFamily="2" charset="-122"/>
              </a:rPr>
              <a:t>(Decision Tree)</a:t>
            </a:r>
          </a:p>
          <a:p>
            <a:pPr lvl="1"/>
            <a:r>
              <a:rPr lang="zh-CN" altLang="en-US" b="1" dirty="0">
                <a:latin typeface="华文楷体" panose="02010600040101010101" pitchFamily="2" charset="-122"/>
                <a:ea typeface="华文楷体" panose="02010600040101010101" pitchFamily="2" charset="-122"/>
              </a:rPr>
              <a:t>内结点</a:t>
            </a:r>
            <a:r>
              <a:rPr lang="zh-CN" altLang="en-US" dirty="0">
                <a:latin typeface="华文楷体" panose="02010600040101010101" pitchFamily="2" charset="-122"/>
                <a:ea typeface="华文楷体" panose="02010600040101010101" pitchFamily="2" charset="-122"/>
              </a:rPr>
              <a:t>代表顺序表中已有的元素，</a:t>
            </a:r>
            <a:r>
              <a:rPr lang="zh-CN" altLang="en-US" b="1" dirty="0">
                <a:latin typeface="华文楷体" panose="02010600040101010101" pitchFamily="2" charset="-122"/>
                <a:ea typeface="华文楷体" panose="02010600040101010101" pitchFamily="2" charset="-122"/>
              </a:rPr>
              <a:t>外结点</a:t>
            </a:r>
            <a:r>
              <a:rPr lang="zh-CN" altLang="en-US" dirty="0">
                <a:latin typeface="华文楷体" panose="02010600040101010101" pitchFamily="2" charset="-122"/>
                <a:ea typeface="华文楷体" panose="02010600040101010101" pitchFamily="2" charset="-122"/>
              </a:rPr>
              <a:t>代表失败结点，它表示在两个相邻已有元素值之间的值</a:t>
            </a:r>
            <a:endParaRPr lang="en-US" altLang="en-US"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找到有序表中任一记录的过程是</a:t>
            </a:r>
            <a:r>
              <a:rPr lang="zh-CN" altLang="en-US" b="1" u="sng" dirty="0">
                <a:latin typeface="华文楷体" panose="02010600040101010101" pitchFamily="2" charset="-122"/>
                <a:ea typeface="华文楷体" panose="02010600040101010101" pitchFamily="2" charset="-122"/>
              </a:rPr>
              <a:t>走了一条从根结点到与该记录相应的结点的路径</a:t>
            </a:r>
            <a:r>
              <a:rPr lang="zh-CN" altLang="en-US" dirty="0">
                <a:latin typeface="华文楷体" panose="02010600040101010101" pitchFamily="2" charset="-122"/>
                <a:ea typeface="华文楷体" panose="02010600040101010101" pitchFamily="2" charset="-122"/>
              </a:rPr>
              <a:t>，与给定值进行比较的关键字个数为该结点在判定树上的层次数</a:t>
            </a:r>
            <a:endParaRPr lang="en-US" altLang="en-US" dirty="0">
              <a:latin typeface="华文楷体" panose="02010600040101010101" pitchFamily="2" charset="-122"/>
              <a:ea typeface="华文楷体" panose="02010600040101010101" pitchFamily="2" charset="-122"/>
            </a:endParaRPr>
          </a:p>
          <a:p>
            <a:endParaRPr lang="zh-CN" altLang="en-US" dirty="0">
              <a:solidFill>
                <a:schemeClr val="accent2"/>
              </a:solidFill>
            </a:endParaRPr>
          </a:p>
        </p:txBody>
      </p:sp>
    </p:spTree>
    <p:extLst>
      <p:ext uri="{BB962C8B-B14F-4D97-AF65-F5344CB8AC3E}">
        <p14:creationId xmlns:p14="http://schemas.microsoft.com/office/powerpoint/2010/main" val="38377742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solidFill>
                    <a:schemeClr val="accent2"/>
                  </a:solidFill>
                </a:endParaRPr>
              </a:p>
            </p:txBody>
          </p:sp>
        </mc:Choice>
        <mc:Fallback xmlns="">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solidFill>
                    <a:schemeClr val="accent2"/>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latin typeface="华文楷体" panose="02010600040101010101" pitchFamily="2" charset="-122"/>
                    <a:ea typeface="华文楷体" panose="02010600040101010101" pitchFamily="2" charset="-122"/>
                  </a:rPr>
                  <a:t>一般情况下，表长为 </a:t>
                </a:r>
                <a:r>
                  <a:rPr lang="en-US" altLang="zh-CN" dirty="0" smtClean="0">
                    <a:latin typeface="华文楷体" panose="02010600040101010101" pitchFamily="2" charset="-122"/>
                    <a:ea typeface="华文楷体" panose="02010600040101010101" pitchFamily="2" charset="-122"/>
                  </a:rPr>
                  <a:t>n </a:t>
                </a:r>
                <a:r>
                  <a:rPr lang="zh-CN" altLang="en-US" dirty="0" smtClean="0">
                    <a:latin typeface="华文楷体" panose="02010600040101010101" pitchFamily="2" charset="-122"/>
                    <a:ea typeface="华文楷体" panose="02010600040101010101" pitchFamily="2" charset="-122"/>
                  </a:rPr>
                  <a:t>的有序表其二分查找的判定树的深度和含有 </a:t>
                </a:r>
                <a:r>
                  <a:rPr lang="en-US" altLang="zh-CN" dirty="0" smtClean="0">
                    <a:latin typeface="华文楷体" panose="02010600040101010101" pitchFamily="2" charset="-122"/>
                    <a:ea typeface="华文楷体" panose="02010600040101010101" pitchFamily="2" charset="-122"/>
                  </a:rPr>
                  <a:t>n </a:t>
                </a:r>
                <a:r>
                  <a:rPr lang="zh-CN" altLang="en-US" dirty="0" smtClean="0">
                    <a:latin typeface="华文楷体" panose="02010600040101010101" pitchFamily="2" charset="-122"/>
                    <a:ea typeface="华文楷体" panose="02010600040101010101" pitchFamily="2" charset="-122"/>
                  </a:rPr>
                  <a:t>个结点的完全二叉树的深度相同，而含</a:t>
                </a:r>
                <a:r>
                  <a:rPr lang="en-US" altLang="zh-CN" dirty="0" smtClean="0">
                    <a:latin typeface="华文楷体" panose="02010600040101010101" pitchFamily="2" charset="-122"/>
                    <a:ea typeface="华文楷体" panose="02010600040101010101" pitchFamily="2" charset="-122"/>
                  </a:rPr>
                  <a:t>n</a:t>
                </a:r>
                <a:r>
                  <a:rPr lang="zh-CN" altLang="en-US" dirty="0" smtClean="0">
                    <a:latin typeface="华文楷体" panose="02010600040101010101" pitchFamily="2" charset="-122"/>
                    <a:ea typeface="华文楷体" panose="02010600040101010101" pitchFamily="2" charset="-122"/>
                  </a:rPr>
                  <a:t>个结点的完全二叉树的深度为</a:t>
                </a:r>
                <a:r>
                  <a:rPr lang="en-US" altLang="en-US" dirty="0" smtClean="0">
                    <a:latin typeface="华文楷体" panose="02010600040101010101" pitchFamily="2" charset="-122"/>
                    <a:ea typeface="华文楷体" panose="02010600040101010101" pitchFamily="2" charset="-122"/>
                    <a:sym typeface="Symbol" pitchFamily="18" charset="2"/>
                  </a:rPr>
                  <a:t></a:t>
                </a:r>
                <a:r>
                  <a:rPr lang="en-US" altLang="zh-CN" dirty="0" smtClean="0">
                    <a:latin typeface="华文楷体" panose="02010600040101010101" pitchFamily="2" charset="-122"/>
                    <a:ea typeface="华文楷体" panose="02010600040101010101" pitchFamily="2" charset="-122"/>
                  </a:rPr>
                  <a:t>log</a:t>
                </a:r>
                <a:r>
                  <a:rPr lang="en-US" altLang="zh-CN" baseline="-25000" dirty="0" smtClean="0">
                    <a:latin typeface="华文楷体" panose="02010600040101010101" pitchFamily="2" charset="-122"/>
                    <a:ea typeface="华文楷体" panose="02010600040101010101" pitchFamily="2" charset="-122"/>
                  </a:rPr>
                  <a:t>2</a:t>
                </a:r>
                <a:r>
                  <a:rPr lang="en-US" altLang="zh-CN" dirty="0" smtClean="0">
                    <a:latin typeface="华文楷体" panose="02010600040101010101" pitchFamily="2" charset="-122"/>
                    <a:ea typeface="华文楷体" panose="02010600040101010101" pitchFamily="2" charset="-122"/>
                  </a:rPr>
                  <a:t>n</a:t>
                </a:r>
                <a:r>
                  <a:rPr lang="en-US" altLang="en-US" dirty="0" smtClean="0">
                    <a:latin typeface="华文楷体" panose="02010600040101010101" pitchFamily="2" charset="-122"/>
                    <a:ea typeface="华文楷体" panose="02010600040101010101" pitchFamily="2" charset="-122"/>
                    <a:sym typeface="Symbol" pitchFamily="18" charset="2"/>
                  </a:rPr>
                  <a:t></a:t>
                </a:r>
                <a:r>
                  <a:rPr lang="en-US" altLang="zh-CN" dirty="0" smtClean="0">
                    <a:latin typeface="华文楷体" panose="02010600040101010101" pitchFamily="2" charset="-122"/>
                    <a:ea typeface="华文楷体" panose="02010600040101010101" pitchFamily="2" charset="-122"/>
                  </a:rPr>
                  <a:t>+1</a:t>
                </a:r>
                <a:r>
                  <a:rPr lang="zh-CN" altLang="en-US" dirty="0" smtClean="0">
                    <a:latin typeface="华文楷体" panose="02010600040101010101" pitchFamily="2" charset="-122"/>
                    <a:ea typeface="华文楷体" panose="02010600040101010101" pitchFamily="2" charset="-122"/>
                  </a:rPr>
                  <a:t>，则二分查找的</a:t>
                </a:r>
                <a:r>
                  <a:rPr lang="zh-CN" altLang="en-US" b="1" dirty="0" smtClean="0">
                    <a:solidFill>
                      <a:srgbClr val="0000FF"/>
                    </a:solidFill>
                    <a:latin typeface="华文楷体" panose="02010600040101010101" pitchFamily="2" charset="-122"/>
                    <a:ea typeface="华文楷体" panose="02010600040101010101" pitchFamily="2" charset="-122"/>
                  </a:rPr>
                  <a:t>最多</a:t>
                </a:r>
                <a:r>
                  <a:rPr lang="zh-CN" altLang="en-US" dirty="0" smtClean="0">
                    <a:latin typeface="华文楷体" panose="02010600040101010101" pitchFamily="2" charset="-122"/>
                    <a:ea typeface="华文楷体" panose="02010600040101010101" pitchFamily="2" charset="-122"/>
                  </a:rPr>
                  <a:t>查找次数也就为</a:t>
                </a:r>
                <a:r>
                  <a:rPr lang="zh-CN" altLang="en-US" dirty="0" smtClean="0">
                    <a:latin typeface="华文楷体" panose="02010600040101010101" pitchFamily="2" charset="-122"/>
                    <a:ea typeface="华文楷体" panose="02010600040101010101" pitchFamily="2" charset="-122"/>
                    <a:sym typeface="Symbol" pitchFamily="18" charset="2"/>
                  </a:rPr>
                  <a:t></a:t>
                </a:r>
                <a:r>
                  <a:rPr lang="en-US" altLang="zh-CN" dirty="0" smtClean="0">
                    <a:latin typeface="华文楷体" panose="02010600040101010101" pitchFamily="2" charset="-122"/>
                    <a:ea typeface="华文楷体" panose="02010600040101010101" pitchFamily="2" charset="-122"/>
                  </a:rPr>
                  <a:t>log</a:t>
                </a:r>
                <a:r>
                  <a:rPr lang="en-US" altLang="zh-CN" baseline="-25000" dirty="0" smtClean="0">
                    <a:latin typeface="华文楷体" panose="02010600040101010101" pitchFamily="2" charset="-122"/>
                    <a:ea typeface="华文楷体" panose="02010600040101010101" pitchFamily="2" charset="-122"/>
                  </a:rPr>
                  <a:t>2</a:t>
                </a:r>
                <a:r>
                  <a:rPr lang="en-US" altLang="zh-CN" dirty="0" smtClean="0">
                    <a:latin typeface="华文楷体" panose="02010600040101010101" pitchFamily="2" charset="-122"/>
                    <a:ea typeface="华文楷体" panose="02010600040101010101" pitchFamily="2" charset="-122"/>
                  </a:rPr>
                  <a:t>n</a:t>
                </a:r>
                <a:r>
                  <a:rPr lang="en-US" altLang="en-US" dirty="0" smtClean="0">
                    <a:latin typeface="华文楷体" panose="02010600040101010101" pitchFamily="2" charset="-122"/>
                    <a:ea typeface="华文楷体" panose="02010600040101010101" pitchFamily="2" charset="-122"/>
                    <a:sym typeface="Symbol" pitchFamily="18" charset="2"/>
                  </a:rPr>
                  <a:t></a:t>
                </a:r>
                <a:r>
                  <a:rPr lang="en-US" altLang="zh-CN" dirty="0" smtClean="0">
                    <a:latin typeface="华文楷体" panose="02010600040101010101" pitchFamily="2" charset="-122"/>
                    <a:ea typeface="华文楷体" panose="02010600040101010101" pitchFamily="2" charset="-122"/>
                  </a:rPr>
                  <a:t>+1</a:t>
                </a:r>
                <a:r>
                  <a:rPr lang="zh-CN" altLang="en-US" dirty="0" smtClean="0">
                    <a:latin typeface="华文楷体" panose="02010600040101010101" pitchFamily="2" charset="-122"/>
                    <a:ea typeface="华文楷体" panose="02010600040101010101" pitchFamily="2" charset="-122"/>
                  </a:rPr>
                  <a:t>次</a:t>
                </a:r>
                <a:endParaRPr lang="en-US" altLang="zh-CN" dirty="0" smtClean="0">
                  <a:latin typeface="华文楷体" panose="02010600040101010101" pitchFamily="2" charset="-122"/>
                  <a:ea typeface="华文楷体" panose="0201060004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smtClean="0">
                  <a:latin typeface="华文楷体" panose="02010600040101010101" pitchFamily="2" charset="-122"/>
                  <a:ea typeface="华文楷体" panose="0201060004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latin typeface="华文楷体" panose="02010600040101010101" pitchFamily="2" charset="-122"/>
                    <a:ea typeface="华文楷体" panose="02010600040101010101" pitchFamily="2" charset="-122"/>
                  </a:rPr>
                  <a:t>其中：</a:t>
                </a:r>
                <a:r>
                  <a:rPr lang="pt-BR" altLang="zh-CN" sz="1200" i="0" dirty="0" smtClean="0">
                    <a:latin typeface="Cambria Math" panose="02040503050406030204" pitchFamily="18" charset="0"/>
                    <a:ea typeface="华文楷体" panose="02010600040101010101" pitchFamily="2" charset="-122"/>
                  </a:rPr>
                  <a:t>∑_(</a:t>
                </a:r>
                <a:r>
                  <a:rPr lang="en-US" altLang="zh-CN" sz="1200" b="0" i="0" dirty="0" smtClean="0">
                    <a:latin typeface="Cambria Math" panose="02040503050406030204" pitchFamily="18" charset="0"/>
                    <a:ea typeface="华文楷体" panose="02010600040101010101" pitchFamily="2" charset="-122"/>
                  </a:rPr>
                  <a:t>𝑗</a:t>
                </a:r>
                <a:r>
                  <a:rPr lang="pt-BR" altLang="zh-CN" sz="1200" i="0" dirty="0" smtClean="0">
                    <a:latin typeface="Cambria Math" panose="02040503050406030204" pitchFamily="18" charset="0"/>
                    <a:ea typeface="华文楷体" panose="02010600040101010101" pitchFamily="2" charset="-122"/>
                  </a:rPr>
                  <a:t>=1</a:t>
                </a:r>
                <a:r>
                  <a:rPr lang="pt-BR" altLang="zh-CN" sz="1200" i="0" dirty="0" smtClean="0">
                    <a:latin typeface="Cambria Math" panose="02040503050406030204" pitchFamily="18" charset="0"/>
                    <a:ea typeface="华文楷体" panose="02010600040101010101" pitchFamily="2" charset="-122"/>
                  </a:rPr>
                  <a:t>)</a:t>
                </a:r>
                <a:r>
                  <a:rPr lang="en-US" altLang="zh-CN" sz="1200" b="0" i="0" dirty="0" smtClean="0">
                    <a:latin typeface="Cambria Math" panose="02040503050406030204" pitchFamily="18" charset="0"/>
                    <a:ea typeface="华文楷体" panose="02010600040101010101" pitchFamily="2" charset="-122"/>
                  </a:rPr>
                  <a:t>^</a:t>
                </a:r>
                <a:r>
                  <a:rPr lang="en-US" altLang="zh-CN" sz="1200" b="0" i="0" dirty="0" smtClean="0">
                    <a:latin typeface="Cambria Math" panose="02040503050406030204" pitchFamily="18" charset="0"/>
                    <a:ea typeface="华文楷体" panose="02010600040101010101" pitchFamily="2" charset="-122"/>
                  </a:rPr>
                  <a:t>ℎ</a:t>
                </a:r>
                <a:r>
                  <a:rPr lang="en-US" altLang="zh-CN" sz="1200" b="0" i="0" dirty="0" smtClean="0">
                    <a:latin typeface="Cambria Math" panose="02040503050406030204" pitchFamily="18" charset="0"/>
                    <a:ea typeface="Cambria Math" panose="02040503050406030204" pitchFamily="18" charset="0"/>
                  </a:rPr>
                  <a:t>▒〖</a:t>
                </a:r>
                <a:r>
                  <a:rPr lang="en-US" altLang="zh-CN" sz="1200" b="0" i="0" dirty="0" smtClean="0">
                    <a:latin typeface="Cambria Math" panose="02040503050406030204" pitchFamily="18" charset="0"/>
                    <a:ea typeface="华文楷体" panose="02010600040101010101" pitchFamily="2" charset="-122"/>
                  </a:rPr>
                  <a:t>𝑗</a:t>
                </a:r>
                <a:r>
                  <a:rPr lang="en-US" altLang="zh-CN" sz="1200" b="0" i="0" dirty="0" smtClean="0">
                    <a:latin typeface="Cambria Math" panose="02040503050406030204" pitchFamily="18" charset="0"/>
                    <a:ea typeface="Cambria Math" panose="02040503050406030204" pitchFamily="18" charset="0"/>
                  </a:rPr>
                  <a:t>×2^(𝑗−1) 〗</a:t>
                </a:r>
                <a:r>
                  <a:rPr lang="en-US" altLang="zh-CN" sz="1200" dirty="0" smtClean="0">
                    <a:latin typeface="Cambria Math" panose="02040503050406030204" pitchFamily="18" charset="0"/>
                    <a:ea typeface="Cambria Math" panose="02040503050406030204" pitchFamily="18" charset="0"/>
                  </a:rPr>
                  <a:t>=(h-1)</a:t>
                </a:r>
                <a:r>
                  <a:rPr lang="en-US" altLang="zh-CN" sz="1200" dirty="0">
                    <a:latin typeface="Cambria Math" panose="02040503050406030204" pitchFamily="18" charset="0"/>
                    <a:ea typeface="Cambria Math" panose="02040503050406030204" pitchFamily="18" charset="0"/>
                  </a:rPr>
                  <a:t> </a:t>
                </a:r>
                <a:r>
                  <a:rPr lang="en-US" altLang="zh-CN" sz="1200" i="0" dirty="0">
                    <a:latin typeface="Cambria Math" panose="02040503050406030204" pitchFamily="18" charset="0"/>
                    <a:ea typeface="Cambria Math" panose="02040503050406030204" pitchFamily="18" charset="0"/>
                  </a:rPr>
                  <a:t>× </a:t>
                </a:r>
                <a:r>
                  <a:rPr lang="en-US" altLang="zh-CN" sz="1200" b="0" i="0" smtClean="0">
                    <a:latin typeface="Cambria Math" panose="02040503050406030204" pitchFamily="18" charset="0"/>
                    <a:ea typeface="华文楷体" panose="02010600040101010101" pitchFamily="2" charset="-122"/>
                  </a:rPr>
                  <a:t>2^ℎ+1</a:t>
                </a:r>
                <a:r>
                  <a:rPr lang="zh-CN" altLang="en-US" sz="1200" dirty="0" smtClean="0">
                    <a:latin typeface="华文楷体" panose="02010600040101010101" pitchFamily="2" charset="-122"/>
                    <a:ea typeface="华文楷体" panose="02010600040101010101" pitchFamily="2" charset="-122"/>
                  </a:rPr>
                  <a:t>可以乘以</a:t>
                </a:r>
                <a:r>
                  <a:rPr lang="en-US" altLang="zh-CN" sz="1200" dirty="0" smtClean="0">
                    <a:latin typeface="华文楷体" panose="02010600040101010101" pitchFamily="2" charset="-122"/>
                    <a:ea typeface="华文楷体" panose="02010600040101010101" pitchFamily="2" charset="-122"/>
                  </a:rPr>
                  <a:t>2</a:t>
                </a:r>
                <a:r>
                  <a:rPr lang="zh-CN" altLang="en-US" sz="1200" dirty="0" smtClean="0">
                    <a:latin typeface="华文楷体" panose="02010600040101010101" pitchFamily="2" charset="-122"/>
                    <a:ea typeface="华文楷体" panose="02010600040101010101" pitchFamily="2" charset="-122"/>
                  </a:rPr>
                  <a:t>，然后相减得到一个等比数列</a:t>
                </a:r>
                <a:endParaRPr lang="en-US" altLang="zh-CN" sz="1200" dirty="0">
                  <a:latin typeface="华文楷体" panose="02010600040101010101" pitchFamily="2" charset="-122"/>
                  <a:ea typeface="华文楷体" panose="0201060004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smtClean="0">
                  <a:latin typeface="华文楷体" panose="02010600040101010101" pitchFamily="2" charset="-122"/>
                  <a:ea typeface="华文楷体" panose="0201060004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smtClean="0">
                    <a:latin typeface="华文楷体" panose="02010600040101010101" pitchFamily="2" charset="-122"/>
                    <a:ea typeface="华文楷体" panose="02010600040101010101" pitchFamily="2" charset="-122"/>
                  </a:rPr>
                  <a:t>当</a:t>
                </a:r>
                <a:r>
                  <a:rPr lang="en-US" altLang="en-US" sz="1200" dirty="0" smtClean="0">
                    <a:latin typeface="华文楷体" panose="02010600040101010101" pitchFamily="2" charset="-122"/>
                    <a:ea typeface="华文楷体" panose="02010600040101010101" pitchFamily="2" charset="-122"/>
                  </a:rPr>
                  <a:t>n</a:t>
                </a:r>
                <a:r>
                  <a:rPr lang="zh-CN" altLang="en-US" sz="1200" dirty="0" smtClean="0">
                    <a:latin typeface="华文楷体" panose="02010600040101010101" pitchFamily="2" charset="-122"/>
                    <a:ea typeface="华文楷体" panose="02010600040101010101" pitchFamily="2" charset="-122"/>
                  </a:rPr>
                  <a:t>很大 </a:t>
                </a:r>
                <a:r>
                  <a:rPr lang="en-US" altLang="en-US" sz="1200" dirty="0" smtClean="0">
                    <a:latin typeface="华文楷体" panose="02010600040101010101" pitchFamily="2" charset="-122"/>
                    <a:ea typeface="华文楷体" panose="02010600040101010101" pitchFamily="2" charset="-122"/>
                  </a:rPr>
                  <a:t>(n&gt;50)</a:t>
                </a:r>
                <a:r>
                  <a:rPr lang="zh-CN" altLang="en-US" sz="1200" dirty="0" smtClean="0">
                    <a:latin typeface="华文楷体" panose="02010600040101010101" pitchFamily="2" charset="-122"/>
                    <a:ea typeface="华文楷体" panose="02010600040101010101" pitchFamily="2" charset="-122"/>
                  </a:rPr>
                  <a:t>时， </a:t>
                </a:r>
                <a:r>
                  <a:rPr lang="en-US" altLang="en-US" sz="1200" dirty="0" smtClean="0">
                    <a:latin typeface="华文楷体" panose="02010600040101010101" pitchFamily="2" charset="-122"/>
                    <a:ea typeface="华文楷体" panose="02010600040101010101" pitchFamily="2" charset="-122"/>
                  </a:rPr>
                  <a:t>ASL≈ ㏒</a:t>
                </a:r>
                <a:r>
                  <a:rPr lang="en-US" altLang="en-US" sz="1200" baseline="-25000" dirty="0" smtClean="0">
                    <a:latin typeface="华文楷体" panose="02010600040101010101" pitchFamily="2" charset="-122"/>
                    <a:ea typeface="华文楷体" panose="02010600040101010101" pitchFamily="2" charset="-122"/>
                  </a:rPr>
                  <a:t>2</a:t>
                </a:r>
                <a:r>
                  <a:rPr lang="en-US" altLang="en-US" sz="1200" dirty="0" smtClean="0">
                    <a:latin typeface="华文楷体" panose="02010600040101010101" pitchFamily="2" charset="-122"/>
                    <a:ea typeface="华文楷体" panose="02010600040101010101" pitchFamily="2" charset="-122"/>
                  </a:rPr>
                  <a:t>(n+1)-1</a:t>
                </a:r>
                <a:r>
                  <a:rPr lang="zh-CN" altLang="en-US" sz="1200" baseline="0" dirty="0" smtClean="0">
                    <a:latin typeface="华文楷体" panose="02010600040101010101" pitchFamily="2" charset="-122"/>
                    <a:ea typeface="华文楷体" panose="02010600040101010101" pitchFamily="2" charset="-122"/>
                  </a:rPr>
                  <a:t>   </a:t>
                </a:r>
                <a:r>
                  <a:rPr lang="en-US" altLang="zh-CN" sz="1200" baseline="0" dirty="0" smtClean="0">
                    <a:latin typeface="华文楷体" panose="02010600040101010101" pitchFamily="2" charset="-122"/>
                    <a:ea typeface="华文楷体" panose="02010600040101010101" pitchFamily="2" charset="-122"/>
                  </a:rPr>
                  <a:t>O(log</a:t>
                </a:r>
                <a:r>
                  <a:rPr lang="en-US" altLang="zh-CN" sz="1200" baseline="-25000" dirty="0" smtClean="0">
                    <a:latin typeface="华文楷体" panose="02010600040101010101" pitchFamily="2" charset="-122"/>
                    <a:ea typeface="华文楷体" panose="02010600040101010101" pitchFamily="2" charset="-122"/>
                  </a:rPr>
                  <a:t>2</a:t>
                </a:r>
                <a:r>
                  <a:rPr lang="en-US" altLang="zh-CN" sz="1200" baseline="0" dirty="0" smtClean="0">
                    <a:latin typeface="华文楷体" panose="02010600040101010101" pitchFamily="2" charset="-122"/>
                    <a:ea typeface="华文楷体" panose="02010600040101010101" pitchFamily="2" charset="-122"/>
                  </a:rPr>
                  <a:t>n)</a:t>
                </a:r>
                <a:endParaRPr lang="en-US" altLang="zh-CN" dirty="0" smtClean="0">
                  <a:latin typeface="华文楷体" panose="02010600040101010101" pitchFamily="2" charset="-122"/>
                  <a:ea typeface="华文楷体" panose="02010600040101010101" pitchFamily="2" charset="-122"/>
                </a:endParaRPr>
              </a:p>
              <a:p>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latin typeface="华文楷体" panose="02010600040101010101" pitchFamily="2" charset="-122"/>
                    <a:ea typeface="华文楷体" panose="02010600040101010101" pitchFamily="2" charset="-122"/>
                  </a:rPr>
                  <a:t>从这里看，相对于顺序查找，二分查找可以说是大大地提高了算法的效率。</a:t>
                </a:r>
                <a:endParaRPr lang="en-US" altLang="zh-CN" dirty="0" smtClean="0">
                  <a:latin typeface="华文楷体" panose="02010600040101010101" pitchFamily="2" charset="-122"/>
                  <a:ea typeface="华文楷体" panose="02010600040101010101" pitchFamily="2" charset="-122"/>
                </a:endParaRPr>
              </a:p>
              <a:p>
                <a:endParaRPr lang="zh-CN" altLang="en-US" dirty="0"/>
              </a:p>
            </p:txBody>
          </p:sp>
        </mc:Fallback>
      </mc:AlternateContent>
      <p:sp>
        <p:nvSpPr>
          <p:cNvPr id="4" name="灯片编号占位符 3"/>
          <p:cNvSpPr>
            <a:spLocks noGrp="1"/>
          </p:cNvSpPr>
          <p:nvPr>
            <p:ph type="sldNum" sz="quarter" idx="10"/>
          </p:nvPr>
        </p:nvSpPr>
        <p:spPr/>
        <p:txBody>
          <a:bodyPr/>
          <a:lstStyle/>
          <a:p>
            <a:fld id="{A2A1643A-76C6-4418-8C90-D4A34E557575}" type="slidenum">
              <a:rPr lang="en-US" smtClean="0"/>
              <a:t>18</a:t>
            </a:fld>
            <a:endParaRPr lang="en-US"/>
          </a:p>
        </p:txBody>
      </p:sp>
    </p:spTree>
    <p:extLst>
      <p:ext uri="{BB962C8B-B14F-4D97-AF65-F5344CB8AC3E}">
        <p14:creationId xmlns:p14="http://schemas.microsoft.com/office/powerpoint/2010/main" val="17990003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A1643A-76C6-4418-8C90-D4A34E557575}" type="slidenum">
              <a:rPr lang="en-US" smtClean="0"/>
              <a:t>19</a:t>
            </a:fld>
            <a:endParaRPr lang="en-US"/>
          </a:p>
        </p:txBody>
      </p:sp>
    </p:spTree>
    <p:extLst>
      <p:ext uri="{BB962C8B-B14F-4D97-AF65-F5344CB8AC3E}">
        <p14:creationId xmlns:p14="http://schemas.microsoft.com/office/powerpoint/2010/main" val="29788986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A2A1643A-76C6-4418-8C90-D4A34E557575}" type="slidenum">
              <a:rPr lang="en-US" smtClean="0"/>
              <a:t>20</a:t>
            </a:fld>
            <a:endParaRPr lang="en-US"/>
          </a:p>
        </p:txBody>
      </p:sp>
    </p:spTree>
    <p:extLst>
      <p:ext uri="{BB962C8B-B14F-4D97-AF65-F5344CB8AC3E}">
        <p14:creationId xmlns:p14="http://schemas.microsoft.com/office/powerpoint/2010/main" val="42741192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A2A1643A-76C6-4418-8C90-D4A34E557575}" type="slidenum">
              <a:rPr lang="en-US" smtClean="0"/>
              <a:t>22</a:t>
            </a:fld>
            <a:endParaRPr lang="en-US"/>
          </a:p>
        </p:txBody>
      </p:sp>
    </p:spTree>
    <p:extLst>
      <p:ext uri="{BB962C8B-B14F-4D97-AF65-F5344CB8AC3E}">
        <p14:creationId xmlns:p14="http://schemas.microsoft.com/office/powerpoint/2010/main" val="38325411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2A1643A-76C6-4418-8C90-D4A34E557575}" type="slidenum">
              <a:rPr lang="en-US" smtClean="0"/>
              <a:t>23</a:t>
            </a:fld>
            <a:endParaRPr lang="en-US"/>
          </a:p>
        </p:txBody>
      </p:sp>
    </p:spTree>
    <p:extLst>
      <p:ext uri="{BB962C8B-B14F-4D97-AF65-F5344CB8AC3E}">
        <p14:creationId xmlns:p14="http://schemas.microsoft.com/office/powerpoint/2010/main" val="13276608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10"/>
          </p:nvPr>
        </p:nvSpPr>
        <p:spPr/>
        <p:txBody>
          <a:bodyPr/>
          <a:lstStyle/>
          <a:p>
            <a:fld id="{A2A1643A-76C6-4418-8C90-D4A34E557575}" type="slidenum">
              <a:rPr lang="en-US" smtClean="0"/>
              <a:t>24</a:t>
            </a:fld>
            <a:endParaRPr lang="en-US"/>
          </a:p>
        </p:txBody>
      </p:sp>
    </p:spTree>
    <p:extLst>
      <p:ext uri="{BB962C8B-B14F-4D97-AF65-F5344CB8AC3E}">
        <p14:creationId xmlns:p14="http://schemas.microsoft.com/office/powerpoint/2010/main" val="35427350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A1643A-76C6-4418-8C90-D4A34E557575}" type="slidenum">
              <a:rPr lang="en-US" smtClean="0"/>
              <a:t>25</a:t>
            </a:fld>
            <a:endParaRPr lang="en-US"/>
          </a:p>
        </p:txBody>
      </p:sp>
    </p:spTree>
    <p:extLst>
      <p:ext uri="{BB962C8B-B14F-4D97-AF65-F5344CB8AC3E}">
        <p14:creationId xmlns:p14="http://schemas.microsoft.com/office/powerpoint/2010/main" val="1261555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A1643A-76C6-4418-8C90-D4A34E557575}" type="slidenum">
              <a:rPr lang="en-US" smtClean="0"/>
              <a:t>27</a:t>
            </a:fld>
            <a:endParaRPr lang="en-US"/>
          </a:p>
        </p:txBody>
      </p:sp>
    </p:spTree>
    <p:extLst>
      <p:ext uri="{BB962C8B-B14F-4D97-AF65-F5344CB8AC3E}">
        <p14:creationId xmlns:p14="http://schemas.microsoft.com/office/powerpoint/2010/main" val="20021611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线性表是查找表最简单的一种组织方式</a:t>
            </a:r>
          </a:p>
          <a:p>
            <a:endParaRPr lang="zh-CN" altLang="en-US" dirty="0"/>
          </a:p>
        </p:txBody>
      </p:sp>
      <p:sp>
        <p:nvSpPr>
          <p:cNvPr id="4" name="灯片编号占位符 3"/>
          <p:cNvSpPr>
            <a:spLocks noGrp="1"/>
          </p:cNvSpPr>
          <p:nvPr>
            <p:ph type="sldNum" sz="quarter" idx="10"/>
          </p:nvPr>
        </p:nvSpPr>
        <p:spPr/>
        <p:txBody>
          <a:bodyPr/>
          <a:lstStyle/>
          <a:p>
            <a:fld id="{A2A1643A-76C6-4418-8C90-D4A34E557575}" type="slidenum">
              <a:rPr lang="en-US" smtClean="0"/>
              <a:t>35</a:t>
            </a:fld>
            <a:endParaRPr lang="en-US"/>
          </a:p>
        </p:txBody>
      </p:sp>
    </p:spTree>
    <p:extLst>
      <p:ext uri="{BB962C8B-B14F-4D97-AF65-F5344CB8AC3E}">
        <p14:creationId xmlns:p14="http://schemas.microsoft.com/office/powerpoint/2010/main" val="41765728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前几节学习了以顺序表的形式组织查找表，特别是有序的顺序表的讨论为查找提供了有效的算法。但顺序表在动态操作方面却有着无法克服的短板。大家自然就想到了我们已经学到的树的结构。我们原来在树一章中也提到过，树是线性表的二维拓展，那么这样的一个二维线性表与有序性的结合带给我们什么样的新思路呢？这也是下面我们将学到的</a:t>
            </a:r>
            <a:r>
              <a:rPr lang="en-US" altLang="zh-CN" dirty="0"/>
              <a:t>BST</a:t>
            </a:r>
            <a:r>
              <a:rPr lang="zh-CN" altLang="en-US" dirty="0"/>
              <a:t>树最为传神的地方。</a:t>
            </a:r>
          </a:p>
        </p:txBody>
      </p:sp>
      <p:sp>
        <p:nvSpPr>
          <p:cNvPr id="4" name="灯片编号占位符 3"/>
          <p:cNvSpPr>
            <a:spLocks noGrp="1"/>
          </p:cNvSpPr>
          <p:nvPr>
            <p:ph type="sldNum" sz="quarter" idx="10"/>
          </p:nvPr>
        </p:nvSpPr>
        <p:spPr/>
        <p:txBody>
          <a:bodyPr/>
          <a:lstStyle/>
          <a:p>
            <a:fld id="{A2A1643A-76C6-4418-8C90-D4A34E557575}" type="slidenum">
              <a:rPr lang="en-US" smtClean="0"/>
              <a:t>37</a:t>
            </a:fld>
            <a:endParaRPr lang="en-US"/>
          </a:p>
        </p:txBody>
      </p:sp>
    </p:spTree>
    <p:extLst>
      <p:ext uri="{BB962C8B-B14F-4D97-AF65-F5344CB8AC3E}">
        <p14:creationId xmlns:p14="http://schemas.microsoft.com/office/powerpoint/2010/main" val="34047592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灯片编号占位符 3"/>
          <p:cNvSpPr>
            <a:spLocks noGrp="1"/>
          </p:cNvSpPr>
          <p:nvPr>
            <p:ph type="sldNum" sz="quarter" idx="10"/>
          </p:nvPr>
        </p:nvSpPr>
        <p:spPr/>
        <p:txBody>
          <a:bodyPr/>
          <a:lstStyle/>
          <a:p>
            <a:fld id="{A2A1643A-76C6-4418-8C90-D4A34E557575}" type="slidenum">
              <a:rPr lang="en-US" smtClean="0"/>
              <a:t>38</a:t>
            </a:fld>
            <a:endParaRPr lang="en-US"/>
          </a:p>
        </p:txBody>
      </p:sp>
    </p:spTree>
    <p:extLst>
      <p:ext uri="{BB962C8B-B14F-4D97-AF65-F5344CB8AC3E}">
        <p14:creationId xmlns:p14="http://schemas.microsoft.com/office/powerpoint/2010/main" val="14424905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A1643A-76C6-4418-8C90-D4A34E557575}" type="slidenum">
              <a:rPr lang="en-US" smtClean="0"/>
              <a:t>39</a:t>
            </a:fld>
            <a:endParaRPr lang="en-US"/>
          </a:p>
        </p:txBody>
      </p:sp>
    </p:spTree>
    <p:extLst>
      <p:ext uri="{BB962C8B-B14F-4D97-AF65-F5344CB8AC3E}">
        <p14:creationId xmlns:p14="http://schemas.microsoft.com/office/powerpoint/2010/main" val="27756831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2A1643A-76C6-4418-8C90-D4A34E557575}" type="slidenum">
              <a:rPr lang="en-US" smtClean="0"/>
              <a:t>40</a:t>
            </a:fld>
            <a:endParaRPr lang="en-US"/>
          </a:p>
        </p:txBody>
      </p:sp>
    </p:spTree>
    <p:extLst>
      <p:ext uri="{BB962C8B-B14F-4D97-AF65-F5344CB8AC3E}">
        <p14:creationId xmlns:p14="http://schemas.microsoft.com/office/powerpoint/2010/main" val="1083952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4" indent="0" algn="l" defTabSz="914400" rtl="0" eaLnBrk="1" fontAlgn="auto" latinLnBrk="0" hangingPunct="1">
              <a:lnSpc>
                <a:spcPct val="100000"/>
              </a:lnSpc>
              <a:spcBef>
                <a:spcPts val="0"/>
              </a:spcBef>
              <a:spcAft>
                <a:spcPts val="0"/>
              </a:spcAft>
              <a:buClrTx/>
              <a:buSzTx/>
              <a:buFontTx/>
              <a:buNone/>
              <a:tabLst/>
              <a:defRPr/>
            </a:pPr>
            <a:endParaRPr lang="en-US" altLang="en-US" sz="2800" dirty="0"/>
          </a:p>
        </p:txBody>
      </p:sp>
      <p:sp>
        <p:nvSpPr>
          <p:cNvPr id="4" name="灯片编号占位符 3"/>
          <p:cNvSpPr>
            <a:spLocks noGrp="1"/>
          </p:cNvSpPr>
          <p:nvPr>
            <p:ph type="sldNum" sz="quarter" idx="10"/>
          </p:nvPr>
        </p:nvSpPr>
        <p:spPr/>
        <p:txBody>
          <a:bodyPr/>
          <a:lstStyle/>
          <a:p>
            <a:fld id="{A2A1643A-76C6-4418-8C90-D4A34E557575}" type="slidenum">
              <a:rPr lang="en-US" smtClean="0"/>
              <a:t>41</a:t>
            </a:fld>
            <a:endParaRPr lang="en-US"/>
          </a:p>
        </p:txBody>
      </p:sp>
    </p:spTree>
    <p:extLst>
      <p:ext uri="{BB962C8B-B14F-4D97-AF65-F5344CB8AC3E}">
        <p14:creationId xmlns:p14="http://schemas.microsoft.com/office/powerpoint/2010/main" val="41660902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2A1643A-76C6-4418-8C90-D4A34E557575}" type="slidenum">
              <a:rPr lang="en-US" smtClean="0"/>
              <a:t>42</a:t>
            </a:fld>
            <a:endParaRPr lang="en-US"/>
          </a:p>
        </p:txBody>
      </p:sp>
    </p:spTree>
    <p:extLst>
      <p:ext uri="{BB962C8B-B14F-4D97-AF65-F5344CB8AC3E}">
        <p14:creationId xmlns:p14="http://schemas.microsoft.com/office/powerpoint/2010/main" val="22699590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10"/>
          </p:nvPr>
        </p:nvSpPr>
        <p:spPr/>
        <p:txBody>
          <a:bodyPr/>
          <a:lstStyle/>
          <a:p>
            <a:fld id="{A2A1643A-76C6-4418-8C90-D4A34E557575}" type="slidenum">
              <a:rPr lang="en-US" smtClean="0"/>
              <a:t>43</a:t>
            </a:fld>
            <a:endParaRPr lang="en-US"/>
          </a:p>
        </p:txBody>
      </p:sp>
    </p:spTree>
    <p:extLst>
      <p:ext uri="{BB962C8B-B14F-4D97-AF65-F5344CB8AC3E}">
        <p14:creationId xmlns:p14="http://schemas.microsoft.com/office/powerpoint/2010/main" val="42746434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p>
        </p:txBody>
      </p:sp>
      <p:sp>
        <p:nvSpPr>
          <p:cNvPr id="4" name="灯片编号占位符 3"/>
          <p:cNvSpPr>
            <a:spLocks noGrp="1"/>
          </p:cNvSpPr>
          <p:nvPr>
            <p:ph type="sldNum" sz="quarter" idx="10"/>
          </p:nvPr>
        </p:nvSpPr>
        <p:spPr/>
        <p:txBody>
          <a:bodyPr/>
          <a:lstStyle/>
          <a:p>
            <a:fld id="{A2A1643A-76C6-4418-8C90-D4A34E557575}" type="slidenum">
              <a:rPr lang="en-US" smtClean="0"/>
              <a:t>44</a:t>
            </a:fld>
            <a:endParaRPr lang="en-US"/>
          </a:p>
        </p:txBody>
      </p:sp>
    </p:spTree>
    <p:extLst>
      <p:ext uri="{BB962C8B-B14F-4D97-AF65-F5344CB8AC3E}">
        <p14:creationId xmlns:p14="http://schemas.microsoft.com/office/powerpoint/2010/main" val="33778765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A1643A-76C6-4418-8C90-D4A34E557575}" type="slidenum">
              <a:rPr lang="en-US" smtClean="0"/>
              <a:t>46</a:t>
            </a:fld>
            <a:endParaRPr lang="en-US"/>
          </a:p>
        </p:txBody>
      </p:sp>
    </p:spTree>
    <p:extLst>
      <p:ext uri="{BB962C8B-B14F-4D97-AF65-F5344CB8AC3E}">
        <p14:creationId xmlns:p14="http://schemas.microsoft.com/office/powerpoint/2010/main" val="4708487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lvl1pPr>
              <a:defRPr>
                <a:latin typeface="+mj-lt"/>
              </a:defRPr>
            </a:lvl1pPr>
          </a:lstStyle>
          <a:p>
            <a:r>
              <a:rPr lang="zh-CN" altLang="en-US" dirty="0"/>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6" name="灯片编号占位符 5"/>
          <p:cNvSpPr>
            <a:spLocks noGrp="1"/>
          </p:cNvSpPr>
          <p:nvPr>
            <p:ph type="sldNum" sz="quarter" idx="12"/>
          </p:nvPr>
        </p:nvSpPr>
        <p:spPr/>
        <p:txBody>
          <a:bodyPr/>
          <a:lstStyle>
            <a:lvl1pPr>
              <a:defRPr>
                <a:latin typeface="+mj-lt"/>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84"/>
            <a:ext cx="8229600" cy="936104"/>
          </a:xfrm>
        </p:spPr>
        <p:txBody>
          <a:bodyPr/>
          <a:lstStyle>
            <a:lvl1pPr>
              <a:defRPr>
                <a:latin typeface="+mn-lt"/>
                <a:ea typeface="宋体" panose="02010600030101010101" pitchFamily="2"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a:latin typeface="+mn-lt"/>
                <a:ea typeface="宋体" panose="02010600030101010101" pitchFamily="2" charset="-122"/>
              </a:defRPr>
            </a:lvl1pPr>
            <a:lvl2pPr>
              <a:defRPr>
                <a:latin typeface="+mn-lt"/>
                <a:ea typeface="宋体" panose="02010600030101010101" pitchFamily="2" charset="-122"/>
              </a:defRPr>
            </a:lvl2pPr>
            <a:lvl3pPr>
              <a:defRPr>
                <a:latin typeface="+mn-lt"/>
                <a:ea typeface="宋体" panose="02010600030101010101" pitchFamily="2" charset="-122"/>
              </a:defRPr>
            </a:lvl3pPr>
            <a:lvl4pPr>
              <a:defRPr>
                <a:latin typeface="+mn-lt"/>
                <a:ea typeface="宋体" panose="02010600030101010101" pitchFamily="2" charset="-122"/>
              </a:defRPr>
            </a:lvl4pPr>
            <a:lvl5pPr>
              <a:defRPr>
                <a:latin typeface="+mn-lt"/>
                <a:ea typeface="宋体" panose="02010600030101010101"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灯片编号占位符 5"/>
          <p:cNvSpPr>
            <a:spLocks noGrp="1"/>
          </p:cNvSpPr>
          <p:nvPr>
            <p:ph type="sldNum" sz="quarter" idx="12"/>
          </p:nvPr>
        </p:nvSpPr>
        <p:spPr/>
        <p:txBody>
          <a:bodyPr/>
          <a:lstStyle>
            <a:lvl1pPr>
              <a:defRPr>
                <a:latin typeface="宋体" panose="02010600030101010101" pitchFamily="2" charset="-122"/>
                <a:ea typeface="宋体" panose="02010600030101010101" pitchFamily="2" charset="-122"/>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552728"/>
          </a:xfrm>
        </p:spPr>
        <p:txBody>
          <a:bodyPr/>
          <a:lstStyle>
            <a:lvl1pPr>
              <a:defRPr>
                <a:latin typeface="+mn-lt"/>
                <a:ea typeface="宋体" panose="02010600030101010101" pitchFamily="2" charset="-122"/>
              </a:defRPr>
            </a:lvl1pPr>
            <a:lvl2pPr>
              <a:defRPr>
                <a:latin typeface="+mn-lt"/>
                <a:ea typeface="宋体" panose="02010600030101010101" pitchFamily="2" charset="-122"/>
              </a:defRPr>
            </a:lvl2pPr>
            <a:lvl3pPr>
              <a:defRPr>
                <a:latin typeface="+mn-lt"/>
                <a:ea typeface="宋体" panose="02010600030101010101" pitchFamily="2" charset="-122"/>
              </a:defRPr>
            </a:lvl3pPr>
            <a:lvl4pPr>
              <a:defRPr>
                <a:latin typeface="+mn-lt"/>
                <a:ea typeface="宋体" panose="02010600030101010101" pitchFamily="2" charset="-122"/>
              </a:defRPr>
            </a:lvl4pPr>
            <a:lvl5pPr>
              <a:defRPr>
                <a:latin typeface="+mn-lt"/>
                <a:ea typeface="宋体" panose="02010600030101010101"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灯片编号占位符 5"/>
          <p:cNvSpPr>
            <a:spLocks noGrp="1"/>
          </p:cNvSpPr>
          <p:nvPr>
            <p:ph type="sldNum" sz="quarter" idx="12"/>
          </p:nvPr>
        </p:nvSpPr>
        <p:spPr/>
        <p:txBody>
          <a:bodyPr/>
          <a:lstStyle>
            <a:lvl1pPr>
              <a:defRPr>
                <a:latin typeface="宋体" panose="02010600030101010101" pitchFamily="2" charset="-122"/>
                <a:ea typeface="宋体" panose="02010600030101010101" pitchFamily="2" charset="-122"/>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1350058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sz="half" idx="1"/>
          </p:nvPr>
        </p:nvSpPr>
        <p:spPr>
          <a:xfrm>
            <a:off x="457200" y="908720"/>
            <a:ext cx="4038600" cy="583264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0" y="908720"/>
            <a:ext cx="4038600" cy="583264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6356350"/>
            <a:ext cx="21336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384"/>
            <a:ext cx="8229600" cy="936104"/>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908720"/>
            <a:ext cx="8229600" cy="583264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灯片编号占位符 5"/>
          <p:cNvSpPr>
            <a:spLocks noGrp="1"/>
          </p:cNvSpPr>
          <p:nvPr>
            <p:ph type="sldNum" sz="quarter" idx="4"/>
          </p:nvPr>
        </p:nvSpPr>
        <p:spPr>
          <a:xfrm>
            <a:off x="8748464" y="6492875"/>
            <a:ext cx="395536"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7" r:id="rId3"/>
    <p:sldLayoutId id="2147483652" r:id="rId4"/>
    <p:sldLayoutId id="2147483654" r:id="rId5"/>
    <p:sldLayoutId id="2147483655" r:id="rId6"/>
    <p:sldLayoutId id="2147483656" r:id="rId7"/>
  </p:sldLayoutIdLst>
  <p:hf hdr="0" ftr="0" dt="0"/>
  <p:txStyles>
    <p:titleStyle>
      <a:lvl1pPr algn="ctr" defTabSz="914400" rtl="0" eaLnBrk="1" latinLnBrk="0" hangingPunct="1">
        <a:spcBef>
          <a:spcPct val="0"/>
        </a:spcBef>
        <a:buNone/>
        <a:defRPr sz="4000" kern="1200">
          <a:solidFill>
            <a:schemeClr val="tx1"/>
          </a:solidFill>
          <a:latin typeface="宋体" panose="02010600030101010101" pitchFamily="2" charset="-122"/>
          <a:ea typeface="宋体" panose="02010600030101010101" pitchFamily="2" charset="-122"/>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宋体" panose="02010600030101010101" pitchFamily="2" charset="-122"/>
          <a:ea typeface="宋体" panose="02010600030101010101" pitchFamily="2"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宋体" panose="02010600030101010101" pitchFamily="2" charset="-122"/>
          <a:ea typeface="宋体" panose="02010600030101010101" pitchFamily="2"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宋体" panose="02010600030101010101" pitchFamily="2" charset="-122"/>
          <a:ea typeface="宋体" panose="02010600030101010101" pitchFamily="2"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宋体" panose="02010600030101010101" pitchFamily="2" charset="-122"/>
          <a:ea typeface="宋体" panose="02010600030101010101" pitchFamily="2"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宋体" panose="02010600030101010101" pitchFamily="2" charset="-122"/>
          <a:ea typeface="宋体" panose="02010600030101010101"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baike.baidu.com/item/%E9%BB%84%E9%87%91%E5%88%86%E5%89%B2"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880574"/>
            <a:ext cx="3203848" cy="40048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标题 1"/>
          <p:cNvSpPr>
            <a:spLocks noGrp="1"/>
          </p:cNvSpPr>
          <p:nvPr>
            <p:ph type="ctrTitle"/>
          </p:nvPr>
        </p:nvSpPr>
        <p:spPr/>
        <p:txBody>
          <a:bodyPr/>
          <a:lstStyle/>
          <a:p>
            <a:r>
              <a:rPr lang="en-US" altLang="en-US" b="1" dirty="0">
                <a:latin typeface="华文琥珀" panose="02010800040101010101" pitchFamily="2" charset="-122"/>
                <a:ea typeface="华文琥珀" panose="02010800040101010101" pitchFamily="2" charset="-122"/>
              </a:rPr>
              <a:t>第</a:t>
            </a:r>
            <a:r>
              <a:rPr lang="en-US" altLang="zh-CN" b="1" dirty="0">
                <a:latin typeface="华文琥珀" panose="02010800040101010101" pitchFamily="2" charset="-122"/>
                <a:ea typeface="华文琥珀" panose="02010800040101010101" pitchFamily="2" charset="-122"/>
              </a:rPr>
              <a:t>9</a:t>
            </a:r>
            <a:r>
              <a:rPr lang="en-US" altLang="en-US" b="1" dirty="0">
                <a:latin typeface="华文琥珀" panose="02010800040101010101" pitchFamily="2" charset="-122"/>
                <a:ea typeface="华文琥珀" panose="02010800040101010101" pitchFamily="2" charset="-122"/>
              </a:rPr>
              <a:t>章 </a:t>
            </a:r>
            <a:r>
              <a:rPr lang="zh-CN" altLang="en-US" b="1" dirty="0">
                <a:latin typeface="华文琥珀" panose="02010800040101010101" pitchFamily="2" charset="-122"/>
                <a:ea typeface="华文琥珀" panose="02010800040101010101" pitchFamily="2" charset="-122"/>
              </a:rPr>
              <a:t>查找</a:t>
            </a:r>
            <a:r>
              <a:rPr lang="en-US" altLang="zh-CN" b="1" dirty="0">
                <a:latin typeface="华文琥珀" panose="02010800040101010101" pitchFamily="2" charset="-122"/>
                <a:ea typeface="华文琥珀" panose="02010800040101010101" pitchFamily="2" charset="-122"/>
              </a:rPr>
              <a:t>/</a:t>
            </a:r>
            <a:r>
              <a:rPr lang="zh-CN" altLang="en-US" b="1" dirty="0">
                <a:latin typeface="华文琥珀" panose="02010800040101010101" pitchFamily="2" charset="-122"/>
                <a:ea typeface="华文琥珀" panose="02010800040101010101" pitchFamily="2" charset="-122"/>
              </a:rPr>
              <a:t>搜索</a:t>
            </a:r>
            <a:endParaRPr lang="en-US" b="1" dirty="0">
              <a:latin typeface="华文琥珀" panose="02010800040101010101" pitchFamily="2" charset="-122"/>
              <a:ea typeface="华文琥珀" panose="02010800040101010101" pitchFamily="2" charset="-122"/>
            </a:endParaRPr>
          </a:p>
        </p:txBody>
      </p:sp>
      <p:sp>
        <p:nvSpPr>
          <p:cNvPr id="3" name="副标题 2"/>
          <p:cNvSpPr>
            <a:spLocks noGrp="1"/>
          </p:cNvSpPr>
          <p:nvPr>
            <p:ph type="subTitle" idx="1"/>
          </p:nvPr>
        </p:nvSpPr>
        <p:spPr/>
        <p:txBody>
          <a:bodyPr/>
          <a:lstStyle/>
          <a:p>
            <a:r>
              <a:rPr lang="en-US" altLang="zh-CN"/>
              <a:t>Part I</a:t>
            </a:r>
            <a:endParaRPr 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1</a:t>
            </a:fld>
            <a:endParaRPr lang="zh-CN" altLang="en-US"/>
          </a:p>
        </p:txBody>
      </p:sp>
    </p:spTree>
    <p:extLst>
      <p:ext uri="{BB962C8B-B14F-4D97-AF65-F5344CB8AC3E}">
        <p14:creationId xmlns:p14="http://schemas.microsoft.com/office/powerpoint/2010/main" val="1377669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目录</a:t>
            </a:r>
          </a:p>
        </p:txBody>
      </p:sp>
      <p:sp>
        <p:nvSpPr>
          <p:cNvPr id="2" name="内容占位符 1"/>
          <p:cNvSpPr>
            <a:spLocks noGrp="1"/>
          </p:cNvSpPr>
          <p:nvPr>
            <p:ph sz="half" idx="1"/>
          </p:nvPr>
        </p:nvSpPr>
        <p:spPr>
          <a:xfrm>
            <a:off x="457200" y="908720"/>
            <a:ext cx="4762872" cy="3816424"/>
          </a:xfrm>
        </p:spPr>
        <p:txBody>
          <a:bodyPr/>
          <a:lstStyle/>
          <a:p>
            <a:r>
              <a:rPr lang="zh-CN" altLang="en-US" sz="3600" b="1" dirty="0"/>
              <a:t>基本概念</a:t>
            </a:r>
            <a:endParaRPr lang="en-US" altLang="zh-CN" sz="3600" b="1" dirty="0"/>
          </a:p>
          <a:p>
            <a:r>
              <a:rPr lang="zh-CN" altLang="en-US" sz="3600" b="1" dirty="0"/>
              <a:t>静态查找表</a:t>
            </a:r>
            <a:endParaRPr lang="en-US" altLang="zh-CN" sz="3600" b="1" dirty="0"/>
          </a:p>
          <a:p>
            <a:pPr lvl="1"/>
            <a:r>
              <a:rPr lang="zh-CN" altLang="en-US" sz="3200" b="1" dirty="0"/>
              <a:t>顺序表的查找</a:t>
            </a:r>
            <a:endParaRPr lang="en-US" altLang="zh-CN" sz="3200" b="1" dirty="0"/>
          </a:p>
          <a:p>
            <a:pPr lvl="1"/>
            <a:r>
              <a:rPr lang="zh-CN" altLang="en-US" sz="3200" b="1" dirty="0"/>
              <a:t>有序顺序表的查找</a:t>
            </a:r>
            <a:endParaRPr lang="en-US" altLang="zh-CN" sz="3200" b="1" dirty="0"/>
          </a:p>
          <a:p>
            <a:pPr lvl="1"/>
            <a:r>
              <a:rPr lang="zh-CN" altLang="en-US" sz="3200" b="1" dirty="0"/>
              <a:t>索引顺序表的查找</a:t>
            </a:r>
            <a:endParaRPr lang="en-US" altLang="zh-CN" sz="3200" b="1" dirty="0"/>
          </a:p>
          <a:p>
            <a:pPr lvl="1"/>
            <a:r>
              <a:rPr lang="zh-CN" altLang="en-US" sz="3200" b="1" dirty="0"/>
              <a:t>静态树表的查找</a:t>
            </a:r>
            <a:endParaRPr lang="en-US" altLang="zh-CN" sz="3200" b="1" dirty="0"/>
          </a:p>
        </p:txBody>
      </p:sp>
      <p:sp>
        <p:nvSpPr>
          <p:cNvPr id="12" name="内容占位符 11"/>
          <p:cNvSpPr>
            <a:spLocks noGrp="1"/>
          </p:cNvSpPr>
          <p:nvPr>
            <p:ph sz="half" idx="2"/>
          </p:nvPr>
        </p:nvSpPr>
        <p:spPr>
          <a:xfrm>
            <a:off x="5136016" y="903040"/>
            <a:ext cx="4038600" cy="5832648"/>
          </a:xfrm>
        </p:spPr>
        <p:txBody>
          <a:bodyPr>
            <a:normAutofit/>
          </a:bodyPr>
          <a:lstStyle/>
          <a:p>
            <a:r>
              <a:rPr lang="zh-CN" altLang="en-US" sz="3600" dirty="0"/>
              <a:t>动态查找表</a:t>
            </a:r>
            <a:endParaRPr lang="en-US" altLang="zh-CN" sz="3600" dirty="0"/>
          </a:p>
          <a:p>
            <a:pPr lvl="1"/>
            <a:r>
              <a:rPr lang="zh-CN" altLang="en-US" sz="3200" b="1" dirty="0"/>
              <a:t>二叉排序树</a:t>
            </a:r>
            <a:endParaRPr lang="en-US" altLang="zh-CN" sz="3200" b="1" dirty="0"/>
          </a:p>
          <a:p>
            <a:pPr lvl="1"/>
            <a:r>
              <a:rPr lang="zh-CN" altLang="en-US" sz="3200" dirty="0"/>
              <a:t>平衡二叉树</a:t>
            </a:r>
            <a:endParaRPr lang="en-US" altLang="zh-CN" sz="3200" dirty="0"/>
          </a:p>
          <a:p>
            <a:pPr lvl="1"/>
            <a:r>
              <a:rPr lang="en-US" altLang="zh-CN" sz="3200" dirty="0"/>
              <a:t>B</a:t>
            </a:r>
            <a:r>
              <a:rPr lang="zh-CN" altLang="en-US" sz="3200" dirty="0"/>
              <a:t>树和</a:t>
            </a:r>
            <a:r>
              <a:rPr lang="en-US" altLang="zh-CN" sz="3200" dirty="0"/>
              <a:t>B+</a:t>
            </a:r>
            <a:r>
              <a:rPr lang="zh-CN" altLang="en-US" sz="3200" dirty="0"/>
              <a:t>树</a:t>
            </a:r>
            <a:endParaRPr lang="en-US" altLang="zh-CN" sz="3200" dirty="0"/>
          </a:p>
          <a:p>
            <a:pPr lvl="1"/>
            <a:r>
              <a:rPr lang="zh-CN" altLang="en-US" sz="3200" dirty="0"/>
              <a:t>键树</a:t>
            </a:r>
            <a:endParaRPr lang="en-US" altLang="zh-CN" sz="3200" dirty="0"/>
          </a:p>
          <a:p>
            <a:r>
              <a:rPr lang="zh-CN" altLang="en-US" sz="3600" dirty="0"/>
              <a:t>哈希表</a:t>
            </a:r>
            <a:endParaRPr lang="en-US" altLang="zh-CN" sz="3600" dirty="0"/>
          </a:p>
          <a:p>
            <a:endParaRPr lang="en-US" sz="3600" dirty="0"/>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2</a:t>
            </a:fld>
            <a:endParaRPr lang="zh-CN" altLang="en-US"/>
          </a:p>
        </p:txBody>
      </p:sp>
    </p:spTree>
    <p:extLst>
      <p:ext uri="{BB962C8B-B14F-4D97-AF65-F5344CB8AC3E}">
        <p14:creationId xmlns:p14="http://schemas.microsoft.com/office/powerpoint/2010/main" val="16836731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9282" name="Rectangle 2"/>
          <p:cNvSpPr>
            <a:spLocks noGrp="1" noChangeArrowheads="1"/>
          </p:cNvSpPr>
          <p:nvPr>
            <p:ph type="title"/>
          </p:nvPr>
        </p:nvSpPr>
        <p:spPr>
          <a:xfrm>
            <a:off x="35496" y="116632"/>
            <a:ext cx="8229600" cy="936104"/>
          </a:xfrm>
        </p:spPr>
        <p:txBody>
          <a:bodyPr/>
          <a:lstStyle/>
          <a:p>
            <a:pPr algn="l"/>
            <a:r>
              <a:rPr lang="en-US" altLang="en-US" dirty="0">
                <a:latin typeface="华文琥珀" panose="02010800040101010101" pitchFamily="2" charset="-122"/>
                <a:ea typeface="华文琥珀" panose="02010800040101010101" pitchFamily="2" charset="-122"/>
              </a:rPr>
              <a:t>1 </a:t>
            </a:r>
            <a:r>
              <a:rPr lang="zh-CN" altLang="en-US" dirty="0">
                <a:latin typeface="华文琥珀" panose="02010800040101010101" pitchFamily="2" charset="-122"/>
                <a:ea typeface="华文琥珀" panose="02010800040101010101" pitchFamily="2" charset="-122"/>
              </a:rPr>
              <a:t>基本</a:t>
            </a:r>
            <a:r>
              <a:rPr lang="en-US" altLang="en-US" dirty="0" err="1">
                <a:latin typeface="华文琥珀" panose="02010800040101010101" pitchFamily="2" charset="-122"/>
                <a:ea typeface="华文琥珀" panose="02010800040101010101" pitchFamily="2" charset="-122"/>
              </a:rPr>
              <a:t>概念</a:t>
            </a:r>
            <a:endParaRPr lang="en-US" altLang="en-US" dirty="0">
              <a:latin typeface="华文琥珀" panose="02010800040101010101" pitchFamily="2" charset="-122"/>
              <a:ea typeface="华文琥珀" panose="02010800040101010101" pitchFamily="2" charset="-122"/>
            </a:endParaRPr>
          </a:p>
        </p:txBody>
      </p:sp>
      <p:sp>
        <p:nvSpPr>
          <p:cNvPr id="609283" name="Rectangle 3"/>
          <p:cNvSpPr>
            <a:spLocks noGrp="1" noChangeArrowheads="1"/>
          </p:cNvSpPr>
          <p:nvPr>
            <p:ph idx="1"/>
          </p:nvPr>
        </p:nvSpPr>
        <p:spPr>
          <a:xfrm>
            <a:off x="179512" y="980728"/>
            <a:ext cx="8229600" cy="5256584"/>
          </a:xfrm>
        </p:spPr>
        <p:txBody>
          <a:bodyPr>
            <a:normAutofit/>
          </a:bodyPr>
          <a:lstStyle/>
          <a:p>
            <a:pPr>
              <a:spcBef>
                <a:spcPts val="1800"/>
              </a:spcBef>
            </a:pPr>
            <a:r>
              <a:rPr lang="en-US" altLang="en-US" sz="2600" b="1" dirty="0" err="1">
                <a:solidFill>
                  <a:srgbClr val="0000FF"/>
                </a:solidFill>
                <a:latin typeface="华文楷体" panose="02010600040101010101" pitchFamily="2" charset="-122"/>
                <a:ea typeface="华文楷体" panose="02010600040101010101" pitchFamily="2" charset="-122"/>
              </a:rPr>
              <a:t>查找表</a:t>
            </a:r>
            <a:r>
              <a:rPr lang="en-US" altLang="en-US" sz="2600" b="1" dirty="0">
                <a:latin typeface="华文楷体" panose="02010600040101010101" pitchFamily="2" charset="-122"/>
                <a:ea typeface="华文楷体" panose="02010600040101010101" pitchFamily="2" charset="-122"/>
              </a:rPr>
              <a:t>(Search Table)：</a:t>
            </a:r>
            <a:r>
              <a:rPr lang="en-US" altLang="en-US" sz="2600" b="1" dirty="0" err="1">
                <a:latin typeface="华文楷体" panose="02010600040101010101" pitchFamily="2" charset="-122"/>
                <a:ea typeface="华文楷体" panose="02010600040101010101" pitchFamily="2" charset="-122"/>
              </a:rPr>
              <a:t>相同类型的数据元素</a:t>
            </a:r>
            <a:r>
              <a:rPr lang="en-US" altLang="en-US" sz="2600" b="1" dirty="0">
                <a:latin typeface="华文楷体" panose="02010600040101010101" pitchFamily="2" charset="-122"/>
                <a:ea typeface="华文楷体" panose="02010600040101010101" pitchFamily="2" charset="-122"/>
              </a:rPr>
              <a:t>(</a:t>
            </a:r>
            <a:r>
              <a:rPr lang="zh-CN" altLang="en-US" sz="2600" b="1" dirty="0">
                <a:latin typeface="华文楷体" panose="02010600040101010101" pitchFamily="2" charset="-122"/>
                <a:ea typeface="华文楷体" panose="02010600040101010101" pitchFamily="2" charset="-122"/>
              </a:rPr>
              <a:t>或记录</a:t>
            </a:r>
            <a:r>
              <a:rPr lang="en-US" altLang="en-US" sz="2600" b="1" dirty="0">
                <a:latin typeface="华文楷体" panose="02010600040101010101" pitchFamily="2" charset="-122"/>
                <a:ea typeface="华文楷体" panose="02010600040101010101" pitchFamily="2" charset="-122"/>
              </a:rPr>
              <a:t>)</a:t>
            </a:r>
            <a:r>
              <a:rPr lang="en-US" altLang="en-US" sz="2600" b="1" dirty="0" err="1">
                <a:latin typeface="华文楷体" panose="02010600040101010101" pitchFamily="2" charset="-122"/>
                <a:ea typeface="华文楷体" panose="02010600040101010101" pitchFamily="2" charset="-122"/>
              </a:rPr>
              <a:t>组成的集合，每个</a:t>
            </a:r>
            <a:r>
              <a:rPr lang="zh-CN" altLang="en-US" sz="2600" b="1" dirty="0">
                <a:latin typeface="华文楷体" panose="02010600040101010101" pitchFamily="2" charset="-122"/>
                <a:ea typeface="华文楷体" panose="02010600040101010101" pitchFamily="2" charset="-122"/>
              </a:rPr>
              <a:t>数据</a:t>
            </a:r>
            <a:r>
              <a:rPr lang="en-US" altLang="en-US" sz="2600" b="1" dirty="0" err="1">
                <a:latin typeface="华文楷体" panose="02010600040101010101" pitchFamily="2" charset="-122"/>
                <a:ea typeface="华文楷体" panose="02010600040101010101" pitchFamily="2" charset="-122"/>
              </a:rPr>
              <a:t>元素通常由若干数据项构成</a:t>
            </a:r>
            <a:r>
              <a:rPr lang="zh-CN" altLang="en-US" sz="2600" b="1" dirty="0">
                <a:latin typeface="华文楷体" panose="02010600040101010101" pitchFamily="2" charset="-122"/>
                <a:ea typeface="华文楷体" panose="02010600040101010101" pitchFamily="2" charset="-122"/>
              </a:rPr>
              <a:t>。</a:t>
            </a:r>
            <a:endParaRPr lang="en-US" altLang="en-US" sz="2600" b="1" dirty="0">
              <a:latin typeface="华文楷体" panose="02010600040101010101" pitchFamily="2" charset="-122"/>
              <a:ea typeface="华文楷体" panose="02010600040101010101" pitchFamily="2" charset="-122"/>
            </a:endParaRPr>
          </a:p>
          <a:p>
            <a:pPr>
              <a:spcBef>
                <a:spcPts val="1800"/>
              </a:spcBef>
            </a:pPr>
            <a:r>
              <a:rPr lang="en-US" altLang="en-US" sz="2600" b="1" dirty="0" err="1">
                <a:solidFill>
                  <a:srgbClr val="0000FF"/>
                </a:solidFill>
                <a:latin typeface="华文楷体" panose="02010600040101010101" pitchFamily="2" charset="-122"/>
                <a:ea typeface="华文楷体" panose="02010600040101010101" pitchFamily="2" charset="-122"/>
              </a:rPr>
              <a:t>查找</a:t>
            </a:r>
            <a:r>
              <a:rPr lang="en-US" altLang="en-US" sz="2600" b="1" dirty="0">
                <a:latin typeface="华文楷体" panose="02010600040101010101" pitchFamily="2" charset="-122"/>
                <a:ea typeface="华文楷体" panose="02010600040101010101" pitchFamily="2" charset="-122"/>
              </a:rPr>
              <a:t> (Searching)</a:t>
            </a:r>
            <a:r>
              <a:rPr lang="zh-CN" altLang="en-US" sz="2600" b="1" dirty="0">
                <a:latin typeface="华文楷体" panose="02010600040101010101" pitchFamily="2" charset="-122"/>
                <a:ea typeface="华文楷体" panose="02010600040101010101" pitchFamily="2" charset="-122"/>
              </a:rPr>
              <a:t>：即在具有众多元素的</a:t>
            </a:r>
            <a:r>
              <a:rPr lang="en-US" altLang="en-US" sz="2600" b="1" dirty="0" err="1">
                <a:latin typeface="华文楷体" panose="02010600040101010101" pitchFamily="2" charset="-122"/>
                <a:ea typeface="华文楷体" panose="02010600040101010101" pitchFamily="2" charset="-122"/>
              </a:rPr>
              <a:t>查找表中</a:t>
            </a:r>
            <a:r>
              <a:rPr lang="zh-CN" altLang="en-US" sz="2600" b="1" dirty="0">
                <a:latin typeface="华文楷体" panose="02010600040101010101" pitchFamily="2" charset="-122"/>
                <a:ea typeface="华文楷体" panose="02010600040101010101" pitchFamily="2" charset="-122"/>
              </a:rPr>
              <a:t>找出某个“特定”</a:t>
            </a:r>
            <a:r>
              <a:rPr lang="en-US" altLang="en-US" sz="2600" b="1" dirty="0" err="1">
                <a:latin typeface="华文楷体" panose="02010600040101010101" pitchFamily="2" charset="-122"/>
                <a:ea typeface="华文楷体" panose="02010600040101010101" pitchFamily="2" charset="-122"/>
              </a:rPr>
              <a:t>的数据元素</a:t>
            </a:r>
            <a:r>
              <a:rPr lang="zh-CN" altLang="en-US" sz="2600" b="1" dirty="0">
                <a:latin typeface="华文楷体" panose="02010600040101010101" pitchFamily="2" charset="-122"/>
                <a:ea typeface="华文楷体" panose="02010600040101010101" pitchFamily="2" charset="-122"/>
              </a:rPr>
              <a:t>或记录。</a:t>
            </a:r>
            <a:endParaRPr lang="en-US" altLang="en-US" sz="2600" b="1" dirty="0">
              <a:latin typeface="华文楷体" panose="02010600040101010101" pitchFamily="2" charset="-122"/>
              <a:ea typeface="华文楷体" panose="02010600040101010101" pitchFamily="2" charset="-122"/>
            </a:endParaRPr>
          </a:p>
          <a:p>
            <a:pPr marL="0" indent="0">
              <a:buNone/>
            </a:pPr>
            <a:endParaRPr lang="en-US" altLang="en-US" b="1" dirty="0">
              <a:latin typeface="华文楷体" panose="02010600040101010101" pitchFamily="2" charset="-122"/>
              <a:ea typeface="华文楷体" panose="02010600040101010101" pitchFamily="2" charset="-122"/>
            </a:endParaRPr>
          </a:p>
          <a:p>
            <a:r>
              <a:rPr lang="en-US" altLang="en-US" sz="2600" b="1" dirty="0" err="1">
                <a:solidFill>
                  <a:srgbClr val="FF0000"/>
                </a:solidFill>
                <a:latin typeface="华文楷体" panose="02010600040101010101" pitchFamily="2" charset="-122"/>
                <a:ea typeface="华文楷体" panose="02010600040101010101" pitchFamily="2" charset="-122"/>
              </a:rPr>
              <a:t>关键字</a:t>
            </a:r>
            <a:r>
              <a:rPr lang="en-US" altLang="en-US" sz="2600" b="1" dirty="0">
                <a:latin typeface="华文楷体" panose="02010600040101010101" pitchFamily="2" charset="-122"/>
                <a:ea typeface="华文楷体" panose="02010600040101010101" pitchFamily="2" charset="-122"/>
              </a:rPr>
              <a:t>(</a:t>
            </a:r>
            <a:r>
              <a:rPr lang="en-US" altLang="en-US" sz="2600" b="1" dirty="0" err="1">
                <a:latin typeface="华文楷体" panose="02010600040101010101" pitchFamily="2" charset="-122"/>
                <a:ea typeface="华文楷体" panose="02010600040101010101" pitchFamily="2" charset="-122"/>
              </a:rPr>
              <a:t>Key，码</a:t>
            </a:r>
            <a:r>
              <a:rPr lang="en-US" altLang="en-US" sz="2600" b="1" dirty="0">
                <a:latin typeface="华文楷体" panose="02010600040101010101" pitchFamily="2" charset="-122"/>
                <a:ea typeface="华文楷体" panose="02010600040101010101" pitchFamily="2" charset="-122"/>
              </a:rPr>
              <a:t>)：</a:t>
            </a:r>
            <a:r>
              <a:rPr lang="en-US" altLang="en-US" sz="2600" b="1" dirty="0" err="1">
                <a:latin typeface="华文楷体" panose="02010600040101010101" pitchFamily="2" charset="-122"/>
                <a:ea typeface="华文楷体" panose="02010600040101010101" pitchFamily="2" charset="-122"/>
              </a:rPr>
              <a:t>数据元素中某个</a:t>
            </a:r>
            <a:r>
              <a:rPr lang="en-US" altLang="en-US" sz="2600" b="1" dirty="0">
                <a:latin typeface="华文楷体" panose="02010600040101010101" pitchFamily="2" charset="-122"/>
                <a:ea typeface="华文楷体" panose="02010600040101010101" pitchFamily="2" charset="-122"/>
              </a:rPr>
              <a:t>(</a:t>
            </a:r>
            <a:r>
              <a:rPr lang="en-US" altLang="en-US" sz="2600" b="1" dirty="0" err="1">
                <a:latin typeface="华文楷体" panose="02010600040101010101" pitchFamily="2" charset="-122"/>
                <a:ea typeface="华文楷体" panose="02010600040101010101" pitchFamily="2" charset="-122"/>
              </a:rPr>
              <a:t>或几个</a:t>
            </a:r>
            <a:r>
              <a:rPr lang="en-US" altLang="en-US" sz="2600" b="1" dirty="0">
                <a:latin typeface="华文楷体" panose="02010600040101010101" pitchFamily="2" charset="-122"/>
                <a:ea typeface="华文楷体" panose="02010600040101010101" pitchFamily="2" charset="-122"/>
              </a:rPr>
              <a:t>)</a:t>
            </a:r>
            <a:r>
              <a:rPr lang="en-US" altLang="en-US" sz="2600" b="1" dirty="0" err="1">
                <a:latin typeface="华文楷体" panose="02010600040101010101" pitchFamily="2" charset="-122"/>
                <a:ea typeface="华文楷体" panose="02010600040101010101" pitchFamily="2" charset="-122"/>
              </a:rPr>
              <a:t>数据项的值，它可以标识一个数据元素</a:t>
            </a:r>
            <a:endParaRPr lang="en-US" altLang="en-US" sz="2600" b="1" dirty="0">
              <a:latin typeface="华文楷体" panose="02010600040101010101" pitchFamily="2" charset="-122"/>
              <a:ea typeface="华文楷体" panose="02010600040101010101" pitchFamily="2" charset="-122"/>
            </a:endParaRPr>
          </a:p>
          <a:p>
            <a:pPr lvl="1"/>
            <a:r>
              <a:rPr lang="en-US" altLang="en-US" sz="2600" b="1" dirty="0" err="1">
                <a:solidFill>
                  <a:schemeClr val="accent6"/>
                </a:solidFill>
                <a:latin typeface="华文楷体" panose="02010600040101010101" pitchFamily="2" charset="-122"/>
                <a:ea typeface="华文楷体" panose="02010600040101010101" pitchFamily="2" charset="-122"/>
              </a:rPr>
              <a:t>主关键字</a:t>
            </a:r>
            <a:r>
              <a:rPr lang="en-US" altLang="en-US" sz="2600" b="1" dirty="0">
                <a:latin typeface="华文楷体" panose="02010600040101010101" pitchFamily="2" charset="-122"/>
                <a:ea typeface="华文楷体" panose="02010600040101010101" pitchFamily="2" charset="-122"/>
              </a:rPr>
              <a:t>(Primary Key)</a:t>
            </a:r>
            <a:r>
              <a:rPr lang="zh-CN" altLang="en-US" sz="2600" b="1" dirty="0">
                <a:latin typeface="华文楷体" panose="02010600040101010101" pitchFamily="2" charset="-122"/>
                <a:ea typeface="华文楷体" panose="02010600040101010101" pitchFamily="2" charset="-122"/>
              </a:rPr>
              <a:t>：</a:t>
            </a:r>
            <a:r>
              <a:rPr lang="en-US" altLang="en-US" sz="2600" b="1" dirty="0" err="1">
                <a:latin typeface="华文楷体" panose="02010600040101010101" pitchFamily="2" charset="-122"/>
                <a:ea typeface="华文楷体" panose="02010600040101010101" pitchFamily="2" charset="-122"/>
              </a:rPr>
              <a:t>能唯一标识一个数据元素</a:t>
            </a:r>
            <a:r>
              <a:rPr lang="zh-CN" altLang="en-US" sz="2600" b="1" dirty="0">
                <a:latin typeface="华文楷体" panose="02010600040101010101" pitchFamily="2" charset="-122"/>
                <a:ea typeface="华文楷体" panose="02010600040101010101" pitchFamily="2" charset="-122"/>
              </a:rPr>
              <a:t>的</a:t>
            </a:r>
            <a:r>
              <a:rPr lang="en-US" altLang="en-US" sz="2600" b="1" dirty="0" err="1">
                <a:latin typeface="华文楷体" panose="02010600040101010101" pitchFamily="2" charset="-122"/>
                <a:ea typeface="华文楷体" panose="02010600040101010101" pitchFamily="2" charset="-122"/>
              </a:rPr>
              <a:t>关键字</a:t>
            </a:r>
            <a:endParaRPr lang="en-US" altLang="en-US" sz="2600" b="1" dirty="0">
              <a:latin typeface="华文楷体" panose="02010600040101010101" pitchFamily="2" charset="-122"/>
              <a:ea typeface="华文楷体" panose="02010600040101010101" pitchFamily="2" charset="-122"/>
            </a:endParaRPr>
          </a:p>
          <a:p>
            <a:pPr lvl="1"/>
            <a:r>
              <a:rPr lang="en-US" altLang="en-US" sz="2600" b="1" dirty="0" err="1">
                <a:solidFill>
                  <a:schemeClr val="accent6"/>
                </a:solidFill>
                <a:latin typeface="华文楷体" panose="02010600040101010101" pitchFamily="2" charset="-122"/>
                <a:ea typeface="华文楷体" panose="02010600040101010101" pitchFamily="2" charset="-122"/>
              </a:rPr>
              <a:t>次关键字</a:t>
            </a:r>
            <a:r>
              <a:rPr lang="en-US" altLang="en-US" sz="2600" b="1" dirty="0">
                <a:latin typeface="华文楷体" panose="02010600040101010101" pitchFamily="2" charset="-122"/>
                <a:ea typeface="华文楷体" panose="02010600040101010101" pitchFamily="2" charset="-122"/>
              </a:rPr>
              <a:t>(Secondary Key)</a:t>
            </a:r>
            <a:r>
              <a:rPr lang="zh-CN" altLang="en-US" sz="2600" b="1" dirty="0">
                <a:latin typeface="华文楷体" panose="02010600040101010101" pitchFamily="2" charset="-122"/>
                <a:ea typeface="华文楷体" panose="02010600040101010101" pitchFamily="2" charset="-122"/>
              </a:rPr>
              <a:t>：</a:t>
            </a:r>
            <a:r>
              <a:rPr lang="en-US" altLang="en-US" sz="2600" b="1" dirty="0" err="1">
                <a:latin typeface="华文楷体" panose="02010600040101010101" pitchFamily="2" charset="-122"/>
                <a:ea typeface="华文楷体" panose="02010600040101010101" pitchFamily="2" charset="-122"/>
              </a:rPr>
              <a:t>能标识若干个数据元素的关键字</a:t>
            </a:r>
            <a:endParaRPr lang="en-US" altLang="en-US" sz="2600" b="1" dirty="0">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3</a:t>
            </a:fld>
            <a:endParaRPr lang="zh-CN" altLang="en-US"/>
          </a:p>
        </p:txBody>
      </p:sp>
    </p:spTree>
    <p:extLst>
      <p:ext uri="{BB962C8B-B14F-4D97-AF65-F5344CB8AC3E}">
        <p14:creationId xmlns:p14="http://schemas.microsoft.com/office/powerpoint/2010/main" val="3416982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54" name="Rectangle 2"/>
          <p:cNvSpPr>
            <a:spLocks noGrp="1" noChangeArrowheads="1"/>
          </p:cNvSpPr>
          <p:nvPr>
            <p:ph idx="1"/>
          </p:nvPr>
        </p:nvSpPr>
        <p:spPr>
          <a:xfrm>
            <a:off x="323528" y="1098611"/>
            <a:ext cx="6450396" cy="2669646"/>
          </a:xfrm>
        </p:spPr>
        <p:txBody>
          <a:bodyPr>
            <a:normAutofit/>
          </a:bodyPr>
          <a:lstStyle/>
          <a:p>
            <a:r>
              <a:rPr lang="zh-CN" altLang="en-US" sz="2400" b="1" dirty="0">
                <a:latin typeface="华文楷体" panose="02010600040101010101" pitchFamily="2" charset="-122"/>
                <a:ea typeface="华文楷体" panose="02010600040101010101" pitchFamily="2" charset="-122"/>
              </a:rPr>
              <a:t>数据元素的</a:t>
            </a:r>
            <a:r>
              <a:rPr lang="zh-CN" altLang="en-US" sz="2400" b="1" dirty="0">
                <a:solidFill>
                  <a:srgbClr val="0000FF"/>
                </a:solidFill>
                <a:latin typeface="华文楷体" panose="02010600040101010101" pitchFamily="2" charset="-122"/>
                <a:ea typeface="华文楷体" panose="02010600040101010101" pitchFamily="2" charset="-122"/>
              </a:rPr>
              <a:t>关键字</a:t>
            </a:r>
            <a:r>
              <a:rPr lang="zh-CN" altLang="en-US" sz="2400" b="1" dirty="0">
                <a:latin typeface="华文楷体" panose="02010600040101010101" pitchFamily="2" charset="-122"/>
                <a:ea typeface="华文楷体" panose="02010600040101010101" pitchFamily="2" charset="-122"/>
              </a:rPr>
              <a:t>：其类型通常是可以</a:t>
            </a:r>
            <a:r>
              <a:rPr lang="zh-CN" altLang="en-US" sz="2400" b="1" dirty="0">
                <a:solidFill>
                  <a:srgbClr val="6600CC"/>
                </a:solidFill>
                <a:latin typeface="华文楷体" panose="02010600040101010101" pitchFamily="2" charset="-122"/>
                <a:ea typeface="华文楷体" panose="02010600040101010101" pitchFamily="2" charset="-122"/>
              </a:rPr>
              <a:t>进行比较运算</a:t>
            </a:r>
            <a:r>
              <a:rPr lang="zh-CN" altLang="en-US" sz="2400" b="1" dirty="0">
                <a:latin typeface="华文楷体" panose="02010600040101010101" pitchFamily="2" charset="-122"/>
                <a:ea typeface="华文楷体" panose="02010600040101010101" pitchFamily="2" charset="-122"/>
              </a:rPr>
              <a:t>的类型</a:t>
            </a:r>
            <a:endParaRPr lang="en-US" altLang="en-US" sz="2400" b="1" dirty="0">
              <a:latin typeface="华文楷体" panose="02010600040101010101" pitchFamily="2" charset="-122"/>
              <a:ea typeface="华文楷体" panose="02010600040101010101" pitchFamily="2" charset="-122"/>
            </a:endParaRPr>
          </a:p>
          <a:p>
            <a:pPr>
              <a:spcBef>
                <a:spcPts val="1200"/>
              </a:spcBef>
            </a:pPr>
            <a:r>
              <a:rPr lang="en-US" altLang="en-US" sz="2400" b="1" dirty="0" err="1">
                <a:latin typeface="华文楷体" panose="02010600040101010101" pitchFamily="2" charset="-122"/>
                <a:ea typeface="华文楷体" panose="02010600040101010101" pitchFamily="2" charset="-122"/>
              </a:rPr>
              <a:t>典型的关键字类型</a:t>
            </a:r>
            <a:endParaRPr lang="en-US" altLang="en-US" sz="2400" b="1" dirty="0">
              <a:latin typeface="华文楷体" panose="02010600040101010101" pitchFamily="2" charset="-122"/>
              <a:ea typeface="华文楷体" panose="02010600040101010101" pitchFamily="2" charset="-122"/>
            </a:endParaRPr>
          </a:p>
          <a:p>
            <a:pPr marL="400050" lvl="1" indent="0">
              <a:buNone/>
            </a:pPr>
            <a:r>
              <a:rPr lang="en-US" altLang="en-US" sz="2400" b="1" dirty="0">
                <a:latin typeface="华文楷体" panose="02010600040101010101" pitchFamily="2" charset="-122"/>
                <a:ea typeface="华文楷体" panose="02010600040101010101" pitchFamily="2" charset="-122"/>
              </a:rPr>
              <a:t>typedef  float    </a:t>
            </a:r>
            <a:r>
              <a:rPr lang="en-US" altLang="en-US" sz="2400" b="1" dirty="0" err="1">
                <a:latin typeface="华文楷体" panose="02010600040101010101" pitchFamily="2" charset="-122"/>
                <a:ea typeface="华文楷体" panose="02010600040101010101" pitchFamily="2" charset="-122"/>
              </a:rPr>
              <a:t>KeyType</a:t>
            </a:r>
            <a:r>
              <a:rPr lang="en-US" altLang="en-US" sz="2400" b="1" dirty="0">
                <a:latin typeface="华文楷体" panose="02010600040101010101" pitchFamily="2" charset="-122"/>
                <a:ea typeface="华文楷体" panose="02010600040101010101" pitchFamily="2" charset="-122"/>
              </a:rPr>
              <a:t> ;  </a:t>
            </a:r>
          </a:p>
          <a:p>
            <a:pPr marL="400050" lvl="1" indent="0">
              <a:buNone/>
            </a:pPr>
            <a:r>
              <a:rPr lang="en-US" altLang="en-US" sz="2400" b="1" dirty="0">
                <a:latin typeface="华文楷体" panose="02010600040101010101" pitchFamily="2" charset="-122"/>
                <a:ea typeface="华文楷体" panose="02010600040101010101" pitchFamily="2" charset="-122"/>
              </a:rPr>
              <a:t>typedef  int       </a:t>
            </a:r>
            <a:r>
              <a:rPr lang="en-US" altLang="en-US" sz="2400" b="1" dirty="0" err="1">
                <a:latin typeface="华文楷体" panose="02010600040101010101" pitchFamily="2" charset="-122"/>
                <a:ea typeface="华文楷体" panose="02010600040101010101" pitchFamily="2" charset="-122"/>
              </a:rPr>
              <a:t>KeyType</a:t>
            </a:r>
            <a:r>
              <a:rPr lang="zh-CN" altLang="en-US" sz="2400" b="1" dirty="0">
                <a:latin typeface="华文楷体" panose="02010600040101010101" pitchFamily="2" charset="-122"/>
                <a:ea typeface="华文楷体" panose="02010600040101010101" pitchFamily="2" charset="-122"/>
              </a:rPr>
              <a:t>；</a:t>
            </a:r>
            <a:endParaRPr lang="en-US" altLang="en-US" sz="2400" b="1" dirty="0">
              <a:latin typeface="华文楷体" panose="02010600040101010101" pitchFamily="2" charset="-122"/>
              <a:ea typeface="华文楷体" panose="02010600040101010101" pitchFamily="2" charset="-122"/>
            </a:endParaRPr>
          </a:p>
          <a:p>
            <a:pPr marL="400050" lvl="1" indent="0">
              <a:buNone/>
            </a:pPr>
            <a:r>
              <a:rPr lang="en-US" altLang="en-US" sz="2400" b="1" dirty="0" err="1">
                <a:latin typeface="华文楷体" panose="02010600040101010101" pitchFamily="2" charset="-122"/>
                <a:ea typeface="华文楷体" panose="02010600040101010101" pitchFamily="2" charset="-122"/>
              </a:rPr>
              <a:t>ypedef</a:t>
            </a:r>
            <a:r>
              <a:rPr lang="en-US" altLang="en-US" sz="2400" b="1" dirty="0">
                <a:latin typeface="华文楷体" panose="02010600040101010101" pitchFamily="2" charset="-122"/>
                <a:ea typeface="华文楷体" panose="02010600040101010101" pitchFamily="2" charset="-122"/>
              </a:rPr>
              <a:t>  char    </a:t>
            </a:r>
            <a:r>
              <a:rPr lang="en-US" altLang="en-US" sz="2400" b="1" dirty="0" err="1">
                <a:latin typeface="华文楷体" panose="02010600040101010101" pitchFamily="2" charset="-122"/>
                <a:ea typeface="华文楷体" panose="02010600040101010101" pitchFamily="2" charset="-122"/>
              </a:rPr>
              <a:t>KeyType</a:t>
            </a:r>
            <a:r>
              <a:rPr lang="en-US" altLang="en-US" sz="2400" b="1" dirty="0">
                <a:latin typeface="华文楷体" panose="02010600040101010101" pitchFamily="2" charset="-122"/>
                <a:ea typeface="华文楷体" panose="02010600040101010101" pitchFamily="2" charset="-122"/>
              </a:rPr>
              <a:t> ;  </a:t>
            </a:r>
          </a:p>
          <a:p>
            <a:pPr marL="0" indent="0">
              <a:buNone/>
            </a:pPr>
            <a:endParaRPr lang="en-US"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t>4</a:t>
            </a:fld>
            <a:endParaRPr lang="zh-CN" altLang="en-US"/>
          </a:p>
        </p:txBody>
      </p:sp>
      <p:sp>
        <p:nvSpPr>
          <p:cNvPr id="6" name="Rectangle 2">
            <a:extLst>
              <a:ext uri="{FF2B5EF4-FFF2-40B4-BE49-F238E27FC236}">
                <a16:creationId xmlns="" xmlns:a16="http://schemas.microsoft.com/office/drawing/2014/main" id="{010E85FE-66BB-44ED-B4E4-656F73A7FBA2}"/>
              </a:ext>
            </a:extLst>
          </p:cNvPr>
          <p:cNvSpPr txBox="1">
            <a:spLocks noChangeArrowheads="1"/>
          </p:cNvSpPr>
          <p:nvPr/>
        </p:nvSpPr>
        <p:spPr>
          <a:xfrm>
            <a:off x="3848826" y="2502683"/>
            <a:ext cx="5295174" cy="201622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宋体" panose="02010600030101010101" pitchFamily="2"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宋体" panose="02010600030101010101" pitchFamily="2"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宋体" panose="02010600030101010101" pitchFamily="2"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宋体" panose="02010600030101010101" pitchFamily="2"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宋体" panose="02010600030101010101"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endParaRPr lang="en-US" altLang="en-US" sz="32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 name="Rectangle 2">
            <a:extLst>
              <a:ext uri="{FF2B5EF4-FFF2-40B4-BE49-F238E27FC236}">
                <a16:creationId xmlns="" xmlns:a16="http://schemas.microsoft.com/office/drawing/2014/main" id="{09204917-5066-41A6-B992-2D9B476F1B3A}"/>
              </a:ext>
            </a:extLst>
          </p:cNvPr>
          <p:cNvSpPr txBox="1">
            <a:spLocks noChangeArrowheads="1"/>
          </p:cNvSpPr>
          <p:nvPr/>
        </p:nvSpPr>
        <p:spPr>
          <a:xfrm>
            <a:off x="539552" y="4780784"/>
            <a:ext cx="6840760" cy="201622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宋体" panose="02010600030101010101" pitchFamily="2"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宋体" panose="02010600030101010101" pitchFamily="2"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宋体" panose="02010600030101010101" pitchFamily="2"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宋体" panose="02010600030101010101" pitchFamily="2"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宋体" panose="02010600030101010101"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endParaRPr lang="en-US" altLang="en-US" sz="32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Rectangle 2">
            <a:extLst>
              <a:ext uri="{FF2B5EF4-FFF2-40B4-BE49-F238E27FC236}">
                <a16:creationId xmlns="" xmlns:a16="http://schemas.microsoft.com/office/drawing/2014/main" id="{9649B44A-1455-4274-9B35-4FD3D34016C5}"/>
              </a:ext>
            </a:extLst>
          </p:cNvPr>
          <p:cNvSpPr txBox="1">
            <a:spLocks noChangeArrowheads="1"/>
          </p:cNvSpPr>
          <p:nvPr/>
        </p:nvSpPr>
        <p:spPr>
          <a:xfrm>
            <a:off x="4068687" y="4154401"/>
            <a:ext cx="5122912" cy="2343751"/>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宋体" panose="02010600030101010101" pitchFamily="2"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宋体" panose="02010600030101010101" pitchFamily="2"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宋体" panose="02010600030101010101" pitchFamily="2"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宋体" panose="02010600030101010101" pitchFamily="2"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宋体" panose="02010600030101010101"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1800"/>
              </a:spcBef>
            </a:pPr>
            <a:r>
              <a:rPr lang="en-US" altLang="en-US" sz="2400" b="1" dirty="0" err="1">
                <a:solidFill>
                  <a:srgbClr val="0000FF"/>
                </a:solidFill>
                <a:latin typeface="华文楷体" panose="02010600040101010101" pitchFamily="2" charset="-122"/>
                <a:ea typeface="华文楷体" panose="02010600040101010101" pitchFamily="2" charset="-122"/>
              </a:rPr>
              <a:t>数据元素</a:t>
            </a:r>
            <a:r>
              <a:rPr lang="en-US" altLang="en-US" sz="2400" b="1" dirty="0" err="1">
                <a:latin typeface="华文楷体" panose="02010600040101010101" pitchFamily="2" charset="-122"/>
                <a:ea typeface="华文楷体" panose="02010600040101010101" pitchFamily="2" charset="-122"/>
              </a:rPr>
              <a:t>类型</a:t>
            </a:r>
            <a:endParaRPr lang="en-US" altLang="en-US" sz="2400" b="1" dirty="0">
              <a:latin typeface="华文楷体" panose="02010600040101010101" pitchFamily="2" charset="-122"/>
              <a:ea typeface="华文楷体" panose="02010600040101010101" pitchFamily="2" charset="-122"/>
            </a:endParaRPr>
          </a:p>
          <a:p>
            <a:pPr marL="400050" lvl="1" indent="0">
              <a:buFont typeface="Arial" pitchFamily="34" charset="0"/>
              <a:buNone/>
            </a:pPr>
            <a:r>
              <a:rPr lang="en-US" altLang="en-US" sz="2400" b="1" dirty="0">
                <a:latin typeface="华文楷体" panose="02010600040101010101" pitchFamily="2" charset="-122"/>
                <a:ea typeface="华文楷体" panose="02010600040101010101" pitchFamily="2" charset="-122"/>
              </a:rPr>
              <a:t>typedef  struct  </a:t>
            </a:r>
            <a:r>
              <a:rPr lang="en-US" altLang="en-US" sz="2400" b="1" dirty="0" err="1">
                <a:latin typeface="华文楷体" panose="02010600040101010101" pitchFamily="2" charset="-122"/>
                <a:ea typeface="华文楷体" panose="02010600040101010101" pitchFamily="2" charset="-122"/>
              </a:rPr>
              <a:t>RecType</a:t>
            </a:r>
            <a:r>
              <a:rPr lang="en-US" altLang="en-US" sz="2400" b="1" dirty="0">
                <a:latin typeface="华文楷体" panose="02010600040101010101" pitchFamily="2" charset="-122"/>
                <a:ea typeface="华文楷体" panose="02010600040101010101" pitchFamily="2" charset="-122"/>
              </a:rPr>
              <a:t> </a:t>
            </a:r>
            <a:r>
              <a:rPr lang="en-US" altLang="zh-CN" sz="2400" b="1" dirty="0">
                <a:latin typeface="华文楷体" panose="02010600040101010101" pitchFamily="2" charset="-122"/>
                <a:ea typeface="华文楷体" panose="02010600040101010101" pitchFamily="2" charset="-122"/>
              </a:rPr>
              <a:t>{</a:t>
            </a:r>
            <a:endParaRPr lang="en-US" altLang="en-US" sz="2400" b="1" dirty="0">
              <a:latin typeface="华文楷体" panose="02010600040101010101" pitchFamily="2" charset="-122"/>
              <a:ea typeface="华文楷体" panose="02010600040101010101" pitchFamily="2" charset="-122"/>
            </a:endParaRPr>
          </a:p>
          <a:p>
            <a:pPr marL="800100" lvl="2" indent="0">
              <a:buFont typeface="Arial" pitchFamily="34" charset="0"/>
              <a:buNone/>
            </a:pPr>
            <a:r>
              <a:rPr lang="en-US" altLang="en-US" b="1" dirty="0" err="1">
                <a:latin typeface="华文楷体" panose="02010600040101010101" pitchFamily="2" charset="-122"/>
                <a:ea typeface="华文楷体" panose="02010600040101010101" pitchFamily="2" charset="-122"/>
              </a:rPr>
              <a:t>KeyType</a:t>
            </a:r>
            <a:r>
              <a:rPr lang="en-US" altLang="en-US" b="1" dirty="0">
                <a:latin typeface="华文楷体" panose="02010600040101010101" pitchFamily="2" charset="-122"/>
                <a:ea typeface="华文楷体" panose="02010600040101010101" pitchFamily="2" charset="-122"/>
              </a:rPr>
              <a:t>  key ; //</a:t>
            </a:r>
            <a:r>
              <a:rPr lang="en-US" altLang="en-US" b="1" dirty="0" err="1">
                <a:latin typeface="华文楷体" panose="02010600040101010101" pitchFamily="2" charset="-122"/>
                <a:ea typeface="华文楷体" panose="02010600040101010101" pitchFamily="2" charset="-122"/>
              </a:rPr>
              <a:t>关键字</a:t>
            </a:r>
            <a:r>
              <a:rPr lang="zh-CN" altLang="en-US" b="1" dirty="0">
                <a:latin typeface="华文楷体" panose="02010600040101010101" pitchFamily="2" charset="-122"/>
                <a:ea typeface="华文楷体" panose="02010600040101010101" pitchFamily="2" charset="-122"/>
              </a:rPr>
              <a:t>域</a:t>
            </a:r>
            <a:r>
              <a:rPr lang="en-US" altLang="en-US" b="1" dirty="0">
                <a:latin typeface="华文楷体" panose="02010600040101010101" pitchFamily="2" charset="-122"/>
                <a:ea typeface="华文楷体" panose="02010600040101010101" pitchFamily="2" charset="-122"/>
              </a:rPr>
              <a:t> </a:t>
            </a:r>
          </a:p>
          <a:p>
            <a:pPr marL="800100" lvl="2" indent="0">
              <a:buFont typeface="Arial" pitchFamily="34" charset="0"/>
              <a:buNone/>
            </a:pPr>
            <a:r>
              <a:rPr lang="en-US" altLang="en-US" b="1" dirty="0">
                <a:latin typeface="华文楷体" panose="02010600040101010101" pitchFamily="2" charset="-122"/>
                <a:ea typeface="华文楷体" panose="02010600040101010101" pitchFamily="2" charset="-122"/>
              </a:rPr>
              <a:t>… … //</a:t>
            </a:r>
            <a:r>
              <a:rPr lang="en-US" altLang="en-US" b="1" dirty="0" err="1">
                <a:latin typeface="华文楷体" panose="02010600040101010101" pitchFamily="2" charset="-122"/>
                <a:ea typeface="华文楷体" panose="02010600040101010101" pitchFamily="2" charset="-122"/>
              </a:rPr>
              <a:t>其他域</a:t>
            </a:r>
            <a:r>
              <a:rPr lang="en-US" altLang="en-US" b="1" dirty="0">
                <a:latin typeface="华文楷体" panose="02010600040101010101" pitchFamily="2" charset="-122"/>
                <a:ea typeface="华文楷体" panose="02010600040101010101" pitchFamily="2" charset="-122"/>
              </a:rPr>
              <a:t> </a:t>
            </a:r>
          </a:p>
          <a:p>
            <a:pPr marL="400050" lvl="1" indent="0">
              <a:buFont typeface="Arial" pitchFamily="34" charset="0"/>
              <a:buNone/>
            </a:pPr>
            <a:r>
              <a:rPr lang="en-US" altLang="en-US" sz="2400" b="1" dirty="0">
                <a:latin typeface="华文楷体" panose="02010600040101010101" pitchFamily="2" charset="-122"/>
                <a:ea typeface="华文楷体" panose="02010600040101010101" pitchFamily="2" charset="-122"/>
              </a:rPr>
              <a:t>} </a:t>
            </a:r>
            <a:r>
              <a:rPr lang="en-US" altLang="en-US" sz="2400" b="1" dirty="0" err="1">
                <a:latin typeface="华文楷体" panose="02010600040101010101" pitchFamily="2" charset="-122"/>
                <a:ea typeface="华文楷体" panose="02010600040101010101" pitchFamily="2" charset="-122"/>
              </a:rPr>
              <a:t>SElemType</a:t>
            </a:r>
            <a:r>
              <a:rPr lang="en-US" altLang="en-US" sz="2400" b="1" dirty="0">
                <a:latin typeface="华文楷体" panose="02010600040101010101" pitchFamily="2" charset="-122"/>
                <a:ea typeface="华文楷体" panose="02010600040101010101" pitchFamily="2" charset="-122"/>
              </a:rPr>
              <a:t> ;</a:t>
            </a:r>
          </a:p>
          <a:p>
            <a:pPr marL="400050" lvl="1" indent="0">
              <a:buFont typeface="Arial" pitchFamily="34" charset="0"/>
              <a:buNone/>
            </a:pPr>
            <a:endParaRPr lang="en-US" altLang="en-US" sz="32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0" name="标题 1">
            <a:extLst>
              <a:ext uri="{FF2B5EF4-FFF2-40B4-BE49-F238E27FC236}">
                <a16:creationId xmlns="" xmlns:a16="http://schemas.microsoft.com/office/drawing/2014/main" id="{B80486AE-2B95-4A30-986A-1C0EB8B63B49}"/>
              </a:ext>
            </a:extLst>
          </p:cNvPr>
          <p:cNvSpPr>
            <a:spLocks noGrp="1"/>
          </p:cNvSpPr>
          <p:nvPr>
            <p:ph type="title"/>
          </p:nvPr>
        </p:nvSpPr>
        <p:spPr>
          <a:xfrm>
            <a:off x="34347" y="0"/>
            <a:ext cx="8229600" cy="720080"/>
          </a:xfrm>
        </p:spPr>
        <p:txBody>
          <a:bodyPr/>
          <a:lstStyle/>
          <a:p>
            <a:pPr algn="l"/>
            <a:r>
              <a:rPr lang="zh-CN" altLang="en-US" dirty="0">
                <a:latin typeface="华文琥珀" panose="02010800040101010101" pitchFamily="2" charset="-122"/>
                <a:ea typeface="华文琥珀" panose="02010800040101010101" pitchFamily="2" charset="-122"/>
              </a:rPr>
              <a:t>基本</a:t>
            </a:r>
            <a:r>
              <a:rPr lang="en-US" altLang="en-US" dirty="0" err="1">
                <a:latin typeface="华文琥珀" panose="02010800040101010101" pitchFamily="2" charset="-122"/>
                <a:ea typeface="华文琥珀" panose="02010800040101010101" pitchFamily="2" charset="-122"/>
              </a:rPr>
              <a:t>概念</a:t>
            </a:r>
            <a:r>
              <a:rPr lang="en-US" altLang="en-US" dirty="0">
                <a:latin typeface="华文琥珀" panose="02010800040101010101" pitchFamily="2" charset="-122"/>
                <a:ea typeface="华文琥珀" panose="02010800040101010101" pitchFamily="2" charset="-122"/>
              </a:rPr>
              <a:t>(1)</a:t>
            </a:r>
            <a:endParaRPr lang="en-US" dirty="0">
              <a:latin typeface="华文琥珀" panose="02010800040101010101" pitchFamily="2" charset="-122"/>
              <a:ea typeface="华文琥珀" panose="02010800040101010101" pitchFamily="2" charset="-122"/>
            </a:endParaRPr>
          </a:p>
        </p:txBody>
      </p:sp>
    </p:spTree>
    <p:extLst>
      <p:ext uri="{BB962C8B-B14F-4D97-AF65-F5344CB8AC3E}">
        <p14:creationId xmlns:p14="http://schemas.microsoft.com/office/powerpoint/2010/main" val="21898444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4347" y="0"/>
            <a:ext cx="8229600" cy="720080"/>
          </a:xfrm>
        </p:spPr>
        <p:txBody>
          <a:bodyPr/>
          <a:lstStyle/>
          <a:p>
            <a:pPr algn="l"/>
            <a:r>
              <a:rPr lang="zh-CN" altLang="en-US" dirty="0">
                <a:latin typeface="华文琥珀" panose="02010800040101010101" pitchFamily="2" charset="-122"/>
                <a:ea typeface="华文琥珀" panose="02010800040101010101" pitchFamily="2" charset="-122"/>
              </a:rPr>
              <a:t>基本</a:t>
            </a:r>
            <a:r>
              <a:rPr lang="en-US" altLang="en-US" dirty="0" err="1">
                <a:latin typeface="华文琥珀" panose="02010800040101010101" pitchFamily="2" charset="-122"/>
                <a:ea typeface="华文琥珀" panose="02010800040101010101" pitchFamily="2" charset="-122"/>
              </a:rPr>
              <a:t>概念</a:t>
            </a:r>
            <a:r>
              <a:rPr lang="en-US" altLang="en-US" dirty="0">
                <a:latin typeface="华文琥珀" panose="02010800040101010101" pitchFamily="2" charset="-122"/>
                <a:ea typeface="华文琥珀" panose="02010800040101010101" pitchFamily="2" charset="-122"/>
              </a:rPr>
              <a:t>(2)</a:t>
            </a:r>
            <a:endParaRPr lang="en-US" dirty="0">
              <a:latin typeface="华文琥珀" panose="02010800040101010101" pitchFamily="2" charset="-122"/>
              <a:ea typeface="华文琥珀" panose="02010800040101010101" pitchFamily="2" charset="-122"/>
            </a:endParaRPr>
          </a:p>
        </p:txBody>
      </p:sp>
      <p:sp>
        <p:nvSpPr>
          <p:cNvPr id="610306" name="Rectangle 2"/>
          <p:cNvSpPr>
            <a:spLocks noGrp="1" noChangeArrowheads="1"/>
          </p:cNvSpPr>
          <p:nvPr>
            <p:ph idx="1"/>
          </p:nvPr>
        </p:nvSpPr>
        <p:spPr>
          <a:xfrm>
            <a:off x="251520" y="1124744"/>
            <a:ext cx="8640960" cy="4983791"/>
          </a:xfrm>
        </p:spPr>
        <p:txBody>
          <a:bodyPr>
            <a:normAutofit/>
          </a:bodyPr>
          <a:lstStyle/>
          <a:p>
            <a:pPr marL="0" lvl="0" indent="0">
              <a:spcBef>
                <a:spcPts val="0"/>
              </a:spcBef>
              <a:buNone/>
              <a:defRPr/>
            </a:pPr>
            <a:r>
              <a:rPr lang="en-US" altLang="en-US" sz="3300" u="sng" dirty="0" err="1">
                <a:latin typeface="华文楷体" panose="02010600040101010101" pitchFamily="2" charset="-122"/>
                <a:ea typeface="华文楷体" panose="02010600040101010101" pitchFamily="2" charset="-122"/>
              </a:rPr>
              <a:t>查找</a:t>
            </a:r>
            <a:r>
              <a:rPr lang="zh-CN" altLang="en-US" sz="3300" u="sng" dirty="0">
                <a:latin typeface="华文楷体" panose="02010600040101010101" pitchFamily="2" charset="-122"/>
                <a:ea typeface="华文楷体" panose="02010600040101010101" pitchFamily="2" charset="-122"/>
              </a:rPr>
              <a:t>即</a:t>
            </a:r>
            <a:r>
              <a:rPr lang="en-US" altLang="en-US" sz="3300" u="sng" dirty="0" err="1">
                <a:latin typeface="华文楷体" panose="02010600040101010101" pitchFamily="2" charset="-122"/>
                <a:ea typeface="华文楷体" panose="02010600040101010101" pitchFamily="2" charset="-122"/>
              </a:rPr>
              <a:t>根据给定的K</a:t>
            </a:r>
            <a:r>
              <a:rPr lang="en-US" altLang="zh-CN" sz="3300" u="sng" dirty="0" err="1">
                <a:latin typeface="华文楷体" panose="02010600040101010101" pitchFamily="2" charset="-122"/>
                <a:ea typeface="华文楷体" panose="02010600040101010101" pitchFamily="2" charset="-122"/>
              </a:rPr>
              <a:t>ey</a:t>
            </a:r>
            <a:r>
              <a:rPr lang="en-US" altLang="en-US" sz="3300" u="sng" dirty="0" err="1">
                <a:latin typeface="华文楷体" panose="02010600040101010101" pitchFamily="2" charset="-122"/>
                <a:ea typeface="华文楷体" panose="02010600040101010101" pitchFamily="2" charset="-122"/>
              </a:rPr>
              <a:t>值，在查找表中确</a:t>
            </a:r>
            <a:r>
              <a:rPr lang="zh-CN" altLang="en-US" sz="3300" u="sng" dirty="0">
                <a:latin typeface="华文楷体" panose="02010600040101010101" pitchFamily="2" charset="-122"/>
                <a:ea typeface="华文楷体" panose="02010600040101010101" pitchFamily="2" charset="-122"/>
              </a:rPr>
              <a:t>定</a:t>
            </a:r>
            <a:r>
              <a:rPr lang="en-US" altLang="en-US" sz="3300" u="sng" dirty="0" err="1">
                <a:latin typeface="华文楷体" panose="02010600040101010101" pitchFamily="2" charset="-122"/>
                <a:ea typeface="华文楷体" panose="02010600040101010101" pitchFamily="2" charset="-122"/>
              </a:rPr>
              <a:t>关键字等于给定值的数据元素</a:t>
            </a:r>
            <a:r>
              <a:rPr lang="zh-CN" altLang="en-US" sz="3300" u="sng" dirty="0">
                <a:latin typeface="华文楷体" panose="02010600040101010101" pitchFamily="2" charset="-122"/>
                <a:ea typeface="华文楷体" panose="02010600040101010101" pitchFamily="2" charset="-122"/>
              </a:rPr>
              <a:t>或记录</a:t>
            </a:r>
            <a:endParaRPr lang="en-US" altLang="zh-CN" sz="3300" u="sng" dirty="0">
              <a:latin typeface="华文楷体" panose="02010600040101010101" pitchFamily="2" charset="-122"/>
              <a:ea typeface="华文楷体" panose="02010600040101010101" pitchFamily="2" charset="-122"/>
            </a:endParaRPr>
          </a:p>
          <a:p>
            <a:pPr lvl="1">
              <a:lnSpc>
                <a:spcPct val="120000"/>
              </a:lnSpc>
              <a:spcBef>
                <a:spcPts val="1200"/>
              </a:spcBef>
            </a:pPr>
            <a:r>
              <a:rPr lang="en-US" altLang="en-US" dirty="0" err="1">
                <a:latin typeface="华文楷体" panose="02010600040101010101" pitchFamily="2" charset="-122"/>
                <a:ea typeface="华文楷体" panose="02010600040101010101" pitchFamily="2" charset="-122"/>
              </a:rPr>
              <a:t>查找成功</a:t>
            </a:r>
            <a:r>
              <a:rPr lang="zh-CN" altLang="en-US" dirty="0">
                <a:latin typeface="华文楷体" panose="02010600040101010101" pitchFamily="2" charset="-122"/>
                <a:ea typeface="华文楷体" panose="02010600040101010101" pitchFamily="2" charset="-122"/>
              </a:rPr>
              <a:t>，返回</a:t>
            </a:r>
            <a:r>
              <a:rPr lang="en-US" altLang="en-US" dirty="0" err="1">
                <a:latin typeface="华文楷体" panose="02010600040101010101" pitchFamily="2" charset="-122"/>
                <a:ea typeface="华文楷体" panose="02010600040101010101" pitchFamily="2" charset="-122"/>
              </a:rPr>
              <a:t>所查到的</a:t>
            </a:r>
            <a:r>
              <a:rPr lang="zh-CN" altLang="en-US" dirty="0">
                <a:latin typeface="华文楷体" panose="02010600040101010101" pitchFamily="2" charset="-122"/>
                <a:ea typeface="华文楷体" panose="02010600040101010101" pitchFamily="2" charset="-122"/>
              </a:rPr>
              <a:t>数据元素</a:t>
            </a:r>
            <a:r>
              <a:rPr lang="en-US" altLang="en-US" dirty="0">
                <a:latin typeface="华文楷体" panose="02010600040101010101" pitchFamily="2" charset="-122"/>
                <a:ea typeface="华文楷体" panose="02010600040101010101" pitchFamily="2" charset="-122"/>
              </a:rPr>
              <a:t>或</a:t>
            </a:r>
            <a:r>
              <a:rPr lang="zh-CN" altLang="en-US" dirty="0">
                <a:latin typeface="华文楷体" panose="02010600040101010101" pitchFamily="2" charset="-122"/>
                <a:ea typeface="华文楷体" panose="02010600040101010101" pitchFamily="2" charset="-122"/>
              </a:rPr>
              <a:t>其</a:t>
            </a:r>
            <a:r>
              <a:rPr lang="en-US" altLang="en-US" dirty="0" err="1">
                <a:latin typeface="华文楷体" panose="02010600040101010101" pitchFamily="2" charset="-122"/>
                <a:ea typeface="华文楷体" panose="02010600040101010101" pitchFamily="2" charset="-122"/>
              </a:rPr>
              <a:t>在查找表中的位置</a:t>
            </a:r>
            <a:endParaRPr lang="en-US" altLang="en-US" dirty="0">
              <a:latin typeface="华文楷体" panose="02010600040101010101" pitchFamily="2" charset="-122"/>
              <a:ea typeface="华文楷体" panose="02010600040101010101" pitchFamily="2" charset="-122"/>
            </a:endParaRPr>
          </a:p>
          <a:p>
            <a:pPr lvl="1">
              <a:lnSpc>
                <a:spcPct val="120000"/>
              </a:lnSpc>
              <a:spcBef>
                <a:spcPts val="1200"/>
              </a:spcBef>
            </a:pPr>
            <a:r>
              <a:rPr lang="en-US" altLang="en-US" dirty="0" err="1">
                <a:latin typeface="华文楷体" panose="02010600040101010101" pitchFamily="2" charset="-122"/>
                <a:ea typeface="华文楷体" panose="02010600040101010101" pitchFamily="2" charset="-122"/>
              </a:rPr>
              <a:t>查找失败</a:t>
            </a:r>
            <a:endParaRPr lang="en-US" altLang="en-US" dirty="0">
              <a:latin typeface="华文楷体" panose="02010600040101010101" pitchFamily="2" charset="-122"/>
              <a:ea typeface="华文楷体" panose="02010600040101010101" pitchFamily="2" charset="-122"/>
            </a:endParaRPr>
          </a:p>
          <a:p>
            <a:pPr lvl="1">
              <a:lnSpc>
                <a:spcPct val="120000"/>
              </a:lnSpc>
              <a:spcBef>
                <a:spcPts val="1200"/>
              </a:spcBef>
              <a:buFont typeface="Wingdings" panose="05000000000000000000" pitchFamily="2" charset="2"/>
              <a:buChar char="u"/>
            </a:pPr>
            <a:r>
              <a:rPr lang="zh-CN" altLang="en-US" dirty="0">
                <a:latin typeface="华文楷体" panose="02010600040101010101" pitchFamily="2" charset="-122"/>
                <a:ea typeface="华文楷体" panose="02010600040101010101" pitchFamily="2" charset="-122"/>
              </a:rPr>
              <a:t>“关键字等于给定值”只是一种最为常用的查找条件，实际应用中可能会有其他的查找条件，例如查找“关键字在某个范围内的数据元素</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等等</a:t>
            </a:r>
            <a:endParaRPr lang="en-US" altLang="en-US" dirty="0">
              <a:latin typeface="华文楷体" panose="02010600040101010101" pitchFamily="2" charset="-122"/>
              <a:ea typeface="华文楷体" panose="0201060004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5</a:t>
            </a:fld>
            <a:endParaRPr lang="zh-CN" altLang="en-US"/>
          </a:p>
        </p:txBody>
      </p:sp>
    </p:spTree>
    <p:extLst>
      <p:ext uri="{BB962C8B-B14F-4D97-AF65-F5344CB8AC3E}">
        <p14:creationId xmlns:p14="http://schemas.microsoft.com/office/powerpoint/2010/main" val="2254456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030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5496" y="47067"/>
            <a:ext cx="8229600" cy="753075"/>
          </a:xfrm>
        </p:spPr>
        <p:txBody>
          <a:bodyPr/>
          <a:lstStyle/>
          <a:p>
            <a:pPr algn="l"/>
            <a:r>
              <a:rPr lang="zh-CN" altLang="en-US" dirty="0">
                <a:latin typeface="华文新魏" panose="02010800040101010101" pitchFamily="2" charset="-122"/>
                <a:ea typeface="华文新魏" panose="02010800040101010101" pitchFamily="2" charset="-122"/>
              </a:rPr>
              <a:t>查找方法评价指标</a:t>
            </a:r>
            <a:endParaRPr lang="en-US" dirty="0">
              <a:latin typeface="华文新魏" panose="02010800040101010101" pitchFamily="2" charset="-122"/>
              <a:ea typeface="华文新魏" panose="02010800040101010101" pitchFamily="2" charset="-122"/>
            </a:endParaRPr>
          </a:p>
        </p:txBody>
      </p:sp>
      <p:sp>
        <p:nvSpPr>
          <p:cNvPr id="3" name="内容占位符 2"/>
          <p:cNvSpPr>
            <a:spLocks noGrp="1"/>
          </p:cNvSpPr>
          <p:nvPr>
            <p:ph idx="1"/>
          </p:nvPr>
        </p:nvSpPr>
        <p:spPr>
          <a:xfrm>
            <a:off x="107504" y="842789"/>
            <a:ext cx="8928992" cy="5832648"/>
          </a:xfrm>
        </p:spPr>
        <p:txBody>
          <a:bodyPr>
            <a:normAutofit/>
          </a:bodyPr>
          <a:lstStyle/>
          <a:p>
            <a:r>
              <a:rPr lang="zh-CN" altLang="en-US" sz="2600" b="1" dirty="0">
                <a:latin typeface="华文楷体" panose="02010600040101010101" pitchFamily="2" charset="-122"/>
                <a:ea typeface="华文楷体" panose="02010600040101010101" pitchFamily="2" charset="-122"/>
              </a:rPr>
              <a:t>查找过程中的主要操作是</a:t>
            </a:r>
            <a:r>
              <a:rPr lang="zh-CN" altLang="en-US" sz="2600" b="1" dirty="0">
                <a:solidFill>
                  <a:srgbClr val="0000FF"/>
                </a:solidFill>
                <a:latin typeface="华文楷体" panose="02010600040101010101" pitchFamily="2" charset="-122"/>
                <a:ea typeface="华文楷体" panose="02010600040101010101" pitchFamily="2" charset="-122"/>
              </a:rPr>
              <a:t>关键字的比较</a:t>
            </a:r>
            <a:r>
              <a:rPr lang="zh-CN" altLang="en-US" sz="2600" b="1" dirty="0">
                <a:latin typeface="华文楷体" panose="02010600040101010101" pitchFamily="2" charset="-122"/>
                <a:ea typeface="华文楷体" panose="02010600040101010101" pitchFamily="2" charset="-122"/>
              </a:rPr>
              <a:t>，查找过程中关键字的</a:t>
            </a:r>
            <a:r>
              <a:rPr lang="zh-CN" altLang="en-US" sz="2600" b="1" dirty="0">
                <a:solidFill>
                  <a:schemeClr val="accent6"/>
                </a:solidFill>
                <a:latin typeface="华文楷体" panose="02010600040101010101" pitchFamily="2" charset="-122"/>
                <a:ea typeface="华文楷体" panose="02010600040101010101" pitchFamily="2" charset="-122"/>
              </a:rPr>
              <a:t>平均比较次数</a:t>
            </a:r>
            <a:r>
              <a:rPr lang="zh-CN" altLang="en-US" sz="2600" b="1" dirty="0">
                <a:latin typeface="华文楷体" panose="02010600040101010101" pitchFamily="2" charset="-122"/>
                <a:ea typeface="华文楷体" panose="02010600040101010101" pitchFamily="2" charset="-122"/>
              </a:rPr>
              <a:t>是</a:t>
            </a:r>
            <a:r>
              <a:rPr lang="en-US" altLang="en-US" sz="2600" b="1" dirty="0" err="1">
                <a:latin typeface="华文楷体" panose="02010600040101010101" pitchFamily="2" charset="-122"/>
                <a:ea typeface="华文楷体" panose="02010600040101010101" pitchFamily="2" charset="-122"/>
              </a:rPr>
              <a:t>衡量一个查找算法效率高低的标准</a:t>
            </a:r>
            <a:endParaRPr lang="en-US" altLang="en-US" sz="2600" b="1" dirty="0">
              <a:latin typeface="华文楷体" panose="02010600040101010101" pitchFamily="2" charset="-122"/>
              <a:ea typeface="华文楷体" panose="02010600040101010101" pitchFamily="2" charset="-122"/>
            </a:endParaRPr>
          </a:p>
          <a:p>
            <a:pPr>
              <a:spcBef>
                <a:spcPts val="1800"/>
              </a:spcBef>
            </a:pPr>
            <a:r>
              <a:rPr lang="en-US" altLang="en-US" sz="2600" b="1" dirty="0">
                <a:solidFill>
                  <a:srgbClr val="0000FF"/>
                </a:solidFill>
                <a:latin typeface="华文楷体" panose="02010600040101010101" pitchFamily="2" charset="-122"/>
                <a:ea typeface="华文楷体" panose="02010600040101010101" pitchFamily="2" charset="-122"/>
              </a:rPr>
              <a:t>ASL (Average Search Length</a:t>
            </a:r>
            <a:r>
              <a:rPr lang="zh-CN" altLang="en-US" sz="2600" b="1" dirty="0">
                <a:solidFill>
                  <a:srgbClr val="0000FF"/>
                </a:solidFill>
                <a:latin typeface="华文楷体" panose="02010600040101010101" pitchFamily="2" charset="-122"/>
                <a:ea typeface="华文楷体" panose="02010600040101010101" pitchFamily="2" charset="-122"/>
              </a:rPr>
              <a:t>，</a:t>
            </a:r>
            <a:r>
              <a:rPr lang="en-US" altLang="en-US" sz="2600" b="1" dirty="0">
                <a:solidFill>
                  <a:srgbClr val="0000FF"/>
                </a:solidFill>
                <a:latin typeface="华文楷体" panose="02010600040101010101" pitchFamily="2" charset="-122"/>
                <a:ea typeface="华文楷体" panose="02010600040101010101" pitchFamily="2" charset="-122"/>
              </a:rPr>
              <a:t> </a:t>
            </a:r>
            <a:r>
              <a:rPr lang="en-US" altLang="en-US" sz="2600" b="1" dirty="0" err="1">
                <a:solidFill>
                  <a:srgbClr val="0000FF"/>
                </a:solidFill>
                <a:latin typeface="华文楷体" panose="02010600040101010101" pitchFamily="2" charset="-122"/>
                <a:ea typeface="华文楷体" panose="02010600040101010101" pitchFamily="2" charset="-122"/>
              </a:rPr>
              <a:t>平均查找长度</a:t>
            </a:r>
            <a:r>
              <a:rPr lang="en-US" altLang="en-US" sz="2600" b="1" dirty="0">
                <a:solidFill>
                  <a:srgbClr val="0000FF"/>
                </a:solidFill>
                <a:latin typeface="华文楷体" panose="02010600040101010101" pitchFamily="2" charset="-122"/>
                <a:ea typeface="华文楷体" panose="02010600040101010101" pitchFamily="2" charset="-122"/>
              </a:rPr>
              <a:t>) </a:t>
            </a:r>
            <a:r>
              <a:rPr lang="en-US" altLang="en-US" sz="2600" dirty="0" err="1">
                <a:latin typeface="华文楷体" panose="02010600040101010101" pitchFamily="2" charset="-122"/>
                <a:ea typeface="华文楷体" panose="02010600040101010101" pitchFamily="2" charset="-122"/>
              </a:rPr>
              <a:t>定义为</a:t>
            </a:r>
            <a:r>
              <a:rPr lang="zh-CN" altLang="en-US" sz="2600" dirty="0">
                <a:latin typeface="华文楷体" panose="02010600040101010101" pitchFamily="2" charset="-122"/>
                <a:ea typeface="华文楷体" panose="02010600040101010101" pitchFamily="2" charset="-122"/>
              </a:rPr>
              <a:t>需要和给定值进行比较的关键字的个数的</a:t>
            </a:r>
            <a:r>
              <a:rPr lang="zh-CN" altLang="en-US" sz="2600" b="1" dirty="0">
                <a:solidFill>
                  <a:srgbClr val="6600CC"/>
                </a:solidFill>
                <a:latin typeface="华文楷体" panose="02010600040101010101" pitchFamily="2" charset="-122"/>
                <a:ea typeface="华文楷体" panose="02010600040101010101" pitchFamily="2" charset="-122"/>
              </a:rPr>
              <a:t>期望值</a:t>
            </a:r>
            <a:endParaRPr lang="en-US" altLang="en-US" sz="2600" b="1" dirty="0">
              <a:solidFill>
                <a:srgbClr val="6600CC"/>
              </a:solidFill>
              <a:latin typeface="华文楷体" panose="02010600040101010101" pitchFamily="2" charset="-122"/>
              <a:ea typeface="华文楷体" panose="02010600040101010101" pitchFamily="2" charset="-122"/>
            </a:endParaRPr>
          </a:p>
          <a:p>
            <a:endParaRPr lang="en-US" altLang="en-US" sz="2600" dirty="0">
              <a:latin typeface="华文楷体" panose="02010600040101010101" pitchFamily="2" charset="-122"/>
              <a:ea typeface="华文楷体" panose="02010600040101010101" pitchFamily="2" charset="-122"/>
            </a:endParaRPr>
          </a:p>
          <a:p>
            <a:pPr marL="457200" lvl="1" indent="0">
              <a:buNone/>
            </a:pPr>
            <a:endParaRPr lang="en-US" altLang="en-US" sz="2600" dirty="0">
              <a:latin typeface="华文楷体" panose="02010600040101010101" pitchFamily="2" charset="-122"/>
              <a:ea typeface="华文楷体" panose="02010600040101010101" pitchFamily="2" charset="-122"/>
            </a:endParaRPr>
          </a:p>
          <a:p>
            <a:pPr marL="457200" lvl="1" indent="796925">
              <a:buNone/>
            </a:pPr>
            <a:r>
              <a:rPr lang="en-US" altLang="en-US" sz="2600" dirty="0" err="1">
                <a:latin typeface="华文楷体" panose="02010600040101010101" pitchFamily="2" charset="-122"/>
                <a:ea typeface="华文楷体" panose="02010600040101010101" pitchFamily="2" charset="-122"/>
              </a:rPr>
              <a:t>其中</a:t>
            </a:r>
            <a:r>
              <a:rPr lang="en-US" altLang="en-US" sz="2600" dirty="0">
                <a:latin typeface="华文楷体" panose="02010600040101010101" pitchFamily="2" charset="-122"/>
                <a:ea typeface="华文楷体" panose="02010600040101010101" pitchFamily="2" charset="-122"/>
              </a:rPr>
              <a:t>：</a:t>
            </a:r>
          </a:p>
          <a:p>
            <a:pPr marL="1974850" lvl="2" indent="-271463"/>
            <a:r>
              <a:rPr lang="en-US" altLang="zh-CN" sz="2600" b="1" dirty="0">
                <a:solidFill>
                  <a:srgbClr val="0000FF"/>
                </a:solidFill>
                <a:latin typeface="华文楷体" panose="02010600040101010101" pitchFamily="2" charset="-122"/>
                <a:ea typeface="华文楷体" panose="02010600040101010101" pitchFamily="2" charset="-122"/>
              </a:rPr>
              <a:t>n</a:t>
            </a:r>
            <a:r>
              <a:rPr lang="zh-CN" altLang="en-US" sz="2600" b="1" dirty="0">
                <a:solidFill>
                  <a:srgbClr val="0000FF"/>
                </a:solidFill>
                <a:latin typeface="华文楷体" panose="02010600040101010101" pitchFamily="2" charset="-122"/>
                <a:ea typeface="华文楷体" panose="02010600040101010101" pitchFamily="2" charset="-122"/>
              </a:rPr>
              <a:t>：查找表中的记录个数</a:t>
            </a:r>
            <a:endParaRPr lang="en-US" altLang="zh-CN" sz="2600" b="1" dirty="0">
              <a:solidFill>
                <a:srgbClr val="0000FF"/>
              </a:solidFill>
              <a:latin typeface="华文楷体" panose="02010600040101010101" pitchFamily="2" charset="-122"/>
              <a:ea typeface="华文楷体" panose="02010600040101010101" pitchFamily="2" charset="-122"/>
            </a:endParaRPr>
          </a:p>
          <a:p>
            <a:pPr marL="1974850" lvl="2" indent="-271463"/>
            <a:r>
              <a:rPr lang="en-US" altLang="en-US" sz="2600" b="1" dirty="0">
                <a:solidFill>
                  <a:srgbClr val="0000FF"/>
                </a:solidFill>
                <a:latin typeface="华文楷体" panose="02010600040101010101" pitchFamily="2" charset="-122"/>
                <a:ea typeface="华文楷体" panose="02010600040101010101" pitchFamily="2" charset="-122"/>
              </a:rPr>
              <a:t>P</a:t>
            </a:r>
            <a:r>
              <a:rPr lang="en-US" altLang="en-US" sz="2600" b="1" baseline="-25000" dirty="0">
                <a:solidFill>
                  <a:srgbClr val="0000FF"/>
                </a:solidFill>
                <a:latin typeface="华文楷体" panose="02010600040101010101" pitchFamily="2" charset="-122"/>
                <a:ea typeface="华文楷体" panose="02010600040101010101" pitchFamily="2" charset="-122"/>
              </a:rPr>
              <a:t>i</a:t>
            </a:r>
            <a:r>
              <a:rPr lang="en-US" altLang="en-US" sz="2600" b="1" dirty="0">
                <a:solidFill>
                  <a:srgbClr val="0000FF"/>
                </a:solidFill>
                <a:latin typeface="华文楷体" panose="02010600040101010101" pitchFamily="2" charset="-122"/>
                <a:ea typeface="华文楷体" panose="02010600040101010101" pitchFamily="2" charset="-122"/>
              </a:rPr>
              <a:t> ：</a:t>
            </a:r>
            <a:r>
              <a:rPr lang="en-US" altLang="en-US" sz="2600" b="1" dirty="0" err="1">
                <a:solidFill>
                  <a:srgbClr val="0000FF"/>
                </a:solidFill>
                <a:latin typeface="华文楷体" panose="02010600040101010101" pitchFamily="2" charset="-122"/>
                <a:ea typeface="华文楷体" panose="02010600040101010101" pitchFamily="2" charset="-122"/>
              </a:rPr>
              <a:t>查找第i个记录的概率</a:t>
            </a:r>
            <a:endParaRPr lang="en-US" altLang="en-US" sz="2600" dirty="0">
              <a:latin typeface="华文楷体" panose="02010600040101010101" pitchFamily="2" charset="-122"/>
              <a:ea typeface="华文楷体" panose="02010600040101010101" pitchFamily="2" charset="-122"/>
            </a:endParaRPr>
          </a:p>
          <a:p>
            <a:pPr marL="1974850" lvl="2" indent="-271463"/>
            <a:r>
              <a:rPr lang="en-US" altLang="en-US" sz="2600" b="1" dirty="0" err="1">
                <a:solidFill>
                  <a:srgbClr val="0000FF"/>
                </a:solidFill>
                <a:latin typeface="华文楷体" panose="02010600040101010101" pitchFamily="2" charset="-122"/>
                <a:ea typeface="华文楷体" panose="02010600040101010101" pitchFamily="2" charset="-122"/>
              </a:rPr>
              <a:t>C</a:t>
            </a:r>
            <a:r>
              <a:rPr lang="en-US" altLang="en-US" sz="2600" b="1" baseline="-25000" dirty="0" err="1">
                <a:solidFill>
                  <a:srgbClr val="0000FF"/>
                </a:solidFill>
                <a:latin typeface="华文楷体" panose="02010600040101010101" pitchFamily="2" charset="-122"/>
                <a:ea typeface="华文楷体" panose="02010600040101010101" pitchFamily="2" charset="-122"/>
              </a:rPr>
              <a:t>i</a:t>
            </a:r>
            <a:r>
              <a:rPr lang="en-US" altLang="en-US" sz="2600" b="1" dirty="0" err="1">
                <a:solidFill>
                  <a:srgbClr val="0000FF"/>
                </a:solidFill>
                <a:latin typeface="华文楷体" panose="02010600040101010101" pitchFamily="2" charset="-122"/>
                <a:ea typeface="华文楷体" panose="02010600040101010101" pitchFamily="2" charset="-122"/>
              </a:rPr>
              <a:t>：查找第i</a:t>
            </a:r>
            <a:r>
              <a:rPr lang="zh-CN" altLang="en-US" sz="2600" b="1" dirty="0">
                <a:solidFill>
                  <a:srgbClr val="0000FF"/>
                </a:solidFill>
                <a:latin typeface="华文楷体" panose="02010600040101010101" pitchFamily="2" charset="-122"/>
                <a:ea typeface="华文楷体" panose="02010600040101010101" pitchFamily="2" charset="-122"/>
              </a:rPr>
              <a:t>个记录需要进行比较的次数</a:t>
            </a:r>
            <a:endParaRPr lang="en-US" altLang="zh-CN" sz="2600" b="1" dirty="0">
              <a:solidFill>
                <a:srgbClr val="0000FF"/>
              </a:solidFill>
              <a:latin typeface="华文楷体" panose="02010600040101010101" pitchFamily="2" charset="-122"/>
              <a:ea typeface="华文楷体" panose="02010600040101010101" pitchFamily="2" charset="-122"/>
            </a:endParaRPr>
          </a:p>
          <a:p>
            <a:pPr marL="1792288" lvl="1" indent="-266700"/>
            <a:r>
              <a:rPr lang="en-US" altLang="en-US" sz="2600" dirty="0">
                <a:latin typeface="华文楷体" panose="02010600040101010101" pitchFamily="2" charset="-122"/>
                <a:ea typeface="华文楷体" panose="02010600040101010101" pitchFamily="2" charset="-122"/>
              </a:rPr>
              <a:t>不失一般性，认为</a:t>
            </a:r>
            <a:r>
              <a:rPr lang="en-US" altLang="en-US" sz="2600" b="1" dirty="0">
                <a:solidFill>
                  <a:srgbClr val="0000FF"/>
                </a:solidFill>
                <a:latin typeface="华文楷体" panose="02010600040101010101" pitchFamily="2" charset="-122"/>
                <a:ea typeface="华文楷体" panose="02010600040101010101" pitchFamily="2" charset="-122"/>
              </a:rPr>
              <a:t>查找每个记录的概率相等</a:t>
            </a:r>
            <a:r>
              <a:rPr lang="en-US" altLang="en-US" sz="2600" dirty="0">
                <a:latin typeface="华文楷体" panose="02010600040101010101" pitchFamily="2" charset="-122"/>
                <a:ea typeface="华文楷体" panose="02010600040101010101" pitchFamily="2" charset="-122"/>
              </a:rPr>
              <a:t>，即P</a:t>
            </a:r>
            <a:r>
              <a:rPr lang="en-US" altLang="en-US" sz="2600" baseline="-25000" dirty="0">
                <a:latin typeface="华文楷体" panose="02010600040101010101" pitchFamily="2" charset="-122"/>
                <a:ea typeface="华文楷体" panose="02010600040101010101" pitchFamily="2" charset="-122"/>
              </a:rPr>
              <a:t>1</a:t>
            </a:r>
            <a:r>
              <a:rPr lang="en-US" altLang="en-US" sz="2600" dirty="0">
                <a:latin typeface="华文楷体" panose="02010600040101010101" pitchFamily="2" charset="-122"/>
                <a:ea typeface="华文楷体" panose="02010600040101010101" pitchFamily="2" charset="-122"/>
              </a:rPr>
              <a:t>=P</a:t>
            </a:r>
            <a:r>
              <a:rPr lang="en-US" altLang="en-US" sz="2600" baseline="-25000" dirty="0">
                <a:latin typeface="华文楷体" panose="02010600040101010101" pitchFamily="2" charset="-122"/>
                <a:ea typeface="华文楷体" panose="02010600040101010101" pitchFamily="2" charset="-122"/>
              </a:rPr>
              <a:t>2</a:t>
            </a:r>
            <a:r>
              <a:rPr lang="en-US" altLang="en-US" sz="2600" dirty="0">
                <a:latin typeface="华文楷体" panose="02010600040101010101" pitchFamily="2" charset="-122"/>
                <a:ea typeface="华文楷体" panose="02010600040101010101" pitchFamily="2" charset="-122"/>
              </a:rPr>
              <a:t>=…=</a:t>
            </a:r>
            <a:r>
              <a:rPr lang="en-US" altLang="en-US" sz="2600" dirty="0" err="1">
                <a:latin typeface="华文楷体" panose="02010600040101010101" pitchFamily="2" charset="-122"/>
                <a:ea typeface="华文楷体" panose="02010600040101010101" pitchFamily="2" charset="-122"/>
              </a:rPr>
              <a:t>P</a:t>
            </a:r>
            <a:r>
              <a:rPr lang="en-US" altLang="en-US" sz="2600" baseline="-25000" dirty="0" err="1">
                <a:latin typeface="华文楷体" panose="02010600040101010101" pitchFamily="2" charset="-122"/>
                <a:ea typeface="华文楷体" panose="02010600040101010101" pitchFamily="2" charset="-122"/>
              </a:rPr>
              <a:t>n</a:t>
            </a:r>
            <a:r>
              <a:rPr lang="en-US" altLang="en-US" sz="2600" dirty="0">
                <a:latin typeface="华文楷体" panose="02010600040101010101" pitchFamily="2" charset="-122"/>
                <a:ea typeface="华文楷体" panose="02010600040101010101" pitchFamily="2" charset="-122"/>
              </a:rPr>
              <a:t>=1/n</a:t>
            </a:r>
            <a:endParaRPr lang="zh-CN" altLang="en-US" sz="2600" b="1" dirty="0">
              <a:solidFill>
                <a:srgbClr val="0000FF"/>
              </a:solidFill>
              <a:latin typeface="华文楷体" panose="02010600040101010101" pitchFamily="2" charset="-122"/>
              <a:ea typeface="华文楷体" panose="02010600040101010101" pitchFamily="2" charset="-122"/>
            </a:endParaRPr>
          </a:p>
          <a:p>
            <a:endParaRPr lang="en-US" altLang="en-US" dirty="0"/>
          </a:p>
          <a:p>
            <a:endParaRPr 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6</a:t>
            </a:fld>
            <a:endParaRPr lang="zh-CN" altLang="en-US"/>
          </a:p>
        </p:txBody>
      </p:sp>
      <p:grpSp>
        <p:nvGrpSpPr>
          <p:cNvPr id="5" name="Group 3"/>
          <p:cNvGrpSpPr>
            <a:grpSpLocks/>
          </p:cNvGrpSpPr>
          <p:nvPr/>
        </p:nvGrpSpPr>
        <p:grpSpPr bwMode="auto">
          <a:xfrm>
            <a:off x="1331640" y="2852936"/>
            <a:ext cx="5257801" cy="919161"/>
            <a:chOff x="0" y="-21"/>
            <a:chExt cx="3312" cy="579"/>
          </a:xfrm>
        </p:grpSpPr>
        <p:grpSp>
          <p:nvGrpSpPr>
            <p:cNvPr id="6" name="Group 4"/>
            <p:cNvGrpSpPr>
              <a:grpSpLocks/>
            </p:cNvGrpSpPr>
            <p:nvPr/>
          </p:nvGrpSpPr>
          <p:grpSpPr bwMode="auto">
            <a:xfrm>
              <a:off x="0" y="-8"/>
              <a:ext cx="2177" cy="566"/>
              <a:chOff x="0" y="-11"/>
              <a:chExt cx="2177" cy="566"/>
            </a:xfrm>
          </p:grpSpPr>
          <p:sp>
            <p:nvSpPr>
              <p:cNvPr id="11" name="Rectangle 5"/>
              <p:cNvSpPr>
                <a:spLocks noChangeArrowheads="1"/>
              </p:cNvSpPr>
              <p:nvPr/>
            </p:nvSpPr>
            <p:spPr bwMode="auto">
              <a:xfrm>
                <a:off x="0" y="104"/>
                <a:ext cx="2177"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dirty="0">
                    <a:latin typeface="Times New Roman" pitchFamily="18" charset="0"/>
                  </a:rPr>
                  <a:t>ASL=∑ </a:t>
                </a:r>
                <a:r>
                  <a:rPr lang="en-US" altLang="en-US" sz="2400" b="1" dirty="0" err="1">
                    <a:latin typeface="Times New Roman" pitchFamily="18" charset="0"/>
                  </a:rPr>
                  <a:t>P</a:t>
                </a:r>
                <a:r>
                  <a:rPr lang="en-US" altLang="en-US" sz="2400" b="1" baseline="-18000" dirty="0" err="1">
                    <a:latin typeface="Times New Roman" pitchFamily="18" charset="0"/>
                  </a:rPr>
                  <a:t>i</a:t>
                </a:r>
                <a:r>
                  <a:rPr lang="en-US" altLang="en-US" sz="2400" b="1" dirty="0" err="1">
                    <a:latin typeface="Times New Roman" pitchFamily="18" charset="0"/>
                    <a:sym typeface="Symbol" pitchFamily="18" charset="2"/>
                  </a:rPr>
                  <a:t></a:t>
                </a:r>
                <a:r>
                  <a:rPr lang="en-US" altLang="en-US" sz="2400" b="1" dirty="0" err="1">
                    <a:latin typeface="Times New Roman" pitchFamily="18" charset="0"/>
                  </a:rPr>
                  <a:t>C</a:t>
                </a:r>
                <a:r>
                  <a:rPr lang="en-US" altLang="en-US" sz="2400" b="1" baseline="-18000" dirty="0" err="1">
                    <a:latin typeface="Times New Roman" pitchFamily="18" charset="0"/>
                  </a:rPr>
                  <a:t>i</a:t>
                </a:r>
                <a:endParaRPr lang="zh-CN" altLang="en-US" sz="2400" b="1" dirty="0">
                  <a:latin typeface="Times New Roman" pitchFamily="18" charset="0"/>
                </a:endParaRPr>
              </a:p>
            </p:txBody>
          </p:sp>
          <p:sp>
            <p:nvSpPr>
              <p:cNvPr id="12" name="Rectangle 6"/>
              <p:cNvSpPr>
                <a:spLocks noChangeArrowheads="1"/>
              </p:cNvSpPr>
              <p:nvPr/>
            </p:nvSpPr>
            <p:spPr bwMode="auto">
              <a:xfrm>
                <a:off x="454" y="351"/>
                <a:ext cx="363"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000" dirty="0" err="1">
                    <a:latin typeface="Times New Roman" pitchFamily="18" charset="0"/>
                  </a:rPr>
                  <a:t>i</a:t>
                </a:r>
                <a:r>
                  <a:rPr lang="en-US" altLang="en-US" sz="2000" dirty="0">
                    <a:latin typeface="Times New Roman" pitchFamily="18" charset="0"/>
                  </a:rPr>
                  <a:t>=1</a:t>
                </a:r>
              </a:p>
            </p:txBody>
          </p:sp>
          <p:sp>
            <p:nvSpPr>
              <p:cNvPr id="13" name="Rectangle 7"/>
              <p:cNvSpPr>
                <a:spLocks noChangeArrowheads="1"/>
              </p:cNvSpPr>
              <p:nvPr/>
            </p:nvSpPr>
            <p:spPr bwMode="auto">
              <a:xfrm>
                <a:off x="499" y="-11"/>
                <a:ext cx="182"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dirty="0">
                    <a:latin typeface="Times New Roman" pitchFamily="18" charset="0"/>
                  </a:rPr>
                  <a:t>n</a:t>
                </a:r>
              </a:p>
            </p:txBody>
          </p:sp>
        </p:grpSp>
        <p:grpSp>
          <p:nvGrpSpPr>
            <p:cNvPr id="7" name="Group 8"/>
            <p:cNvGrpSpPr>
              <a:grpSpLocks/>
            </p:cNvGrpSpPr>
            <p:nvPr/>
          </p:nvGrpSpPr>
          <p:grpSpPr bwMode="auto">
            <a:xfrm>
              <a:off x="2430" y="-21"/>
              <a:ext cx="882" cy="566"/>
              <a:chOff x="-1378" y="-21"/>
              <a:chExt cx="882" cy="566"/>
            </a:xfrm>
          </p:grpSpPr>
          <p:sp>
            <p:nvSpPr>
              <p:cNvPr id="8" name="Rectangle 9"/>
              <p:cNvSpPr>
                <a:spLocks noChangeArrowheads="1"/>
              </p:cNvSpPr>
              <p:nvPr/>
            </p:nvSpPr>
            <p:spPr bwMode="auto">
              <a:xfrm>
                <a:off x="-1360" y="94"/>
                <a:ext cx="864"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zh-CN" altLang="en-US" sz="2400" b="1" dirty="0">
                    <a:latin typeface="Times New Roman" pitchFamily="18" charset="0"/>
                  </a:rPr>
                  <a:t>∑ </a:t>
                </a:r>
                <a:r>
                  <a:rPr lang="en-US" altLang="en-US" sz="2400" b="1" dirty="0">
                    <a:latin typeface="Times New Roman" pitchFamily="18" charset="0"/>
                  </a:rPr>
                  <a:t>P</a:t>
                </a:r>
                <a:r>
                  <a:rPr lang="en-US" altLang="en-US" sz="2400" b="1" baseline="-18000" dirty="0">
                    <a:latin typeface="Times New Roman" pitchFamily="18" charset="0"/>
                  </a:rPr>
                  <a:t>i</a:t>
                </a:r>
                <a:r>
                  <a:rPr lang="en-US" altLang="en-US" sz="2400" b="1" dirty="0">
                    <a:latin typeface="Times New Roman" pitchFamily="18" charset="0"/>
                  </a:rPr>
                  <a:t>=1</a:t>
                </a:r>
              </a:p>
            </p:txBody>
          </p:sp>
          <p:sp>
            <p:nvSpPr>
              <p:cNvPr id="9" name="Rectangle 10"/>
              <p:cNvSpPr>
                <a:spLocks noChangeArrowheads="1"/>
              </p:cNvSpPr>
              <p:nvPr/>
            </p:nvSpPr>
            <p:spPr bwMode="auto">
              <a:xfrm>
                <a:off x="-1378" y="341"/>
                <a:ext cx="363"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000" dirty="0" err="1">
                    <a:latin typeface="Times New Roman" pitchFamily="18" charset="0"/>
                  </a:rPr>
                  <a:t>i</a:t>
                </a:r>
                <a:r>
                  <a:rPr lang="en-US" altLang="en-US" sz="2000" dirty="0">
                    <a:latin typeface="Times New Roman" pitchFamily="18" charset="0"/>
                  </a:rPr>
                  <a:t>=1</a:t>
                </a:r>
              </a:p>
            </p:txBody>
          </p:sp>
          <p:sp>
            <p:nvSpPr>
              <p:cNvPr id="10" name="Rectangle 11"/>
              <p:cNvSpPr>
                <a:spLocks noChangeArrowheads="1"/>
              </p:cNvSpPr>
              <p:nvPr/>
            </p:nvSpPr>
            <p:spPr bwMode="auto">
              <a:xfrm>
                <a:off x="-1356" y="-21"/>
                <a:ext cx="182"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dirty="0">
                    <a:latin typeface="Times New Roman" pitchFamily="18" charset="0"/>
                  </a:rPr>
                  <a:t>n</a:t>
                </a:r>
              </a:p>
            </p:txBody>
          </p:sp>
        </p:grpSp>
      </p:grpSp>
    </p:spTree>
    <p:extLst>
      <p:ext uri="{BB962C8B-B14F-4D97-AF65-F5344CB8AC3E}">
        <p14:creationId xmlns:p14="http://schemas.microsoft.com/office/powerpoint/2010/main" val="4062636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02" name="Rectangle 2"/>
          <p:cNvSpPr>
            <a:spLocks noGrp="1" noChangeArrowheads="1"/>
          </p:cNvSpPr>
          <p:nvPr>
            <p:ph type="title"/>
          </p:nvPr>
        </p:nvSpPr>
        <p:spPr>
          <a:xfrm>
            <a:off x="0" y="73877"/>
            <a:ext cx="8229600" cy="994284"/>
          </a:xfrm>
        </p:spPr>
        <p:txBody>
          <a:bodyPr>
            <a:normAutofit/>
          </a:bodyPr>
          <a:lstStyle/>
          <a:p>
            <a:pPr algn="l"/>
            <a:r>
              <a:rPr lang="en-US" altLang="en-US" dirty="0">
                <a:latin typeface="华文琥珀" panose="02010800040101010101" pitchFamily="2" charset="-122"/>
                <a:ea typeface="华文琥珀" panose="02010800040101010101" pitchFamily="2" charset="-122"/>
              </a:rPr>
              <a:t>2 </a:t>
            </a:r>
            <a:r>
              <a:rPr lang="zh-CN" altLang="en-US" dirty="0">
                <a:latin typeface="华文琥珀" panose="02010800040101010101" pitchFamily="2" charset="-122"/>
                <a:ea typeface="华文琥珀" panose="02010800040101010101" pitchFamily="2" charset="-122"/>
              </a:rPr>
              <a:t>静态查找表</a:t>
            </a:r>
            <a:endParaRPr lang="en-US" altLang="en-US" sz="2800" dirty="0">
              <a:latin typeface="华文琥珀" panose="02010800040101010101" pitchFamily="2" charset="-122"/>
              <a:ea typeface="华文琥珀" panose="02010800040101010101"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t>7</a:t>
            </a:fld>
            <a:endParaRPr lang="zh-CN" altLang="en-US"/>
          </a:p>
        </p:txBody>
      </p:sp>
      <p:sp>
        <p:nvSpPr>
          <p:cNvPr id="6" name="文本框 5">
            <a:extLst>
              <a:ext uri="{FF2B5EF4-FFF2-40B4-BE49-F238E27FC236}">
                <a16:creationId xmlns="" xmlns:a16="http://schemas.microsoft.com/office/drawing/2014/main" id="{87ABF255-4067-4970-AF4C-C527E8D9BCC2}"/>
              </a:ext>
            </a:extLst>
          </p:cNvPr>
          <p:cNvSpPr txBox="1"/>
          <p:nvPr/>
        </p:nvSpPr>
        <p:spPr>
          <a:xfrm>
            <a:off x="463402" y="1052736"/>
            <a:ext cx="7067467" cy="892552"/>
          </a:xfrm>
          <a:prstGeom prst="rect">
            <a:avLst/>
          </a:prstGeom>
          <a:noFill/>
        </p:spPr>
        <p:txBody>
          <a:bodyPr wrap="square" rtlCol="0">
            <a:spAutoFit/>
          </a:bodyPr>
          <a:lstStyle/>
          <a:p>
            <a:pPr marL="457200" indent="-457200">
              <a:buFont typeface="华文楷体" panose="02010600040101010101" pitchFamily="2" charset="-122"/>
              <a:buChar char="−"/>
            </a:pPr>
            <a:r>
              <a:rPr lang="en-US" altLang="en-US" sz="2600" dirty="0" err="1">
                <a:latin typeface="华文楷体" panose="02010600040101010101" pitchFamily="2" charset="-122"/>
                <a:ea typeface="华文楷体" panose="02010600040101010101" pitchFamily="2" charset="-122"/>
              </a:rPr>
              <a:t>只对</a:t>
            </a:r>
            <a:r>
              <a:rPr lang="zh-CN" altLang="en-US" sz="2600" dirty="0">
                <a:latin typeface="华文楷体" panose="02010600040101010101" pitchFamily="2" charset="-122"/>
                <a:ea typeface="华文楷体" panose="02010600040101010101" pitchFamily="2" charset="-122"/>
              </a:rPr>
              <a:t>查找表的</a:t>
            </a:r>
            <a:r>
              <a:rPr lang="en-US" altLang="en-US" sz="2600" dirty="0" err="1">
                <a:latin typeface="华文楷体" panose="02010600040101010101" pitchFamily="2" charset="-122"/>
                <a:ea typeface="华文楷体" panose="02010600040101010101" pitchFamily="2" charset="-122"/>
              </a:rPr>
              <a:t>数据元素进行查询</a:t>
            </a:r>
            <a:endParaRPr lang="en-US" altLang="en-US" sz="2600" dirty="0">
              <a:latin typeface="华文楷体" panose="02010600040101010101" pitchFamily="2" charset="-122"/>
              <a:ea typeface="华文楷体" panose="02010600040101010101" pitchFamily="2" charset="-122"/>
            </a:endParaRPr>
          </a:p>
          <a:p>
            <a:pPr marL="457200" indent="-457200">
              <a:buFont typeface="华文楷体" panose="02010600040101010101" pitchFamily="2" charset="-122"/>
              <a:buChar char="−"/>
            </a:pPr>
            <a:r>
              <a:rPr lang="zh-CN" altLang="en-US" sz="2600" dirty="0">
                <a:latin typeface="华文楷体" panose="02010600040101010101" pitchFamily="2" charset="-122"/>
                <a:ea typeface="华文楷体" panose="02010600040101010101" pitchFamily="2" charset="-122"/>
              </a:rPr>
              <a:t>用顺序存储单元存储查找表</a:t>
            </a:r>
            <a:endParaRPr lang="en-US" altLang="zh-CN" sz="2600" dirty="0">
              <a:latin typeface="华文楷体" panose="02010600040101010101" pitchFamily="2" charset="-122"/>
              <a:ea typeface="华文楷体" panose="02010600040101010101" pitchFamily="2" charset="-122"/>
            </a:endParaRPr>
          </a:p>
        </p:txBody>
      </p:sp>
      <p:sp>
        <p:nvSpPr>
          <p:cNvPr id="8" name="标题 1">
            <a:extLst>
              <a:ext uri="{FF2B5EF4-FFF2-40B4-BE49-F238E27FC236}">
                <a16:creationId xmlns="" xmlns:a16="http://schemas.microsoft.com/office/drawing/2014/main" id="{D96AF142-B50D-475F-910F-2447EB439EB9}"/>
              </a:ext>
            </a:extLst>
          </p:cNvPr>
          <p:cNvSpPr txBox="1">
            <a:spLocks/>
          </p:cNvSpPr>
          <p:nvPr/>
        </p:nvSpPr>
        <p:spPr>
          <a:xfrm>
            <a:off x="107504" y="2209848"/>
            <a:ext cx="3754760" cy="79208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000" kern="1200">
                <a:solidFill>
                  <a:schemeClr val="tx1"/>
                </a:solidFill>
                <a:latin typeface="+mn-lt"/>
                <a:ea typeface="宋体" panose="02010600030101010101" pitchFamily="2" charset="-122"/>
                <a:cs typeface="+mj-cs"/>
              </a:defRPr>
            </a:lvl1pPr>
          </a:lstStyle>
          <a:p>
            <a:pPr marL="571500" indent="-571500" algn="l">
              <a:buFont typeface="Arial" panose="020B0604020202020204" pitchFamily="34" charset="0"/>
              <a:buChar char="•"/>
            </a:pPr>
            <a:r>
              <a:rPr lang="en-US" altLang="en-US" sz="3600" dirty="0" err="1">
                <a:latin typeface="华文新魏" panose="02010800040101010101" pitchFamily="2" charset="-122"/>
                <a:ea typeface="华文新魏" panose="02010800040101010101" pitchFamily="2" charset="-122"/>
              </a:rPr>
              <a:t>顺序</a:t>
            </a:r>
            <a:r>
              <a:rPr lang="zh-CN" altLang="en-US" sz="3600" dirty="0">
                <a:latin typeface="华文新魏" panose="02010800040101010101" pitchFamily="2" charset="-122"/>
                <a:ea typeface="华文新魏" panose="02010800040101010101" pitchFamily="2" charset="-122"/>
              </a:rPr>
              <a:t>表的</a:t>
            </a:r>
            <a:r>
              <a:rPr lang="en-US" altLang="en-US" sz="3600" dirty="0" err="1">
                <a:latin typeface="华文新魏" panose="02010800040101010101" pitchFamily="2" charset="-122"/>
                <a:ea typeface="华文新魏" panose="02010800040101010101" pitchFamily="2" charset="-122"/>
              </a:rPr>
              <a:t>查找</a:t>
            </a:r>
            <a:endParaRPr lang="zh-CN" altLang="en-US" sz="3600" dirty="0">
              <a:latin typeface="华文新魏" panose="02010800040101010101" pitchFamily="2" charset="-122"/>
              <a:ea typeface="华文新魏" panose="02010800040101010101" pitchFamily="2" charset="-122"/>
            </a:endParaRPr>
          </a:p>
        </p:txBody>
      </p:sp>
      <p:sp>
        <p:nvSpPr>
          <p:cNvPr id="9" name="内容占位符 2">
            <a:extLst>
              <a:ext uri="{FF2B5EF4-FFF2-40B4-BE49-F238E27FC236}">
                <a16:creationId xmlns="" xmlns:a16="http://schemas.microsoft.com/office/drawing/2014/main" id="{A7DB9238-528F-4067-AE67-B48A4BF2B87D}"/>
              </a:ext>
            </a:extLst>
          </p:cNvPr>
          <p:cNvSpPr>
            <a:spLocks noGrp="1"/>
          </p:cNvSpPr>
          <p:nvPr>
            <p:ph idx="1"/>
          </p:nvPr>
        </p:nvSpPr>
        <p:spPr>
          <a:xfrm>
            <a:off x="461517" y="3132536"/>
            <a:ext cx="8604448" cy="2376264"/>
          </a:xfrm>
        </p:spPr>
        <p:txBody>
          <a:bodyPr>
            <a:normAutofit fontScale="85000" lnSpcReduction="10000"/>
          </a:bodyPr>
          <a:lstStyle/>
          <a:p>
            <a:pPr marL="0" indent="0">
              <a:lnSpc>
                <a:spcPct val="120000"/>
              </a:lnSpc>
              <a:spcBef>
                <a:spcPts val="0"/>
              </a:spcBef>
              <a:buNone/>
            </a:pPr>
            <a:r>
              <a:rPr lang="en-US" altLang="en-US" sz="3100" dirty="0" err="1">
                <a:latin typeface="华文楷体" panose="02010600040101010101" pitchFamily="2" charset="-122"/>
                <a:ea typeface="华文楷体" panose="02010600040101010101" pitchFamily="2" charset="-122"/>
              </a:rPr>
              <a:t>从</a:t>
            </a:r>
            <a:r>
              <a:rPr lang="en-US" altLang="en-US" sz="3100" b="1" dirty="0" err="1">
                <a:solidFill>
                  <a:srgbClr val="0000FF"/>
                </a:solidFill>
                <a:latin typeface="华文楷体" panose="02010600040101010101" pitchFamily="2" charset="-122"/>
                <a:ea typeface="华文楷体" panose="02010600040101010101" pitchFamily="2" charset="-122"/>
              </a:rPr>
              <a:t>表的一端</a:t>
            </a:r>
            <a:r>
              <a:rPr lang="en-US" altLang="en-US" sz="3100" dirty="0">
                <a:latin typeface="华文楷体" panose="02010600040101010101" pitchFamily="2" charset="-122"/>
                <a:ea typeface="华文楷体" panose="02010600040101010101" pitchFamily="2" charset="-122"/>
              </a:rPr>
              <a:t>(</a:t>
            </a:r>
            <a:r>
              <a:rPr lang="zh-CN" altLang="en-US" sz="3100" dirty="0">
                <a:latin typeface="华文楷体" panose="02010600040101010101" pitchFamily="2" charset="-122"/>
                <a:ea typeface="华文楷体" panose="02010600040101010101" pitchFamily="2" charset="-122"/>
              </a:rPr>
              <a:t>例如：最后一个记录</a:t>
            </a:r>
            <a:r>
              <a:rPr lang="en-US" altLang="en-US" sz="3100" dirty="0">
                <a:latin typeface="华文楷体" panose="02010600040101010101" pitchFamily="2" charset="-122"/>
                <a:ea typeface="华文楷体" panose="02010600040101010101" pitchFamily="2" charset="-122"/>
              </a:rPr>
              <a:t>)</a:t>
            </a:r>
            <a:r>
              <a:rPr lang="en-US" altLang="en-US" sz="3100" dirty="0" err="1">
                <a:latin typeface="华文楷体" panose="02010600040101010101" pitchFamily="2" charset="-122"/>
                <a:ea typeface="华文楷体" panose="02010600040101010101" pitchFamily="2" charset="-122"/>
              </a:rPr>
              <a:t>开始</a:t>
            </a:r>
            <a:r>
              <a:rPr lang="zh-CN" altLang="en-US" sz="3100" dirty="0">
                <a:latin typeface="华文楷体" panose="02010600040101010101" pitchFamily="2" charset="-122"/>
                <a:ea typeface="华文楷体" panose="02010600040101010101" pitchFamily="2" charset="-122"/>
              </a:rPr>
              <a:t>，</a:t>
            </a:r>
            <a:r>
              <a:rPr lang="en-US" altLang="en-US" sz="3100" b="1" dirty="0" err="1">
                <a:solidFill>
                  <a:srgbClr val="0000FF"/>
                </a:solidFill>
                <a:latin typeface="华文楷体" panose="02010600040101010101" pitchFamily="2" charset="-122"/>
                <a:ea typeface="华文楷体" panose="02010600040101010101" pitchFamily="2" charset="-122"/>
              </a:rPr>
              <a:t>逐个</a:t>
            </a:r>
            <a:r>
              <a:rPr lang="en-US" altLang="en-US" sz="3100" dirty="0" err="1">
                <a:latin typeface="华文楷体" panose="02010600040101010101" pitchFamily="2" charset="-122"/>
                <a:ea typeface="华文楷体" panose="02010600040101010101" pitchFamily="2" charset="-122"/>
              </a:rPr>
              <a:t>将记录的关键字和给定Key值进行</a:t>
            </a:r>
            <a:r>
              <a:rPr lang="en-US" altLang="en-US" sz="3100" b="1" dirty="0" err="1">
                <a:solidFill>
                  <a:srgbClr val="0000FF"/>
                </a:solidFill>
                <a:latin typeface="华文楷体" panose="02010600040101010101" pitchFamily="2" charset="-122"/>
                <a:ea typeface="华文楷体" panose="02010600040101010101" pitchFamily="2" charset="-122"/>
              </a:rPr>
              <a:t>比较</a:t>
            </a:r>
            <a:endParaRPr lang="en-US" altLang="en-US" sz="3100" b="1" dirty="0">
              <a:solidFill>
                <a:srgbClr val="0000FF"/>
              </a:solidFill>
              <a:latin typeface="华文楷体" panose="02010600040101010101" pitchFamily="2" charset="-122"/>
              <a:ea typeface="华文楷体" panose="02010600040101010101" pitchFamily="2" charset="-122"/>
            </a:endParaRPr>
          </a:p>
          <a:p>
            <a:pPr lvl="1">
              <a:lnSpc>
                <a:spcPct val="120000"/>
              </a:lnSpc>
              <a:spcBef>
                <a:spcPts val="0"/>
              </a:spcBef>
            </a:pPr>
            <a:r>
              <a:rPr lang="en-US" altLang="en-US" sz="3100" dirty="0" err="1">
                <a:latin typeface="华文楷体" panose="02010600040101010101" pitchFamily="2" charset="-122"/>
                <a:ea typeface="华文楷体" panose="02010600040101010101" pitchFamily="2" charset="-122"/>
              </a:rPr>
              <a:t>若某个记录的关键字和给定Key值相等，查找成功</a:t>
            </a:r>
            <a:endParaRPr lang="en-US" altLang="en-US" sz="3100" dirty="0">
              <a:latin typeface="华文楷体" panose="02010600040101010101" pitchFamily="2" charset="-122"/>
              <a:ea typeface="华文楷体" panose="02010600040101010101" pitchFamily="2" charset="-122"/>
            </a:endParaRPr>
          </a:p>
          <a:p>
            <a:pPr lvl="1">
              <a:lnSpc>
                <a:spcPct val="120000"/>
              </a:lnSpc>
              <a:spcBef>
                <a:spcPts val="0"/>
              </a:spcBef>
            </a:pPr>
            <a:r>
              <a:rPr lang="en-US" altLang="en-US" sz="3100" dirty="0" err="1">
                <a:latin typeface="华文楷体" panose="02010600040101010101" pitchFamily="2" charset="-122"/>
                <a:ea typeface="华文楷体" panose="02010600040101010101" pitchFamily="2" charset="-122"/>
              </a:rPr>
              <a:t>否则，若扫描完整个表，仍然没有找到相应的记录，则查找失败</a:t>
            </a:r>
            <a:endParaRPr lang="en-US" altLang="en-US" sz="31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736084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pPr/>
              <a:t>8</a:t>
            </a:fld>
            <a:endParaRPr lang="zh-CN" altLang="en-US"/>
          </a:p>
        </p:txBody>
      </p:sp>
      <p:sp>
        <p:nvSpPr>
          <p:cNvPr id="5" name="文本框 4"/>
          <p:cNvSpPr txBox="1"/>
          <p:nvPr/>
        </p:nvSpPr>
        <p:spPr>
          <a:xfrm>
            <a:off x="251520" y="397452"/>
            <a:ext cx="8136904" cy="2308324"/>
          </a:xfrm>
          <a:prstGeom prst="rect">
            <a:avLst/>
          </a:prstGeom>
          <a:noFill/>
        </p:spPr>
        <p:txBody>
          <a:bodyPr wrap="square" rtlCol="0">
            <a:spAutoFit/>
          </a:bodyPr>
          <a:lstStyle/>
          <a:p>
            <a:r>
              <a:rPr kumimoji="1" lang="en-US" altLang="zh-CN" dirty="0" err="1">
                <a:latin typeface="Times New Roman" panose="02020603050405020304" pitchFamily="18" charset="0"/>
                <a:cs typeface="Times New Roman" panose="02020603050405020304" pitchFamily="18" charset="0"/>
              </a:rPr>
              <a:t>int</a:t>
            </a:r>
            <a:r>
              <a:rPr kumimoji="1" lang="en-US" altLang="zh-CN"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Search_Seq</a:t>
            </a:r>
            <a:r>
              <a:rPr kumimoji="1" lang="en-US" altLang="zh-CN" dirty="0">
                <a:latin typeface="Times New Roman" panose="02020603050405020304" pitchFamily="18" charset="0"/>
                <a:cs typeface="Times New Roman" panose="02020603050405020304" pitchFamily="18" charset="0"/>
              </a:rPr>
              <a:t>(</a:t>
            </a:r>
            <a:r>
              <a:rPr kumimoji="1" lang="en-US" altLang="zh-CN" dirty="0" err="1">
                <a:latin typeface="Times New Roman" panose="02020603050405020304" pitchFamily="18" charset="0"/>
                <a:cs typeface="Times New Roman" panose="02020603050405020304" pitchFamily="18" charset="0"/>
              </a:rPr>
              <a:t>SSTable</a:t>
            </a:r>
            <a:r>
              <a:rPr kumimoji="1" lang="en-US" altLang="zh-CN" dirty="0">
                <a:latin typeface="Times New Roman" panose="02020603050405020304" pitchFamily="18" charset="0"/>
                <a:cs typeface="Times New Roman" panose="02020603050405020304" pitchFamily="18" charset="0"/>
              </a:rPr>
              <a:t> ST, </a:t>
            </a:r>
            <a:r>
              <a:rPr kumimoji="1" lang="en-US" altLang="zh-CN" dirty="0" err="1">
                <a:latin typeface="Times New Roman" panose="02020603050405020304" pitchFamily="18" charset="0"/>
                <a:cs typeface="Times New Roman" panose="02020603050405020304" pitchFamily="18" charset="0"/>
              </a:rPr>
              <a:t>KeyType</a:t>
            </a:r>
            <a:r>
              <a:rPr kumimoji="1" lang="en-US" altLang="zh-CN" dirty="0">
                <a:latin typeface="Times New Roman" panose="02020603050405020304" pitchFamily="18" charset="0"/>
                <a:cs typeface="Times New Roman" panose="02020603050405020304" pitchFamily="18" charset="0"/>
              </a:rPr>
              <a:t> key) {</a:t>
            </a:r>
          </a:p>
          <a:p>
            <a:r>
              <a:rPr kumimoji="1" lang="en-US" altLang="zh-CN" dirty="0">
                <a:latin typeface="Times New Roman" panose="02020603050405020304" pitchFamily="18" charset="0"/>
                <a:cs typeface="Times New Roman" panose="02020603050405020304" pitchFamily="18" charset="0"/>
              </a:rPr>
              <a:t>          for(</a:t>
            </a:r>
            <a:r>
              <a:rPr kumimoji="1" lang="en-US" altLang="zh-CN" dirty="0" err="1">
                <a:latin typeface="Times New Roman" panose="02020603050405020304" pitchFamily="18" charset="0"/>
                <a:cs typeface="Times New Roman" panose="02020603050405020304" pitchFamily="18" charset="0"/>
              </a:rPr>
              <a:t>int</a:t>
            </a:r>
            <a:r>
              <a:rPr kumimoji="1" lang="en-US" altLang="zh-CN" dirty="0">
                <a:latin typeface="Times New Roman" panose="02020603050405020304" pitchFamily="18" charset="0"/>
                <a:cs typeface="Times New Roman" panose="02020603050405020304" pitchFamily="18" charset="0"/>
              </a:rPr>
              <a:t> </a:t>
            </a:r>
            <a:r>
              <a:rPr kumimoji="1" lang="en-US" altLang="zh-CN" dirty="0" err="1">
                <a:latin typeface="Times New Roman" panose="02020603050405020304" pitchFamily="18" charset="0"/>
                <a:cs typeface="Times New Roman" panose="02020603050405020304" pitchFamily="18" charset="0"/>
              </a:rPr>
              <a:t>i</a:t>
            </a:r>
            <a:r>
              <a:rPr kumimoji="1" lang="en-US" altLang="zh-CN" dirty="0">
                <a:latin typeface="Times New Roman" panose="02020603050405020304" pitchFamily="18" charset="0"/>
                <a:cs typeface="Times New Roman" panose="02020603050405020304" pitchFamily="18" charset="0"/>
              </a:rPr>
              <a:t>=1;  </a:t>
            </a:r>
            <a:r>
              <a:rPr kumimoji="1" lang="en-US" altLang="zh-CN" dirty="0" err="1">
                <a:latin typeface="Times New Roman" panose="02020603050405020304" pitchFamily="18" charset="0"/>
                <a:cs typeface="Times New Roman" panose="02020603050405020304" pitchFamily="18" charset="0"/>
              </a:rPr>
              <a:t>i</a:t>
            </a:r>
            <a:r>
              <a:rPr kumimoji="1" lang="en-US" altLang="zh-CN" dirty="0">
                <a:latin typeface="Times New Roman" panose="02020603050405020304" pitchFamily="18" charset="0"/>
                <a:cs typeface="Times New Roman" panose="02020603050405020304" pitchFamily="18" charset="0"/>
              </a:rPr>
              <a:t>&lt;=</a:t>
            </a:r>
            <a:r>
              <a:rPr kumimoji="1" lang="en-US" altLang="zh-CN" dirty="0" err="1">
                <a:latin typeface="Times New Roman" panose="02020603050405020304" pitchFamily="18" charset="0"/>
                <a:cs typeface="Times New Roman" panose="02020603050405020304" pitchFamily="18" charset="0"/>
              </a:rPr>
              <a:t>ST.length</a:t>
            </a:r>
            <a:r>
              <a:rPr kumimoji="1" lang="en-US" altLang="zh-CN" dirty="0">
                <a:latin typeface="Times New Roman" panose="02020603050405020304" pitchFamily="18" charset="0"/>
                <a:cs typeface="Times New Roman" panose="02020603050405020304" pitchFamily="18" charset="0"/>
              </a:rPr>
              <a:t> &amp;&amp; (</a:t>
            </a:r>
            <a:r>
              <a:rPr kumimoji="1" lang="en-US" altLang="zh-CN" dirty="0" err="1">
                <a:latin typeface="Times New Roman" panose="02020603050405020304" pitchFamily="18" charset="0"/>
                <a:cs typeface="Times New Roman" panose="02020603050405020304" pitchFamily="18" charset="0"/>
              </a:rPr>
              <a:t>ST.elem</a:t>
            </a:r>
            <a:r>
              <a:rPr kumimoji="1" lang="en-US" altLang="zh-CN" dirty="0">
                <a:latin typeface="Times New Roman" panose="02020603050405020304" pitchFamily="18" charset="0"/>
                <a:cs typeface="Times New Roman" panose="02020603050405020304" pitchFamily="18" charset="0"/>
              </a:rPr>
              <a:t>[</a:t>
            </a:r>
            <a:r>
              <a:rPr kumimoji="1" lang="en-US" altLang="zh-CN" dirty="0" err="1">
                <a:latin typeface="Times New Roman" panose="02020603050405020304" pitchFamily="18" charset="0"/>
                <a:cs typeface="Times New Roman" panose="02020603050405020304" pitchFamily="18" charset="0"/>
              </a:rPr>
              <a:t>i</a:t>
            </a:r>
            <a:r>
              <a:rPr kumimoji="1" lang="en-US" altLang="zh-CN" dirty="0">
                <a:latin typeface="Times New Roman" panose="02020603050405020304" pitchFamily="18" charset="0"/>
                <a:cs typeface="Times New Roman" panose="02020603050405020304" pitchFamily="18" charset="0"/>
              </a:rPr>
              <a:t>].key != key);  </a:t>
            </a:r>
            <a:r>
              <a:rPr kumimoji="1" lang="en-US" altLang="zh-CN" dirty="0" err="1">
                <a:latin typeface="Times New Roman" panose="02020603050405020304" pitchFamily="18" charset="0"/>
                <a:cs typeface="Times New Roman" panose="02020603050405020304" pitchFamily="18" charset="0"/>
              </a:rPr>
              <a:t>i</a:t>
            </a:r>
            <a:r>
              <a:rPr kumimoji="1" lang="en-US" altLang="zh-CN" dirty="0">
                <a:latin typeface="Times New Roman" panose="02020603050405020304" pitchFamily="18" charset="0"/>
                <a:cs typeface="Times New Roman" panose="02020603050405020304" pitchFamily="18" charset="0"/>
              </a:rPr>
              <a:t>++ );</a:t>
            </a:r>
          </a:p>
          <a:p>
            <a:r>
              <a:rPr kumimoji="1" lang="en-US" altLang="zh-CN" dirty="0">
                <a:latin typeface="Times New Roman" panose="02020603050405020304" pitchFamily="18" charset="0"/>
                <a:cs typeface="Times New Roman" panose="02020603050405020304" pitchFamily="18" charset="0"/>
              </a:rPr>
              <a:t>          if( </a:t>
            </a:r>
            <a:r>
              <a:rPr kumimoji="1" lang="en-US" altLang="zh-CN" dirty="0" err="1">
                <a:latin typeface="Times New Roman" panose="02020603050405020304" pitchFamily="18" charset="0"/>
                <a:cs typeface="Times New Roman" panose="02020603050405020304" pitchFamily="18" charset="0"/>
              </a:rPr>
              <a:t>i</a:t>
            </a:r>
            <a:r>
              <a:rPr kumimoji="1" lang="en-US" altLang="zh-CN" dirty="0">
                <a:latin typeface="Times New Roman" panose="02020603050405020304" pitchFamily="18" charset="0"/>
                <a:cs typeface="Times New Roman" panose="02020603050405020304" pitchFamily="18" charset="0"/>
              </a:rPr>
              <a:t>&lt;=</a:t>
            </a:r>
            <a:r>
              <a:rPr kumimoji="1" lang="en-US" altLang="zh-CN" dirty="0" err="1">
                <a:latin typeface="Times New Roman" panose="02020603050405020304" pitchFamily="18" charset="0"/>
                <a:cs typeface="Times New Roman" panose="02020603050405020304" pitchFamily="18" charset="0"/>
              </a:rPr>
              <a:t>ST.length</a:t>
            </a:r>
            <a:r>
              <a:rPr kumimoji="1" lang="en-US" altLang="zh-CN" dirty="0">
                <a:latin typeface="Times New Roman" panose="02020603050405020304" pitchFamily="18" charset="0"/>
                <a:cs typeface="Times New Roman" panose="02020603050405020304" pitchFamily="18" charset="0"/>
              </a:rPr>
              <a:t> )</a:t>
            </a:r>
          </a:p>
          <a:p>
            <a:r>
              <a:rPr kumimoji="1" lang="en-US" altLang="zh-CN" dirty="0">
                <a:latin typeface="Times New Roman" panose="02020603050405020304" pitchFamily="18" charset="0"/>
                <a:cs typeface="Times New Roman" panose="02020603050405020304" pitchFamily="18" charset="0"/>
              </a:rPr>
              <a:t>                    return </a:t>
            </a:r>
            <a:r>
              <a:rPr kumimoji="1" lang="en-US" altLang="zh-CN" dirty="0" err="1">
                <a:latin typeface="Times New Roman" panose="02020603050405020304" pitchFamily="18" charset="0"/>
                <a:cs typeface="Times New Roman" panose="02020603050405020304" pitchFamily="18" charset="0"/>
              </a:rPr>
              <a:t>i</a:t>
            </a:r>
            <a:r>
              <a:rPr kumimoji="1" lang="en-US" altLang="zh-CN" dirty="0">
                <a:latin typeface="Times New Roman" panose="02020603050405020304" pitchFamily="18" charset="0"/>
                <a:cs typeface="Times New Roman" panose="02020603050405020304" pitchFamily="18" charset="0"/>
              </a:rPr>
              <a:t>;</a:t>
            </a:r>
          </a:p>
          <a:p>
            <a:r>
              <a:rPr kumimoji="1" lang="en-US" altLang="zh-CN" dirty="0">
                <a:latin typeface="Times New Roman" panose="02020603050405020304" pitchFamily="18" charset="0"/>
                <a:cs typeface="Times New Roman" panose="02020603050405020304" pitchFamily="18" charset="0"/>
              </a:rPr>
              <a:t>         else</a:t>
            </a:r>
          </a:p>
          <a:p>
            <a:r>
              <a:rPr kumimoji="1" lang="en-US" altLang="zh-CN" dirty="0">
                <a:latin typeface="Times New Roman" panose="02020603050405020304" pitchFamily="18" charset="0"/>
                <a:cs typeface="Times New Roman" panose="02020603050405020304" pitchFamily="18" charset="0"/>
              </a:rPr>
              <a:t>                    return 0;</a:t>
            </a:r>
          </a:p>
          <a:p>
            <a:r>
              <a:rPr kumimoji="1" lang="en-US" altLang="zh-CN" b="1" dirty="0">
                <a:latin typeface="Times New Roman" panose="02020603050405020304" pitchFamily="18" charset="0"/>
                <a:cs typeface="Times New Roman" panose="02020603050405020304" pitchFamily="18" charset="0"/>
              </a:rPr>
              <a:t>}</a:t>
            </a:r>
            <a:r>
              <a:rPr kumimoji="1" lang="en-US" altLang="zh-CN"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Search_Seq</a:t>
            </a:r>
            <a:endParaRPr lang="zh-CN" altLang="en-US" dirty="0">
              <a:latin typeface="Times New Roman" panose="02020603050405020304" pitchFamily="18" charset="0"/>
              <a:cs typeface="Times New Roman" panose="02020603050405020304" pitchFamily="18" charset="0"/>
            </a:endParaRPr>
          </a:p>
          <a:p>
            <a:endParaRPr lang="zh-CN" altLang="en-US" dirty="0"/>
          </a:p>
        </p:txBody>
      </p:sp>
      <p:sp>
        <p:nvSpPr>
          <p:cNvPr id="6" name="内容占位符 2"/>
          <p:cNvSpPr txBox="1">
            <a:spLocks/>
          </p:cNvSpPr>
          <p:nvPr/>
        </p:nvSpPr>
        <p:spPr>
          <a:xfrm>
            <a:off x="2915816" y="3212976"/>
            <a:ext cx="6120680" cy="2842282"/>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宋体" panose="02010600030101010101" pitchFamily="2"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宋体" panose="02010600030101010101" pitchFamily="2"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宋体" panose="02010600030101010101" pitchFamily="2"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宋体" panose="02010600030101010101" pitchFamily="2"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宋体" panose="02010600030101010101"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10000"/>
              </a:lnSpc>
              <a:buClr>
                <a:schemeClr val="accent2"/>
              </a:buClr>
              <a:buSzPct val="80000"/>
              <a:buFont typeface="Arial" pitchFamily="34" charset="0"/>
              <a:buNone/>
            </a:pPr>
            <a:r>
              <a:rPr lang="en-US" altLang="en-US" sz="20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en-US" sz="20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en-US" sz="2000" dirty="0" err="1">
                <a:latin typeface="Times New Roman" panose="02020603050405020304" pitchFamily="18" charset="0"/>
                <a:ea typeface="华文楷体" panose="02010600040101010101" pitchFamily="2" charset="-122"/>
                <a:cs typeface="Times New Roman" panose="02020603050405020304" pitchFamily="18" charset="0"/>
              </a:rPr>
              <a:t>Search_Seq</a:t>
            </a:r>
            <a:r>
              <a:rPr lang="en-US" altLang="en-US" sz="20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en-US" sz="2000" dirty="0" err="1">
                <a:latin typeface="Times New Roman" panose="02020603050405020304" pitchFamily="18" charset="0"/>
                <a:ea typeface="华文楷体" panose="02010600040101010101" pitchFamily="2" charset="-122"/>
                <a:cs typeface="Times New Roman" panose="02020603050405020304" pitchFamily="18" charset="0"/>
              </a:rPr>
              <a:t>SSTable</a:t>
            </a:r>
            <a:r>
              <a:rPr lang="en-US" altLang="en-US" sz="2000" dirty="0">
                <a:latin typeface="Times New Roman" panose="02020603050405020304" pitchFamily="18" charset="0"/>
                <a:ea typeface="华文楷体" panose="02010600040101010101" pitchFamily="2" charset="-122"/>
                <a:cs typeface="Times New Roman" panose="02020603050405020304" pitchFamily="18" charset="0"/>
              </a:rPr>
              <a:t>  ST, </a:t>
            </a:r>
            <a:r>
              <a:rPr lang="en-US" altLang="en-US" sz="2000" dirty="0" err="1">
                <a:latin typeface="Times New Roman" panose="02020603050405020304" pitchFamily="18" charset="0"/>
                <a:ea typeface="华文楷体" panose="02010600040101010101" pitchFamily="2" charset="-122"/>
                <a:cs typeface="Times New Roman" panose="02020603050405020304" pitchFamily="18" charset="0"/>
              </a:rPr>
              <a:t>KeyType</a:t>
            </a:r>
            <a:r>
              <a:rPr lang="en-US" altLang="en-US" sz="2000" dirty="0">
                <a:latin typeface="Times New Roman" panose="02020603050405020304" pitchFamily="18" charset="0"/>
                <a:ea typeface="华文楷体" panose="02010600040101010101" pitchFamily="2" charset="-122"/>
                <a:cs typeface="Times New Roman" panose="02020603050405020304" pitchFamily="18" charset="0"/>
              </a:rPr>
              <a:t> key) {</a:t>
            </a:r>
          </a:p>
          <a:p>
            <a:pPr marL="457200" lvl="1" indent="0">
              <a:lnSpc>
                <a:spcPct val="110000"/>
              </a:lnSpc>
              <a:buClr>
                <a:schemeClr val="accent2"/>
              </a:buClr>
              <a:buSzPct val="80000"/>
              <a:buFont typeface="Arial" pitchFamily="34" charset="0"/>
              <a:buNone/>
            </a:pPr>
            <a:r>
              <a:rPr lang="en-US" altLang="en-US" sz="20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设置</a:t>
            </a:r>
            <a:r>
              <a:rPr lang="zh-CN" altLang="en-US" sz="2000"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哨兵</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，查找失败时返回</a:t>
            </a:r>
            <a:r>
              <a:rPr lang="en-US" altLang="en-US" sz="2000" dirty="0">
                <a:latin typeface="Times New Roman" panose="02020603050405020304" pitchFamily="18" charset="0"/>
                <a:ea typeface="华文楷体" panose="02010600040101010101" pitchFamily="2" charset="-122"/>
                <a:cs typeface="Times New Roman" panose="02020603050405020304" pitchFamily="18" charset="0"/>
              </a:rPr>
              <a:t>0  </a:t>
            </a:r>
          </a:p>
          <a:p>
            <a:pPr marL="457200" lvl="1" indent="0">
              <a:lnSpc>
                <a:spcPct val="110000"/>
              </a:lnSpc>
              <a:buClr>
                <a:schemeClr val="accent2"/>
              </a:buClr>
              <a:buSzPct val="80000"/>
              <a:buFont typeface="Arial" pitchFamily="34" charset="0"/>
              <a:buNone/>
            </a:pPr>
            <a:r>
              <a:rPr lang="en-US" altLang="en-US" sz="2000" dirty="0">
                <a:latin typeface="Times New Roman" panose="02020603050405020304" pitchFamily="18" charset="0"/>
                <a:ea typeface="华文楷体" panose="02010600040101010101" pitchFamily="2" charset="-122"/>
                <a:cs typeface="Times New Roman" panose="02020603050405020304" pitchFamily="18" charset="0"/>
              </a:rPr>
              <a:t>ST. </a:t>
            </a:r>
            <a:r>
              <a:rPr lang="en-US" altLang="en-US" sz="2000" dirty="0" err="1">
                <a:latin typeface="Times New Roman" panose="02020603050405020304" pitchFamily="18" charset="0"/>
                <a:ea typeface="华文楷体" panose="02010600040101010101" pitchFamily="2" charset="-122"/>
                <a:cs typeface="Times New Roman" panose="02020603050405020304" pitchFamily="18" charset="0"/>
              </a:rPr>
              <a:t>elem</a:t>
            </a:r>
            <a:r>
              <a:rPr lang="en-US" altLang="en-US" sz="2000" dirty="0">
                <a:latin typeface="Times New Roman" panose="02020603050405020304" pitchFamily="18" charset="0"/>
                <a:ea typeface="华文楷体" panose="02010600040101010101" pitchFamily="2" charset="-122"/>
                <a:cs typeface="Times New Roman" panose="02020603050405020304" pitchFamily="18" charset="0"/>
              </a:rPr>
              <a:t>[0].key=key; </a:t>
            </a:r>
          </a:p>
          <a:p>
            <a:pPr marL="457200" lvl="1" indent="0">
              <a:lnSpc>
                <a:spcPct val="110000"/>
              </a:lnSpc>
              <a:buClr>
                <a:schemeClr val="accent2"/>
              </a:buClr>
              <a:buSzPct val="80000"/>
              <a:buFont typeface="Arial" pitchFamily="34" charset="0"/>
              <a:buNone/>
            </a:pPr>
            <a:r>
              <a:rPr lang="en-US" altLang="en-US" sz="20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从后往前找</a:t>
            </a:r>
            <a:endParaRPr lang="en-US" altLang="en-US" sz="2000" dirty="0">
              <a:latin typeface="Times New Roman" panose="02020603050405020304" pitchFamily="18" charset="0"/>
              <a:ea typeface="华文楷体" panose="02010600040101010101" pitchFamily="2" charset="-122"/>
              <a:cs typeface="Times New Roman" panose="02020603050405020304" pitchFamily="18" charset="0"/>
            </a:endParaRPr>
          </a:p>
          <a:p>
            <a:pPr marL="457200" lvl="1" indent="0">
              <a:lnSpc>
                <a:spcPct val="110000"/>
              </a:lnSpc>
              <a:buClr>
                <a:schemeClr val="accent2"/>
              </a:buClr>
              <a:buSzPct val="80000"/>
              <a:buFont typeface="Arial" pitchFamily="34" charset="0"/>
              <a:buNone/>
            </a:pPr>
            <a:r>
              <a:rPr lang="en-US" altLang="en-US" sz="2000" dirty="0">
                <a:latin typeface="Times New Roman" panose="02020603050405020304" pitchFamily="18" charset="0"/>
                <a:ea typeface="华文楷体" panose="02010600040101010101" pitchFamily="2" charset="-122"/>
                <a:cs typeface="Times New Roman" panose="02020603050405020304" pitchFamily="18" charset="0"/>
              </a:rPr>
              <a:t>for (</a:t>
            </a:r>
            <a:r>
              <a:rPr lang="en-US" altLang="en-US" sz="20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en-US" sz="20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en-US" sz="20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en-US" sz="20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en-US" sz="2000" dirty="0" err="1">
                <a:latin typeface="Times New Roman" panose="02020603050405020304" pitchFamily="18" charset="0"/>
                <a:ea typeface="华文楷体" panose="02010600040101010101" pitchFamily="2" charset="-122"/>
                <a:cs typeface="Times New Roman" panose="02020603050405020304" pitchFamily="18" charset="0"/>
              </a:rPr>
              <a:t>ST.length</a:t>
            </a:r>
            <a:r>
              <a:rPr lang="en-US" altLang="en-US" sz="20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en-US" sz="2000" b="1" dirty="0">
                <a:latin typeface="Times New Roman" panose="02020603050405020304" pitchFamily="18" charset="0"/>
                <a:ea typeface="华文楷体" panose="02010600040101010101" pitchFamily="2" charset="-122"/>
                <a:cs typeface="Times New Roman" panose="02020603050405020304" pitchFamily="18" charset="0"/>
              </a:rPr>
              <a:t>EQ</a:t>
            </a:r>
            <a:r>
              <a:rPr lang="en-US" altLang="en-US" sz="2000" dirty="0">
                <a:latin typeface="Times New Roman" panose="02020603050405020304" pitchFamily="18" charset="0"/>
                <a:ea typeface="华文楷体" panose="02010600040101010101" pitchFamily="2" charset="-122"/>
                <a:cs typeface="Times New Roman" panose="02020603050405020304" pitchFamily="18" charset="0"/>
              </a:rPr>
              <a:t>(ST. </a:t>
            </a:r>
            <a:r>
              <a:rPr lang="en-US" altLang="en-US" sz="2000" dirty="0" err="1">
                <a:latin typeface="Times New Roman" panose="02020603050405020304" pitchFamily="18" charset="0"/>
                <a:ea typeface="华文楷体" panose="02010600040101010101" pitchFamily="2" charset="-122"/>
                <a:cs typeface="Times New Roman" panose="02020603050405020304" pitchFamily="18" charset="0"/>
              </a:rPr>
              <a:t>elem</a:t>
            </a:r>
            <a:r>
              <a:rPr lang="en-US" altLang="en-US" sz="20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en-US" sz="20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en-US" sz="2000" dirty="0">
                <a:latin typeface="Times New Roman" panose="02020603050405020304" pitchFamily="18" charset="0"/>
                <a:ea typeface="华文楷体" panose="02010600040101010101" pitchFamily="2" charset="-122"/>
                <a:cs typeface="Times New Roman" panose="02020603050405020304" pitchFamily="18" charset="0"/>
              </a:rPr>
              <a:t>].key, key); --</a:t>
            </a:r>
            <a:r>
              <a:rPr lang="en-US" altLang="en-US" sz="20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en-US" sz="2000" dirty="0">
                <a:latin typeface="Times New Roman" panose="02020603050405020304" pitchFamily="18" charset="0"/>
                <a:ea typeface="华文楷体" panose="02010600040101010101" pitchFamily="2" charset="-122"/>
                <a:cs typeface="Times New Roman" panose="02020603050405020304" pitchFamily="18" charset="0"/>
              </a:rPr>
              <a:t>) ;</a:t>
            </a:r>
          </a:p>
          <a:p>
            <a:pPr marL="457200" lvl="1" indent="0">
              <a:lnSpc>
                <a:spcPct val="110000"/>
              </a:lnSpc>
              <a:buClr>
                <a:schemeClr val="accent2"/>
              </a:buClr>
              <a:buSzPct val="80000"/>
              <a:buFont typeface="Arial" pitchFamily="34" charset="0"/>
              <a:buNone/>
            </a:pPr>
            <a:r>
              <a:rPr lang="en-US" altLang="en-US" sz="2000" dirty="0">
                <a:latin typeface="Times New Roman" panose="02020603050405020304" pitchFamily="18" charset="0"/>
                <a:ea typeface="华文楷体" panose="02010600040101010101" pitchFamily="2" charset="-122"/>
                <a:cs typeface="Times New Roman" panose="02020603050405020304" pitchFamily="18" charset="0"/>
              </a:rPr>
              <a:t>return(</a:t>
            </a:r>
            <a:r>
              <a:rPr lang="en-US" altLang="en-US" sz="20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en-US" sz="2000" dirty="0">
                <a:latin typeface="Times New Roman" panose="02020603050405020304" pitchFamily="18" charset="0"/>
                <a:ea typeface="华文楷体" panose="02010600040101010101" pitchFamily="2" charset="-122"/>
                <a:cs typeface="Times New Roman" panose="02020603050405020304" pitchFamily="18" charset="0"/>
              </a:rPr>
              <a:t>) ; //</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找不到时，</a:t>
            </a:r>
            <a:r>
              <a:rPr lang="en-US" altLang="zh-CN" sz="20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为</a:t>
            </a:r>
            <a:r>
              <a:rPr lang="en-US" altLang="zh-CN" sz="2000" dirty="0">
                <a:latin typeface="Times New Roman" panose="02020603050405020304" pitchFamily="18" charset="0"/>
                <a:ea typeface="华文楷体" panose="02010600040101010101" pitchFamily="2" charset="-122"/>
                <a:cs typeface="Times New Roman" panose="02020603050405020304" pitchFamily="18" charset="0"/>
              </a:rPr>
              <a:t>0</a:t>
            </a:r>
            <a:endParaRPr lang="en-US" altLang="en-US" sz="2000" dirty="0">
              <a:latin typeface="Times New Roman" panose="02020603050405020304" pitchFamily="18" charset="0"/>
              <a:ea typeface="华文楷体" panose="02010600040101010101" pitchFamily="2" charset="-122"/>
              <a:cs typeface="Times New Roman" panose="02020603050405020304" pitchFamily="18" charset="0"/>
            </a:endParaRPr>
          </a:p>
          <a:p>
            <a:pPr marL="0" indent="0">
              <a:lnSpc>
                <a:spcPct val="110000"/>
              </a:lnSpc>
              <a:buClr>
                <a:schemeClr val="accent2"/>
              </a:buClr>
              <a:buSzPct val="80000"/>
              <a:buFont typeface="Arial" pitchFamily="34" charset="0"/>
              <a:buNone/>
            </a:pPr>
            <a:r>
              <a:rPr lang="en-US" altLang="en-US" sz="20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0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1660370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44"/>
          <p:cNvSpPr>
            <a:spLocks noGrp="1"/>
          </p:cNvSpPr>
          <p:nvPr>
            <p:ph type="title"/>
          </p:nvPr>
        </p:nvSpPr>
        <p:spPr>
          <a:xfrm>
            <a:off x="0" y="75010"/>
            <a:ext cx="8229600" cy="669404"/>
          </a:xfrm>
        </p:spPr>
        <p:txBody>
          <a:bodyPr>
            <a:normAutofit fontScale="90000"/>
          </a:bodyPr>
          <a:lstStyle/>
          <a:p>
            <a:pPr algn="l"/>
            <a:r>
              <a:rPr lang="en-US" altLang="en-US" dirty="0" err="1">
                <a:latin typeface="华文新魏" panose="02010800040101010101" pitchFamily="2" charset="-122"/>
                <a:ea typeface="华文新魏" panose="02010800040101010101" pitchFamily="2" charset="-122"/>
              </a:rPr>
              <a:t>顺序查找</a:t>
            </a:r>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算法分析</a:t>
            </a:r>
          </a:p>
        </p:txBody>
      </p:sp>
      <p:sp>
        <p:nvSpPr>
          <p:cNvPr id="42" name="内容占位符 41"/>
          <p:cNvSpPr>
            <a:spLocks noGrp="1"/>
          </p:cNvSpPr>
          <p:nvPr>
            <p:ph idx="1"/>
          </p:nvPr>
        </p:nvSpPr>
        <p:spPr>
          <a:xfrm>
            <a:off x="712004" y="3717032"/>
            <a:ext cx="8229600" cy="2734239"/>
          </a:xfrm>
        </p:spPr>
        <p:txBody>
          <a:bodyPr>
            <a:normAutofit/>
          </a:bodyPr>
          <a:lstStyle/>
          <a:p>
            <a:pPr>
              <a:buFont typeface="Wingdings" panose="05000000000000000000" pitchFamily="2" charset="2"/>
              <a:buChar char="Ø"/>
            </a:pPr>
            <a:r>
              <a:rPr lang="zh-CN" altLang="en-US" sz="2400" dirty="0">
                <a:latin typeface="华文楷体" panose="02010600040101010101" pitchFamily="2" charset="-122"/>
                <a:ea typeface="华文楷体" panose="02010600040101010101" pitchFamily="2" charset="-122"/>
              </a:rPr>
              <a:t>比较次数：</a:t>
            </a:r>
          </a:p>
          <a:p>
            <a:pPr lvl="1"/>
            <a:r>
              <a:rPr lang="zh-CN" altLang="en-US" sz="2400" dirty="0">
                <a:latin typeface="华文楷体" panose="02010600040101010101" pitchFamily="2" charset="-122"/>
                <a:ea typeface="华文楷体" panose="02010600040101010101" pitchFamily="2" charset="-122"/>
              </a:rPr>
              <a:t>查找第</a:t>
            </a:r>
            <a:r>
              <a:rPr lang="en-US" altLang="en-US" sz="2400" dirty="0">
                <a:latin typeface="华文楷体" panose="02010600040101010101" pitchFamily="2" charset="-122"/>
                <a:ea typeface="华文楷体" panose="02010600040101010101" pitchFamily="2" charset="-122"/>
              </a:rPr>
              <a:t>n</a:t>
            </a:r>
            <a:r>
              <a:rPr lang="zh-CN" altLang="en-US" sz="2400" dirty="0">
                <a:latin typeface="华文楷体" panose="02010600040101010101" pitchFamily="2" charset="-122"/>
                <a:ea typeface="华文楷体" panose="02010600040101010101" pitchFamily="2" charset="-122"/>
              </a:rPr>
              <a:t>个元素：    1</a:t>
            </a:r>
          </a:p>
          <a:p>
            <a:pPr lvl="1"/>
            <a:r>
              <a:rPr lang="en-US" altLang="en-US" sz="2400" dirty="0">
                <a:latin typeface="华文楷体" panose="02010600040101010101" pitchFamily="2" charset="-122"/>
                <a:ea typeface="华文楷体" panose="02010600040101010101" pitchFamily="2" charset="-122"/>
              </a:rPr>
              <a:t>……….</a:t>
            </a:r>
          </a:p>
          <a:p>
            <a:pPr lvl="1"/>
            <a:r>
              <a:rPr lang="zh-CN" altLang="en-US" sz="2400" dirty="0">
                <a:latin typeface="华文楷体" panose="02010600040101010101" pitchFamily="2" charset="-122"/>
                <a:ea typeface="华文楷体" panose="02010600040101010101" pitchFamily="2" charset="-122"/>
              </a:rPr>
              <a:t>查找第</a:t>
            </a:r>
            <a:r>
              <a:rPr lang="en-US" altLang="en-US" sz="2400" dirty="0" err="1">
                <a:latin typeface="华文楷体" panose="02010600040101010101" pitchFamily="2" charset="-122"/>
                <a:ea typeface="华文楷体" panose="02010600040101010101" pitchFamily="2" charset="-122"/>
              </a:rPr>
              <a:t>i</a:t>
            </a:r>
            <a:r>
              <a:rPr lang="zh-CN" altLang="en-US" sz="2400" dirty="0">
                <a:latin typeface="华文楷体" panose="02010600040101010101" pitchFamily="2" charset="-122"/>
                <a:ea typeface="华文楷体" panose="02010600040101010101" pitchFamily="2" charset="-122"/>
              </a:rPr>
              <a:t>个元素：    </a:t>
            </a:r>
            <a:r>
              <a:rPr lang="en-US" altLang="en-US" sz="2400" dirty="0">
                <a:latin typeface="华文楷体" panose="02010600040101010101" pitchFamily="2" charset="-122"/>
                <a:ea typeface="华文楷体" panose="02010600040101010101" pitchFamily="2" charset="-122"/>
              </a:rPr>
              <a:t>n-i+1</a:t>
            </a:r>
          </a:p>
          <a:p>
            <a:pPr lvl="1"/>
            <a:r>
              <a:rPr lang="zh-CN" altLang="en-US" sz="2400" dirty="0">
                <a:latin typeface="华文楷体" panose="02010600040101010101" pitchFamily="2" charset="-122"/>
                <a:ea typeface="华文楷体" panose="02010600040101010101" pitchFamily="2" charset="-122"/>
              </a:rPr>
              <a:t>查找第</a:t>
            </a:r>
            <a:r>
              <a:rPr lang="en-US" altLang="en-US" sz="2400" dirty="0">
                <a:latin typeface="华文楷体" panose="02010600040101010101" pitchFamily="2" charset="-122"/>
                <a:ea typeface="华文楷体" panose="02010600040101010101" pitchFamily="2" charset="-122"/>
              </a:rPr>
              <a:t>1</a:t>
            </a:r>
            <a:r>
              <a:rPr lang="zh-CN" altLang="en-US" sz="2400" dirty="0">
                <a:latin typeface="华文楷体" panose="02010600040101010101" pitchFamily="2" charset="-122"/>
                <a:ea typeface="华文楷体" panose="02010600040101010101" pitchFamily="2" charset="-122"/>
              </a:rPr>
              <a:t>个元素：   </a:t>
            </a:r>
            <a:r>
              <a:rPr lang="en-US" altLang="en-US" sz="2400" dirty="0">
                <a:latin typeface="华文楷体" panose="02010600040101010101" pitchFamily="2" charset="-122"/>
                <a:ea typeface="华文楷体" panose="02010600040101010101" pitchFamily="2" charset="-122"/>
              </a:rPr>
              <a:t>n</a:t>
            </a:r>
          </a:p>
          <a:p>
            <a:pPr>
              <a:buFont typeface="Wingdings" panose="05000000000000000000" pitchFamily="2" charset="2"/>
              <a:buChar char="Ø"/>
            </a:pPr>
            <a:r>
              <a:rPr lang="zh-CN" altLang="en-US" sz="2400" dirty="0">
                <a:latin typeface="华文楷体" panose="02010600040101010101" pitchFamily="2" charset="-122"/>
                <a:ea typeface="华文楷体" panose="02010600040101010101" pitchFamily="2" charset="-122"/>
              </a:rPr>
              <a:t>查找失败时的比较次数： </a:t>
            </a:r>
            <a:r>
              <a:rPr lang="en-US" altLang="en-US" sz="2400" dirty="0">
                <a:latin typeface="华文楷体" panose="02010600040101010101" pitchFamily="2" charset="-122"/>
                <a:ea typeface="华文楷体" panose="02010600040101010101" pitchFamily="2" charset="-122"/>
              </a:rPr>
              <a:t>n+1</a:t>
            </a:r>
          </a:p>
        </p:txBody>
      </p:sp>
      <p:sp>
        <p:nvSpPr>
          <p:cNvPr id="2" name="灯片编号占位符 1"/>
          <p:cNvSpPr>
            <a:spLocks noGrp="1"/>
          </p:cNvSpPr>
          <p:nvPr>
            <p:ph type="sldNum" sz="quarter" idx="12"/>
          </p:nvPr>
        </p:nvSpPr>
        <p:spPr>
          <a:xfrm>
            <a:off x="8941618" y="2963913"/>
            <a:ext cx="395536" cy="365125"/>
          </a:xfrm>
        </p:spPr>
        <p:txBody>
          <a:bodyPr/>
          <a:lstStyle/>
          <a:p>
            <a:fld id="{0C913308-F349-4B6D-A68A-DD1791B4A57B}" type="slidenum">
              <a:rPr lang="zh-CN" altLang="en-US" smtClean="0"/>
              <a:pPr/>
              <a:t>9</a:t>
            </a:fld>
            <a:endParaRPr lang="zh-CN" altLang="en-US"/>
          </a:p>
        </p:txBody>
      </p:sp>
      <p:grpSp>
        <p:nvGrpSpPr>
          <p:cNvPr id="7" name="Group 22"/>
          <p:cNvGrpSpPr>
            <a:grpSpLocks/>
          </p:cNvGrpSpPr>
          <p:nvPr/>
        </p:nvGrpSpPr>
        <p:grpSpPr bwMode="auto">
          <a:xfrm>
            <a:off x="878954" y="1582614"/>
            <a:ext cx="7413625" cy="395288"/>
            <a:chOff x="0" y="0"/>
            <a:chExt cx="4670" cy="249"/>
          </a:xfrm>
        </p:grpSpPr>
        <p:sp>
          <p:nvSpPr>
            <p:cNvPr id="27" name="Rectangle 23"/>
            <p:cNvSpPr>
              <a:spLocks noChangeArrowheads="1"/>
            </p:cNvSpPr>
            <p:nvPr/>
          </p:nvSpPr>
          <p:spPr bwMode="auto">
            <a:xfrm>
              <a:off x="0" y="0"/>
              <a:ext cx="4670" cy="249"/>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solidFill>
                    <a:schemeClr val="hlink"/>
                  </a:solidFill>
                  <a:latin typeface="Times New Roman" pitchFamily="18" charset="0"/>
                </a:rPr>
                <a:t>64</a:t>
              </a:r>
              <a:r>
                <a:rPr lang="en-US" altLang="en-US" sz="2400">
                  <a:latin typeface="Times New Roman" pitchFamily="18" charset="0"/>
                </a:rPr>
                <a:t>     5     13    19    21    37    56     64     75    80    88    92</a:t>
              </a:r>
            </a:p>
          </p:txBody>
        </p:sp>
        <p:sp>
          <p:nvSpPr>
            <p:cNvPr id="28" name="Line 24"/>
            <p:cNvSpPr>
              <a:spLocks noChangeShapeType="1"/>
            </p:cNvSpPr>
            <p:nvPr/>
          </p:nvSpPr>
          <p:spPr bwMode="auto">
            <a:xfrm>
              <a:off x="336"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9" name="Line 25"/>
            <p:cNvSpPr>
              <a:spLocks noChangeShapeType="1"/>
            </p:cNvSpPr>
            <p:nvPr/>
          </p:nvSpPr>
          <p:spPr bwMode="auto">
            <a:xfrm>
              <a:off x="672"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0" name="Line 26"/>
            <p:cNvSpPr>
              <a:spLocks noChangeShapeType="1"/>
            </p:cNvSpPr>
            <p:nvPr/>
          </p:nvSpPr>
          <p:spPr bwMode="auto">
            <a:xfrm>
              <a:off x="1104"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1" name="Line 27"/>
            <p:cNvSpPr>
              <a:spLocks noChangeShapeType="1"/>
            </p:cNvSpPr>
            <p:nvPr/>
          </p:nvSpPr>
          <p:spPr bwMode="auto">
            <a:xfrm>
              <a:off x="1488"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2" name="Line 28"/>
            <p:cNvSpPr>
              <a:spLocks noChangeShapeType="1"/>
            </p:cNvSpPr>
            <p:nvPr/>
          </p:nvSpPr>
          <p:spPr bwMode="auto">
            <a:xfrm>
              <a:off x="1872"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3" name="Line 29"/>
            <p:cNvSpPr>
              <a:spLocks noChangeShapeType="1"/>
            </p:cNvSpPr>
            <p:nvPr/>
          </p:nvSpPr>
          <p:spPr bwMode="auto">
            <a:xfrm>
              <a:off x="2256"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4" name="Line 30"/>
            <p:cNvSpPr>
              <a:spLocks noChangeShapeType="1"/>
            </p:cNvSpPr>
            <p:nvPr/>
          </p:nvSpPr>
          <p:spPr bwMode="auto">
            <a:xfrm>
              <a:off x="2688"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5" name="Line 31"/>
            <p:cNvSpPr>
              <a:spLocks noChangeShapeType="1"/>
            </p:cNvSpPr>
            <p:nvPr/>
          </p:nvSpPr>
          <p:spPr bwMode="auto">
            <a:xfrm>
              <a:off x="3120"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6" name="Line 32"/>
            <p:cNvSpPr>
              <a:spLocks noChangeShapeType="1"/>
            </p:cNvSpPr>
            <p:nvPr/>
          </p:nvSpPr>
          <p:spPr bwMode="auto">
            <a:xfrm>
              <a:off x="3504"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7" name="Line 33"/>
            <p:cNvSpPr>
              <a:spLocks noChangeShapeType="1"/>
            </p:cNvSpPr>
            <p:nvPr/>
          </p:nvSpPr>
          <p:spPr bwMode="auto">
            <a:xfrm>
              <a:off x="3888"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8" name="Line 34"/>
            <p:cNvSpPr>
              <a:spLocks noChangeShapeType="1"/>
            </p:cNvSpPr>
            <p:nvPr/>
          </p:nvSpPr>
          <p:spPr bwMode="auto">
            <a:xfrm>
              <a:off x="4272"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8" name="AutoShape 35"/>
          <p:cNvSpPr>
            <a:spLocks noChangeArrowheads="1"/>
          </p:cNvSpPr>
          <p:nvPr/>
        </p:nvSpPr>
        <p:spPr bwMode="auto">
          <a:xfrm>
            <a:off x="1259954" y="2636714"/>
            <a:ext cx="1008063" cy="647700"/>
          </a:xfrm>
          <a:prstGeom prst="cloudCallout">
            <a:avLst>
              <a:gd name="adj1" fmla="val -57292"/>
              <a:gd name="adj2" fmla="val -152866"/>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zh-CN" altLang="en-US" sz="2000" b="1">
                <a:latin typeface="Times New Roman" pitchFamily="18" charset="0"/>
              </a:rPr>
              <a:t>监视哨</a:t>
            </a:r>
          </a:p>
        </p:txBody>
      </p:sp>
      <p:sp>
        <p:nvSpPr>
          <p:cNvPr id="9" name="AutoShape 36"/>
          <p:cNvSpPr>
            <a:spLocks noChangeArrowheads="1"/>
          </p:cNvSpPr>
          <p:nvPr/>
        </p:nvSpPr>
        <p:spPr bwMode="auto">
          <a:xfrm>
            <a:off x="5508104" y="744414"/>
            <a:ext cx="1619250" cy="431800"/>
          </a:xfrm>
          <a:prstGeom prst="wedgeEllipseCallout">
            <a:avLst>
              <a:gd name="adj1" fmla="val -43736"/>
              <a:gd name="adj2" fmla="val 70171"/>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zh-CN" altLang="en-US" sz="2000" b="1">
                <a:latin typeface="Times New Roman" pitchFamily="18" charset="0"/>
              </a:rPr>
              <a:t>查找</a:t>
            </a:r>
            <a:r>
              <a:rPr lang="en-US" altLang="en-US" sz="2000" b="1">
                <a:latin typeface="Times New Roman" pitchFamily="18" charset="0"/>
              </a:rPr>
              <a:t>64</a:t>
            </a:r>
          </a:p>
        </p:txBody>
      </p:sp>
      <p:sp>
        <p:nvSpPr>
          <p:cNvPr id="10" name="Rectangle 37"/>
          <p:cNvSpPr>
            <a:spLocks noChangeArrowheads="1"/>
          </p:cNvSpPr>
          <p:nvPr/>
        </p:nvSpPr>
        <p:spPr bwMode="auto">
          <a:xfrm>
            <a:off x="898004" y="1201614"/>
            <a:ext cx="7377113"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0       1      2      3      4      5      6       7       8     9     10     11</a:t>
            </a:r>
          </a:p>
        </p:txBody>
      </p:sp>
      <p:grpSp>
        <p:nvGrpSpPr>
          <p:cNvPr id="11" name="Group 38"/>
          <p:cNvGrpSpPr>
            <a:grpSpLocks/>
          </p:cNvGrpSpPr>
          <p:nvPr/>
        </p:nvGrpSpPr>
        <p:grpSpPr bwMode="auto">
          <a:xfrm>
            <a:off x="7762354" y="2014414"/>
            <a:ext cx="287338" cy="627063"/>
            <a:chOff x="0" y="0"/>
            <a:chExt cx="181" cy="395"/>
          </a:xfrm>
        </p:grpSpPr>
        <p:sp>
          <p:nvSpPr>
            <p:cNvPr id="25" name="Rectangle 39"/>
            <p:cNvSpPr>
              <a:spLocks noChangeArrowheads="1"/>
            </p:cNvSpPr>
            <p:nvPr/>
          </p:nvSpPr>
          <p:spPr bwMode="auto">
            <a:xfrm>
              <a:off x="0" y="168"/>
              <a:ext cx="181"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p</a:t>
              </a:r>
            </a:p>
          </p:txBody>
        </p:sp>
        <p:sp>
          <p:nvSpPr>
            <p:cNvPr id="26" name="Line 40"/>
            <p:cNvSpPr>
              <a:spLocks noChangeShapeType="1"/>
            </p:cNvSpPr>
            <p:nvPr/>
          </p:nvSpPr>
          <p:spPr bwMode="auto">
            <a:xfrm flipV="1">
              <a:off x="176" y="0"/>
              <a:ext cx="0" cy="22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12" name="Group 41"/>
          <p:cNvGrpSpPr>
            <a:grpSpLocks/>
          </p:cNvGrpSpPr>
          <p:nvPr/>
        </p:nvGrpSpPr>
        <p:grpSpPr bwMode="auto">
          <a:xfrm>
            <a:off x="7127354" y="2039814"/>
            <a:ext cx="287338" cy="627063"/>
            <a:chOff x="0" y="0"/>
            <a:chExt cx="181" cy="395"/>
          </a:xfrm>
        </p:grpSpPr>
        <p:sp>
          <p:nvSpPr>
            <p:cNvPr id="23" name="Rectangle 42"/>
            <p:cNvSpPr>
              <a:spLocks noChangeArrowheads="1"/>
            </p:cNvSpPr>
            <p:nvPr/>
          </p:nvSpPr>
          <p:spPr bwMode="auto">
            <a:xfrm>
              <a:off x="0" y="168"/>
              <a:ext cx="181"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p</a:t>
              </a:r>
            </a:p>
          </p:txBody>
        </p:sp>
        <p:sp>
          <p:nvSpPr>
            <p:cNvPr id="24" name="Line 43"/>
            <p:cNvSpPr>
              <a:spLocks noChangeShapeType="1"/>
            </p:cNvSpPr>
            <p:nvPr/>
          </p:nvSpPr>
          <p:spPr bwMode="auto">
            <a:xfrm flipV="1">
              <a:off x="176" y="0"/>
              <a:ext cx="0" cy="22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13" name="Group 44"/>
          <p:cNvGrpSpPr>
            <a:grpSpLocks/>
          </p:cNvGrpSpPr>
          <p:nvPr/>
        </p:nvGrpSpPr>
        <p:grpSpPr bwMode="auto">
          <a:xfrm>
            <a:off x="6441554" y="2039814"/>
            <a:ext cx="287338" cy="627063"/>
            <a:chOff x="0" y="0"/>
            <a:chExt cx="181" cy="395"/>
          </a:xfrm>
        </p:grpSpPr>
        <p:sp>
          <p:nvSpPr>
            <p:cNvPr id="21" name="Rectangle 45"/>
            <p:cNvSpPr>
              <a:spLocks noChangeArrowheads="1"/>
            </p:cNvSpPr>
            <p:nvPr/>
          </p:nvSpPr>
          <p:spPr bwMode="auto">
            <a:xfrm>
              <a:off x="0" y="168"/>
              <a:ext cx="181"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p</a:t>
              </a:r>
            </a:p>
          </p:txBody>
        </p:sp>
        <p:sp>
          <p:nvSpPr>
            <p:cNvPr id="22" name="Line 46"/>
            <p:cNvSpPr>
              <a:spLocks noChangeShapeType="1"/>
            </p:cNvSpPr>
            <p:nvPr/>
          </p:nvSpPr>
          <p:spPr bwMode="auto">
            <a:xfrm flipV="1">
              <a:off x="176" y="0"/>
              <a:ext cx="0" cy="22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14" name="Group 47"/>
          <p:cNvGrpSpPr>
            <a:grpSpLocks/>
          </p:cNvGrpSpPr>
          <p:nvPr/>
        </p:nvGrpSpPr>
        <p:grpSpPr bwMode="auto">
          <a:xfrm>
            <a:off x="5857354" y="2039814"/>
            <a:ext cx="287338" cy="627063"/>
            <a:chOff x="0" y="0"/>
            <a:chExt cx="181" cy="395"/>
          </a:xfrm>
        </p:grpSpPr>
        <p:sp>
          <p:nvSpPr>
            <p:cNvPr id="19" name="Rectangle 48"/>
            <p:cNvSpPr>
              <a:spLocks noChangeArrowheads="1"/>
            </p:cNvSpPr>
            <p:nvPr/>
          </p:nvSpPr>
          <p:spPr bwMode="auto">
            <a:xfrm>
              <a:off x="0" y="168"/>
              <a:ext cx="181"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p</a:t>
              </a:r>
            </a:p>
          </p:txBody>
        </p:sp>
        <p:sp>
          <p:nvSpPr>
            <p:cNvPr id="20" name="Line 49"/>
            <p:cNvSpPr>
              <a:spLocks noChangeShapeType="1"/>
            </p:cNvSpPr>
            <p:nvPr/>
          </p:nvSpPr>
          <p:spPr bwMode="auto">
            <a:xfrm flipV="1">
              <a:off x="176" y="0"/>
              <a:ext cx="0" cy="22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15" name="Group 50"/>
          <p:cNvGrpSpPr>
            <a:grpSpLocks/>
          </p:cNvGrpSpPr>
          <p:nvPr/>
        </p:nvGrpSpPr>
        <p:grpSpPr bwMode="auto">
          <a:xfrm>
            <a:off x="5222354" y="2039814"/>
            <a:ext cx="287338" cy="627063"/>
            <a:chOff x="0" y="0"/>
            <a:chExt cx="181" cy="395"/>
          </a:xfrm>
        </p:grpSpPr>
        <p:sp>
          <p:nvSpPr>
            <p:cNvPr id="17" name="Rectangle 51"/>
            <p:cNvSpPr>
              <a:spLocks noChangeArrowheads="1"/>
            </p:cNvSpPr>
            <p:nvPr/>
          </p:nvSpPr>
          <p:spPr bwMode="auto">
            <a:xfrm>
              <a:off x="0" y="168"/>
              <a:ext cx="181"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p</a:t>
              </a:r>
            </a:p>
          </p:txBody>
        </p:sp>
        <p:sp>
          <p:nvSpPr>
            <p:cNvPr id="18" name="Line 52"/>
            <p:cNvSpPr>
              <a:spLocks noChangeShapeType="1"/>
            </p:cNvSpPr>
            <p:nvPr/>
          </p:nvSpPr>
          <p:spPr bwMode="auto">
            <a:xfrm flipV="1">
              <a:off x="176" y="0"/>
              <a:ext cx="0" cy="22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16" name="Text Box 53"/>
          <p:cNvSpPr txBox="1">
            <a:spLocks noChangeArrowheads="1"/>
          </p:cNvSpPr>
          <p:nvPr/>
        </p:nvSpPr>
        <p:spPr bwMode="auto">
          <a:xfrm>
            <a:off x="3317354" y="2736727"/>
            <a:ext cx="17351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zh-CN" altLang="en-US" sz="2400" b="1">
                <a:latin typeface="Times New Roman" pitchFamily="18" charset="0"/>
              </a:rPr>
              <a:t>比较次数</a:t>
            </a:r>
            <a:r>
              <a:rPr lang="en-US" altLang="en-US" sz="2400" b="1">
                <a:latin typeface="Times New Roman" pitchFamily="18" charset="0"/>
              </a:rPr>
              <a:t>=5</a:t>
            </a:r>
          </a:p>
        </p:txBody>
      </p:sp>
    </p:spTree>
    <p:extLst>
      <p:ext uri="{BB962C8B-B14F-4D97-AF65-F5344CB8AC3E}">
        <p14:creationId xmlns:p14="http://schemas.microsoft.com/office/powerpoint/2010/main" val="2220283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8562" name="Group 2"/>
          <p:cNvGrpSpPr>
            <a:grpSpLocks/>
          </p:cNvGrpSpPr>
          <p:nvPr/>
        </p:nvGrpSpPr>
        <p:grpSpPr bwMode="auto">
          <a:xfrm>
            <a:off x="1547664" y="4502771"/>
            <a:ext cx="6942138" cy="908050"/>
            <a:chOff x="0" y="0"/>
            <a:chExt cx="4373" cy="572"/>
          </a:xfrm>
        </p:grpSpPr>
        <p:grpSp>
          <p:nvGrpSpPr>
            <p:cNvPr id="578564" name="Group 3"/>
            <p:cNvGrpSpPr>
              <a:grpSpLocks/>
            </p:cNvGrpSpPr>
            <p:nvPr/>
          </p:nvGrpSpPr>
          <p:grpSpPr bwMode="auto">
            <a:xfrm>
              <a:off x="0" y="0"/>
              <a:ext cx="1584" cy="548"/>
              <a:chOff x="0" y="0"/>
              <a:chExt cx="1584" cy="548"/>
            </a:xfrm>
          </p:grpSpPr>
          <p:sp>
            <p:nvSpPr>
              <p:cNvPr id="578578" name="Rectangle 4"/>
              <p:cNvSpPr>
                <a:spLocks noChangeArrowheads="1"/>
              </p:cNvSpPr>
              <p:nvPr/>
            </p:nvSpPr>
            <p:spPr bwMode="auto">
              <a:xfrm>
                <a:off x="0" y="104"/>
                <a:ext cx="1584"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800" b="1" dirty="0">
                    <a:latin typeface="Times New Roman" pitchFamily="18" charset="0"/>
                  </a:rPr>
                  <a:t>ASL=∑ </a:t>
                </a:r>
                <a:r>
                  <a:rPr lang="en-US" altLang="en-US" sz="2800" b="1" dirty="0" err="1">
                    <a:latin typeface="Times New Roman" pitchFamily="18" charset="0"/>
                  </a:rPr>
                  <a:t>P</a:t>
                </a:r>
                <a:r>
                  <a:rPr lang="en-US" altLang="en-US" sz="2800" b="1" baseline="-18000" dirty="0" err="1">
                    <a:latin typeface="Times New Roman" pitchFamily="18" charset="0"/>
                  </a:rPr>
                  <a:t>i</a:t>
                </a:r>
                <a:r>
                  <a:rPr lang="en-US" altLang="en-US" sz="2800" b="1" dirty="0" err="1">
                    <a:latin typeface="Times New Roman" pitchFamily="18" charset="0"/>
                    <a:sym typeface="Symbol" pitchFamily="18" charset="2"/>
                  </a:rPr>
                  <a:t></a:t>
                </a:r>
                <a:r>
                  <a:rPr lang="en-US" altLang="en-US" sz="2800" b="1" dirty="0" err="1">
                    <a:latin typeface="Times New Roman" pitchFamily="18" charset="0"/>
                  </a:rPr>
                  <a:t>C</a:t>
                </a:r>
                <a:r>
                  <a:rPr lang="en-US" altLang="en-US" sz="2800" b="1" baseline="-18000" dirty="0" err="1">
                    <a:latin typeface="Times New Roman" pitchFamily="18" charset="0"/>
                  </a:rPr>
                  <a:t>i</a:t>
                </a:r>
                <a:r>
                  <a:rPr lang="en-US" altLang="en-US" sz="2800" b="1" dirty="0">
                    <a:latin typeface="Times New Roman" pitchFamily="18" charset="0"/>
                  </a:rPr>
                  <a:t>=</a:t>
                </a:r>
              </a:p>
            </p:txBody>
          </p:sp>
          <p:sp>
            <p:nvSpPr>
              <p:cNvPr id="578579" name="Rectangle 5"/>
              <p:cNvSpPr>
                <a:spLocks noChangeArrowheads="1"/>
              </p:cNvSpPr>
              <p:nvPr/>
            </p:nvSpPr>
            <p:spPr bwMode="auto">
              <a:xfrm>
                <a:off x="576" y="344"/>
                <a:ext cx="363"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i=1</a:t>
                </a:r>
              </a:p>
            </p:txBody>
          </p:sp>
          <p:sp>
            <p:nvSpPr>
              <p:cNvPr id="578580" name="Rectangle 6"/>
              <p:cNvSpPr>
                <a:spLocks noChangeArrowheads="1"/>
              </p:cNvSpPr>
              <p:nvPr/>
            </p:nvSpPr>
            <p:spPr bwMode="auto">
              <a:xfrm>
                <a:off x="640" y="0"/>
                <a:ext cx="182"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n</a:t>
                </a:r>
              </a:p>
            </p:txBody>
          </p:sp>
        </p:grpSp>
        <p:grpSp>
          <p:nvGrpSpPr>
            <p:cNvPr id="578565" name="Group 7"/>
            <p:cNvGrpSpPr>
              <a:grpSpLocks/>
            </p:cNvGrpSpPr>
            <p:nvPr/>
          </p:nvGrpSpPr>
          <p:grpSpPr bwMode="auto">
            <a:xfrm>
              <a:off x="3014" y="96"/>
              <a:ext cx="394" cy="428"/>
              <a:chOff x="0" y="0"/>
              <a:chExt cx="394" cy="428"/>
            </a:xfrm>
          </p:grpSpPr>
          <p:sp>
            <p:nvSpPr>
              <p:cNvPr id="578575" name="Rectangle 8"/>
              <p:cNvSpPr>
                <a:spLocks noChangeArrowheads="1"/>
              </p:cNvSpPr>
              <p:nvPr/>
            </p:nvSpPr>
            <p:spPr bwMode="auto">
              <a:xfrm>
                <a:off x="88" y="224"/>
                <a:ext cx="202"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2</a:t>
                </a:r>
              </a:p>
            </p:txBody>
          </p:sp>
          <p:sp>
            <p:nvSpPr>
              <p:cNvPr id="578576" name="Rectangle 9"/>
              <p:cNvSpPr>
                <a:spLocks noChangeArrowheads="1"/>
              </p:cNvSpPr>
              <p:nvPr/>
            </p:nvSpPr>
            <p:spPr bwMode="auto">
              <a:xfrm>
                <a:off x="0" y="0"/>
                <a:ext cx="394"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n+1</a:t>
                </a:r>
              </a:p>
            </p:txBody>
          </p:sp>
          <p:sp>
            <p:nvSpPr>
              <p:cNvPr id="578577" name="Line 10"/>
              <p:cNvSpPr>
                <a:spLocks noChangeShapeType="1"/>
              </p:cNvSpPr>
              <p:nvPr/>
            </p:nvSpPr>
            <p:spPr bwMode="auto">
              <a:xfrm>
                <a:off x="10" y="208"/>
                <a:ext cx="3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578566" name="Group 11"/>
            <p:cNvGrpSpPr>
              <a:grpSpLocks/>
            </p:cNvGrpSpPr>
            <p:nvPr/>
          </p:nvGrpSpPr>
          <p:grpSpPr bwMode="auto">
            <a:xfrm>
              <a:off x="1576" y="24"/>
              <a:ext cx="1366" cy="548"/>
              <a:chOff x="0" y="0"/>
              <a:chExt cx="1366" cy="548"/>
            </a:xfrm>
          </p:grpSpPr>
          <p:sp>
            <p:nvSpPr>
              <p:cNvPr id="578568" name="Rectangle 12"/>
              <p:cNvSpPr>
                <a:spLocks noChangeArrowheads="1"/>
              </p:cNvSpPr>
              <p:nvPr/>
            </p:nvSpPr>
            <p:spPr bwMode="auto">
              <a:xfrm>
                <a:off x="278" y="104"/>
                <a:ext cx="1088"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zh-CN" altLang="en-US" sz="2800" b="1" dirty="0">
                    <a:latin typeface="Times New Roman" pitchFamily="18" charset="0"/>
                  </a:rPr>
                  <a:t>∑ </a:t>
                </a:r>
                <a:r>
                  <a:rPr lang="en-US" altLang="en-US" sz="2800" b="1" dirty="0">
                    <a:latin typeface="Times New Roman" pitchFamily="18" charset="0"/>
                  </a:rPr>
                  <a:t>(n-i+1)+</a:t>
                </a:r>
              </a:p>
            </p:txBody>
          </p:sp>
          <p:sp>
            <p:nvSpPr>
              <p:cNvPr id="578569" name="Rectangle 13"/>
              <p:cNvSpPr>
                <a:spLocks noChangeArrowheads="1"/>
              </p:cNvSpPr>
              <p:nvPr/>
            </p:nvSpPr>
            <p:spPr bwMode="auto">
              <a:xfrm>
                <a:off x="278" y="344"/>
                <a:ext cx="363"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dirty="0" err="1">
                    <a:latin typeface="Times New Roman" pitchFamily="18" charset="0"/>
                  </a:rPr>
                  <a:t>i</a:t>
                </a:r>
                <a:r>
                  <a:rPr lang="en-US" altLang="en-US" sz="2400" dirty="0">
                    <a:latin typeface="Times New Roman" pitchFamily="18" charset="0"/>
                  </a:rPr>
                  <a:t>=1</a:t>
                </a:r>
              </a:p>
            </p:txBody>
          </p:sp>
          <p:sp>
            <p:nvSpPr>
              <p:cNvPr id="578570" name="Rectangle 14"/>
              <p:cNvSpPr>
                <a:spLocks noChangeArrowheads="1"/>
              </p:cNvSpPr>
              <p:nvPr/>
            </p:nvSpPr>
            <p:spPr bwMode="auto">
              <a:xfrm>
                <a:off x="342" y="0"/>
                <a:ext cx="182"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n</a:t>
                </a:r>
              </a:p>
            </p:txBody>
          </p:sp>
          <p:grpSp>
            <p:nvGrpSpPr>
              <p:cNvPr id="578571" name="Group 15"/>
              <p:cNvGrpSpPr>
                <a:grpSpLocks/>
              </p:cNvGrpSpPr>
              <p:nvPr/>
            </p:nvGrpSpPr>
            <p:grpSpPr bwMode="auto">
              <a:xfrm>
                <a:off x="0" y="28"/>
                <a:ext cx="317" cy="428"/>
                <a:chOff x="0" y="0"/>
                <a:chExt cx="317" cy="428"/>
              </a:xfrm>
            </p:grpSpPr>
            <p:sp>
              <p:nvSpPr>
                <p:cNvPr id="578572" name="Rectangle 16"/>
                <p:cNvSpPr>
                  <a:spLocks noChangeArrowheads="1"/>
                </p:cNvSpPr>
                <p:nvPr/>
              </p:nvSpPr>
              <p:spPr bwMode="auto">
                <a:xfrm>
                  <a:off x="38" y="224"/>
                  <a:ext cx="249"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dirty="0">
                      <a:latin typeface="Times New Roman" pitchFamily="18" charset="0"/>
                    </a:rPr>
                    <a:t>2n</a:t>
                  </a:r>
                </a:p>
              </p:txBody>
            </p:sp>
            <p:sp>
              <p:nvSpPr>
                <p:cNvPr id="578573" name="Rectangle 17"/>
                <p:cNvSpPr>
                  <a:spLocks noChangeArrowheads="1"/>
                </p:cNvSpPr>
                <p:nvPr/>
              </p:nvSpPr>
              <p:spPr bwMode="auto">
                <a:xfrm>
                  <a:off x="70" y="0"/>
                  <a:ext cx="216"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1</a:t>
                  </a:r>
                </a:p>
              </p:txBody>
            </p:sp>
            <p:sp>
              <p:nvSpPr>
                <p:cNvPr id="578574" name="Line 18"/>
                <p:cNvSpPr>
                  <a:spLocks noChangeShapeType="1"/>
                </p:cNvSpPr>
                <p:nvPr/>
              </p:nvSpPr>
              <p:spPr bwMode="auto">
                <a:xfrm flipV="1">
                  <a:off x="0" y="220"/>
                  <a:ext cx="31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sp>
          <p:nvSpPr>
            <p:cNvPr id="578567" name="Rectangle 19"/>
            <p:cNvSpPr>
              <a:spLocks noChangeArrowheads="1"/>
            </p:cNvSpPr>
            <p:nvPr/>
          </p:nvSpPr>
          <p:spPr bwMode="auto">
            <a:xfrm>
              <a:off x="3376" y="180"/>
              <a:ext cx="997"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800" b="1" dirty="0">
                  <a:latin typeface="Times New Roman" pitchFamily="18" charset="0"/>
                </a:rPr>
                <a:t>=3(n+1)/4</a:t>
              </a:r>
            </a:p>
          </p:txBody>
        </p:sp>
      </p:grpSp>
      <p:sp>
        <p:nvSpPr>
          <p:cNvPr id="7" name="内容占位符 6"/>
          <p:cNvSpPr>
            <a:spLocks noGrp="1"/>
          </p:cNvSpPr>
          <p:nvPr>
            <p:ph idx="1"/>
          </p:nvPr>
        </p:nvSpPr>
        <p:spPr>
          <a:xfrm>
            <a:off x="457200" y="908720"/>
            <a:ext cx="8229600" cy="3536901"/>
          </a:xfrm>
        </p:spPr>
        <p:txBody>
          <a:bodyPr>
            <a:normAutofit/>
          </a:bodyPr>
          <a:lstStyle/>
          <a:p>
            <a:r>
              <a:rPr lang="zh-CN" altLang="en-US" sz="2400" dirty="0">
                <a:latin typeface="华文楷体" panose="02010600040101010101" pitchFamily="2" charset="-122"/>
                <a:ea typeface="华文楷体" panose="02010600040101010101" pitchFamily="2" charset="-122"/>
              </a:rPr>
              <a:t>设</a:t>
            </a:r>
            <a:r>
              <a:rPr lang="zh-CN" altLang="en-US" sz="2400" b="1" dirty="0">
                <a:solidFill>
                  <a:schemeClr val="accent6">
                    <a:lumMod val="75000"/>
                  </a:schemeClr>
                </a:solidFill>
                <a:latin typeface="华文楷体" panose="02010600040101010101" pitchFamily="2" charset="-122"/>
                <a:ea typeface="华文楷体" panose="02010600040101010101" pitchFamily="2" charset="-122"/>
              </a:rPr>
              <a:t>查找每个记录成功的概率相等</a:t>
            </a:r>
            <a:r>
              <a:rPr lang="zh-CN" altLang="en-US" sz="2400" dirty="0">
                <a:latin typeface="华文楷体" panose="02010600040101010101" pitchFamily="2" charset="-122"/>
                <a:ea typeface="华文楷体" panose="02010600040101010101" pitchFamily="2" charset="-122"/>
              </a:rPr>
              <a:t>，即</a:t>
            </a:r>
            <a:r>
              <a:rPr lang="en-US" altLang="en-US" sz="2400" dirty="0">
                <a:latin typeface="华文楷体" panose="02010600040101010101" pitchFamily="2" charset="-122"/>
                <a:ea typeface="华文楷体" panose="02010600040101010101" pitchFamily="2" charset="-122"/>
              </a:rPr>
              <a:t>P</a:t>
            </a:r>
            <a:r>
              <a:rPr lang="en-US" altLang="en-US" sz="2400" baseline="-25000" dirty="0">
                <a:latin typeface="华文楷体" panose="02010600040101010101" pitchFamily="2" charset="-122"/>
                <a:ea typeface="华文楷体" panose="02010600040101010101" pitchFamily="2" charset="-122"/>
              </a:rPr>
              <a:t>i</a:t>
            </a:r>
            <a:r>
              <a:rPr lang="en-US" altLang="en-US" sz="2400" dirty="0">
                <a:latin typeface="华文楷体" panose="02010600040101010101" pitchFamily="2" charset="-122"/>
                <a:ea typeface="华文楷体" panose="02010600040101010101" pitchFamily="2" charset="-122"/>
              </a:rPr>
              <a:t>=1/n</a:t>
            </a:r>
            <a:endParaRPr lang="zh-CN" altLang="en-US" sz="2400" dirty="0">
              <a:latin typeface="华文楷体" panose="02010600040101010101" pitchFamily="2" charset="-122"/>
              <a:ea typeface="华文楷体" panose="02010600040101010101" pitchFamily="2" charset="-122"/>
            </a:endParaRPr>
          </a:p>
          <a:p>
            <a:pPr lvl="1"/>
            <a:r>
              <a:rPr lang="zh-CN" altLang="en-US" sz="2400" b="1" dirty="0">
                <a:solidFill>
                  <a:srgbClr val="0000FF"/>
                </a:solidFill>
                <a:latin typeface="华文楷体" panose="02010600040101010101" pitchFamily="2" charset="-122"/>
                <a:ea typeface="华文楷体" panose="02010600040101010101" pitchFamily="2" charset="-122"/>
              </a:rPr>
              <a:t>查找成功时的</a:t>
            </a:r>
            <a:r>
              <a:rPr lang="en-US" altLang="en-US" sz="2400" b="1" dirty="0">
                <a:solidFill>
                  <a:srgbClr val="0000FF"/>
                </a:solidFill>
                <a:latin typeface="华文楷体" panose="02010600040101010101" pitchFamily="2" charset="-122"/>
                <a:ea typeface="华文楷体" panose="02010600040101010101" pitchFamily="2" charset="-122"/>
              </a:rPr>
              <a:t>ASL</a:t>
            </a:r>
            <a:r>
              <a:rPr lang="zh-CN" altLang="en-US" sz="2400" dirty="0">
                <a:latin typeface="华文楷体" panose="02010600040101010101" pitchFamily="2" charset="-122"/>
                <a:ea typeface="华文楷体" panose="02010600040101010101" pitchFamily="2" charset="-122"/>
              </a:rPr>
              <a:t>：查找第</a:t>
            </a:r>
            <a:r>
              <a:rPr lang="en-US" altLang="en-US" sz="2400" dirty="0" err="1">
                <a:latin typeface="华文楷体" panose="02010600040101010101" pitchFamily="2" charset="-122"/>
                <a:ea typeface="华文楷体" panose="02010600040101010101" pitchFamily="2" charset="-122"/>
              </a:rPr>
              <a:t>i</a:t>
            </a:r>
            <a:r>
              <a:rPr lang="zh-CN" altLang="en-US" sz="2400" dirty="0">
                <a:latin typeface="华文楷体" panose="02010600040101010101" pitchFamily="2" charset="-122"/>
                <a:ea typeface="华文楷体" panose="02010600040101010101" pitchFamily="2" charset="-122"/>
              </a:rPr>
              <a:t>个元素成功的比较次数</a:t>
            </a:r>
            <a:r>
              <a:rPr lang="en-US" altLang="en-US" sz="2400" dirty="0">
                <a:latin typeface="华文楷体" panose="02010600040101010101" pitchFamily="2" charset="-122"/>
                <a:ea typeface="华文楷体" panose="02010600040101010101" pitchFamily="2" charset="-122"/>
              </a:rPr>
              <a:t>C</a:t>
            </a:r>
            <a:r>
              <a:rPr lang="en-US" altLang="en-US" sz="2400" baseline="-25000" dirty="0">
                <a:latin typeface="华文楷体" panose="02010600040101010101" pitchFamily="2" charset="-122"/>
                <a:ea typeface="华文楷体" panose="02010600040101010101" pitchFamily="2" charset="-122"/>
              </a:rPr>
              <a:t>i</a:t>
            </a:r>
            <a:r>
              <a:rPr lang="en-US" altLang="en-US" sz="2400" dirty="0">
                <a:latin typeface="华文楷体" panose="02010600040101010101" pitchFamily="2" charset="-122"/>
                <a:ea typeface="华文楷体" panose="02010600040101010101" pitchFamily="2" charset="-122"/>
              </a:rPr>
              <a:t>=n-i+1 </a:t>
            </a:r>
            <a:endParaRPr lang="en-US" altLang="zh-CN" sz="2400" dirty="0">
              <a:latin typeface="华文楷体" panose="02010600040101010101" pitchFamily="2" charset="-122"/>
              <a:ea typeface="华文楷体" panose="02010600040101010101" pitchFamily="2" charset="-122"/>
            </a:endParaRPr>
          </a:p>
          <a:p>
            <a:pPr lvl="1"/>
            <a:endParaRPr lang="en-US" altLang="zh-CN" sz="2400" dirty="0">
              <a:latin typeface="华文楷体" panose="02010600040101010101" pitchFamily="2" charset="-122"/>
              <a:ea typeface="华文楷体" panose="02010600040101010101" pitchFamily="2" charset="-122"/>
            </a:endParaRPr>
          </a:p>
          <a:p>
            <a:pPr lvl="1"/>
            <a:endParaRPr lang="en-US" altLang="zh-CN" sz="2400" dirty="0">
              <a:solidFill>
                <a:srgbClr val="0000FF"/>
              </a:solidFill>
              <a:latin typeface="华文楷体" panose="02010600040101010101" pitchFamily="2" charset="-122"/>
              <a:ea typeface="华文楷体" panose="02010600040101010101" pitchFamily="2" charset="-122"/>
            </a:endParaRPr>
          </a:p>
          <a:p>
            <a:pPr lvl="1"/>
            <a:r>
              <a:rPr lang="zh-CN" altLang="en-US" sz="2400" b="1" dirty="0">
                <a:solidFill>
                  <a:srgbClr val="0000FF"/>
                </a:solidFill>
                <a:latin typeface="华文楷体" panose="02010600040101010101" pitchFamily="2" charset="-122"/>
                <a:ea typeface="华文楷体" panose="02010600040101010101" pitchFamily="2" charset="-122"/>
              </a:rPr>
              <a:t>包含查找不成功的</a:t>
            </a:r>
            <a:r>
              <a:rPr lang="en-US" altLang="zh-CN" sz="2400" b="1" dirty="0">
                <a:solidFill>
                  <a:srgbClr val="0000FF"/>
                </a:solidFill>
                <a:latin typeface="华文楷体" panose="02010600040101010101" pitchFamily="2" charset="-122"/>
                <a:ea typeface="华文楷体" panose="02010600040101010101" pitchFamily="2" charset="-122"/>
              </a:rPr>
              <a:t>ASL</a:t>
            </a:r>
            <a:r>
              <a:rPr lang="zh-CN" altLang="en-US" sz="2400" dirty="0">
                <a:latin typeface="华文楷体" panose="02010600040101010101" pitchFamily="2" charset="-122"/>
                <a:ea typeface="华文楷体" panose="02010600040101010101" pitchFamily="2" charset="-122"/>
              </a:rPr>
              <a:t>：查找失败的比较次数为</a:t>
            </a:r>
            <a:r>
              <a:rPr lang="en-US" altLang="en-US" sz="2400" dirty="0">
                <a:latin typeface="华文楷体" panose="02010600040101010101" pitchFamily="2" charset="-122"/>
                <a:ea typeface="华文楷体" panose="02010600040101010101" pitchFamily="2" charset="-122"/>
              </a:rPr>
              <a:t>n+1</a:t>
            </a:r>
            <a:r>
              <a:rPr lang="zh-CN" altLang="en-US" sz="2400" dirty="0">
                <a:latin typeface="华文楷体" panose="02010600040101010101" pitchFamily="2" charset="-122"/>
                <a:ea typeface="华文楷体" panose="02010600040101010101" pitchFamily="2" charset="-122"/>
              </a:rPr>
              <a:t>，</a:t>
            </a:r>
            <a:r>
              <a:rPr lang="zh-CN" altLang="en-US" sz="2400" b="1" dirty="0">
                <a:solidFill>
                  <a:schemeClr val="accent6">
                    <a:lumMod val="75000"/>
                  </a:schemeClr>
                </a:solidFill>
                <a:latin typeface="华文楷体" panose="02010600040101010101" pitchFamily="2" charset="-122"/>
                <a:ea typeface="华文楷体" panose="02010600040101010101" pitchFamily="2" charset="-122"/>
              </a:rPr>
              <a:t>若成功与不成功的概率相等</a:t>
            </a:r>
            <a:r>
              <a:rPr lang="zh-CN" altLang="en-US" sz="2400" dirty="0">
                <a:latin typeface="华文楷体" panose="02010600040101010101" pitchFamily="2" charset="-122"/>
                <a:ea typeface="华文楷体" panose="02010600040101010101" pitchFamily="2" charset="-122"/>
              </a:rPr>
              <a:t>，对每个记录的查找概率为</a:t>
            </a:r>
            <a:r>
              <a:rPr lang="en-US" altLang="en-US" sz="2400" dirty="0">
                <a:latin typeface="华文楷体" panose="02010600040101010101" pitchFamily="2" charset="-122"/>
                <a:ea typeface="华文楷体" panose="02010600040101010101" pitchFamily="2" charset="-122"/>
              </a:rPr>
              <a:t>Pi=1/(2n)</a:t>
            </a:r>
            <a:r>
              <a:rPr lang="zh-CN" altLang="en-US" sz="2400" dirty="0">
                <a:latin typeface="华文楷体" panose="02010600040101010101" pitchFamily="2" charset="-122"/>
                <a:ea typeface="华文楷体" panose="02010600040101010101" pitchFamily="2" charset="-122"/>
              </a:rPr>
              <a:t> </a:t>
            </a:r>
          </a:p>
          <a:p>
            <a:pPr marL="0" indent="0">
              <a:buNone/>
            </a:pPr>
            <a:endParaRPr lang="en-US" dirty="0"/>
          </a:p>
        </p:txBody>
      </p:sp>
      <p:sp>
        <p:nvSpPr>
          <p:cNvPr id="8" name="灯片编号占位符 7"/>
          <p:cNvSpPr>
            <a:spLocks noGrp="1"/>
          </p:cNvSpPr>
          <p:nvPr>
            <p:ph type="sldNum" sz="quarter" idx="12"/>
          </p:nvPr>
        </p:nvSpPr>
        <p:spPr/>
        <p:txBody>
          <a:bodyPr/>
          <a:lstStyle/>
          <a:p>
            <a:fld id="{0C913308-F349-4B6D-A68A-DD1791B4A57B}" type="slidenum">
              <a:rPr lang="zh-CN" altLang="en-US" smtClean="0"/>
              <a:pPr/>
              <a:t>10</a:t>
            </a:fld>
            <a:endParaRPr lang="zh-CN" altLang="en-US"/>
          </a:p>
        </p:txBody>
      </p:sp>
      <p:grpSp>
        <p:nvGrpSpPr>
          <p:cNvPr id="27" name="Group 3"/>
          <p:cNvGrpSpPr>
            <a:grpSpLocks/>
          </p:cNvGrpSpPr>
          <p:nvPr/>
        </p:nvGrpSpPr>
        <p:grpSpPr bwMode="auto">
          <a:xfrm>
            <a:off x="1603791" y="2086373"/>
            <a:ext cx="5235575" cy="908050"/>
            <a:chOff x="0" y="0"/>
            <a:chExt cx="3298" cy="572"/>
          </a:xfrm>
        </p:grpSpPr>
        <p:sp>
          <p:nvSpPr>
            <p:cNvPr id="28" name="Rectangle 4"/>
            <p:cNvSpPr>
              <a:spLocks noChangeArrowheads="1"/>
            </p:cNvSpPr>
            <p:nvPr/>
          </p:nvSpPr>
          <p:spPr bwMode="auto">
            <a:xfrm>
              <a:off x="0" y="104"/>
              <a:ext cx="1584"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800" b="1" dirty="0">
                  <a:latin typeface="Times New Roman" pitchFamily="18" charset="0"/>
                </a:rPr>
                <a:t>ASL=∑ </a:t>
              </a:r>
              <a:r>
                <a:rPr lang="en-US" altLang="en-US" sz="2800" b="1" dirty="0" err="1">
                  <a:latin typeface="Times New Roman" pitchFamily="18" charset="0"/>
                </a:rPr>
                <a:t>P</a:t>
              </a:r>
              <a:r>
                <a:rPr lang="en-US" altLang="en-US" sz="2800" b="1" baseline="-18000" dirty="0" err="1">
                  <a:latin typeface="Times New Roman" pitchFamily="18" charset="0"/>
                </a:rPr>
                <a:t>i</a:t>
              </a:r>
              <a:r>
                <a:rPr lang="en-US" altLang="en-US" sz="2800" b="1" dirty="0" err="1">
                  <a:latin typeface="Times New Roman" pitchFamily="18" charset="0"/>
                  <a:sym typeface="Symbol" pitchFamily="18" charset="2"/>
                </a:rPr>
                <a:t></a:t>
              </a:r>
              <a:r>
                <a:rPr lang="en-US" altLang="en-US" sz="2800" b="1" dirty="0" err="1">
                  <a:latin typeface="Times New Roman" pitchFamily="18" charset="0"/>
                </a:rPr>
                <a:t>C</a:t>
              </a:r>
              <a:r>
                <a:rPr lang="en-US" altLang="en-US" sz="2800" b="1" baseline="-18000" dirty="0" err="1">
                  <a:latin typeface="Times New Roman" pitchFamily="18" charset="0"/>
                </a:rPr>
                <a:t>i</a:t>
              </a:r>
              <a:r>
                <a:rPr lang="en-US" altLang="en-US" sz="2800" b="1" dirty="0">
                  <a:latin typeface="Times New Roman" pitchFamily="18" charset="0"/>
                </a:rPr>
                <a:t>=</a:t>
              </a:r>
            </a:p>
          </p:txBody>
        </p:sp>
        <p:sp>
          <p:nvSpPr>
            <p:cNvPr id="29" name="Rectangle 5"/>
            <p:cNvSpPr>
              <a:spLocks noChangeArrowheads="1"/>
            </p:cNvSpPr>
            <p:nvPr/>
          </p:nvSpPr>
          <p:spPr bwMode="auto">
            <a:xfrm>
              <a:off x="576" y="344"/>
              <a:ext cx="363"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i=1</a:t>
              </a:r>
            </a:p>
          </p:txBody>
        </p:sp>
        <p:sp>
          <p:nvSpPr>
            <p:cNvPr id="30" name="Rectangle 6"/>
            <p:cNvSpPr>
              <a:spLocks noChangeArrowheads="1"/>
            </p:cNvSpPr>
            <p:nvPr/>
          </p:nvSpPr>
          <p:spPr bwMode="auto">
            <a:xfrm>
              <a:off x="640" y="0"/>
              <a:ext cx="182"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n</a:t>
              </a:r>
            </a:p>
          </p:txBody>
        </p:sp>
        <p:grpSp>
          <p:nvGrpSpPr>
            <p:cNvPr id="31" name="Group 7"/>
            <p:cNvGrpSpPr>
              <a:grpSpLocks/>
            </p:cNvGrpSpPr>
            <p:nvPr/>
          </p:nvGrpSpPr>
          <p:grpSpPr bwMode="auto">
            <a:xfrm>
              <a:off x="1520" y="24"/>
              <a:ext cx="1199" cy="548"/>
              <a:chOff x="0" y="0"/>
              <a:chExt cx="1199" cy="548"/>
            </a:xfrm>
          </p:grpSpPr>
          <p:sp>
            <p:nvSpPr>
              <p:cNvPr id="36" name="Rectangle 8"/>
              <p:cNvSpPr>
                <a:spLocks noChangeArrowheads="1"/>
              </p:cNvSpPr>
              <p:nvPr/>
            </p:nvSpPr>
            <p:spPr bwMode="auto">
              <a:xfrm>
                <a:off x="224" y="104"/>
                <a:ext cx="975"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zh-CN" altLang="en-US" sz="2800" b="1" dirty="0">
                    <a:latin typeface="Times New Roman" pitchFamily="18" charset="0"/>
                  </a:rPr>
                  <a:t>∑ </a:t>
                </a:r>
                <a:r>
                  <a:rPr lang="en-US" altLang="en-US" sz="2800" b="1" dirty="0">
                    <a:latin typeface="Times New Roman" pitchFamily="18" charset="0"/>
                  </a:rPr>
                  <a:t>(n-i+1)=</a:t>
                </a:r>
              </a:p>
            </p:txBody>
          </p:sp>
          <p:sp>
            <p:nvSpPr>
              <p:cNvPr id="37" name="Rectangle 9"/>
              <p:cNvSpPr>
                <a:spLocks noChangeArrowheads="1"/>
              </p:cNvSpPr>
              <p:nvPr/>
            </p:nvSpPr>
            <p:spPr bwMode="auto">
              <a:xfrm>
                <a:off x="224" y="344"/>
                <a:ext cx="363"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i=1</a:t>
                </a:r>
              </a:p>
            </p:txBody>
          </p:sp>
          <p:sp>
            <p:nvSpPr>
              <p:cNvPr id="38" name="Rectangle 10"/>
              <p:cNvSpPr>
                <a:spLocks noChangeArrowheads="1"/>
              </p:cNvSpPr>
              <p:nvPr/>
            </p:nvSpPr>
            <p:spPr bwMode="auto">
              <a:xfrm>
                <a:off x="288" y="0"/>
                <a:ext cx="182"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n</a:t>
                </a:r>
              </a:p>
            </p:txBody>
          </p:sp>
          <p:grpSp>
            <p:nvGrpSpPr>
              <p:cNvPr id="39" name="Group 11"/>
              <p:cNvGrpSpPr>
                <a:grpSpLocks/>
              </p:cNvGrpSpPr>
              <p:nvPr/>
            </p:nvGrpSpPr>
            <p:grpSpPr bwMode="auto">
              <a:xfrm>
                <a:off x="0" y="68"/>
                <a:ext cx="222" cy="348"/>
                <a:chOff x="0" y="0"/>
                <a:chExt cx="222" cy="348"/>
              </a:xfrm>
            </p:grpSpPr>
            <p:sp>
              <p:nvSpPr>
                <p:cNvPr id="40" name="Rectangle 12"/>
                <p:cNvSpPr>
                  <a:spLocks noChangeArrowheads="1"/>
                </p:cNvSpPr>
                <p:nvPr/>
              </p:nvSpPr>
              <p:spPr bwMode="auto">
                <a:xfrm>
                  <a:off x="40" y="144"/>
                  <a:ext cx="182"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n</a:t>
                  </a:r>
                </a:p>
              </p:txBody>
            </p:sp>
            <p:grpSp>
              <p:nvGrpSpPr>
                <p:cNvPr id="41" name="Group 13"/>
                <p:cNvGrpSpPr>
                  <a:grpSpLocks/>
                </p:cNvGrpSpPr>
                <p:nvPr/>
              </p:nvGrpSpPr>
              <p:grpSpPr bwMode="auto">
                <a:xfrm>
                  <a:off x="0" y="0"/>
                  <a:ext cx="222" cy="284"/>
                  <a:chOff x="0" y="0"/>
                  <a:chExt cx="222" cy="284"/>
                </a:xfrm>
              </p:grpSpPr>
              <p:sp>
                <p:nvSpPr>
                  <p:cNvPr id="42" name="Rectangle 14"/>
                  <p:cNvSpPr>
                    <a:spLocks noChangeArrowheads="1"/>
                  </p:cNvSpPr>
                  <p:nvPr/>
                </p:nvSpPr>
                <p:spPr bwMode="auto">
                  <a:xfrm>
                    <a:off x="0" y="80"/>
                    <a:ext cx="18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a:t>
                    </a:r>
                  </a:p>
                </p:txBody>
              </p:sp>
              <p:sp>
                <p:nvSpPr>
                  <p:cNvPr id="43" name="Rectangle 15"/>
                  <p:cNvSpPr>
                    <a:spLocks noChangeArrowheads="1"/>
                  </p:cNvSpPr>
                  <p:nvPr/>
                </p:nvSpPr>
                <p:spPr bwMode="auto">
                  <a:xfrm>
                    <a:off x="40" y="0"/>
                    <a:ext cx="182"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1</a:t>
                    </a:r>
                  </a:p>
                </p:txBody>
              </p:sp>
            </p:grpSp>
          </p:grpSp>
        </p:grpSp>
        <p:grpSp>
          <p:nvGrpSpPr>
            <p:cNvPr id="32" name="Group 16"/>
            <p:cNvGrpSpPr>
              <a:grpSpLocks/>
            </p:cNvGrpSpPr>
            <p:nvPr/>
          </p:nvGrpSpPr>
          <p:grpSpPr bwMode="auto">
            <a:xfrm>
              <a:off x="2904" y="96"/>
              <a:ext cx="394" cy="428"/>
              <a:chOff x="0" y="0"/>
              <a:chExt cx="394" cy="428"/>
            </a:xfrm>
          </p:grpSpPr>
          <p:sp>
            <p:nvSpPr>
              <p:cNvPr id="33" name="Rectangle 17"/>
              <p:cNvSpPr>
                <a:spLocks noChangeArrowheads="1"/>
              </p:cNvSpPr>
              <p:nvPr/>
            </p:nvSpPr>
            <p:spPr bwMode="auto">
              <a:xfrm>
                <a:off x="88" y="224"/>
                <a:ext cx="202"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2</a:t>
                </a:r>
              </a:p>
            </p:txBody>
          </p:sp>
          <p:sp>
            <p:nvSpPr>
              <p:cNvPr id="34" name="Rectangle 18"/>
              <p:cNvSpPr>
                <a:spLocks noChangeArrowheads="1"/>
              </p:cNvSpPr>
              <p:nvPr/>
            </p:nvSpPr>
            <p:spPr bwMode="auto">
              <a:xfrm>
                <a:off x="0" y="0"/>
                <a:ext cx="394"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n+1</a:t>
                </a:r>
              </a:p>
            </p:txBody>
          </p:sp>
          <p:sp>
            <p:nvSpPr>
              <p:cNvPr id="35" name="Line 19"/>
              <p:cNvSpPr>
                <a:spLocks noChangeShapeType="1"/>
              </p:cNvSpPr>
              <p:nvPr/>
            </p:nvSpPr>
            <p:spPr bwMode="auto">
              <a:xfrm>
                <a:off x="10" y="208"/>
                <a:ext cx="3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sp>
        <p:nvSpPr>
          <p:cNvPr id="44" name="标题 44"/>
          <p:cNvSpPr>
            <a:spLocks noGrp="1"/>
          </p:cNvSpPr>
          <p:nvPr>
            <p:ph type="title"/>
          </p:nvPr>
        </p:nvSpPr>
        <p:spPr>
          <a:xfrm>
            <a:off x="159494" y="105389"/>
            <a:ext cx="8229600" cy="669404"/>
          </a:xfrm>
        </p:spPr>
        <p:txBody>
          <a:bodyPr>
            <a:normAutofit fontScale="90000"/>
          </a:bodyPr>
          <a:lstStyle/>
          <a:p>
            <a:pPr algn="l"/>
            <a:r>
              <a:rPr lang="en-US" altLang="en-US" dirty="0" err="1">
                <a:latin typeface="华文新魏" panose="02010800040101010101" pitchFamily="2" charset="-122"/>
                <a:ea typeface="华文新魏" panose="02010800040101010101" pitchFamily="2" charset="-122"/>
              </a:rPr>
              <a:t>顺序查找</a:t>
            </a:r>
            <a:r>
              <a:rPr lang="en-US" altLang="en-US"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算法分析（</a:t>
            </a:r>
            <a:r>
              <a:rPr lang="en-US" altLang="zh-CN" dirty="0">
                <a:latin typeface="华文新魏" panose="02010800040101010101" pitchFamily="2" charset="-122"/>
                <a:ea typeface="华文新魏" panose="02010800040101010101" pitchFamily="2" charset="-122"/>
              </a:rPr>
              <a:t>1</a:t>
            </a:r>
            <a:r>
              <a:rPr lang="zh-CN" altLang="en-US" dirty="0">
                <a:latin typeface="华文新魏" panose="02010800040101010101" pitchFamily="2" charset="-122"/>
                <a:ea typeface="华文新魏" panose="02010800040101010101" pitchFamily="2" charset="-122"/>
              </a:rPr>
              <a:t>）</a:t>
            </a:r>
          </a:p>
        </p:txBody>
      </p:sp>
    </p:spTree>
    <p:extLst>
      <p:ext uri="{BB962C8B-B14F-4D97-AF65-F5344CB8AC3E}">
        <p14:creationId xmlns:p14="http://schemas.microsoft.com/office/powerpoint/2010/main" val="23643521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512" y="44624"/>
            <a:ext cx="8229600" cy="720080"/>
          </a:xfrm>
        </p:spPr>
        <p:txBody>
          <a:bodyPr>
            <a:normAutofit/>
          </a:bodyPr>
          <a:lstStyle/>
          <a:p>
            <a:pPr algn="l"/>
            <a:r>
              <a:rPr lang="en-US" altLang="en-US" sz="3600" dirty="0" err="1">
                <a:latin typeface="华文新魏" panose="02010800040101010101" pitchFamily="2" charset="-122"/>
                <a:ea typeface="华文新魏" panose="02010800040101010101" pitchFamily="2" charset="-122"/>
              </a:rPr>
              <a:t>顺序查找</a:t>
            </a:r>
            <a:r>
              <a:rPr lang="en-US" altLang="en-US" sz="3600" dirty="0">
                <a:latin typeface="华文新魏" panose="02010800040101010101" pitchFamily="2" charset="-122"/>
                <a:ea typeface="华文新魏" panose="02010800040101010101" pitchFamily="2" charset="-122"/>
              </a:rPr>
              <a:t>-</a:t>
            </a:r>
            <a:r>
              <a:rPr lang="zh-CN" altLang="en-US" sz="3600" dirty="0">
                <a:latin typeface="华文新魏" panose="02010800040101010101" pitchFamily="2" charset="-122"/>
                <a:ea typeface="华文新魏" panose="02010800040101010101" pitchFamily="2" charset="-122"/>
              </a:rPr>
              <a:t>改进</a:t>
            </a:r>
          </a:p>
        </p:txBody>
      </p:sp>
      <p:sp>
        <p:nvSpPr>
          <p:cNvPr id="3" name="内容占位符 2"/>
          <p:cNvSpPr>
            <a:spLocks noGrp="1"/>
          </p:cNvSpPr>
          <p:nvPr>
            <p:ph idx="1"/>
          </p:nvPr>
        </p:nvSpPr>
        <p:spPr>
          <a:xfrm>
            <a:off x="457200" y="908720"/>
            <a:ext cx="8229600" cy="4824536"/>
          </a:xfrm>
        </p:spPr>
        <p:txBody>
          <a:bodyPr>
            <a:normAutofit/>
          </a:bodyPr>
          <a:lstStyle/>
          <a:p>
            <a:r>
              <a:rPr lang="zh-CN" altLang="en-US" sz="2400" dirty="0">
                <a:latin typeface="华文楷体" panose="02010600040101010101" pitchFamily="2" charset="-122"/>
                <a:ea typeface="华文楷体" panose="02010600040101010101" pitchFamily="2" charset="-122"/>
              </a:rPr>
              <a:t>根据数据元素被查找的概率组织查找表</a:t>
            </a:r>
            <a:endParaRPr lang="en-US" altLang="zh-CN" sz="2400" dirty="0">
              <a:latin typeface="华文楷体" panose="02010600040101010101" pitchFamily="2" charset="-122"/>
              <a:ea typeface="华文楷体" panose="02010600040101010101" pitchFamily="2" charset="-122"/>
            </a:endParaRPr>
          </a:p>
          <a:p>
            <a:pPr lvl="1"/>
            <a:r>
              <a:rPr kumimoji="1" lang="zh-CN" altLang="en-US" sz="2400" dirty="0">
                <a:latin typeface="华文楷体" panose="02010600040101010101" pitchFamily="2" charset="-122"/>
                <a:ea typeface="华文楷体" panose="02010600040101010101" pitchFamily="2" charset="-122"/>
              </a:rPr>
              <a:t>在</a:t>
            </a:r>
            <a:r>
              <a:rPr kumimoji="1" lang="zh-CN" altLang="en-US" sz="2400" dirty="0">
                <a:solidFill>
                  <a:srgbClr val="CC0000"/>
                </a:solidFill>
                <a:latin typeface="华文楷体" panose="02010600040101010101" pitchFamily="2" charset="-122"/>
                <a:ea typeface="华文楷体" panose="02010600040101010101" pitchFamily="2" charset="-122"/>
              </a:rPr>
              <a:t>不等概率查找</a:t>
            </a:r>
            <a:r>
              <a:rPr kumimoji="1" lang="zh-CN" altLang="en-US" sz="2400" dirty="0">
                <a:latin typeface="华文楷体" panose="02010600040101010101" pitchFamily="2" charset="-122"/>
                <a:ea typeface="华文楷体" panose="02010600040101010101" pitchFamily="2" charset="-122"/>
              </a:rPr>
              <a:t>的情况下，</a:t>
            </a:r>
            <a:r>
              <a:rPr kumimoji="1" lang="en-US" altLang="zh-CN" sz="2400" b="1" i="1" dirty="0" err="1">
                <a:solidFill>
                  <a:srgbClr val="0000FF"/>
                </a:solidFill>
                <a:latin typeface="华文楷体" panose="02010600040101010101" pitchFamily="2" charset="-122"/>
                <a:ea typeface="华文楷体" panose="02010600040101010101" pitchFamily="2" charset="-122"/>
              </a:rPr>
              <a:t>ASL</a:t>
            </a:r>
            <a:r>
              <a:rPr kumimoji="1" lang="en-US" altLang="zh-CN" sz="2400" b="1" i="1" baseline="-25000" dirty="0" err="1">
                <a:solidFill>
                  <a:srgbClr val="0000FF"/>
                </a:solidFill>
                <a:latin typeface="华文楷体" panose="02010600040101010101" pitchFamily="2" charset="-122"/>
                <a:ea typeface="华文楷体" panose="02010600040101010101" pitchFamily="2" charset="-122"/>
              </a:rPr>
              <a:t>st</a:t>
            </a:r>
            <a:r>
              <a:rPr kumimoji="1" lang="en-US" altLang="zh-CN" sz="2400" i="1" baseline="-25000" dirty="0">
                <a:solidFill>
                  <a:srgbClr val="0000FF"/>
                </a:solidFill>
                <a:latin typeface="华文楷体" panose="02010600040101010101" pitchFamily="2" charset="-122"/>
                <a:ea typeface="华文楷体" panose="02010600040101010101" pitchFamily="2" charset="-122"/>
              </a:rPr>
              <a:t> </a:t>
            </a:r>
            <a:r>
              <a:rPr kumimoji="1" lang="zh-CN" altLang="en-US" sz="2400" dirty="0">
                <a:latin typeface="华文楷体" panose="02010600040101010101" pitchFamily="2" charset="-122"/>
                <a:ea typeface="华文楷体" panose="02010600040101010101" pitchFamily="2" charset="-122"/>
              </a:rPr>
              <a:t>在</a:t>
            </a:r>
            <a:r>
              <a:rPr kumimoji="1" lang="en-US" altLang="zh-CN" sz="2400" b="1" i="1" dirty="0">
                <a:solidFill>
                  <a:srgbClr val="0000FF"/>
                </a:solidFill>
                <a:latin typeface="华文楷体" panose="02010600040101010101" pitchFamily="2" charset="-122"/>
                <a:ea typeface="华文楷体" panose="02010600040101010101" pitchFamily="2" charset="-122"/>
              </a:rPr>
              <a:t>P</a:t>
            </a:r>
            <a:r>
              <a:rPr kumimoji="1" lang="en-US" altLang="zh-CN" sz="2400" b="1" i="1" baseline="-25000" dirty="0">
                <a:solidFill>
                  <a:srgbClr val="0000FF"/>
                </a:solidFill>
                <a:latin typeface="华文楷体" panose="02010600040101010101" pitchFamily="2" charset="-122"/>
                <a:ea typeface="华文楷体" panose="02010600040101010101" pitchFamily="2" charset="-122"/>
              </a:rPr>
              <a:t>n</a:t>
            </a:r>
            <a:r>
              <a:rPr kumimoji="1" lang="en-US" altLang="zh-CN" sz="2400" b="1" i="1" dirty="0">
                <a:solidFill>
                  <a:srgbClr val="0000FF"/>
                </a:solidFill>
                <a:latin typeface="华文楷体" panose="02010600040101010101" pitchFamily="2" charset="-122"/>
                <a:ea typeface="华文楷体" panose="02010600040101010101" pitchFamily="2" charset="-122"/>
              </a:rPr>
              <a:t>≥P</a:t>
            </a:r>
            <a:r>
              <a:rPr kumimoji="1" lang="en-US" altLang="zh-CN" sz="2400" b="1" i="1" baseline="-25000" dirty="0">
                <a:solidFill>
                  <a:srgbClr val="0000FF"/>
                </a:solidFill>
                <a:latin typeface="华文楷体" panose="02010600040101010101" pitchFamily="2" charset="-122"/>
                <a:ea typeface="华文楷体" panose="02010600040101010101" pitchFamily="2" charset="-122"/>
              </a:rPr>
              <a:t>n-1 </a:t>
            </a:r>
            <a:r>
              <a:rPr kumimoji="1" lang="en-US" altLang="zh-CN" sz="2400" b="1" i="1" dirty="0">
                <a:solidFill>
                  <a:srgbClr val="0000FF"/>
                </a:solidFill>
                <a:latin typeface="华文楷体" panose="02010600040101010101" pitchFamily="2" charset="-122"/>
                <a:ea typeface="华文楷体" panose="02010600040101010101" pitchFamily="2" charset="-122"/>
              </a:rPr>
              <a:t>≥···≥P</a:t>
            </a:r>
            <a:r>
              <a:rPr kumimoji="1" lang="en-US" altLang="zh-CN" sz="2400" b="1" i="1" baseline="-25000" dirty="0">
                <a:solidFill>
                  <a:srgbClr val="0000FF"/>
                </a:solidFill>
                <a:latin typeface="华文楷体" panose="02010600040101010101" pitchFamily="2" charset="-122"/>
                <a:ea typeface="华文楷体" panose="02010600040101010101" pitchFamily="2" charset="-122"/>
              </a:rPr>
              <a:t>2</a:t>
            </a:r>
            <a:r>
              <a:rPr kumimoji="1" lang="en-US" altLang="zh-CN" sz="2400" b="1" i="1" dirty="0">
                <a:solidFill>
                  <a:srgbClr val="0000FF"/>
                </a:solidFill>
                <a:latin typeface="华文楷体" panose="02010600040101010101" pitchFamily="2" charset="-122"/>
                <a:ea typeface="华文楷体" panose="02010600040101010101" pitchFamily="2" charset="-122"/>
              </a:rPr>
              <a:t>≥P</a:t>
            </a:r>
            <a:r>
              <a:rPr kumimoji="1" lang="en-US" altLang="zh-CN" sz="2400" b="1" i="1" baseline="-25000" dirty="0">
                <a:solidFill>
                  <a:srgbClr val="0000FF"/>
                </a:solidFill>
                <a:latin typeface="华文楷体" panose="02010600040101010101" pitchFamily="2" charset="-122"/>
                <a:ea typeface="华文楷体" panose="02010600040101010101" pitchFamily="2" charset="-122"/>
              </a:rPr>
              <a:t>1</a:t>
            </a:r>
            <a:r>
              <a:rPr kumimoji="1" lang="zh-CN" altLang="en-US" sz="2400" dirty="0">
                <a:latin typeface="华文楷体" panose="02010600040101010101" pitchFamily="2" charset="-122"/>
                <a:ea typeface="华文楷体" panose="02010600040101010101" pitchFamily="2" charset="-122"/>
              </a:rPr>
              <a:t>时取极小值</a:t>
            </a:r>
            <a:endParaRPr kumimoji="1" lang="en-US" altLang="zh-CN" sz="2400" dirty="0">
              <a:latin typeface="华文楷体" panose="02010600040101010101" pitchFamily="2" charset="-122"/>
              <a:ea typeface="华文楷体" panose="02010600040101010101" pitchFamily="2" charset="-122"/>
            </a:endParaRPr>
          </a:p>
          <a:p>
            <a:pPr lvl="1"/>
            <a:r>
              <a:rPr lang="zh-CN" altLang="en-US" sz="2400" dirty="0">
                <a:latin typeface="华文楷体" panose="02010600040101010101" pitchFamily="2" charset="-122"/>
                <a:ea typeface="华文楷体" panose="02010600040101010101" pitchFamily="2" charset="-122"/>
              </a:rPr>
              <a:t>按数据元素被查找的概率进行升序排序</a:t>
            </a:r>
            <a:endParaRPr kumimoji="1" lang="zh-CN" altLang="en-US" sz="2400" dirty="0">
              <a:latin typeface="华文楷体" panose="02010600040101010101" pitchFamily="2" charset="-122"/>
              <a:ea typeface="华文楷体" panose="02010600040101010101" pitchFamily="2" charset="-122"/>
            </a:endParaRPr>
          </a:p>
          <a:p>
            <a:r>
              <a:rPr lang="zh-CN" altLang="en-US" sz="2400" dirty="0">
                <a:latin typeface="华文楷体" panose="02010600040101010101" pitchFamily="2" charset="-122"/>
                <a:ea typeface="华文楷体" panose="02010600040101010101" pitchFamily="2" charset="-122"/>
              </a:rPr>
              <a:t>在数据元素中增加一数据项，用于记录对该数据元素的访问次数</a:t>
            </a:r>
            <a:endParaRPr lang="en-US" altLang="zh-CN" sz="2400" dirty="0">
              <a:latin typeface="华文楷体" panose="02010600040101010101" pitchFamily="2" charset="-122"/>
              <a:ea typeface="华文楷体" panose="02010600040101010101" pitchFamily="2" charset="-122"/>
            </a:endParaRPr>
          </a:p>
          <a:p>
            <a:pPr lvl="1"/>
            <a:r>
              <a:rPr lang="zh-CN" altLang="en-US" sz="2400" dirty="0">
                <a:latin typeface="华文楷体" panose="02010600040101010101" pitchFamily="2" charset="-122"/>
                <a:ea typeface="华文楷体" panose="02010600040101010101" pitchFamily="2" charset="-122"/>
              </a:rPr>
              <a:t>在每次查找后，维护查找表使得其按照数据元素的访问次数升序排序</a:t>
            </a:r>
            <a:endParaRPr lang="en-US" altLang="zh-CN" sz="2400" dirty="0">
              <a:latin typeface="华文楷体" panose="02010600040101010101" pitchFamily="2" charset="-122"/>
              <a:ea typeface="华文楷体" panose="02010600040101010101" pitchFamily="2" charset="-122"/>
            </a:endParaRPr>
          </a:p>
          <a:p>
            <a:r>
              <a:rPr lang="zh-CN" altLang="en-US" sz="2400" dirty="0">
                <a:latin typeface="华文楷体" panose="02010600040101010101" pitchFamily="2" charset="-122"/>
                <a:ea typeface="华文楷体" panose="02010600040101010101" pitchFamily="2" charset="-122"/>
              </a:rPr>
              <a:t>在每次查找后，将刚查找到的元素移动至表尾：已发生的事会重复发生</a:t>
            </a:r>
            <a:endParaRPr lang="en-US" altLang="zh-CN" sz="2400" dirty="0">
              <a:latin typeface="华文楷体" panose="02010600040101010101" pitchFamily="2" charset="-122"/>
              <a:ea typeface="华文楷体" panose="02010600040101010101" pitchFamily="2" charset="-122"/>
            </a:endParaRPr>
          </a:p>
          <a:p>
            <a:r>
              <a:rPr lang="zh-CN" altLang="en-US" sz="2400" dirty="0">
                <a:latin typeface="华文楷体" panose="02010600040101010101" pitchFamily="2" charset="-122"/>
                <a:ea typeface="华文楷体" panose="02010600040101010101" pitchFamily="2" charset="-122"/>
              </a:rPr>
              <a:t>为顺序表加索引</a:t>
            </a:r>
            <a:endParaRPr lang="en-US" altLang="zh-CN" sz="2400" dirty="0">
              <a:latin typeface="华文楷体" panose="02010600040101010101" pitchFamily="2" charset="-122"/>
              <a:ea typeface="华文楷体" panose="02010600040101010101" pitchFamily="2" charset="-122"/>
            </a:endParaRPr>
          </a:p>
          <a:p>
            <a:pPr lvl="1"/>
            <a:endParaRPr lang="en-US" altLang="zh-CN"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11</a:t>
            </a:fld>
            <a:endParaRPr lang="zh-CN" altLang="en-US"/>
          </a:p>
        </p:txBody>
      </p:sp>
    </p:spTree>
    <p:extLst>
      <p:ext uri="{BB962C8B-B14F-4D97-AF65-F5344CB8AC3E}">
        <p14:creationId xmlns:p14="http://schemas.microsoft.com/office/powerpoint/2010/main" val="3668202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522" name="Rectangle 2"/>
          <p:cNvSpPr>
            <a:spLocks noGrp="1" noChangeArrowheads="1"/>
          </p:cNvSpPr>
          <p:nvPr>
            <p:ph type="title"/>
          </p:nvPr>
        </p:nvSpPr>
        <p:spPr>
          <a:xfrm>
            <a:off x="35496" y="-14111"/>
            <a:ext cx="8229600" cy="936104"/>
          </a:xfrm>
        </p:spPr>
        <p:txBody>
          <a:bodyPr>
            <a:normAutofit/>
          </a:bodyPr>
          <a:lstStyle/>
          <a:p>
            <a:pPr algn="l"/>
            <a:r>
              <a:rPr lang="zh-CN" altLang="en-US" sz="3600" dirty="0">
                <a:latin typeface="华文新魏" panose="02010800040101010101" pitchFamily="2" charset="-122"/>
                <a:ea typeface="华文新魏" panose="02010800040101010101" pitchFamily="2" charset="-122"/>
              </a:rPr>
              <a:t>有序表的查找</a:t>
            </a:r>
            <a:endParaRPr lang="en-US" altLang="en-US" sz="3600" dirty="0">
              <a:latin typeface="华文新魏" panose="02010800040101010101" pitchFamily="2" charset="-122"/>
              <a:ea typeface="华文新魏" panose="02010800040101010101" pitchFamily="2" charset="-122"/>
            </a:endParaRPr>
          </a:p>
        </p:txBody>
      </p:sp>
      <p:sp>
        <p:nvSpPr>
          <p:cNvPr id="619523" name="Rectangle 3"/>
          <p:cNvSpPr>
            <a:spLocks noGrp="1" noChangeArrowheads="1"/>
          </p:cNvSpPr>
          <p:nvPr>
            <p:ph type="body" idx="1"/>
          </p:nvPr>
        </p:nvSpPr>
        <p:spPr>
          <a:xfrm>
            <a:off x="395536" y="764704"/>
            <a:ext cx="8686800" cy="1008112"/>
          </a:xfrm>
        </p:spPr>
        <p:txBody>
          <a:bodyPr>
            <a:normAutofit/>
          </a:bodyPr>
          <a:lstStyle/>
          <a:p>
            <a:r>
              <a:rPr lang="zh-CN" altLang="en-US" sz="2400" b="1" dirty="0">
                <a:solidFill>
                  <a:schemeClr val="tx2">
                    <a:lumMod val="75000"/>
                  </a:schemeClr>
                </a:solidFill>
                <a:latin typeface="华文楷体" panose="02010600040101010101" pitchFamily="2" charset="-122"/>
                <a:ea typeface="华文楷体" panose="02010600040101010101" pitchFamily="2" charset="-122"/>
              </a:rPr>
              <a:t>有序表</a:t>
            </a:r>
            <a:endParaRPr lang="en-US" altLang="zh-CN" sz="2400" b="1" dirty="0">
              <a:solidFill>
                <a:schemeClr val="tx2">
                  <a:lumMod val="75000"/>
                </a:schemeClr>
              </a:solidFill>
              <a:latin typeface="华文楷体" panose="02010600040101010101" pitchFamily="2" charset="-122"/>
              <a:ea typeface="华文楷体" panose="02010600040101010101" pitchFamily="2" charset="-122"/>
            </a:endParaRPr>
          </a:p>
          <a:p>
            <a:pPr marL="0" indent="449263">
              <a:buNone/>
            </a:pPr>
            <a:r>
              <a:rPr lang="zh-CN" altLang="en-US" sz="2400" dirty="0">
                <a:latin typeface="华文楷体" panose="02010600040101010101" pitchFamily="2" charset="-122"/>
                <a:ea typeface="华文楷体" panose="02010600040101010101" pitchFamily="2" charset="-122"/>
              </a:rPr>
              <a:t>有序</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无序序列，任一</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总有一对相邻元素是顺序</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逆序</a:t>
            </a:r>
            <a:endParaRPr lang="en-US" altLang="zh-CN" sz="2400" dirty="0">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t>12</a:t>
            </a:fld>
            <a:endParaRPr lang="zh-CN" altLang="en-US"/>
          </a:p>
        </p:txBody>
      </p:sp>
      <p:sp>
        <p:nvSpPr>
          <p:cNvPr id="10" name="Rectangle 3"/>
          <p:cNvSpPr txBox="1">
            <a:spLocks noChangeArrowheads="1"/>
          </p:cNvSpPr>
          <p:nvPr/>
        </p:nvSpPr>
        <p:spPr>
          <a:xfrm>
            <a:off x="395536" y="1772816"/>
            <a:ext cx="8229600" cy="4392488"/>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宋体" panose="02010600030101010101" pitchFamily="2"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宋体" panose="02010600030101010101" pitchFamily="2"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宋体" panose="02010600030101010101" pitchFamily="2"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宋体" panose="02010600030101010101" pitchFamily="2"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宋体" panose="02010600030101010101"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2400" dirty="0">
                <a:solidFill>
                  <a:srgbClr val="FFC000"/>
                </a:solidFill>
                <a:latin typeface="华文楷体" panose="02010600040101010101" pitchFamily="2" charset="-122"/>
                <a:ea typeface="华文楷体" panose="02010600040101010101" pitchFamily="2" charset="-122"/>
              </a:rPr>
              <a:t>减而治之</a:t>
            </a:r>
            <a:r>
              <a:rPr lang="zh-CN" altLang="en-US" sz="2400" dirty="0">
                <a:latin typeface="华文楷体" panose="02010600040101010101" pitchFamily="2" charset="-122"/>
                <a:ea typeface="华文楷体" panose="02010600040101010101" pitchFamily="2" charset="-122"/>
              </a:rPr>
              <a:t>：以任一元素</a:t>
            </a:r>
            <a:r>
              <a:rPr lang="en-US" altLang="zh-CN" sz="2400" dirty="0">
                <a:latin typeface="华文楷体" panose="02010600040101010101" pitchFamily="2" charset="-122"/>
                <a:ea typeface="华文楷体" panose="02010600040101010101" pitchFamily="2" charset="-122"/>
              </a:rPr>
              <a:t>x=S[mi]</a:t>
            </a:r>
            <a:r>
              <a:rPr lang="zh-CN" altLang="en-US" sz="2400" dirty="0">
                <a:latin typeface="华文楷体" panose="02010600040101010101" pitchFamily="2" charset="-122"/>
                <a:ea typeface="华文楷体" panose="02010600040101010101" pitchFamily="2" charset="-122"/>
              </a:rPr>
              <a:t>为界，讲查找区间分为三部分：</a:t>
            </a:r>
            <a:endParaRPr lang="en-US" altLang="zh-CN" sz="2400" dirty="0">
              <a:latin typeface="华文楷体" panose="02010600040101010101" pitchFamily="2" charset="-122"/>
              <a:ea typeface="华文楷体" panose="02010600040101010101" pitchFamily="2" charset="-122"/>
            </a:endParaRPr>
          </a:p>
          <a:p>
            <a:pPr marL="0" indent="0">
              <a:buFont typeface="Arial" pitchFamily="34" charset="0"/>
              <a:buNone/>
            </a:pPr>
            <a:r>
              <a:rPr lang="en-US" altLang="zh-CN" sz="2400" dirty="0">
                <a:latin typeface="华文楷体" panose="02010600040101010101" pitchFamily="2" charset="-122"/>
                <a:ea typeface="华文楷体" panose="02010600040101010101" pitchFamily="2" charset="-122"/>
              </a:rPr>
              <a:t>          S[lo, mi)  &lt;= S[mi] &lt;= S</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mi, high)</a:t>
            </a:r>
          </a:p>
          <a:p>
            <a:r>
              <a:rPr lang="zh-CN" altLang="en-US" sz="2400" dirty="0">
                <a:latin typeface="华文楷体" panose="02010600040101010101" pitchFamily="2" charset="-122"/>
                <a:ea typeface="华文楷体" panose="02010600040101010101" pitchFamily="2" charset="-122"/>
              </a:rPr>
              <a:t>只需将目标</a:t>
            </a:r>
            <a:r>
              <a:rPr lang="en-US" altLang="zh-CN" sz="2400" dirty="0">
                <a:latin typeface="华文楷体" panose="02010600040101010101" pitchFamily="2" charset="-122"/>
                <a:ea typeface="华文楷体" panose="02010600040101010101" pitchFamily="2" charset="-122"/>
              </a:rPr>
              <a:t>e</a:t>
            </a:r>
            <a:r>
              <a:rPr lang="zh-CN" altLang="en-US" sz="2400" dirty="0">
                <a:latin typeface="华文楷体" panose="02010600040101010101" pitchFamily="2" charset="-122"/>
                <a:ea typeface="华文楷体" panose="02010600040101010101" pitchFamily="2" charset="-122"/>
              </a:rPr>
              <a:t>与</a:t>
            </a:r>
            <a:r>
              <a:rPr lang="en-US" altLang="zh-CN" sz="2400" dirty="0">
                <a:latin typeface="华文楷体" panose="02010600040101010101" pitchFamily="2" charset="-122"/>
                <a:ea typeface="华文楷体" panose="02010600040101010101" pitchFamily="2" charset="-122"/>
              </a:rPr>
              <a:t>x</a:t>
            </a:r>
            <a:r>
              <a:rPr lang="zh-CN" altLang="en-US" sz="2400" dirty="0">
                <a:latin typeface="华文楷体" panose="02010600040101010101" pitchFamily="2" charset="-122"/>
                <a:ea typeface="华文楷体" panose="02010600040101010101" pitchFamily="2" charset="-122"/>
              </a:rPr>
              <a:t>做比较，就可将原</a:t>
            </a:r>
            <a:r>
              <a:rPr lang="en-US" altLang="zh-CN" sz="2400" dirty="0">
                <a:latin typeface="华文楷体" panose="02010600040101010101" pitchFamily="2" charset="-122"/>
                <a:ea typeface="华文楷体" panose="02010600040101010101" pitchFamily="2" charset="-122"/>
              </a:rPr>
              <a:t>[low, high]</a:t>
            </a:r>
            <a:r>
              <a:rPr lang="zh-CN" altLang="en-US" sz="2400" dirty="0">
                <a:latin typeface="华文楷体" panose="02010600040101010101" pitchFamily="2" charset="-122"/>
                <a:ea typeface="华文楷体" panose="02010600040101010101" pitchFamily="2" charset="-122"/>
              </a:rPr>
              <a:t>的空间细分为以下三种情况处理</a:t>
            </a:r>
            <a:endParaRPr lang="en-US" altLang="zh-CN" sz="2400" dirty="0">
              <a:latin typeface="华文楷体" panose="02010600040101010101" pitchFamily="2" charset="-122"/>
              <a:ea typeface="华文楷体" panose="02010600040101010101" pitchFamily="2" charset="-122"/>
            </a:endParaRPr>
          </a:p>
          <a:p>
            <a:pPr marL="1254125" lvl="1" indent="-268288">
              <a:buFont typeface="+mj-ea"/>
              <a:buAutoNum type="circleNumDbPlain"/>
            </a:pPr>
            <a:r>
              <a:rPr lang="en-US" altLang="zh-CN" sz="2400" dirty="0">
                <a:latin typeface="华文楷体" panose="02010600040101010101" pitchFamily="2" charset="-122"/>
                <a:ea typeface="华文楷体" panose="02010600040101010101" pitchFamily="2" charset="-122"/>
              </a:rPr>
              <a:t>e&lt;x</a:t>
            </a:r>
            <a:r>
              <a:rPr lang="zh-CN" altLang="en-US" sz="2400" dirty="0">
                <a:latin typeface="华文楷体" panose="02010600040101010101" pitchFamily="2" charset="-122"/>
                <a:ea typeface="华文楷体" panose="02010600040101010101" pitchFamily="2" charset="-122"/>
              </a:rPr>
              <a:t>，则</a:t>
            </a:r>
            <a:r>
              <a:rPr lang="en-US" altLang="zh-CN" sz="2400" dirty="0">
                <a:latin typeface="华文楷体" panose="02010600040101010101" pitchFamily="2" charset="-122"/>
                <a:ea typeface="华文楷体" panose="02010600040101010101" pitchFamily="2" charset="-122"/>
              </a:rPr>
              <a:t>e</a:t>
            </a:r>
            <a:r>
              <a:rPr lang="zh-CN" altLang="en-US" sz="2400" dirty="0">
                <a:latin typeface="华文楷体" panose="02010600040101010101" pitchFamily="2" charset="-122"/>
                <a:ea typeface="华文楷体" panose="02010600040101010101" pitchFamily="2" charset="-122"/>
              </a:rPr>
              <a:t>若存在，必在左侧子空间</a:t>
            </a:r>
            <a:r>
              <a:rPr lang="en-US" altLang="zh-CN" sz="2400" dirty="0">
                <a:latin typeface="华文楷体" panose="02010600040101010101" pitchFamily="2" charset="-122"/>
                <a:ea typeface="华文楷体" panose="02010600040101010101" pitchFamily="2" charset="-122"/>
              </a:rPr>
              <a:t>S[low, mi),</a:t>
            </a:r>
          </a:p>
          <a:p>
            <a:pPr marL="1254125" lvl="1" indent="-268288">
              <a:buFont typeface="+mj-ea"/>
              <a:buAutoNum type="circleNumDbPlain"/>
            </a:pPr>
            <a:r>
              <a:rPr lang="en-US" altLang="zh-CN" sz="2400" dirty="0">
                <a:latin typeface="华文楷体" panose="02010600040101010101" pitchFamily="2" charset="-122"/>
                <a:ea typeface="华文楷体" panose="02010600040101010101" pitchFamily="2" charset="-122"/>
              </a:rPr>
              <a:t>e=x</a:t>
            </a:r>
            <a:r>
              <a:rPr lang="zh-CN" altLang="en-US" sz="2400" dirty="0">
                <a:latin typeface="华文楷体" panose="02010600040101010101" pitchFamily="2" charset="-122"/>
                <a:ea typeface="华文楷体" panose="02010600040101010101" pitchFamily="2" charset="-122"/>
              </a:rPr>
              <a:t>，则查找成功，返回</a:t>
            </a:r>
            <a:endParaRPr lang="en-US" altLang="zh-CN" sz="2400" dirty="0">
              <a:latin typeface="华文楷体" panose="02010600040101010101" pitchFamily="2" charset="-122"/>
              <a:ea typeface="华文楷体" panose="02010600040101010101" pitchFamily="2" charset="-122"/>
            </a:endParaRPr>
          </a:p>
          <a:p>
            <a:pPr marL="1254125" lvl="1" indent="-268288">
              <a:buFont typeface="+mj-ea"/>
              <a:buAutoNum type="circleNumDbPlain"/>
            </a:pPr>
            <a:r>
              <a:rPr lang="en-US" altLang="zh-CN" sz="2400" dirty="0">
                <a:latin typeface="华文楷体" panose="02010600040101010101" pitchFamily="2" charset="-122"/>
                <a:ea typeface="华文楷体" panose="02010600040101010101" pitchFamily="2" charset="-122"/>
              </a:rPr>
              <a:t>e&gt;x</a:t>
            </a:r>
            <a:r>
              <a:rPr lang="zh-CN" altLang="en-US" sz="2400" dirty="0">
                <a:latin typeface="华文楷体" panose="02010600040101010101" pitchFamily="2" charset="-122"/>
                <a:ea typeface="华文楷体" panose="02010600040101010101" pitchFamily="2" charset="-122"/>
              </a:rPr>
              <a:t>，则</a:t>
            </a:r>
            <a:r>
              <a:rPr lang="en-US" altLang="zh-CN" sz="2400" dirty="0">
                <a:latin typeface="华文楷体" panose="02010600040101010101" pitchFamily="2" charset="-122"/>
                <a:ea typeface="华文楷体" panose="02010600040101010101" pitchFamily="2" charset="-122"/>
              </a:rPr>
              <a:t>e</a:t>
            </a:r>
            <a:r>
              <a:rPr lang="zh-CN" altLang="en-US" sz="2400" dirty="0">
                <a:latin typeface="华文楷体" panose="02010600040101010101" pitchFamily="2" charset="-122"/>
                <a:ea typeface="华文楷体" panose="02010600040101010101" pitchFamily="2" charset="-122"/>
              </a:rPr>
              <a:t>若存在，必在右侧子空间</a:t>
            </a:r>
            <a:r>
              <a:rPr lang="en-US" altLang="zh-CN" sz="2400" dirty="0">
                <a:latin typeface="华文楷体" panose="02010600040101010101" pitchFamily="2" charset="-122"/>
                <a:ea typeface="华文楷体" panose="02010600040101010101" pitchFamily="2" charset="-122"/>
              </a:rPr>
              <a:t>S(mi, hi)</a:t>
            </a:r>
          </a:p>
          <a:p>
            <a:r>
              <a:rPr lang="zh-CN" altLang="en-US" sz="2400" dirty="0">
                <a:latin typeface="华文楷体" panose="02010600040101010101" pitchFamily="2" charset="-122"/>
                <a:ea typeface="华文楷体" panose="02010600040101010101" pitchFamily="2" charset="-122"/>
              </a:rPr>
              <a:t>二分（折半）策略：轴点</a:t>
            </a:r>
            <a:r>
              <a:rPr lang="en-US" altLang="zh-CN" sz="2400" dirty="0">
                <a:latin typeface="华文楷体" panose="02010600040101010101" pitchFamily="2" charset="-122"/>
                <a:ea typeface="华文楷体" panose="02010600040101010101" pitchFamily="2" charset="-122"/>
              </a:rPr>
              <a:t>mi</a:t>
            </a:r>
            <a:r>
              <a:rPr lang="zh-CN" altLang="en-US" sz="2400" dirty="0">
                <a:latin typeface="华文楷体" panose="02010600040101010101" pitchFamily="2" charset="-122"/>
                <a:ea typeface="华文楷体" panose="02010600040101010101" pitchFamily="2" charset="-122"/>
              </a:rPr>
              <a:t>总是取作中点，即</a:t>
            </a:r>
            <a:endParaRPr lang="en-US" altLang="zh-CN" sz="2400" dirty="0">
              <a:latin typeface="华文楷体" panose="02010600040101010101" pitchFamily="2" charset="-122"/>
              <a:ea typeface="华文楷体" panose="02010600040101010101" pitchFamily="2" charset="-122"/>
            </a:endParaRPr>
          </a:p>
          <a:p>
            <a:pPr marL="0" indent="0" algn="ctr">
              <a:buNone/>
            </a:pPr>
            <a:r>
              <a:rPr lang="en-US" altLang="zh-CN" sz="2400" dirty="0">
                <a:latin typeface="华文楷体" panose="02010600040101010101" pitchFamily="2" charset="-122"/>
                <a:ea typeface="华文楷体" panose="02010600040101010101" pitchFamily="2" charset="-122"/>
              </a:rPr>
              <a:t>mi=</a:t>
            </a:r>
            <a:r>
              <a:rPr lang="en-US" altLang="zh-CN" sz="2400" dirty="0">
                <a:latin typeface="华文楷体" panose="02010600040101010101" pitchFamily="2" charset="-122"/>
                <a:ea typeface="华文楷体" panose="02010600040101010101" pitchFamily="2" charset="-122"/>
                <a:sym typeface="Symbol" panose="05050102010706020507" pitchFamily="18" charset="2"/>
              </a:rPr>
              <a:t></a:t>
            </a:r>
            <a:r>
              <a:rPr lang="en-US" altLang="zh-CN" sz="2400" dirty="0">
                <a:latin typeface="华文楷体" panose="02010600040101010101" pitchFamily="2" charset="-122"/>
                <a:ea typeface="华文楷体" panose="02010600040101010101" pitchFamily="2" charset="-122"/>
              </a:rPr>
              <a:t>(</a:t>
            </a:r>
            <a:r>
              <a:rPr lang="en-US" altLang="zh-CN" sz="2400" dirty="0" err="1">
                <a:latin typeface="华文楷体" panose="02010600040101010101" pitchFamily="2" charset="-122"/>
                <a:ea typeface="华文楷体" panose="02010600040101010101" pitchFamily="2" charset="-122"/>
              </a:rPr>
              <a:t>high+low</a:t>
            </a:r>
            <a:r>
              <a:rPr lang="en-US" altLang="zh-CN" sz="2400" dirty="0">
                <a:latin typeface="华文楷体" panose="02010600040101010101" pitchFamily="2" charset="-122"/>
                <a:ea typeface="华文楷体" panose="02010600040101010101" pitchFamily="2" charset="-122"/>
              </a:rPr>
              <a:t>)/2</a:t>
            </a:r>
            <a:r>
              <a:rPr lang="en-US" altLang="zh-CN" sz="2400" dirty="0">
                <a:latin typeface="华文楷体" panose="02010600040101010101" pitchFamily="2" charset="-122"/>
                <a:ea typeface="华文楷体" panose="02010600040101010101" pitchFamily="2" charset="-122"/>
                <a:sym typeface="Symbol" panose="05050102010706020507" pitchFamily="18" charset="2"/>
              </a:rPr>
              <a:t></a:t>
            </a:r>
            <a:endParaRPr lang="en-US" altLang="zh-CN" sz="2400" dirty="0">
              <a:latin typeface="华文楷体" panose="02010600040101010101" pitchFamily="2" charset="-122"/>
              <a:ea typeface="华文楷体" panose="02010600040101010101" pitchFamily="2" charset="-122"/>
            </a:endParaRPr>
          </a:p>
          <a:p>
            <a:endParaRPr lang="en-US" altLang="zh-CN" sz="2400" dirty="0">
              <a:latin typeface="华文楷体" panose="02010600040101010101" pitchFamily="2" charset="-122"/>
              <a:ea typeface="华文楷体" panose="02010600040101010101" pitchFamily="2" charset="-122"/>
            </a:endParaRPr>
          </a:p>
        </p:txBody>
      </p:sp>
      <p:graphicFrame>
        <p:nvGraphicFramePr>
          <p:cNvPr id="11" name="表格 10">
            <a:extLst>
              <a:ext uri="{FF2B5EF4-FFF2-40B4-BE49-F238E27FC236}">
                <a16:creationId xmlns="" xmlns:a16="http://schemas.microsoft.com/office/drawing/2014/main" id="{360CE8F1-FA69-44E6-AADE-91DFED4CD025}"/>
              </a:ext>
            </a:extLst>
          </p:cNvPr>
          <p:cNvGraphicFramePr>
            <a:graphicFrameLocks noGrp="1"/>
          </p:cNvGraphicFramePr>
          <p:nvPr>
            <p:extLst>
              <p:ext uri="{D42A27DB-BD31-4B8C-83A1-F6EECF244321}">
                <p14:modId xmlns:p14="http://schemas.microsoft.com/office/powerpoint/2010/main" val="3937158023"/>
              </p:ext>
            </p:extLst>
          </p:nvPr>
        </p:nvGraphicFramePr>
        <p:xfrm>
          <a:off x="1403648" y="6456550"/>
          <a:ext cx="6096000" cy="370840"/>
        </p:xfrm>
        <a:graphic>
          <a:graphicData uri="http://schemas.openxmlformats.org/drawingml/2006/table">
            <a:tbl>
              <a:tblPr firstRow="1" bandRow="1">
                <a:tableStyleId>{5C22544A-7EE6-4342-B048-85BDC9FD1C3A}</a:tableStyleId>
              </a:tblPr>
              <a:tblGrid>
                <a:gridCol w="1219200">
                  <a:extLst>
                    <a:ext uri="{9D8B030D-6E8A-4147-A177-3AD203B41FA5}">
                      <a16:colId xmlns="" xmlns:a16="http://schemas.microsoft.com/office/drawing/2014/main" val="1771606641"/>
                    </a:ext>
                  </a:extLst>
                </a:gridCol>
                <a:gridCol w="1877144">
                  <a:extLst>
                    <a:ext uri="{9D8B030D-6E8A-4147-A177-3AD203B41FA5}">
                      <a16:colId xmlns="" xmlns:a16="http://schemas.microsoft.com/office/drawing/2014/main" val="3016718090"/>
                    </a:ext>
                  </a:extLst>
                </a:gridCol>
                <a:gridCol w="504056">
                  <a:extLst>
                    <a:ext uri="{9D8B030D-6E8A-4147-A177-3AD203B41FA5}">
                      <a16:colId xmlns="" xmlns:a16="http://schemas.microsoft.com/office/drawing/2014/main" val="40517364"/>
                    </a:ext>
                  </a:extLst>
                </a:gridCol>
                <a:gridCol w="1276400">
                  <a:extLst>
                    <a:ext uri="{9D8B030D-6E8A-4147-A177-3AD203B41FA5}">
                      <a16:colId xmlns="" xmlns:a16="http://schemas.microsoft.com/office/drawing/2014/main" val="1377496182"/>
                    </a:ext>
                  </a:extLst>
                </a:gridCol>
                <a:gridCol w="1219200">
                  <a:extLst>
                    <a:ext uri="{9D8B030D-6E8A-4147-A177-3AD203B41FA5}">
                      <a16:colId xmlns="" xmlns:a16="http://schemas.microsoft.com/office/drawing/2014/main" val="3846224508"/>
                    </a:ext>
                  </a:extLst>
                </a:gridCol>
              </a:tblGrid>
              <a:tr h="370840">
                <a:tc>
                  <a:txBody>
                    <a:bodyPr/>
                    <a:lstStyle/>
                    <a:p>
                      <a:endParaRPr lang="zh-CN" altLang="en-US" dirty="0"/>
                    </a:p>
                  </a:txBody>
                  <a:tcPr>
                    <a:solidFill>
                      <a:schemeClr val="bg1">
                        <a:lumMod val="95000"/>
                      </a:schemeClr>
                    </a:solidFill>
                  </a:tcPr>
                </a:tc>
                <a:tc>
                  <a:txBody>
                    <a:bodyPr/>
                    <a:lstStyle/>
                    <a:p>
                      <a:pPr algn="ctr"/>
                      <a:r>
                        <a:rPr lang="en-US" altLang="zh-CN" dirty="0"/>
                        <a:t>&lt;=x</a:t>
                      </a:r>
                      <a:endParaRPr lang="zh-CN" altLang="en-US" dirty="0"/>
                    </a:p>
                  </a:txBody>
                  <a:tcPr>
                    <a:solidFill>
                      <a:schemeClr val="tx2">
                        <a:lumMod val="40000"/>
                        <a:lumOff val="60000"/>
                      </a:schemeClr>
                    </a:solidFill>
                  </a:tcPr>
                </a:tc>
                <a:tc>
                  <a:txBody>
                    <a:bodyPr/>
                    <a:lstStyle/>
                    <a:p>
                      <a:pPr algn="ctr"/>
                      <a:r>
                        <a:rPr lang="en-US" altLang="zh-CN" dirty="0"/>
                        <a:t>x</a:t>
                      </a:r>
                      <a:endParaRPr lang="zh-CN" altLang="en-US" dirty="0"/>
                    </a:p>
                  </a:txBody>
                  <a:tcPr>
                    <a:solidFill>
                      <a:schemeClr val="tx2">
                        <a:lumMod val="40000"/>
                        <a:lumOff val="60000"/>
                      </a:schemeClr>
                    </a:solidFill>
                  </a:tcPr>
                </a:tc>
                <a:tc>
                  <a:txBody>
                    <a:bodyPr/>
                    <a:lstStyle/>
                    <a:p>
                      <a:pPr algn="ctr"/>
                      <a:r>
                        <a:rPr lang="en-US" altLang="zh-CN" dirty="0"/>
                        <a:t>X&lt;=</a:t>
                      </a:r>
                      <a:endParaRPr lang="zh-CN" altLang="en-US" dirty="0"/>
                    </a:p>
                  </a:txBody>
                  <a:tcPr>
                    <a:solidFill>
                      <a:schemeClr val="tx2">
                        <a:lumMod val="40000"/>
                        <a:lumOff val="60000"/>
                      </a:schemeClr>
                    </a:solidFill>
                  </a:tcPr>
                </a:tc>
                <a:tc>
                  <a:txBody>
                    <a:bodyPr/>
                    <a:lstStyle/>
                    <a:p>
                      <a:endParaRPr lang="zh-CN" altLang="en-US" dirty="0"/>
                    </a:p>
                  </a:txBody>
                  <a:tcPr>
                    <a:solidFill>
                      <a:schemeClr val="bg1">
                        <a:lumMod val="95000"/>
                      </a:schemeClr>
                    </a:solidFill>
                  </a:tcPr>
                </a:tc>
                <a:extLst>
                  <a:ext uri="{0D108BD9-81ED-4DB2-BD59-A6C34878D82A}">
                    <a16:rowId xmlns="" xmlns:a16="http://schemas.microsoft.com/office/drawing/2014/main" val="3594922566"/>
                  </a:ext>
                </a:extLst>
              </a:tr>
            </a:tbl>
          </a:graphicData>
        </a:graphic>
      </p:graphicFrame>
      <p:sp>
        <p:nvSpPr>
          <p:cNvPr id="12" name="文本框 11">
            <a:extLst>
              <a:ext uri="{FF2B5EF4-FFF2-40B4-BE49-F238E27FC236}">
                <a16:creationId xmlns="" xmlns:a16="http://schemas.microsoft.com/office/drawing/2014/main" id="{99E4AA42-1582-47C7-B022-8CA2C697C72D}"/>
              </a:ext>
            </a:extLst>
          </p:cNvPr>
          <p:cNvSpPr txBox="1"/>
          <p:nvPr/>
        </p:nvSpPr>
        <p:spPr>
          <a:xfrm>
            <a:off x="2555776" y="6093296"/>
            <a:ext cx="576064" cy="369332"/>
          </a:xfrm>
          <a:prstGeom prst="rect">
            <a:avLst/>
          </a:prstGeom>
          <a:noFill/>
        </p:spPr>
        <p:txBody>
          <a:bodyPr wrap="square" rtlCol="0">
            <a:spAutoFit/>
          </a:bodyPr>
          <a:lstStyle/>
          <a:p>
            <a:r>
              <a:rPr lang="en-US" altLang="zh-CN" dirty="0"/>
              <a:t>low</a:t>
            </a:r>
            <a:endParaRPr lang="zh-CN" altLang="en-US" dirty="0"/>
          </a:p>
        </p:txBody>
      </p:sp>
      <p:sp>
        <p:nvSpPr>
          <p:cNvPr id="13" name="文本框 12">
            <a:extLst>
              <a:ext uri="{FF2B5EF4-FFF2-40B4-BE49-F238E27FC236}">
                <a16:creationId xmlns="" xmlns:a16="http://schemas.microsoft.com/office/drawing/2014/main" id="{F26D89B7-E02D-46A4-8C57-9812A9ECC3E6}"/>
              </a:ext>
            </a:extLst>
          </p:cNvPr>
          <p:cNvSpPr txBox="1"/>
          <p:nvPr/>
        </p:nvSpPr>
        <p:spPr>
          <a:xfrm>
            <a:off x="4451648" y="6093296"/>
            <a:ext cx="576064" cy="369332"/>
          </a:xfrm>
          <a:prstGeom prst="rect">
            <a:avLst/>
          </a:prstGeom>
          <a:noFill/>
        </p:spPr>
        <p:txBody>
          <a:bodyPr wrap="square" rtlCol="0">
            <a:spAutoFit/>
          </a:bodyPr>
          <a:lstStyle/>
          <a:p>
            <a:r>
              <a:rPr lang="en-US" altLang="zh-CN" dirty="0"/>
              <a:t>mid</a:t>
            </a:r>
            <a:endParaRPr lang="zh-CN" altLang="en-US" dirty="0"/>
          </a:p>
        </p:txBody>
      </p:sp>
      <p:sp>
        <p:nvSpPr>
          <p:cNvPr id="14" name="文本框 13">
            <a:extLst>
              <a:ext uri="{FF2B5EF4-FFF2-40B4-BE49-F238E27FC236}">
                <a16:creationId xmlns="" xmlns:a16="http://schemas.microsoft.com/office/drawing/2014/main" id="{7F1D3101-BB65-4467-AF88-6693125830E0}"/>
              </a:ext>
            </a:extLst>
          </p:cNvPr>
          <p:cNvSpPr txBox="1"/>
          <p:nvPr/>
        </p:nvSpPr>
        <p:spPr>
          <a:xfrm>
            <a:off x="5993022" y="6093296"/>
            <a:ext cx="360040" cy="369332"/>
          </a:xfrm>
          <a:prstGeom prst="rect">
            <a:avLst/>
          </a:prstGeom>
          <a:noFill/>
        </p:spPr>
        <p:txBody>
          <a:bodyPr wrap="square" rtlCol="0">
            <a:spAutoFit/>
          </a:bodyPr>
          <a:lstStyle/>
          <a:p>
            <a:r>
              <a:rPr lang="en-US" altLang="zh-CN" dirty="0"/>
              <a:t>hi</a:t>
            </a:r>
            <a:endParaRPr lang="zh-CN" altLang="en-US" dirty="0"/>
          </a:p>
        </p:txBody>
      </p:sp>
    </p:spTree>
    <p:extLst>
      <p:ext uri="{BB962C8B-B14F-4D97-AF65-F5344CB8AC3E}">
        <p14:creationId xmlns:p14="http://schemas.microsoft.com/office/powerpoint/2010/main" val="3035291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504" y="44624"/>
            <a:ext cx="8229600" cy="936104"/>
          </a:xfrm>
        </p:spPr>
        <p:txBody>
          <a:bodyPr>
            <a:normAutofit/>
          </a:bodyPr>
          <a:lstStyle/>
          <a:p>
            <a:pPr algn="l"/>
            <a:r>
              <a:rPr lang="zh-CN" altLang="en-US" sz="3600" dirty="0">
                <a:latin typeface="华文新魏" panose="02010800040101010101" pitchFamily="2" charset="-122"/>
                <a:ea typeface="华文新魏" panose="02010800040101010101" pitchFamily="2" charset="-122"/>
              </a:rPr>
              <a:t>折半（二分）查找</a:t>
            </a:r>
            <a:r>
              <a:rPr lang="en-US" altLang="zh-CN" sz="3600" dirty="0">
                <a:latin typeface="华文新魏" panose="02010800040101010101" pitchFamily="2" charset="-122"/>
                <a:ea typeface="华文新魏" panose="02010800040101010101" pitchFamily="2" charset="-122"/>
              </a:rPr>
              <a:t>-</a:t>
            </a:r>
            <a:r>
              <a:rPr lang="zh-CN" altLang="en-US" sz="3600" dirty="0">
                <a:latin typeface="华文新魏" panose="02010800040101010101" pitchFamily="2" charset="-122"/>
                <a:ea typeface="华文新魏" panose="02010800040101010101" pitchFamily="2" charset="-122"/>
              </a:rPr>
              <a:t>算法</a:t>
            </a:r>
            <a:r>
              <a:rPr lang="en-US" altLang="en-US" sz="3600" dirty="0" err="1">
                <a:latin typeface="华文新魏" panose="02010800040101010101" pitchFamily="2" charset="-122"/>
                <a:ea typeface="华文新魏" panose="02010800040101010101" pitchFamily="2" charset="-122"/>
              </a:rPr>
              <a:t>思想</a:t>
            </a:r>
            <a:endParaRPr lang="en-US" sz="3600" dirty="0">
              <a:latin typeface="华文新魏" panose="02010800040101010101" pitchFamily="2" charset="-122"/>
              <a:ea typeface="华文新魏" panose="02010800040101010101" pitchFamily="2" charset="-122"/>
            </a:endParaRPr>
          </a:p>
        </p:txBody>
      </p:sp>
      <p:sp>
        <p:nvSpPr>
          <p:cNvPr id="620546" name="Rectangle 2"/>
          <p:cNvSpPr>
            <a:spLocks noGrp="1" noChangeArrowheads="1"/>
          </p:cNvSpPr>
          <p:nvPr>
            <p:ph idx="1"/>
          </p:nvPr>
        </p:nvSpPr>
        <p:spPr>
          <a:xfrm>
            <a:off x="457200" y="908720"/>
            <a:ext cx="8229600" cy="4392488"/>
          </a:xfrm>
        </p:spPr>
        <p:txBody>
          <a:bodyPr>
            <a:normAutofit/>
          </a:bodyPr>
          <a:lstStyle/>
          <a:p>
            <a:r>
              <a:rPr lang="zh-CN" altLang="en-US" sz="2400" dirty="0">
                <a:latin typeface="华文楷体" panose="02010600040101010101" pitchFamily="2" charset="-122"/>
                <a:ea typeface="华文楷体" panose="02010600040101010101" pitchFamily="2" charset="-122"/>
              </a:rPr>
              <a:t>初始：</a:t>
            </a:r>
            <a:r>
              <a:rPr lang="en-US" altLang="en-US" sz="2400" dirty="0" err="1">
                <a:latin typeface="华文楷体" panose="02010600040101010101" pitchFamily="2" charset="-122"/>
                <a:ea typeface="华文楷体" panose="02010600040101010101" pitchFamily="2" charset="-122"/>
              </a:rPr>
              <a:t>用Low、High和Mid表示待查找区间的下界、上界和中间位置指针，初值</a:t>
            </a:r>
            <a:r>
              <a:rPr lang="zh-CN" altLang="en-US" sz="2400" dirty="0">
                <a:latin typeface="华文楷体" panose="02010600040101010101" pitchFamily="2" charset="-122"/>
                <a:ea typeface="华文楷体" panose="02010600040101010101" pitchFamily="2" charset="-122"/>
              </a:rPr>
              <a:t>设置</a:t>
            </a:r>
            <a:r>
              <a:rPr lang="en-US" altLang="en-US" sz="2400" dirty="0" err="1">
                <a:latin typeface="华文楷体" panose="02010600040101010101" pitchFamily="2" charset="-122"/>
                <a:ea typeface="华文楷体" panose="02010600040101010101" pitchFamily="2" charset="-122"/>
              </a:rPr>
              <a:t>为Low</a:t>
            </a:r>
            <a:r>
              <a:rPr lang="en-US" altLang="en-US" sz="2400" dirty="0">
                <a:latin typeface="华文楷体" panose="02010600040101010101" pitchFamily="2" charset="-122"/>
                <a:ea typeface="华文楷体" panose="02010600040101010101" pitchFamily="2" charset="-122"/>
              </a:rPr>
              <a:t>=1，High=n</a:t>
            </a:r>
          </a:p>
          <a:p>
            <a:pPr marL="1166813" indent="-804863">
              <a:buNone/>
            </a:pPr>
            <a:r>
              <a:rPr lang="en-US" altLang="en-US" sz="2400" dirty="0">
                <a:latin typeface="华文楷体" panose="02010600040101010101" pitchFamily="2" charset="-122"/>
                <a:ea typeface="华文楷体" panose="02010600040101010101" pitchFamily="2" charset="-122"/>
              </a:rPr>
              <a:t>(1) </a:t>
            </a:r>
            <a:r>
              <a:rPr lang="en-US" altLang="en-US" sz="2400" dirty="0" err="1">
                <a:latin typeface="华文楷体" panose="02010600040101010101" pitchFamily="2" charset="-122"/>
                <a:ea typeface="华文楷体" panose="02010600040101010101" pitchFamily="2" charset="-122"/>
              </a:rPr>
              <a:t>取中间位置Mid：Mid</a:t>
            </a:r>
            <a:r>
              <a:rPr lang="en-US" altLang="en-US" sz="2400" dirty="0">
                <a:latin typeface="华文楷体" panose="02010600040101010101" pitchFamily="2" charset="-122"/>
                <a:ea typeface="华文楷体" panose="02010600040101010101" pitchFamily="2" charset="-122"/>
              </a:rPr>
              <a:t>=</a:t>
            </a:r>
            <a:r>
              <a:rPr lang="en-US" altLang="en-US" sz="2400" dirty="0">
                <a:latin typeface="华文楷体" panose="02010600040101010101" pitchFamily="2" charset="-122"/>
                <a:ea typeface="华文楷体" panose="02010600040101010101" pitchFamily="2" charset="-122"/>
                <a:sym typeface="Symbol" pitchFamily="18" charset="2"/>
              </a:rPr>
              <a:t>(</a:t>
            </a:r>
            <a:r>
              <a:rPr lang="en-US" altLang="en-US" sz="2400" dirty="0" err="1">
                <a:latin typeface="华文楷体" panose="02010600040101010101" pitchFamily="2" charset="-122"/>
                <a:ea typeface="华文楷体" panose="02010600040101010101" pitchFamily="2" charset="-122"/>
              </a:rPr>
              <a:t>Low+High</a:t>
            </a:r>
            <a:r>
              <a:rPr lang="en-US" altLang="en-US" sz="2400" dirty="0">
                <a:latin typeface="华文楷体" panose="02010600040101010101" pitchFamily="2" charset="-122"/>
                <a:ea typeface="华文楷体" panose="02010600040101010101" pitchFamily="2" charset="-122"/>
                <a:sym typeface="Symbol" pitchFamily="18" charset="2"/>
              </a:rPr>
              <a:t>)/2 </a:t>
            </a:r>
          </a:p>
          <a:p>
            <a:pPr marL="1166813" indent="-804863">
              <a:buNone/>
            </a:pPr>
            <a:r>
              <a:rPr lang="en-US" altLang="en-US" sz="2400" dirty="0">
                <a:latin typeface="华文楷体" panose="02010600040101010101" pitchFamily="2" charset="-122"/>
                <a:ea typeface="华文楷体" panose="02010600040101010101" pitchFamily="2" charset="-122"/>
                <a:sym typeface="Symbol" pitchFamily="18" charset="2"/>
              </a:rPr>
              <a:t>(2) </a:t>
            </a:r>
            <a:r>
              <a:rPr lang="en-US" altLang="en-US" sz="2400" dirty="0" err="1">
                <a:latin typeface="华文楷体" panose="02010600040101010101" pitchFamily="2" charset="-122"/>
                <a:ea typeface="华文楷体" panose="02010600040101010101" pitchFamily="2" charset="-122"/>
                <a:sym typeface="Symbol" pitchFamily="18" charset="2"/>
              </a:rPr>
              <a:t>比较</a:t>
            </a:r>
            <a:r>
              <a:rPr lang="en-US" altLang="en-US" sz="2400" dirty="0" err="1">
                <a:latin typeface="华文楷体" panose="02010600040101010101" pitchFamily="2" charset="-122"/>
                <a:ea typeface="华文楷体" panose="02010600040101010101" pitchFamily="2" charset="-122"/>
              </a:rPr>
              <a:t>中间位置记录的关键字与给定的K</a:t>
            </a:r>
            <a:r>
              <a:rPr lang="en-US" altLang="zh-CN" sz="2400" dirty="0" err="1">
                <a:latin typeface="华文楷体" panose="02010600040101010101" pitchFamily="2" charset="-122"/>
                <a:ea typeface="华文楷体" panose="02010600040101010101" pitchFamily="2" charset="-122"/>
              </a:rPr>
              <a:t>ey</a:t>
            </a:r>
            <a:r>
              <a:rPr lang="en-US" altLang="en-US" sz="2400" dirty="0" err="1">
                <a:latin typeface="华文楷体" panose="02010600040101010101" pitchFamily="2" charset="-122"/>
                <a:ea typeface="华文楷体" panose="02010600040101010101" pitchFamily="2" charset="-122"/>
              </a:rPr>
              <a:t>值</a:t>
            </a:r>
            <a:r>
              <a:rPr lang="en-US" altLang="en-US" sz="2400" dirty="0">
                <a:latin typeface="华文楷体" panose="02010600040101010101" pitchFamily="2" charset="-122"/>
                <a:ea typeface="华文楷体" panose="02010600040101010101" pitchFamily="2" charset="-122"/>
              </a:rPr>
              <a:t>：</a:t>
            </a:r>
          </a:p>
          <a:p>
            <a:pPr marL="1166813" lvl="1" indent="-268288"/>
            <a:r>
              <a:rPr lang="en-US" altLang="en-US" sz="2400" dirty="0" err="1">
                <a:latin typeface="华文楷体" panose="02010600040101010101" pitchFamily="2" charset="-122"/>
                <a:ea typeface="华文楷体" panose="02010600040101010101" pitchFamily="2" charset="-122"/>
              </a:rPr>
              <a:t>相等</a:t>
            </a:r>
            <a:r>
              <a:rPr lang="en-US" altLang="en-US" sz="2400" dirty="0">
                <a:latin typeface="华文楷体" panose="02010600040101010101" pitchFamily="2" charset="-122"/>
                <a:ea typeface="华文楷体" panose="02010600040101010101" pitchFamily="2" charset="-122"/>
              </a:rPr>
              <a:t>： </a:t>
            </a:r>
            <a:r>
              <a:rPr lang="en-US" altLang="en-US" sz="2400" dirty="0" err="1">
                <a:latin typeface="华文楷体" panose="02010600040101010101" pitchFamily="2" charset="-122"/>
                <a:ea typeface="华文楷体" panose="02010600040101010101" pitchFamily="2" charset="-122"/>
              </a:rPr>
              <a:t>查找成功</a:t>
            </a:r>
            <a:r>
              <a:rPr lang="en-US" altLang="en-US" sz="2400" dirty="0">
                <a:latin typeface="华文楷体" panose="02010600040101010101" pitchFamily="2" charset="-122"/>
                <a:ea typeface="华文楷体" panose="02010600040101010101" pitchFamily="2" charset="-122"/>
              </a:rPr>
              <a:t>；</a:t>
            </a:r>
          </a:p>
          <a:p>
            <a:pPr marL="1166813" lvl="1" indent="-268288"/>
            <a:r>
              <a:rPr lang="en-US" altLang="en-US" sz="2400" dirty="0" err="1">
                <a:latin typeface="华文楷体" panose="02010600040101010101" pitchFamily="2" charset="-122"/>
                <a:ea typeface="华文楷体" panose="02010600040101010101" pitchFamily="2" charset="-122"/>
              </a:rPr>
              <a:t>大于：待查记录在区间的前半段，修改上界指针</a:t>
            </a:r>
            <a:r>
              <a:rPr lang="en-US" altLang="en-US" sz="2400" dirty="0">
                <a:latin typeface="华文楷体" panose="02010600040101010101" pitchFamily="2" charset="-122"/>
                <a:ea typeface="华文楷体" panose="02010600040101010101" pitchFamily="2" charset="-122"/>
              </a:rPr>
              <a:t>： High=Mid-1，转(1) ；</a:t>
            </a:r>
          </a:p>
          <a:p>
            <a:pPr marL="1166813" lvl="1" indent="-268288"/>
            <a:r>
              <a:rPr lang="en-US" altLang="en-US" sz="2400" dirty="0" err="1">
                <a:latin typeface="华文楷体" panose="02010600040101010101" pitchFamily="2" charset="-122"/>
                <a:ea typeface="华文楷体" panose="02010600040101010101" pitchFamily="2" charset="-122"/>
              </a:rPr>
              <a:t>小于：待查记录在区间的后半段，修改下界指针：Low</a:t>
            </a:r>
            <a:r>
              <a:rPr lang="en-US" altLang="en-US" sz="2400" dirty="0">
                <a:latin typeface="华文楷体" panose="02010600040101010101" pitchFamily="2" charset="-122"/>
                <a:ea typeface="华文楷体" panose="02010600040101010101" pitchFamily="2" charset="-122"/>
              </a:rPr>
              <a:t>=Mid+1，转(1) </a:t>
            </a:r>
            <a:r>
              <a:rPr lang="zh-CN" altLang="en-US" sz="2400" dirty="0">
                <a:latin typeface="华文楷体" panose="02010600040101010101" pitchFamily="2" charset="-122"/>
                <a:ea typeface="华文楷体" panose="02010600040101010101" pitchFamily="2" charset="-122"/>
              </a:rPr>
              <a:t>；</a:t>
            </a:r>
          </a:p>
          <a:p>
            <a:r>
              <a:rPr lang="zh-CN" altLang="en-US" sz="2400" dirty="0">
                <a:latin typeface="华文楷体" panose="02010600040101010101" pitchFamily="2" charset="-122"/>
                <a:ea typeface="华文楷体" panose="02010600040101010101" pitchFamily="2" charset="-122"/>
              </a:rPr>
              <a:t>直到越界</a:t>
            </a:r>
            <a:r>
              <a:rPr lang="en-US" altLang="en-US" sz="2400" dirty="0">
                <a:latin typeface="华文楷体" panose="02010600040101010101" pitchFamily="2" charset="-122"/>
                <a:ea typeface="华文楷体" panose="02010600040101010101" pitchFamily="2" charset="-122"/>
              </a:rPr>
              <a:t>(Low&gt;High)，</a:t>
            </a:r>
            <a:r>
              <a:rPr lang="en-US" altLang="en-US" sz="2400" dirty="0" err="1">
                <a:latin typeface="华文楷体" panose="02010600040101010101" pitchFamily="2" charset="-122"/>
                <a:ea typeface="华文楷体" panose="02010600040101010101" pitchFamily="2" charset="-122"/>
              </a:rPr>
              <a:t>查找失败</a:t>
            </a:r>
            <a:endParaRPr lang="en-US" altLang="en-US" sz="2400" dirty="0">
              <a:latin typeface="华文楷体" panose="02010600040101010101" pitchFamily="2" charset="-122"/>
              <a:ea typeface="华文楷体" panose="02010600040101010101" pitchFamily="2" charset="-122"/>
            </a:endParaRPr>
          </a:p>
          <a:p>
            <a:endParaRPr lang="en-US"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t>13</a:t>
            </a:fld>
            <a:endParaRPr lang="zh-CN" altLang="en-US"/>
          </a:p>
        </p:txBody>
      </p:sp>
    </p:spTree>
    <p:extLst>
      <p:ext uri="{BB962C8B-B14F-4D97-AF65-F5344CB8AC3E}">
        <p14:creationId xmlns:p14="http://schemas.microsoft.com/office/powerpoint/2010/main" val="27858932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5496" y="0"/>
            <a:ext cx="8229600" cy="764704"/>
          </a:xfrm>
        </p:spPr>
        <p:txBody>
          <a:bodyPr>
            <a:normAutofit/>
          </a:bodyPr>
          <a:lstStyle/>
          <a:p>
            <a:pPr algn="l"/>
            <a:r>
              <a:rPr lang="zh-CN" altLang="en-US" sz="3200" dirty="0">
                <a:latin typeface="华文新魏" panose="02010800040101010101" pitchFamily="2" charset="-122"/>
                <a:ea typeface="华文新魏" panose="02010800040101010101" pitchFamily="2" charset="-122"/>
              </a:rPr>
              <a:t>折半（二分）查找</a:t>
            </a:r>
            <a:r>
              <a:rPr lang="en-US" altLang="zh-CN" sz="3200" dirty="0">
                <a:latin typeface="华文新魏" panose="02010800040101010101" pitchFamily="2" charset="-122"/>
                <a:ea typeface="华文新魏" panose="02010800040101010101" pitchFamily="2" charset="-122"/>
              </a:rPr>
              <a:t>- </a:t>
            </a:r>
            <a:r>
              <a:rPr lang="en-US" altLang="en-US" sz="3200" dirty="0" err="1">
                <a:latin typeface="华文新魏" panose="02010800040101010101" pitchFamily="2" charset="-122"/>
                <a:ea typeface="华文新魏" panose="02010800040101010101" pitchFamily="2" charset="-122"/>
              </a:rPr>
              <a:t>算法实现</a:t>
            </a:r>
            <a:endParaRPr lang="en-US" sz="3200" dirty="0">
              <a:latin typeface="华文新魏" panose="02010800040101010101" pitchFamily="2" charset="-122"/>
              <a:ea typeface="华文新魏" panose="02010800040101010101" pitchFamily="2" charset="-122"/>
            </a:endParaRPr>
          </a:p>
        </p:txBody>
      </p:sp>
      <p:sp>
        <p:nvSpPr>
          <p:cNvPr id="11" name="内容占位符 10"/>
          <p:cNvSpPr>
            <a:spLocks noGrp="1"/>
          </p:cNvSpPr>
          <p:nvPr>
            <p:ph idx="1"/>
          </p:nvPr>
        </p:nvSpPr>
        <p:spPr>
          <a:xfrm>
            <a:off x="323528" y="953344"/>
            <a:ext cx="8229600" cy="5904656"/>
          </a:xfrm>
        </p:spPr>
        <p:txBody>
          <a:bodyPr>
            <a:normAutofit fontScale="77500" lnSpcReduction="20000"/>
          </a:bodyPr>
          <a:lstStyle/>
          <a:p>
            <a:pPr marL="0" lvl="0" indent="0" eaLnBrk="0" fontAlgn="base" hangingPunct="0">
              <a:spcBef>
                <a:spcPct val="0"/>
              </a:spcBef>
              <a:spcAft>
                <a:spcPct val="0"/>
              </a:spcAft>
              <a:buNone/>
            </a:pPr>
            <a:r>
              <a:rPr lang="zh-CN"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int Search_Bin ( SSTable ST, KeyType key ) { </a:t>
            </a:r>
            <a:endParaRPr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0" lvl="0" indent="0" eaLnBrk="0" fontAlgn="base" hangingPunct="0">
              <a:spcBef>
                <a:spcPct val="0"/>
              </a:spcBef>
              <a:spcAft>
                <a:spcPct val="0"/>
              </a:spcAft>
              <a:buNone/>
            </a:pPr>
            <a:r>
              <a:rPr lang="zh-CN" altLang="zh-CN" sz="2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//在有序表ST中折半查找其关键字等于key的数据元素</a:t>
            </a:r>
            <a:endParaRPr lang="en-US" altLang="zh-CN" sz="2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0" lvl="0" indent="449263" eaLnBrk="0" fontAlgn="base" hangingPunct="0">
              <a:spcBef>
                <a:spcPct val="0"/>
              </a:spcBef>
              <a:spcAft>
                <a:spcPct val="0"/>
              </a:spcAft>
              <a:buNone/>
            </a:pPr>
            <a:r>
              <a:rPr lang="zh-CN"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int low, high, mid; </a:t>
            </a:r>
            <a:endParaRPr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0" lvl="0" indent="449263" eaLnBrk="0" fontAlgn="base" hangingPunct="0">
              <a:spcBef>
                <a:spcPct val="0"/>
              </a:spcBef>
              <a:spcAft>
                <a:spcPct val="0"/>
              </a:spcAft>
              <a:buNone/>
            </a:pPr>
            <a:r>
              <a:rPr lang="zh-CN"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low = 1; high = ST.length; </a:t>
            </a:r>
            <a:r>
              <a:rPr lang="zh-CN" altLang="zh-CN" sz="2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置区间初值 </a:t>
            </a:r>
            <a:endParaRPr lang="en-US" altLang="zh-CN" sz="2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0" lvl="0" indent="449263" eaLnBrk="0" fontAlgn="base" hangingPunct="0">
              <a:spcBef>
                <a:spcPct val="0"/>
              </a:spcBef>
              <a:spcAft>
                <a:spcPct val="0"/>
              </a:spcAft>
              <a:buNone/>
            </a:pPr>
            <a:r>
              <a:rPr lang="zh-CN"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while (low &lt;= high) { </a:t>
            </a:r>
            <a:endParaRPr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0" lvl="0" indent="0" eaLnBrk="0" fontAlgn="base" hangingPunct="0">
              <a:spcBef>
                <a:spcPct val="0"/>
              </a:spcBef>
              <a:spcAft>
                <a:spcPct val="0"/>
              </a:spcAft>
              <a:buNone/>
            </a:pPr>
            <a:r>
              <a:rPr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mid = (low + high) / 2; </a:t>
            </a:r>
            <a:endParaRPr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0" lvl="0" indent="0" eaLnBrk="0" fontAlgn="base" hangingPunct="0">
              <a:spcBef>
                <a:spcPct val="0"/>
              </a:spcBef>
              <a:spcAft>
                <a:spcPct val="0"/>
              </a:spcAft>
              <a:buNone/>
            </a:pPr>
            <a:r>
              <a:rPr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if (EQ(key , ST.elem[mid].key)) </a:t>
            </a:r>
            <a:endParaRPr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0" lvl="0" indent="0" eaLnBrk="0" fontAlgn="base" hangingPunct="0">
              <a:spcBef>
                <a:spcPct val="0"/>
              </a:spcBef>
              <a:spcAft>
                <a:spcPct val="0"/>
              </a:spcAft>
              <a:buNone/>
            </a:pPr>
            <a:r>
              <a:rPr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//找到</a:t>
            </a:r>
            <a:r>
              <a:rPr lang="zh-CN" altLang="en-US" sz="2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，返回</a:t>
            </a:r>
            <a:r>
              <a:rPr lang="zh-CN" altLang="zh-CN" sz="2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该</a:t>
            </a:r>
            <a:r>
              <a:rPr lang="zh-CN" altLang="en-US" sz="2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待查</a:t>
            </a:r>
            <a:r>
              <a:rPr lang="zh-CN" altLang="zh-CN" sz="2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元素在表中的位置</a:t>
            </a:r>
            <a:endParaRPr lang="en-US" altLang="zh-CN" sz="2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0" lvl="0" indent="0" eaLnBrk="0" fontAlgn="base" hangingPunct="0">
              <a:spcBef>
                <a:spcPct val="0"/>
              </a:spcBef>
              <a:spcAft>
                <a:spcPct val="0"/>
              </a:spcAft>
              <a:buNone/>
            </a:pPr>
            <a:r>
              <a:rPr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return mid; </a:t>
            </a:r>
            <a:endParaRPr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0" lvl="0" indent="0" eaLnBrk="0" fontAlgn="base" hangingPunct="0">
              <a:spcBef>
                <a:spcPct val="0"/>
              </a:spcBef>
              <a:spcAft>
                <a:spcPct val="0"/>
              </a:spcAft>
              <a:buNone/>
            </a:pPr>
            <a:r>
              <a:rPr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else if (LT(key, ST.elem[mid].key)) </a:t>
            </a:r>
            <a:endParaRPr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0" lvl="0" indent="0" eaLnBrk="0" fontAlgn="base" hangingPunct="0">
              <a:spcBef>
                <a:spcPct val="0"/>
              </a:spcBef>
              <a:spcAft>
                <a:spcPct val="0"/>
              </a:spcAft>
              <a:buNone/>
            </a:pPr>
            <a:r>
              <a:rPr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继续在前半区间进行查找</a:t>
            </a:r>
            <a:endParaRPr lang="en-US" altLang="zh-CN" sz="2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0" lvl="0" indent="0" eaLnBrk="0" fontAlgn="base" hangingPunct="0">
              <a:spcBef>
                <a:spcPct val="0"/>
              </a:spcBef>
              <a:spcAft>
                <a:spcPct val="0"/>
              </a:spcAft>
              <a:buNone/>
            </a:pPr>
            <a:r>
              <a:rPr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high = mid - 1; </a:t>
            </a:r>
            <a:endParaRPr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0" lvl="0" indent="0" eaLnBrk="0" fontAlgn="base" hangingPunct="0">
              <a:spcBef>
                <a:spcPct val="0"/>
              </a:spcBef>
              <a:spcAft>
                <a:spcPct val="0"/>
              </a:spcAft>
              <a:buNone/>
            </a:pPr>
            <a:r>
              <a:rPr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else </a:t>
            </a:r>
            <a:endParaRPr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0" lvl="0" indent="0" eaLnBrk="0" fontAlgn="base" hangingPunct="0">
              <a:spcBef>
                <a:spcPct val="0"/>
              </a:spcBef>
              <a:spcAft>
                <a:spcPct val="0"/>
              </a:spcAft>
              <a:buNone/>
            </a:pPr>
            <a:r>
              <a:rPr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low = mid + 1; </a:t>
            </a:r>
            <a:r>
              <a:rPr lang="zh-CN" altLang="zh-CN" sz="2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//继续在后半区间进行查找</a:t>
            </a:r>
            <a:endParaRPr lang="en-US" altLang="zh-CN" sz="2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0" lvl="0" indent="449263" eaLnBrk="0" fontAlgn="base" hangingPunct="0">
              <a:spcBef>
                <a:spcPct val="0"/>
              </a:spcBef>
              <a:spcAft>
                <a:spcPct val="0"/>
              </a:spcAft>
              <a:buNone/>
            </a:pPr>
            <a:r>
              <a:rPr lang="zh-CN"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0" lvl="0" indent="0" eaLnBrk="0" fontAlgn="base" hangingPunct="0">
              <a:spcBef>
                <a:spcPct val="0"/>
              </a:spcBef>
              <a:spcAft>
                <a:spcPct val="0"/>
              </a:spcAft>
              <a:buNone/>
            </a:pPr>
            <a:endParaRPr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0" lvl="0" indent="449263" eaLnBrk="0" fontAlgn="base" hangingPunct="0">
              <a:spcBef>
                <a:spcPct val="0"/>
              </a:spcBef>
              <a:spcAft>
                <a:spcPct val="0"/>
              </a:spcAft>
              <a:buNone/>
            </a:pPr>
            <a:r>
              <a:rPr lang="zh-CN"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return 0; </a:t>
            </a:r>
            <a:r>
              <a:rPr lang="zh-CN" altLang="zh-CN" sz="2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顺序表中不存在待查元素 </a:t>
            </a:r>
            <a:endParaRPr lang="en-US" altLang="zh-CN" sz="2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0" lvl="0" indent="0" eaLnBrk="0" fontAlgn="base" hangingPunct="0">
              <a:spcBef>
                <a:spcPct val="0"/>
              </a:spcBef>
              <a:spcAft>
                <a:spcPct val="0"/>
              </a:spcAft>
              <a:buNone/>
            </a:pPr>
            <a:r>
              <a:rPr lang="zh-CN"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 Search_Bin</a:t>
            </a:r>
            <a:r>
              <a:rPr lang="zh-CN" altLang="zh-CN" sz="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60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 name="灯片编号占位符 2"/>
          <p:cNvSpPr>
            <a:spLocks noGrp="1"/>
          </p:cNvSpPr>
          <p:nvPr>
            <p:ph type="sldNum" sz="quarter" idx="12"/>
          </p:nvPr>
        </p:nvSpPr>
        <p:spPr/>
        <p:txBody>
          <a:bodyPr/>
          <a:lstStyle/>
          <a:p>
            <a:fld id="{0C913308-F349-4B6D-A68A-DD1791B4A57B}" type="slidenum">
              <a:rPr lang="zh-CN" altLang="en-US" smtClean="0"/>
              <a:pPr/>
              <a:t>14</a:t>
            </a:fld>
            <a:endParaRPr lang="zh-CN" altLang="en-US"/>
          </a:p>
        </p:txBody>
      </p:sp>
      <p:sp>
        <p:nvSpPr>
          <p:cNvPr id="5" name="流程图: 可选过程 4"/>
          <p:cNvSpPr/>
          <p:nvPr/>
        </p:nvSpPr>
        <p:spPr>
          <a:xfrm>
            <a:off x="8460432" y="0"/>
            <a:ext cx="683568" cy="332656"/>
          </a:xfrm>
          <a:prstGeom prst="flowChartAlternateProcess">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t>9.2</a:t>
            </a:r>
          </a:p>
        </p:txBody>
      </p:sp>
    </p:spTree>
    <p:extLst>
      <p:ext uri="{BB962C8B-B14F-4D97-AF65-F5344CB8AC3E}">
        <p14:creationId xmlns:p14="http://schemas.microsoft.com/office/powerpoint/2010/main" val="39098863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711" name="AutoShape 5"/>
          <p:cNvSpPr>
            <a:spLocks noChangeArrowheads="1"/>
          </p:cNvSpPr>
          <p:nvPr/>
        </p:nvSpPr>
        <p:spPr bwMode="auto">
          <a:xfrm>
            <a:off x="4440238" y="946150"/>
            <a:ext cx="1619250" cy="431800"/>
          </a:xfrm>
          <a:prstGeom prst="wedgeEllipseCallout">
            <a:avLst>
              <a:gd name="adj1" fmla="val -43736"/>
              <a:gd name="adj2" fmla="val 70171"/>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zh-CN" altLang="en-US" sz="2000" b="1">
                <a:latin typeface="Times New Roman" pitchFamily="18" charset="0"/>
              </a:rPr>
              <a:t>查找</a:t>
            </a:r>
            <a:r>
              <a:rPr lang="en-US" altLang="en-US" sz="2000" b="1">
                <a:latin typeface="Times New Roman" pitchFamily="18" charset="0"/>
              </a:rPr>
              <a:t>21</a:t>
            </a:r>
          </a:p>
        </p:txBody>
      </p:sp>
      <p:grpSp>
        <p:nvGrpSpPr>
          <p:cNvPr id="582712" name="Group 6"/>
          <p:cNvGrpSpPr>
            <a:grpSpLocks/>
          </p:cNvGrpSpPr>
          <p:nvPr/>
        </p:nvGrpSpPr>
        <p:grpSpPr bwMode="auto">
          <a:xfrm>
            <a:off x="839788" y="1403350"/>
            <a:ext cx="6856412" cy="776288"/>
            <a:chOff x="0" y="0"/>
            <a:chExt cx="4319" cy="489"/>
          </a:xfrm>
        </p:grpSpPr>
        <p:grpSp>
          <p:nvGrpSpPr>
            <p:cNvPr id="582722" name="Group 7"/>
            <p:cNvGrpSpPr>
              <a:grpSpLocks/>
            </p:cNvGrpSpPr>
            <p:nvPr/>
          </p:nvGrpSpPr>
          <p:grpSpPr bwMode="auto">
            <a:xfrm>
              <a:off x="12" y="240"/>
              <a:ext cx="4307" cy="249"/>
              <a:chOff x="0" y="0"/>
              <a:chExt cx="4307" cy="249"/>
            </a:xfrm>
          </p:grpSpPr>
          <p:sp>
            <p:nvSpPr>
              <p:cNvPr id="582724" name="Rectangle 8"/>
              <p:cNvSpPr>
                <a:spLocks noChangeArrowheads="1"/>
              </p:cNvSpPr>
              <p:nvPr/>
            </p:nvSpPr>
            <p:spPr bwMode="auto">
              <a:xfrm>
                <a:off x="0" y="0"/>
                <a:ext cx="4307" cy="249"/>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zh-CN" altLang="en-US" sz="2400">
                    <a:latin typeface="Times New Roman" pitchFamily="18" charset="0"/>
                  </a:rPr>
                  <a:t> </a:t>
                </a:r>
                <a:r>
                  <a:rPr lang="en-US" altLang="en-US" sz="2400">
                    <a:latin typeface="Times New Roman" pitchFamily="18" charset="0"/>
                  </a:rPr>
                  <a:t>5     13    19    21    37    56     64     75    80    88    92</a:t>
                </a:r>
              </a:p>
            </p:txBody>
          </p:sp>
          <p:sp>
            <p:nvSpPr>
              <p:cNvPr id="582725" name="Line 9"/>
              <p:cNvSpPr>
                <a:spLocks noChangeShapeType="1"/>
              </p:cNvSpPr>
              <p:nvPr/>
            </p:nvSpPr>
            <p:spPr bwMode="auto">
              <a:xfrm>
                <a:off x="336"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2726" name="Line 10"/>
              <p:cNvSpPr>
                <a:spLocks noChangeShapeType="1"/>
              </p:cNvSpPr>
              <p:nvPr/>
            </p:nvSpPr>
            <p:spPr bwMode="auto">
              <a:xfrm>
                <a:off x="672"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2727" name="Line 11"/>
              <p:cNvSpPr>
                <a:spLocks noChangeShapeType="1"/>
              </p:cNvSpPr>
              <p:nvPr/>
            </p:nvSpPr>
            <p:spPr bwMode="auto">
              <a:xfrm>
                <a:off x="1104"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2728" name="Line 12"/>
              <p:cNvSpPr>
                <a:spLocks noChangeShapeType="1"/>
              </p:cNvSpPr>
              <p:nvPr/>
            </p:nvSpPr>
            <p:spPr bwMode="auto">
              <a:xfrm>
                <a:off x="1488"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2729" name="Line 13"/>
              <p:cNvSpPr>
                <a:spLocks noChangeShapeType="1"/>
              </p:cNvSpPr>
              <p:nvPr/>
            </p:nvSpPr>
            <p:spPr bwMode="auto">
              <a:xfrm>
                <a:off x="1872"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2730" name="Line 14"/>
              <p:cNvSpPr>
                <a:spLocks noChangeShapeType="1"/>
              </p:cNvSpPr>
              <p:nvPr/>
            </p:nvSpPr>
            <p:spPr bwMode="auto">
              <a:xfrm>
                <a:off x="2256"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2731" name="Line 15"/>
              <p:cNvSpPr>
                <a:spLocks noChangeShapeType="1"/>
              </p:cNvSpPr>
              <p:nvPr/>
            </p:nvSpPr>
            <p:spPr bwMode="auto">
              <a:xfrm>
                <a:off x="2688"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2732" name="Line 16"/>
              <p:cNvSpPr>
                <a:spLocks noChangeShapeType="1"/>
              </p:cNvSpPr>
              <p:nvPr/>
            </p:nvSpPr>
            <p:spPr bwMode="auto">
              <a:xfrm>
                <a:off x="3120"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2733" name="Line 17"/>
              <p:cNvSpPr>
                <a:spLocks noChangeShapeType="1"/>
              </p:cNvSpPr>
              <p:nvPr/>
            </p:nvSpPr>
            <p:spPr bwMode="auto">
              <a:xfrm>
                <a:off x="3504"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2734" name="Line 18"/>
              <p:cNvSpPr>
                <a:spLocks noChangeShapeType="1"/>
              </p:cNvSpPr>
              <p:nvPr/>
            </p:nvSpPr>
            <p:spPr bwMode="auto">
              <a:xfrm>
                <a:off x="3888"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582723" name="Rectangle 19"/>
            <p:cNvSpPr>
              <a:spLocks noChangeArrowheads="1"/>
            </p:cNvSpPr>
            <p:nvPr/>
          </p:nvSpPr>
          <p:spPr bwMode="auto">
            <a:xfrm>
              <a:off x="0" y="0"/>
              <a:ext cx="4308"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1      2      3      4      5      6       7       8     9     10     11</a:t>
              </a:r>
            </a:p>
          </p:txBody>
        </p:sp>
      </p:grpSp>
      <p:grpSp>
        <p:nvGrpSpPr>
          <p:cNvPr id="582713" name="Group 20"/>
          <p:cNvGrpSpPr>
            <a:grpSpLocks/>
          </p:cNvGrpSpPr>
          <p:nvPr/>
        </p:nvGrpSpPr>
        <p:grpSpPr bwMode="auto">
          <a:xfrm>
            <a:off x="3830638" y="2224088"/>
            <a:ext cx="576262" cy="665163"/>
            <a:chOff x="0" y="0"/>
            <a:chExt cx="363" cy="419"/>
          </a:xfrm>
        </p:grpSpPr>
        <p:sp>
          <p:nvSpPr>
            <p:cNvPr id="582720" name="Rectangle 21"/>
            <p:cNvSpPr>
              <a:spLocks noChangeArrowheads="1"/>
            </p:cNvSpPr>
            <p:nvPr/>
          </p:nvSpPr>
          <p:spPr bwMode="auto">
            <a:xfrm>
              <a:off x="0" y="192"/>
              <a:ext cx="363"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Mid</a:t>
              </a:r>
            </a:p>
          </p:txBody>
        </p:sp>
        <p:sp>
          <p:nvSpPr>
            <p:cNvPr id="582721" name="Line 22"/>
            <p:cNvSpPr>
              <a:spLocks noChangeShapeType="1"/>
            </p:cNvSpPr>
            <p:nvPr/>
          </p:nvSpPr>
          <p:spPr bwMode="auto">
            <a:xfrm flipV="1">
              <a:off x="192" y="0"/>
              <a:ext cx="0" cy="22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582714" name="Group 23"/>
          <p:cNvGrpSpPr>
            <a:grpSpLocks/>
          </p:cNvGrpSpPr>
          <p:nvPr/>
        </p:nvGrpSpPr>
        <p:grpSpPr bwMode="auto">
          <a:xfrm>
            <a:off x="6992938" y="2228850"/>
            <a:ext cx="647700" cy="677863"/>
            <a:chOff x="0" y="0"/>
            <a:chExt cx="408" cy="427"/>
          </a:xfrm>
        </p:grpSpPr>
        <p:sp>
          <p:nvSpPr>
            <p:cNvPr id="582718" name="Rectangle 24"/>
            <p:cNvSpPr>
              <a:spLocks noChangeArrowheads="1"/>
            </p:cNvSpPr>
            <p:nvPr/>
          </p:nvSpPr>
          <p:spPr bwMode="auto">
            <a:xfrm>
              <a:off x="0" y="200"/>
              <a:ext cx="408"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High</a:t>
              </a:r>
            </a:p>
          </p:txBody>
        </p:sp>
        <p:sp>
          <p:nvSpPr>
            <p:cNvPr id="582719" name="Line 25"/>
            <p:cNvSpPr>
              <a:spLocks noChangeShapeType="1"/>
            </p:cNvSpPr>
            <p:nvPr/>
          </p:nvSpPr>
          <p:spPr bwMode="auto">
            <a:xfrm flipV="1">
              <a:off x="240" y="0"/>
              <a:ext cx="0" cy="22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582715" name="Group 26"/>
          <p:cNvGrpSpPr>
            <a:grpSpLocks/>
          </p:cNvGrpSpPr>
          <p:nvPr/>
        </p:nvGrpSpPr>
        <p:grpSpPr bwMode="auto">
          <a:xfrm>
            <a:off x="668338" y="2228850"/>
            <a:ext cx="647700" cy="627063"/>
            <a:chOff x="0" y="0"/>
            <a:chExt cx="408" cy="395"/>
          </a:xfrm>
        </p:grpSpPr>
        <p:sp>
          <p:nvSpPr>
            <p:cNvPr id="582716" name="Rectangle 27"/>
            <p:cNvSpPr>
              <a:spLocks noChangeArrowheads="1"/>
            </p:cNvSpPr>
            <p:nvPr/>
          </p:nvSpPr>
          <p:spPr bwMode="auto">
            <a:xfrm>
              <a:off x="0" y="168"/>
              <a:ext cx="408"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Low</a:t>
              </a:r>
            </a:p>
          </p:txBody>
        </p:sp>
        <p:sp>
          <p:nvSpPr>
            <p:cNvPr id="582717" name="Line 28"/>
            <p:cNvSpPr>
              <a:spLocks noChangeShapeType="1"/>
            </p:cNvSpPr>
            <p:nvPr/>
          </p:nvSpPr>
          <p:spPr bwMode="auto">
            <a:xfrm flipV="1">
              <a:off x="272" y="0"/>
              <a:ext cx="0" cy="22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582688" name="Group 30"/>
          <p:cNvGrpSpPr>
            <a:grpSpLocks/>
          </p:cNvGrpSpPr>
          <p:nvPr/>
        </p:nvGrpSpPr>
        <p:grpSpPr bwMode="auto">
          <a:xfrm>
            <a:off x="992188" y="2927350"/>
            <a:ext cx="6856412" cy="776288"/>
            <a:chOff x="0" y="0"/>
            <a:chExt cx="4319" cy="489"/>
          </a:xfrm>
        </p:grpSpPr>
        <p:grpSp>
          <p:nvGrpSpPr>
            <p:cNvPr id="582698" name="Group 31"/>
            <p:cNvGrpSpPr>
              <a:grpSpLocks/>
            </p:cNvGrpSpPr>
            <p:nvPr/>
          </p:nvGrpSpPr>
          <p:grpSpPr bwMode="auto">
            <a:xfrm>
              <a:off x="12" y="240"/>
              <a:ext cx="4307" cy="249"/>
              <a:chOff x="0" y="0"/>
              <a:chExt cx="4307" cy="249"/>
            </a:xfrm>
          </p:grpSpPr>
          <p:sp>
            <p:nvSpPr>
              <p:cNvPr id="582700" name="Rectangle 32"/>
              <p:cNvSpPr>
                <a:spLocks noChangeArrowheads="1"/>
              </p:cNvSpPr>
              <p:nvPr/>
            </p:nvSpPr>
            <p:spPr bwMode="auto">
              <a:xfrm>
                <a:off x="0" y="0"/>
                <a:ext cx="4307" cy="249"/>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zh-CN" altLang="en-US" sz="2400">
                    <a:latin typeface="Times New Roman" pitchFamily="18" charset="0"/>
                  </a:rPr>
                  <a:t> </a:t>
                </a:r>
                <a:r>
                  <a:rPr lang="en-US" altLang="en-US" sz="2400">
                    <a:latin typeface="Times New Roman" pitchFamily="18" charset="0"/>
                  </a:rPr>
                  <a:t>5     13    19    21    37    56     64     75    80    88    92</a:t>
                </a:r>
              </a:p>
            </p:txBody>
          </p:sp>
          <p:sp>
            <p:nvSpPr>
              <p:cNvPr id="582701" name="Line 33"/>
              <p:cNvSpPr>
                <a:spLocks noChangeShapeType="1"/>
              </p:cNvSpPr>
              <p:nvPr/>
            </p:nvSpPr>
            <p:spPr bwMode="auto">
              <a:xfrm>
                <a:off x="336"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2702" name="Line 34"/>
              <p:cNvSpPr>
                <a:spLocks noChangeShapeType="1"/>
              </p:cNvSpPr>
              <p:nvPr/>
            </p:nvSpPr>
            <p:spPr bwMode="auto">
              <a:xfrm>
                <a:off x="672"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2703" name="Line 35"/>
              <p:cNvSpPr>
                <a:spLocks noChangeShapeType="1"/>
              </p:cNvSpPr>
              <p:nvPr/>
            </p:nvSpPr>
            <p:spPr bwMode="auto">
              <a:xfrm>
                <a:off x="1104"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2704" name="Line 36"/>
              <p:cNvSpPr>
                <a:spLocks noChangeShapeType="1"/>
              </p:cNvSpPr>
              <p:nvPr/>
            </p:nvSpPr>
            <p:spPr bwMode="auto">
              <a:xfrm>
                <a:off x="1488"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2705" name="Line 37"/>
              <p:cNvSpPr>
                <a:spLocks noChangeShapeType="1"/>
              </p:cNvSpPr>
              <p:nvPr/>
            </p:nvSpPr>
            <p:spPr bwMode="auto">
              <a:xfrm>
                <a:off x="1872"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2706" name="Line 38"/>
              <p:cNvSpPr>
                <a:spLocks noChangeShapeType="1"/>
              </p:cNvSpPr>
              <p:nvPr/>
            </p:nvSpPr>
            <p:spPr bwMode="auto">
              <a:xfrm>
                <a:off x="2256"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2707" name="Line 39"/>
              <p:cNvSpPr>
                <a:spLocks noChangeShapeType="1"/>
              </p:cNvSpPr>
              <p:nvPr/>
            </p:nvSpPr>
            <p:spPr bwMode="auto">
              <a:xfrm>
                <a:off x="2688"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2708" name="Line 40"/>
              <p:cNvSpPr>
                <a:spLocks noChangeShapeType="1"/>
              </p:cNvSpPr>
              <p:nvPr/>
            </p:nvSpPr>
            <p:spPr bwMode="auto">
              <a:xfrm>
                <a:off x="3120"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2709" name="Line 41"/>
              <p:cNvSpPr>
                <a:spLocks noChangeShapeType="1"/>
              </p:cNvSpPr>
              <p:nvPr/>
            </p:nvSpPr>
            <p:spPr bwMode="auto">
              <a:xfrm>
                <a:off x="3504"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2710" name="Line 42"/>
              <p:cNvSpPr>
                <a:spLocks noChangeShapeType="1"/>
              </p:cNvSpPr>
              <p:nvPr/>
            </p:nvSpPr>
            <p:spPr bwMode="auto">
              <a:xfrm>
                <a:off x="3888"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582699" name="Rectangle 43"/>
            <p:cNvSpPr>
              <a:spLocks noChangeArrowheads="1"/>
            </p:cNvSpPr>
            <p:nvPr/>
          </p:nvSpPr>
          <p:spPr bwMode="auto">
            <a:xfrm>
              <a:off x="0" y="0"/>
              <a:ext cx="4308"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1      2      3      4      5      6       7       8     9     10     11</a:t>
              </a:r>
            </a:p>
          </p:txBody>
        </p:sp>
      </p:grpSp>
      <p:grpSp>
        <p:nvGrpSpPr>
          <p:cNvPr id="582689" name="Group 44"/>
          <p:cNvGrpSpPr>
            <a:grpSpLocks/>
          </p:cNvGrpSpPr>
          <p:nvPr/>
        </p:nvGrpSpPr>
        <p:grpSpPr bwMode="auto">
          <a:xfrm>
            <a:off x="2179638" y="3727450"/>
            <a:ext cx="576262" cy="665163"/>
            <a:chOff x="0" y="0"/>
            <a:chExt cx="363" cy="419"/>
          </a:xfrm>
        </p:grpSpPr>
        <p:sp>
          <p:nvSpPr>
            <p:cNvPr id="582696" name="Rectangle 45"/>
            <p:cNvSpPr>
              <a:spLocks noChangeArrowheads="1"/>
            </p:cNvSpPr>
            <p:nvPr/>
          </p:nvSpPr>
          <p:spPr bwMode="auto">
            <a:xfrm>
              <a:off x="0" y="192"/>
              <a:ext cx="363"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Mid</a:t>
              </a:r>
            </a:p>
          </p:txBody>
        </p:sp>
        <p:sp>
          <p:nvSpPr>
            <p:cNvPr id="582697" name="Line 46"/>
            <p:cNvSpPr>
              <a:spLocks noChangeShapeType="1"/>
            </p:cNvSpPr>
            <p:nvPr/>
          </p:nvSpPr>
          <p:spPr bwMode="auto">
            <a:xfrm flipV="1">
              <a:off x="192" y="0"/>
              <a:ext cx="0" cy="22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582690" name="Group 47"/>
          <p:cNvGrpSpPr>
            <a:grpSpLocks/>
          </p:cNvGrpSpPr>
          <p:nvPr/>
        </p:nvGrpSpPr>
        <p:grpSpPr bwMode="auto">
          <a:xfrm>
            <a:off x="3322638" y="3727450"/>
            <a:ext cx="647700" cy="677863"/>
            <a:chOff x="0" y="0"/>
            <a:chExt cx="408" cy="427"/>
          </a:xfrm>
        </p:grpSpPr>
        <p:sp>
          <p:nvSpPr>
            <p:cNvPr id="582694" name="Rectangle 48"/>
            <p:cNvSpPr>
              <a:spLocks noChangeArrowheads="1"/>
            </p:cNvSpPr>
            <p:nvPr/>
          </p:nvSpPr>
          <p:spPr bwMode="auto">
            <a:xfrm>
              <a:off x="0" y="200"/>
              <a:ext cx="408"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High</a:t>
              </a:r>
            </a:p>
          </p:txBody>
        </p:sp>
        <p:sp>
          <p:nvSpPr>
            <p:cNvPr id="582695" name="Line 49"/>
            <p:cNvSpPr>
              <a:spLocks noChangeShapeType="1"/>
            </p:cNvSpPr>
            <p:nvPr/>
          </p:nvSpPr>
          <p:spPr bwMode="auto">
            <a:xfrm flipV="1">
              <a:off x="240" y="0"/>
              <a:ext cx="0" cy="22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582691" name="Group 50"/>
          <p:cNvGrpSpPr>
            <a:grpSpLocks/>
          </p:cNvGrpSpPr>
          <p:nvPr/>
        </p:nvGrpSpPr>
        <p:grpSpPr bwMode="auto">
          <a:xfrm>
            <a:off x="820738" y="3752850"/>
            <a:ext cx="647700" cy="627063"/>
            <a:chOff x="0" y="0"/>
            <a:chExt cx="408" cy="395"/>
          </a:xfrm>
        </p:grpSpPr>
        <p:sp>
          <p:nvSpPr>
            <p:cNvPr id="582692" name="Rectangle 51"/>
            <p:cNvSpPr>
              <a:spLocks noChangeArrowheads="1"/>
            </p:cNvSpPr>
            <p:nvPr/>
          </p:nvSpPr>
          <p:spPr bwMode="auto">
            <a:xfrm>
              <a:off x="0" y="168"/>
              <a:ext cx="408"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Low</a:t>
              </a:r>
            </a:p>
          </p:txBody>
        </p:sp>
        <p:sp>
          <p:nvSpPr>
            <p:cNvPr id="582693" name="Line 52"/>
            <p:cNvSpPr>
              <a:spLocks noChangeShapeType="1"/>
            </p:cNvSpPr>
            <p:nvPr/>
          </p:nvSpPr>
          <p:spPr bwMode="auto">
            <a:xfrm flipV="1">
              <a:off x="272" y="0"/>
              <a:ext cx="0" cy="22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582665" name="Group 54"/>
          <p:cNvGrpSpPr>
            <a:grpSpLocks/>
          </p:cNvGrpSpPr>
          <p:nvPr/>
        </p:nvGrpSpPr>
        <p:grpSpPr bwMode="auto">
          <a:xfrm>
            <a:off x="992188" y="4624388"/>
            <a:ext cx="6856412" cy="776288"/>
            <a:chOff x="0" y="0"/>
            <a:chExt cx="4319" cy="489"/>
          </a:xfrm>
        </p:grpSpPr>
        <p:grpSp>
          <p:nvGrpSpPr>
            <p:cNvPr id="582675" name="Group 55"/>
            <p:cNvGrpSpPr>
              <a:grpSpLocks/>
            </p:cNvGrpSpPr>
            <p:nvPr/>
          </p:nvGrpSpPr>
          <p:grpSpPr bwMode="auto">
            <a:xfrm>
              <a:off x="12" y="240"/>
              <a:ext cx="4307" cy="249"/>
              <a:chOff x="0" y="0"/>
              <a:chExt cx="4307" cy="249"/>
            </a:xfrm>
          </p:grpSpPr>
          <p:sp>
            <p:nvSpPr>
              <p:cNvPr id="582677" name="Rectangle 56"/>
              <p:cNvSpPr>
                <a:spLocks noChangeArrowheads="1"/>
              </p:cNvSpPr>
              <p:nvPr/>
            </p:nvSpPr>
            <p:spPr bwMode="auto">
              <a:xfrm>
                <a:off x="0" y="0"/>
                <a:ext cx="4307" cy="249"/>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zh-CN" altLang="en-US" sz="2400">
                    <a:latin typeface="Times New Roman" pitchFamily="18" charset="0"/>
                  </a:rPr>
                  <a:t> </a:t>
                </a:r>
                <a:r>
                  <a:rPr lang="en-US" altLang="en-US" sz="2400">
                    <a:latin typeface="Times New Roman" pitchFamily="18" charset="0"/>
                  </a:rPr>
                  <a:t>5     13    19    21    37    56     64     75    80    88    92</a:t>
                </a:r>
              </a:p>
            </p:txBody>
          </p:sp>
          <p:sp>
            <p:nvSpPr>
              <p:cNvPr id="582678" name="Line 57"/>
              <p:cNvSpPr>
                <a:spLocks noChangeShapeType="1"/>
              </p:cNvSpPr>
              <p:nvPr/>
            </p:nvSpPr>
            <p:spPr bwMode="auto">
              <a:xfrm>
                <a:off x="336"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2679" name="Line 58"/>
              <p:cNvSpPr>
                <a:spLocks noChangeShapeType="1"/>
              </p:cNvSpPr>
              <p:nvPr/>
            </p:nvSpPr>
            <p:spPr bwMode="auto">
              <a:xfrm>
                <a:off x="672"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2680" name="Line 59"/>
              <p:cNvSpPr>
                <a:spLocks noChangeShapeType="1"/>
              </p:cNvSpPr>
              <p:nvPr/>
            </p:nvSpPr>
            <p:spPr bwMode="auto">
              <a:xfrm>
                <a:off x="1104"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2681" name="Line 60"/>
              <p:cNvSpPr>
                <a:spLocks noChangeShapeType="1"/>
              </p:cNvSpPr>
              <p:nvPr/>
            </p:nvSpPr>
            <p:spPr bwMode="auto">
              <a:xfrm>
                <a:off x="1488"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2682" name="Line 61"/>
              <p:cNvSpPr>
                <a:spLocks noChangeShapeType="1"/>
              </p:cNvSpPr>
              <p:nvPr/>
            </p:nvSpPr>
            <p:spPr bwMode="auto">
              <a:xfrm>
                <a:off x="1872"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2683" name="Line 62"/>
              <p:cNvSpPr>
                <a:spLocks noChangeShapeType="1"/>
              </p:cNvSpPr>
              <p:nvPr/>
            </p:nvSpPr>
            <p:spPr bwMode="auto">
              <a:xfrm>
                <a:off x="2256"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2684" name="Line 63"/>
              <p:cNvSpPr>
                <a:spLocks noChangeShapeType="1"/>
              </p:cNvSpPr>
              <p:nvPr/>
            </p:nvSpPr>
            <p:spPr bwMode="auto">
              <a:xfrm>
                <a:off x="2688"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2685" name="Line 64"/>
              <p:cNvSpPr>
                <a:spLocks noChangeShapeType="1"/>
              </p:cNvSpPr>
              <p:nvPr/>
            </p:nvSpPr>
            <p:spPr bwMode="auto">
              <a:xfrm>
                <a:off x="3120"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2686" name="Line 65"/>
              <p:cNvSpPr>
                <a:spLocks noChangeShapeType="1"/>
              </p:cNvSpPr>
              <p:nvPr/>
            </p:nvSpPr>
            <p:spPr bwMode="auto">
              <a:xfrm>
                <a:off x="3504"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2687" name="Line 66"/>
              <p:cNvSpPr>
                <a:spLocks noChangeShapeType="1"/>
              </p:cNvSpPr>
              <p:nvPr/>
            </p:nvSpPr>
            <p:spPr bwMode="auto">
              <a:xfrm>
                <a:off x="3888"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582676" name="Rectangle 67"/>
            <p:cNvSpPr>
              <a:spLocks noChangeArrowheads="1"/>
            </p:cNvSpPr>
            <p:nvPr/>
          </p:nvSpPr>
          <p:spPr bwMode="auto">
            <a:xfrm>
              <a:off x="0" y="0"/>
              <a:ext cx="4308"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1      2      3      4      5      6       7       8     9     10     11</a:t>
              </a:r>
            </a:p>
          </p:txBody>
        </p:sp>
      </p:grpSp>
      <p:grpSp>
        <p:nvGrpSpPr>
          <p:cNvPr id="582666" name="Group 68"/>
          <p:cNvGrpSpPr>
            <a:grpSpLocks/>
          </p:cNvGrpSpPr>
          <p:nvPr/>
        </p:nvGrpSpPr>
        <p:grpSpPr bwMode="auto">
          <a:xfrm>
            <a:off x="2979738" y="5419726"/>
            <a:ext cx="576262" cy="665163"/>
            <a:chOff x="0" y="0"/>
            <a:chExt cx="363" cy="419"/>
          </a:xfrm>
        </p:grpSpPr>
        <p:sp>
          <p:nvSpPr>
            <p:cNvPr id="582673" name="Rectangle 69"/>
            <p:cNvSpPr>
              <a:spLocks noChangeArrowheads="1"/>
            </p:cNvSpPr>
            <p:nvPr/>
          </p:nvSpPr>
          <p:spPr bwMode="auto">
            <a:xfrm>
              <a:off x="0" y="192"/>
              <a:ext cx="363"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Mid</a:t>
              </a:r>
            </a:p>
          </p:txBody>
        </p:sp>
        <p:sp>
          <p:nvSpPr>
            <p:cNvPr id="582674" name="Line 70"/>
            <p:cNvSpPr>
              <a:spLocks noChangeShapeType="1"/>
            </p:cNvSpPr>
            <p:nvPr/>
          </p:nvSpPr>
          <p:spPr bwMode="auto">
            <a:xfrm flipV="1">
              <a:off x="192" y="0"/>
              <a:ext cx="0" cy="22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582667" name="Group 71"/>
          <p:cNvGrpSpPr>
            <a:grpSpLocks/>
          </p:cNvGrpSpPr>
          <p:nvPr/>
        </p:nvGrpSpPr>
        <p:grpSpPr bwMode="auto">
          <a:xfrm>
            <a:off x="3475038" y="5424488"/>
            <a:ext cx="647700" cy="677863"/>
            <a:chOff x="0" y="0"/>
            <a:chExt cx="408" cy="427"/>
          </a:xfrm>
        </p:grpSpPr>
        <p:sp>
          <p:nvSpPr>
            <p:cNvPr id="582671" name="Rectangle 72"/>
            <p:cNvSpPr>
              <a:spLocks noChangeArrowheads="1"/>
            </p:cNvSpPr>
            <p:nvPr/>
          </p:nvSpPr>
          <p:spPr bwMode="auto">
            <a:xfrm>
              <a:off x="0" y="200"/>
              <a:ext cx="408"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High</a:t>
              </a:r>
            </a:p>
          </p:txBody>
        </p:sp>
        <p:sp>
          <p:nvSpPr>
            <p:cNvPr id="582672" name="Line 73"/>
            <p:cNvSpPr>
              <a:spLocks noChangeShapeType="1"/>
            </p:cNvSpPr>
            <p:nvPr/>
          </p:nvSpPr>
          <p:spPr bwMode="auto">
            <a:xfrm flipV="1">
              <a:off x="240" y="0"/>
              <a:ext cx="0" cy="22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582668" name="Group 74"/>
          <p:cNvGrpSpPr>
            <a:grpSpLocks/>
          </p:cNvGrpSpPr>
          <p:nvPr/>
        </p:nvGrpSpPr>
        <p:grpSpPr bwMode="auto">
          <a:xfrm>
            <a:off x="2411760" y="5437188"/>
            <a:ext cx="647700" cy="627063"/>
            <a:chOff x="0" y="0"/>
            <a:chExt cx="408" cy="395"/>
          </a:xfrm>
        </p:grpSpPr>
        <p:sp>
          <p:nvSpPr>
            <p:cNvPr id="582669" name="Rectangle 75"/>
            <p:cNvSpPr>
              <a:spLocks noChangeArrowheads="1"/>
            </p:cNvSpPr>
            <p:nvPr/>
          </p:nvSpPr>
          <p:spPr bwMode="auto">
            <a:xfrm>
              <a:off x="0" y="168"/>
              <a:ext cx="408"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Low</a:t>
              </a:r>
            </a:p>
          </p:txBody>
        </p:sp>
        <p:sp>
          <p:nvSpPr>
            <p:cNvPr id="582670" name="Line 76"/>
            <p:cNvSpPr>
              <a:spLocks noChangeShapeType="1"/>
            </p:cNvSpPr>
            <p:nvPr/>
          </p:nvSpPr>
          <p:spPr bwMode="auto">
            <a:xfrm flipV="1">
              <a:off x="272" y="0"/>
              <a:ext cx="0" cy="22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582661" name="Rectangle 77"/>
          <p:cNvSpPr>
            <a:spLocks noChangeArrowheads="1"/>
          </p:cNvSpPr>
          <p:nvPr/>
        </p:nvSpPr>
        <p:spPr bwMode="auto">
          <a:xfrm>
            <a:off x="96044" y="709908"/>
            <a:ext cx="2592387"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dirty="0">
                <a:latin typeface="华文楷体" panose="02010600040101010101" pitchFamily="2" charset="-122"/>
                <a:ea typeface="华文楷体" panose="02010600040101010101" pitchFamily="2" charset="-122"/>
              </a:rPr>
              <a:t>(a)   </a:t>
            </a:r>
            <a:r>
              <a:rPr lang="zh-CN" altLang="en-US" sz="2400" b="1" dirty="0">
                <a:latin typeface="华文楷体" panose="02010600040101010101" pitchFamily="2" charset="-122"/>
                <a:ea typeface="华文楷体" panose="02010600040101010101" pitchFamily="2" charset="-122"/>
              </a:rPr>
              <a:t>查找成功示例</a:t>
            </a:r>
          </a:p>
        </p:txBody>
      </p:sp>
      <p:sp>
        <p:nvSpPr>
          <p:cNvPr id="3" name="标题 2"/>
          <p:cNvSpPr>
            <a:spLocks noGrp="1"/>
          </p:cNvSpPr>
          <p:nvPr>
            <p:ph type="title"/>
          </p:nvPr>
        </p:nvSpPr>
        <p:spPr>
          <a:xfrm>
            <a:off x="20638" y="18433"/>
            <a:ext cx="8229600" cy="610217"/>
          </a:xfrm>
        </p:spPr>
        <p:txBody>
          <a:bodyPr>
            <a:normAutofit/>
          </a:bodyPr>
          <a:lstStyle/>
          <a:p>
            <a:pPr algn="l"/>
            <a:r>
              <a:rPr lang="zh-CN" altLang="en-US" sz="3200" dirty="0">
                <a:latin typeface="华文新魏" panose="02010800040101010101" pitchFamily="2" charset="-122"/>
                <a:ea typeface="华文新魏" panose="02010800040101010101" pitchFamily="2" charset="-122"/>
              </a:rPr>
              <a:t>折半（二分）查找</a:t>
            </a:r>
            <a:r>
              <a:rPr lang="en-US" altLang="zh-CN" sz="3200" dirty="0">
                <a:latin typeface="华文新魏" panose="02010800040101010101" pitchFamily="2" charset="-122"/>
                <a:ea typeface="华文新魏" panose="02010800040101010101" pitchFamily="2" charset="-122"/>
              </a:rPr>
              <a:t>- </a:t>
            </a:r>
            <a:r>
              <a:rPr lang="en-US" altLang="en-US" sz="3200" dirty="0" err="1">
                <a:latin typeface="华文新魏" panose="02010800040101010101" pitchFamily="2" charset="-122"/>
                <a:ea typeface="华文新魏" panose="02010800040101010101" pitchFamily="2" charset="-122"/>
              </a:rPr>
              <a:t>算法</a:t>
            </a:r>
            <a:r>
              <a:rPr lang="zh-CN" altLang="en-US" sz="3200" dirty="0">
                <a:latin typeface="华文新魏" panose="02010800040101010101" pitchFamily="2" charset="-122"/>
                <a:ea typeface="华文新魏" panose="02010800040101010101" pitchFamily="2" charset="-122"/>
              </a:rPr>
              <a:t>运行实例</a:t>
            </a:r>
            <a:r>
              <a:rPr lang="en-US" altLang="zh-CN" sz="3200" dirty="0">
                <a:latin typeface="华文新魏" panose="02010800040101010101" pitchFamily="2" charset="-122"/>
                <a:ea typeface="华文新魏" panose="02010800040101010101" pitchFamily="2" charset="-122"/>
              </a:rPr>
              <a:t>I</a:t>
            </a:r>
            <a:endParaRPr lang="zh-CN" altLang="en-US" sz="3200" dirty="0">
              <a:latin typeface="华文新魏" panose="02010800040101010101" pitchFamily="2" charset="-122"/>
              <a:ea typeface="华文新魏" panose="02010800040101010101" pitchFamily="2" charset="-122"/>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t>15</a:t>
            </a:fld>
            <a:endParaRPr lang="zh-CN" altLang="en-US"/>
          </a:p>
        </p:txBody>
      </p:sp>
    </p:spTree>
    <p:extLst>
      <p:ext uri="{BB962C8B-B14F-4D97-AF65-F5344CB8AC3E}">
        <p14:creationId xmlns:p14="http://schemas.microsoft.com/office/powerpoint/2010/main" val="1093450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27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27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27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827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8268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8269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8269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8268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8266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8266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8266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826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27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3" name="AutoShape 3"/>
          <p:cNvSpPr>
            <a:spLocks noChangeArrowheads="1"/>
          </p:cNvSpPr>
          <p:nvPr/>
        </p:nvSpPr>
        <p:spPr bwMode="auto">
          <a:xfrm>
            <a:off x="7074072" y="144020"/>
            <a:ext cx="1931988" cy="431800"/>
          </a:xfrm>
          <a:prstGeom prst="wedgeEllipseCallout">
            <a:avLst>
              <a:gd name="adj1" fmla="val -44741"/>
              <a:gd name="adj2" fmla="val 70222"/>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zh-CN" altLang="en-US" sz="2000" b="1">
                <a:latin typeface="Times New Roman" pitchFamily="18" charset="0"/>
              </a:rPr>
              <a:t>查找</a:t>
            </a:r>
            <a:r>
              <a:rPr lang="en-US" altLang="en-US" sz="2000" b="1">
                <a:latin typeface="Times New Roman" pitchFamily="18" charset="0"/>
              </a:rPr>
              <a:t>71</a:t>
            </a:r>
          </a:p>
        </p:txBody>
      </p:sp>
      <p:grpSp>
        <p:nvGrpSpPr>
          <p:cNvPr id="583759" name="Group 5"/>
          <p:cNvGrpSpPr>
            <a:grpSpLocks/>
          </p:cNvGrpSpPr>
          <p:nvPr/>
        </p:nvGrpSpPr>
        <p:grpSpPr bwMode="auto">
          <a:xfrm>
            <a:off x="1201116" y="648072"/>
            <a:ext cx="6856413" cy="776288"/>
            <a:chOff x="0" y="0"/>
            <a:chExt cx="4319" cy="489"/>
          </a:xfrm>
        </p:grpSpPr>
        <p:grpSp>
          <p:nvGrpSpPr>
            <p:cNvPr id="583769" name="Group 6"/>
            <p:cNvGrpSpPr>
              <a:grpSpLocks/>
            </p:cNvGrpSpPr>
            <p:nvPr/>
          </p:nvGrpSpPr>
          <p:grpSpPr bwMode="auto">
            <a:xfrm>
              <a:off x="12" y="240"/>
              <a:ext cx="4307" cy="249"/>
              <a:chOff x="0" y="0"/>
              <a:chExt cx="4307" cy="249"/>
            </a:xfrm>
          </p:grpSpPr>
          <p:sp>
            <p:nvSpPr>
              <p:cNvPr id="583771" name="Rectangle 7"/>
              <p:cNvSpPr>
                <a:spLocks noChangeArrowheads="1"/>
              </p:cNvSpPr>
              <p:nvPr/>
            </p:nvSpPr>
            <p:spPr bwMode="auto">
              <a:xfrm>
                <a:off x="0" y="0"/>
                <a:ext cx="4307" cy="249"/>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zh-CN" altLang="en-US" sz="2400">
                    <a:latin typeface="Times New Roman" pitchFamily="18" charset="0"/>
                  </a:rPr>
                  <a:t> </a:t>
                </a:r>
                <a:r>
                  <a:rPr lang="en-US" altLang="en-US" sz="2400">
                    <a:latin typeface="Times New Roman" pitchFamily="18" charset="0"/>
                  </a:rPr>
                  <a:t>-5   13    17    23    38    46     56     65    78    81    92</a:t>
                </a:r>
              </a:p>
            </p:txBody>
          </p:sp>
          <p:sp>
            <p:nvSpPr>
              <p:cNvPr id="583772" name="Line 8"/>
              <p:cNvSpPr>
                <a:spLocks noChangeShapeType="1"/>
              </p:cNvSpPr>
              <p:nvPr/>
            </p:nvSpPr>
            <p:spPr bwMode="auto">
              <a:xfrm>
                <a:off x="336"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3773" name="Line 9"/>
              <p:cNvSpPr>
                <a:spLocks noChangeShapeType="1"/>
              </p:cNvSpPr>
              <p:nvPr/>
            </p:nvSpPr>
            <p:spPr bwMode="auto">
              <a:xfrm>
                <a:off x="672"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3774" name="Line 10"/>
              <p:cNvSpPr>
                <a:spLocks noChangeShapeType="1"/>
              </p:cNvSpPr>
              <p:nvPr/>
            </p:nvSpPr>
            <p:spPr bwMode="auto">
              <a:xfrm>
                <a:off x="1104"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3775" name="Line 11"/>
              <p:cNvSpPr>
                <a:spLocks noChangeShapeType="1"/>
              </p:cNvSpPr>
              <p:nvPr/>
            </p:nvSpPr>
            <p:spPr bwMode="auto">
              <a:xfrm>
                <a:off x="1488"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3776" name="Line 12"/>
              <p:cNvSpPr>
                <a:spLocks noChangeShapeType="1"/>
              </p:cNvSpPr>
              <p:nvPr/>
            </p:nvSpPr>
            <p:spPr bwMode="auto">
              <a:xfrm>
                <a:off x="1872"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3777" name="Line 13"/>
              <p:cNvSpPr>
                <a:spLocks noChangeShapeType="1"/>
              </p:cNvSpPr>
              <p:nvPr/>
            </p:nvSpPr>
            <p:spPr bwMode="auto">
              <a:xfrm>
                <a:off x="2256"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3778" name="Line 14"/>
              <p:cNvSpPr>
                <a:spLocks noChangeShapeType="1"/>
              </p:cNvSpPr>
              <p:nvPr/>
            </p:nvSpPr>
            <p:spPr bwMode="auto">
              <a:xfrm>
                <a:off x="2688"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3779" name="Line 15"/>
              <p:cNvSpPr>
                <a:spLocks noChangeShapeType="1"/>
              </p:cNvSpPr>
              <p:nvPr/>
            </p:nvSpPr>
            <p:spPr bwMode="auto">
              <a:xfrm>
                <a:off x="3120"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3780" name="Line 16"/>
              <p:cNvSpPr>
                <a:spLocks noChangeShapeType="1"/>
              </p:cNvSpPr>
              <p:nvPr/>
            </p:nvSpPr>
            <p:spPr bwMode="auto">
              <a:xfrm>
                <a:off x="3504"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3781" name="Line 17"/>
              <p:cNvSpPr>
                <a:spLocks noChangeShapeType="1"/>
              </p:cNvSpPr>
              <p:nvPr/>
            </p:nvSpPr>
            <p:spPr bwMode="auto">
              <a:xfrm>
                <a:off x="3888"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583770" name="Rectangle 18"/>
            <p:cNvSpPr>
              <a:spLocks noChangeArrowheads="1"/>
            </p:cNvSpPr>
            <p:nvPr/>
          </p:nvSpPr>
          <p:spPr bwMode="auto">
            <a:xfrm>
              <a:off x="0" y="0"/>
              <a:ext cx="4308"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1      2      3      4      5      6       7       8     9     10     11</a:t>
              </a:r>
            </a:p>
          </p:txBody>
        </p:sp>
      </p:grpSp>
      <p:grpSp>
        <p:nvGrpSpPr>
          <p:cNvPr id="583760" name="Group 19"/>
          <p:cNvGrpSpPr>
            <a:grpSpLocks/>
          </p:cNvGrpSpPr>
          <p:nvPr/>
        </p:nvGrpSpPr>
        <p:grpSpPr bwMode="auto">
          <a:xfrm>
            <a:off x="4191966" y="1468810"/>
            <a:ext cx="576263" cy="665163"/>
            <a:chOff x="0" y="0"/>
            <a:chExt cx="363" cy="419"/>
          </a:xfrm>
        </p:grpSpPr>
        <p:sp>
          <p:nvSpPr>
            <p:cNvPr id="583767" name="Rectangle 20"/>
            <p:cNvSpPr>
              <a:spLocks noChangeArrowheads="1"/>
            </p:cNvSpPr>
            <p:nvPr/>
          </p:nvSpPr>
          <p:spPr bwMode="auto">
            <a:xfrm>
              <a:off x="0" y="192"/>
              <a:ext cx="363"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Mid</a:t>
              </a:r>
            </a:p>
          </p:txBody>
        </p:sp>
        <p:sp>
          <p:nvSpPr>
            <p:cNvPr id="583768" name="Line 21"/>
            <p:cNvSpPr>
              <a:spLocks noChangeShapeType="1"/>
            </p:cNvSpPr>
            <p:nvPr/>
          </p:nvSpPr>
          <p:spPr bwMode="auto">
            <a:xfrm flipV="1">
              <a:off x="192" y="0"/>
              <a:ext cx="0" cy="22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583761" name="Group 22"/>
          <p:cNvGrpSpPr>
            <a:grpSpLocks/>
          </p:cNvGrpSpPr>
          <p:nvPr/>
        </p:nvGrpSpPr>
        <p:grpSpPr bwMode="auto">
          <a:xfrm>
            <a:off x="7354266" y="1473572"/>
            <a:ext cx="647700" cy="677863"/>
            <a:chOff x="0" y="0"/>
            <a:chExt cx="408" cy="427"/>
          </a:xfrm>
        </p:grpSpPr>
        <p:sp>
          <p:nvSpPr>
            <p:cNvPr id="583765" name="Rectangle 23"/>
            <p:cNvSpPr>
              <a:spLocks noChangeArrowheads="1"/>
            </p:cNvSpPr>
            <p:nvPr/>
          </p:nvSpPr>
          <p:spPr bwMode="auto">
            <a:xfrm>
              <a:off x="0" y="200"/>
              <a:ext cx="408"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High</a:t>
              </a:r>
            </a:p>
          </p:txBody>
        </p:sp>
        <p:sp>
          <p:nvSpPr>
            <p:cNvPr id="583766" name="Line 24"/>
            <p:cNvSpPr>
              <a:spLocks noChangeShapeType="1"/>
            </p:cNvSpPr>
            <p:nvPr/>
          </p:nvSpPr>
          <p:spPr bwMode="auto">
            <a:xfrm flipV="1">
              <a:off x="240" y="0"/>
              <a:ext cx="0" cy="22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583762" name="Group 25"/>
          <p:cNvGrpSpPr>
            <a:grpSpLocks/>
          </p:cNvGrpSpPr>
          <p:nvPr/>
        </p:nvGrpSpPr>
        <p:grpSpPr bwMode="auto">
          <a:xfrm>
            <a:off x="1101549" y="1471984"/>
            <a:ext cx="647700" cy="627063"/>
            <a:chOff x="0" y="0"/>
            <a:chExt cx="408" cy="395"/>
          </a:xfrm>
        </p:grpSpPr>
        <p:sp>
          <p:nvSpPr>
            <p:cNvPr id="583763" name="Rectangle 26"/>
            <p:cNvSpPr>
              <a:spLocks noChangeArrowheads="1"/>
            </p:cNvSpPr>
            <p:nvPr/>
          </p:nvSpPr>
          <p:spPr bwMode="auto">
            <a:xfrm>
              <a:off x="0" y="168"/>
              <a:ext cx="408"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Low</a:t>
              </a:r>
            </a:p>
          </p:txBody>
        </p:sp>
        <p:sp>
          <p:nvSpPr>
            <p:cNvPr id="583764" name="Line 27"/>
            <p:cNvSpPr>
              <a:spLocks noChangeShapeType="1"/>
            </p:cNvSpPr>
            <p:nvPr/>
          </p:nvSpPr>
          <p:spPr bwMode="auto">
            <a:xfrm flipV="1">
              <a:off x="272" y="0"/>
              <a:ext cx="0" cy="22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583736" name="Group 29"/>
          <p:cNvGrpSpPr>
            <a:grpSpLocks/>
          </p:cNvGrpSpPr>
          <p:nvPr/>
        </p:nvGrpSpPr>
        <p:grpSpPr bwMode="auto">
          <a:xfrm>
            <a:off x="1243979" y="2167310"/>
            <a:ext cx="6856413" cy="776288"/>
            <a:chOff x="0" y="0"/>
            <a:chExt cx="4319" cy="489"/>
          </a:xfrm>
        </p:grpSpPr>
        <p:grpSp>
          <p:nvGrpSpPr>
            <p:cNvPr id="583746" name="Group 30"/>
            <p:cNvGrpSpPr>
              <a:grpSpLocks/>
            </p:cNvGrpSpPr>
            <p:nvPr/>
          </p:nvGrpSpPr>
          <p:grpSpPr bwMode="auto">
            <a:xfrm>
              <a:off x="12" y="240"/>
              <a:ext cx="4307" cy="249"/>
              <a:chOff x="0" y="0"/>
              <a:chExt cx="4307" cy="249"/>
            </a:xfrm>
          </p:grpSpPr>
          <p:sp>
            <p:nvSpPr>
              <p:cNvPr id="583748" name="Rectangle 31"/>
              <p:cNvSpPr>
                <a:spLocks noChangeArrowheads="1"/>
              </p:cNvSpPr>
              <p:nvPr/>
            </p:nvSpPr>
            <p:spPr bwMode="auto">
              <a:xfrm>
                <a:off x="0" y="0"/>
                <a:ext cx="4307" cy="249"/>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zh-CN" altLang="en-US" sz="2400">
                    <a:latin typeface="Times New Roman" pitchFamily="18" charset="0"/>
                  </a:rPr>
                  <a:t> </a:t>
                </a:r>
                <a:r>
                  <a:rPr lang="en-US" altLang="en-US" sz="2400">
                    <a:latin typeface="Times New Roman" pitchFamily="18" charset="0"/>
                  </a:rPr>
                  <a:t>-5   13    17    23    38    46     56     65    78    81    92</a:t>
                </a:r>
              </a:p>
            </p:txBody>
          </p:sp>
          <p:sp>
            <p:nvSpPr>
              <p:cNvPr id="583749" name="Line 32"/>
              <p:cNvSpPr>
                <a:spLocks noChangeShapeType="1"/>
              </p:cNvSpPr>
              <p:nvPr/>
            </p:nvSpPr>
            <p:spPr bwMode="auto">
              <a:xfrm>
                <a:off x="336"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3750" name="Line 33"/>
              <p:cNvSpPr>
                <a:spLocks noChangeShapeType="1"/>
              </p:cNvSpPr>
              <p:nvPr/>
            </p:nvSpPr>
            <p:spPr bwMode="auto">
              <a:xfrm>
                <a:off x="672"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3751" name="Line 34"/>
              <p:cNvSpPr>
                <a:spLocks noChangeShapeType="1"/>
              </p:cNvSpPr>
              <p:nvPr/>
            </p:nvSpPr>
            <p:spPr bwMode="auto">
              <a:xfrm>
                <a:off x="1104"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3752" name="Line 35"/>
              <p:cNvSpPr>
                <a:spLocks noChangeShapeType="1"/>
              </p:cNvSpPr>
              <p:nvPr/>
            </p:nvSpPr>
            <p:spPr bwMode="auto">
              <a:xfrm>
                <a:off x="1488"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3753" name="Line 36"/>
              <p:cNvSpPr>
                <a:spLocks noChangeShapeType="1"/>
              </p:cNvSpPr>
              <p:nvPr/>
            </p:nvSpPr>
            <p:spPr bwMode="auto">
              <a:xfrm>
                <a:off x="1872"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3754" name="Line 37"/>
              <p:cNvSpPr>
                <a:spLocks noChangeShapeType="1"/>
              </p:cNvSpPr>
              <p:nvPr/>
            </p:nvSpPr>
            <p:spPr bwMode="auto">
              <a:xfrm>
                <a:off x="2256"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3755" name="Line 38"/>
              <p:cNvSpPr>
                <a:spLocks noChangeShapeType="1"/>
              </p:cNvSpPr>
              <p:nvPr/>
            </p:nvSpPr>
            <p:spPr bwMode="auto">
              <a:xfrm>
                <a:off x="2688"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3756" name="Line 39"/>
              <p:cNvSpPr>
                <a:spLocks noChangeShapeType="1"/>
              </p:cNvSpPr>
              <p:nvPr/>
            </p:nvSpPr>
            <p:spPr bwMode="auto">
              <a:xfrm>
                <a:off x="3120"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3757" name="Line 40"/>
              <p:cNvSpPr>
                <a:spLocks noChangeShapeType="1"/>
              </p:cNvSpPr>
              <p:nvPr/>
            </p:nvSpPr>
            <p:spPr bwMode="auto">
              <a:xfrm>
                <a:off x="3504"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3758" name="Line 41"/>
              <p:cNvSpPr>
                <a:spLocks noChangeShapeType="1"/>
              </p:cNvSpPr>
              <p:nvPr/>
            </p:nvSpPr>
            <p:spPr bwMode="auto">
              <a:xfrm>
                <a:off x="3888"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583747" name="Rectangle 42"/>
            <p:cNvSpPr>
              <a:spLocks noChangeArrowheads="1"/>
            </p:cNvSpPr>
            <p:nvPr/>
          </p:nvSpPr>
          <p:spPr bwMode="auto">
            <a:xfrm>
              <a:off x="0" y="0"/>
              <a:ext cx="4308"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1      2      3      4      5      6       7       8     9     10     11</a:t>
              </a:r>
            </a:p>
          </p:txBody>
        </p:sp>
      </p:grpSp>
      <p:grpSp>
        <p:nvGrpSpPr>
          <p:cNvPr id="583737" name="Group 43"/>
          <p:cNvGrpSpPr>
            <a:grpSpLocks/>
          </p:cNvGrpSpPr>
          <p:nvPr/>
        </p:nvGrpSpPr>
        <p:grpSpPr bwMode="auto">
          <a:xfrm>
            <a:off x="6152529" y="2988048"/>
            <a:ext cx="576263" cy="665163"/>
            <a:chOff x="0" y="0"/>
            <a:chExt cx="363" cy="419"/>
          </a:xfrm>
        </p:grpSpPr>
        <p:sp>
          <p:nvSpPr>
            <p:cNvPr id="583744" name="Rectangle 44"/>
            <p:cNvSpPr>
              <a:spLocks noChangeArrowheads="1"/>
            </p:cNvSpPr>
            <p:nvPr/>
          </p:nvSpPr>
          <p:spPr bwMode="auto">
            <a:xfrm>
              <a:off x="0" y="192"/>
              <a:ext cx="363"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Mid</a:t>
              </a:r>
            </a:p>
          </p:txBody>
        </p:sp>
        <p:sp>
          <p:nvSpPr>
            <p:cNvPr id="583745" name="Line 45"/>
            <p:cNvSpPr>
              <a:spLocks noChangeShapeType="1"/>
            </p:cNvSpPr>
            <p:nvPr/>
          </p:nvSpPr>
          <p:spPr bwMode="auto">
            <a:xfrm flipV="1">
              <a:off x="192" y="0"/>
              <a:ext cx="0" cy="22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583738" name="Group 46"/>
          <p:cNvGrpSpPr>
            <a:grpSpLocks/>
          </p:cNvGrpSpPr>
          <p:nvPr/>
        </p:nvGrpSpPr>
        <p:grpSpPr bwMode="auto">
          <a:xfrm>
            <a:off x="7397129" y="2992810"/>
            <a:ext cx="647700" cy="677863"/>
            <a:chOff x="0" y="0"/>
            <a:chExt cx="408" cy="427"/>
          </a:xfrm>
        </p:grpSpPr>
        <p:sp>
          <p:nvSpPr>
            <p:cNvPr id="583742" name="Rectangle 47"/>
            <p:cNvSpPr>
              <a:spLocks noChangeArrowheads="1"/>
            </p:cNvSpPr>
            <p:nvPr/>
          </p:nvSpPr>
          <p:spPr bwMode="auto">
            <a:xfrm>
              <a:off x="0" y="200"/>
              <a:ext cx="408"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High</a:t>
              </a:r>
            </a:p>
          </p:txBody>
        </p:sp>
        <p:sp>
          <p:nvSpPr>
            <p:cNvPr id="583743" name="Line 48"/>
            <p:cNvSpPr>
              <a:spLocks noChangeShapeType="1"/>
            </p:cNvSpPr>
            <p:nvPr/>
          </p:nvSpPr>
          <p:spPr bwMode="auto">
            <a:xfrm flipV="1">
              <a:off x="240" y="0"/>
              <a:ext cx="0" cy="22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583739" name="Group 49"/>
          <p:cNvGrpSpPr>
            <a:grpSpLocks/>
          </p:cNvGrpSpPr>
          <p:nvPr/>
        </p:nvGrpSpPr>
        <p:grpSpPr bwMode="auto">
          <a:xfrm>
            <a:off x="4709492" y="2980110"/>
            <a:ext cx="647700" cy="627063"/>
            <a:chOff x="0" y="0"/>
            <a:chExt cx="408" cy="395"/>
          </a:xfrm>
        </p:grpSpPr>
        <p:sp>
          <p:nvSpPr>
            <p:cNvPr id="583740" name="Rectangle 50"/>
            <p:cNvSpPr>
              <a:spLocks noChangeArrowheads="1"/>
            </p:cNvSpPr>
            <p:nvPr/>
          </p:nvSpPr>
          <p:spPr bwMode="auto">
            <a:xfrm>
              <a:off x="0" y="168"/>
              <a:ext cx="408"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Low</a:t>
              </a:r>
            </a:p>
          </p:txBody>
        </p:sp>
        <p:sp>
          <p:nvSpPr>
            <p:cNvPr id="583741" name="Line 51"/>
            <p:cNvSpPr>
              <a:spLocks noChangeShapeType="1"/>
            </p:cNvSpPr>
            <p:nvPr/>
          </p:nvSpPr>
          <p:spPr bwMode="auto">
            <a:xfrm flipV="1">
              <a:off x="272" y="0"/>
              <a:ext cx="0" cy="22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583713" name="Group 53"/>
          <p:cNvGrpSpPr>
            <a:grpSpLocks/>
          </p:cNvGrpSpPr>
          <p:nvPr/>
        </p:nvGrpSpPr>
        <p:grpSpPr bwMode="auto">
          <a:xfrm>
            <a:off x="1242391" y="3657972"/>
            <a:ext cx="6856413" cy="776288"/>
            <a:chOff x="0" y="0"/>
            <a:chExt cx="4319" cy="489"/>
          </a:xfrm>
        </p:grpSpPr>
        <p:grpSp>
          <p:nvGrpSpPr>
            <p:cNvPr id="583723" name="Group 54"/>
            <p:cNvGrpSpPr>
              <a:grpSpLocks/>
            </p:cNvGrpSpPr>
            <p:nvPr/>
          </p:nvGrpSpPr>
          <p:grpSpPr bwMode="auto">
            <a:xfrm>
              <a:off x="12" y="240"/>
              <a:ext cx="4307" cy="249"/>
              <a:chOff x="0" y="0"/>
              <a:chExt cx="4307" cy="249"/>
            </a:xfrm>
          </p:grpSpPr>
          <p:sp>
            <p:nvSpPr>
              <p:cNvPr id="583725" name="Rectangle 55"/>
              <p:cNvSpPr>
                <a:spLocks noChangeArrowheads="1"/>
              </p:cNvSpPr>
              <p:nvPr/>
            </p:nvSpPr>
            <p:spPr bwMode="auto">
              <a:xfrm>
                <a:off x="0" y="0"/>
                <a:ext cx="4307" cy="249"/>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zh-CN" altLang="en-US" sz="2400">
                    <a:latin typeface="Times New Roman" pitchFamily="18" charset="0"/>
                  </a:rPr>
                  <a:t> </a:t>
                </a:r>
                <a:r>
                  <a:rPr lang="en-US" altLang="en-US" sz="2400">
                    <a:latin typeface="Times New Roman" pitchFamily="18" charset="0"/>
                  </a:rPr>
                  <a:t>-5   13    17    23    38    46     56     65    78    81    92</a:t>
                </a:r>
              </a:p>
            </p:txBody>
          </p:sp>
          <p:sp>
            <p:nvSpPr>
              <p:cNvPr id="583726" name="Line 56"/>
              <p:cNvSpPr>
                <a:spLocks noChangeShapeType="1"/>
              </p:cNvSpPr>
              <p:nvPr/>
            </p:nvSpPr>
            <p:spPr bwMode="auto">
              <a:xfrm>
                <a:off x="336"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3727" name="Line 57"/>
              <p:cNvSpPr>
                <a:spLocks noChangeShapeType="1"/>
              </p:cNvSpPr>
              <p:nvPr/>
            </p:nvSpPr>
            <p:spPr bwMode="auto">
              <a:xfrm>
                <a:off x="672"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3728" name="Line 58"/>
              <p:cNvSpPr>
                <a:spLocks noChangeShapeType="1"/>
              </p:cNvSpPr>
              <p:nvPr/>
            </p:nvSpPr>
            <p:spPr bwMode="auto">
              <a:xfrm>
                <a:off x="1104"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3729" name="Line 59"/>
              <p:cNvSpPr>
                <a:spLocks noChangeShapeType="1"/>
              </p:cNvSpPr>
              <p:nvPr/>
            </p:nvSpPr>
            <p:spPr bwMode="auto">
              <a:xfrm>
                <a:off x="1488"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3730" name="Line 60"/>
              <p:cNvSpPr>
                <a:spLocks noChangeShapeType="1"/>
              </p:cNvSpPr>
              <p:nvPr/>
            </p:nvSpPr>
            <p:spPr bwMode="auto">
              <a:xfrm>
                <a:off x="1872"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3731" name="Line 61"/>
              <p:cNvSpPr>
                <a:spLocks noChangeShapeType="1"/>
              </p:cNvSpPr>
              <p:nvPr/>
            </p:nvSpPr>
            <p:spPr bwMode="auto">
              <a:xfrm>
                <a:off x="2256"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3732" name="Line 62"/>
              <p:cNvSpPr>
                <a:spLocks noChangeShapeType="1"/>
              </p:cNvSpPr>
              <p:nvPr/>
            </p:nvSpPr>
            <p:spPr bwMode="auto">
              <a:xfrm>
                <a:off x="2688"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3733" name="Line 63"/>
              <p:cNvSpPr>
                <a:spLocks noChangeShapeType="1"/>
              </p:cNvSpPr>
              <p:nvPr/>
            </p:nvSpPr>
            <p:spPr bwMode="auto">
              <a:xfrm>
                <a:off x="3120"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3734" name="Line 64"/>
              <p:cNvSpPr>
                <a:spLocks noChangeShapeType="1"/>
              </p:cNvSpPr>
              <p:nvPr/>
            </p:nvSpPr>
            <p:spPr bwMode="auto">
              <a:xfrm>
                <a:off x="3504"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3735" name="Line 65"/>
              <p:cNvSpPr>
                <a:spLocks noChangeShapeType="1"/>
              </p:cNvSpPr>
              <p:nvPr/>
            </p:nvSpPr>
            <p:spPr bwMode="auto">
              <a:xfrm>
                <a:off x="3888"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583724" name="Rectangle 66"/>
            <p:cNvSpPr>
              <a:spLocks noChangeArrowheads="1"/>
            </p:cNvSpPr>
            <p:nvPr/>
          </p:nvSpPr>
          <p:spPr bwMode="auto">
            <a:xfrm>
              <a:off x="0" y="0"/>
              <a:ext cx="4308"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1      2      3      4      5      6       7       8     9     10     11</a:t>
              </a:r>
            </a:p>
          </p:txBody>
        </p:sp>
      </p:grpSp>
      <p:grpSp>
        <p:nvGrpSpPr>
          <p:cNvPr id="583714" name="Group 67"/>
          <p:cNvGrpSpPr>
            <a:grpSpLocks/>
          </p:cNvGrpSpPr>
          <p:nvPr/>
        </p:nvGrpSpPr>
        <p:grpSpPr bwMode="auto">
          <a:xfrm>
            <a:off x="5061594" y="4466010"/>
            <a:ext cx="576263" cy="665163"/>
            <a:chOff x="0" y="0"/>
            <a:chExt cx="363" cy="419"/>
          </a:xfrm>
        </p:grpSpPr>
        <p:sp>
          <p:nvSpPr>
            <p:cNvPr id="583721" name="Rectangle 68"/>
            <p:cNvSpPr>
              <a:spLocks noChangeArrowheads="1"/>
            </p:cNvSpPr>
            <p:nvPr/>
          </p:nvSpPr>
          <p:spPr bwMode="auto">
            <a:xfrm>
              <a:off x="0" y="192"/>
              <a:ext cx="363"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Mid</a:t>
              </a:r>
            </a:p>
          </p:txBody>
        </p:sp>
        <p:sp>
          <p:nvSpPr>
            <p:cNvPr id="583722" name="Line 69"/>
            <p:cNvSpPr>
              <a:spLocks noChangeShapeType="1"/>
            </p:cNvSpPr>
            <p:nvPr/>
          </p:nvSpPr>
          <p:spPr bwMode="auto">
            <a:xfrm flipV="1">
              <a:off x="192" y="0"/>
              <a:ext cx="0" cy="22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583715" name="Group 70"/>
          <p:cNvGrpSpPr>
            <a:grpSpLocks/>
          </p:cNvGrpSpPr>
          <p:nvPr/>
        </p:nvGrpSpPr>
        <p:grpSpPr bwMode="auto">
          <a:xfrm>
            <a:off x="5598491" y="4458072"/>
            <a:ext cx="647700" cy="677863"/>
            <a:chOff x="0" y="0"/>
            <a:chExt cx="408" cy="427"/>
          </a:xfrm>
        </p:grpSpPr>
        <p:sp>
          <p:nvSpPr>
            <p:cNvPr id="583719" name="Rectangle 71"/>
            <p:cNvSpPr>
              <a:spLocks noChangeArrowheads="1"/>
            </p:cNvSpPr>
            <p:nvPr/>
          </p:nvSpPr>
          <p:spPr bwMode="auto">
            <a:xfrm>
              <a:off x="0" y="200"/>
              <a:ext cx="408"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High</a:t>
              </a:r>
            </a:p>
          </p:txBody>
        </p:sp>
        <p:sp>
          <p:nvSpPr>
            <p:cNvPr id="583720" name="Line 72"/>
            <p:cNvSpPr>
              <a:spLocks noChangeShapeType="1"/>
            </p:cNvSpPr>
            <p:nvPr/>
          </p:nvSpPr>
          <p:spPr bwMode="auto">
            <a:xfrm flipV="1">
              <a:off x="240" y="0"/>
              <a:ext cx="0" cy="22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583716" name="Group 73"/>
          <p:cNvGrpSpPr>
            <a:grpSpLocks/>
          </p:cNvGrpSpPr>
          <p:nvPr/>
        </p:nvGrpSpPr>
        <p:grpSpPr bwMode="auto">
          <a:xfrm>
            <a:off x="4485729" y="4470772"/>
            <a:ext cx="647700" cy="627063"/>
            <a:chOff x="0" y="0"/>
            <a:chExt cx="408" cy="395"/>
          </a:xfrm>
        </p:grpSpPr>
        <p:sp>
          <p:nvSpPr>
            <p:cNvPr id="583717" name="Rectangle 74"/>
            <p:cNvSpPr>
              <a:spLocks noChangeArrowheads="1"/>
            </p:cNvSpPr>
            <p:nvPr/>
          </p:nvSpPr>
          <p:spPr bwMode="auto">
            <a:xfrm>
              <a:off x="0" y="168"/>
              <a:ext cx="408"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Low</a:t>
              </a:r>
            </a:p>
          </p:txBody>
        </p:sp>
        <p:sp>
          <p:nvSpPr>
            <p:cNvPr id="583718" name="Line 75"/>
            <p:cNvSpPr>
              <a:spLocks noChangeShapeType="1"/>
            </p:cNvSpPr>
            <p:nvPr/>
          </p:nvSpPr>
          <p:spPr bwMode="auto">
            <a:xfrm flipV="1">
              <a:off x="272" y="0"/>
              <a:ext cx="0" cy="22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583690" name="Group 77"/>
          <p:cNvGrpSpPr>
            <a:grpSpLocks/>
          </p:cNvGrpSpPr>
          <p:nvPr/>
        </p:nvGrpSpPr>
        <p:grpSpPr bwMode="auto">
          <a:xfrm>
            <a:off x="1242391" y="5143872"/>
            <a:ext cx="6856413" cy="776288"/>
            <a:chOff x="0" y="0"/>
            <a:chExt cx="4319" cy="489"/>
          </a:xfrm>
        </p:grpSpPr>
        <p:grpSp>
          <p:nvGrpSpPr>
            <p:cNvPr id="583700" name="Group 78"/>
            <p:cNvGrpSpPr>
              <a:grpSpLocks/>
            </p:cNvGrpSpPr>
            <p:nvPr/>
          </p:nvGrpSpPr>
          <p:grpSpPr bwMode="auto">
            <a:xfrm>
              <a:off x="12" y="240"/>
              <a:ext cx="4307" cy="249"/>
              <a:chOff x="0" y="0"/>
              <a:chExt cx="4307" cy="249"/>
            </a:xfrm>
          </p:grpSpPr>
          <p:sp>
            <p:nvSpPr>
              <p:cNvPr id="583702" name="Rectangle 79"/>
              <p:cNvSpPr>
                <a:spLocks noChangeArrowheads="1"/>
              </p:cNvSpPr>
              <p:nvPr/>
            </p:nvSpPr>
            <p:spPr bwMode="auto">
              <a:xfrm>
                <a:off x="0" y="0"/>
                <a:ext cx="4307" cy="249"/>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zh-CN" altLang="en-US" sz="2400">
                    <a:latin typeface="Times New Roman" pitchFamily="18" charset="0"/>
                  </a:rPr>
                  <a:t> </a:t>
                </a:r>
                <a:r>
                  <a:rPr lang="en-US" altLang="en-US" sz="2400">
                    <a:latin typeface="Times New Roman" pitchFamily="18" charset="0"/>
                  </a:rPr>
                  <a:t>-5   13    17    23    38    46     56     65    78    81    92</a:t>
                </a:r>
              </a:p>
            </p:txBody>
          </p:sp>
          <p:sp>
            <p:nvSpPr>
              <p:cNvPr id="583703" name="Line 80"/>
              <p:cNvSpPr>
                <a:spLocks noChangeShapeType="1"/>
              </p:cNvSpPr>
              <p:nvPr/>
            </p:nvSpPr>
            <p:spPr bwMode="auto">
              <a:xfrm>
                <a:off x="336"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3704" name="Line 81"/>
              <p:cNvSpPr>
                <a:spLocks noChangeShapeType="1"/>
              </p:cNvSpPr>
              <p:nvPr/>
            </p:nvSpPr>
            <p:spPr bwMode="auto">
              <a:xfrm>
                <a:off x="672"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3705" name="Line 82"/>
              <p:cNvSpPr>
                <a:spLocks noChangeShapeType="1"/>
              </p:cNvSpPr>
              <p:nvPr/>
            </p:nvSpPr>
            <p:spPr bwMode="auto">
              <a:xfrm>
                <a:off x="1104"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3706" name="Line 83"/>
              <p:cNvSpPr>
                <a:spLocks noChangeShapeType="1"/>
              </p:cNvSpPr>
              <p:nvPr/>
            </p:nvSpPr>
            <p:spPr bwMode="auto">
              <a:xfrm>
                <a:off x="1488"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3707" name="Line 84"/>
              <p:cNvSpPr>
                <a:spLocks noChangeShapeType="1"/>
              </p:cNvSpPr>
              <p:nvPr/>
            </p:nvSpPr>
            <p:spPr bwMode="auto">
              <a:xfrm>
                <a:off x="1872"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3708" name="Line 85"/>
              <p:cNvSpPr>
                <a:spLocks noChangeShapeType="1"/>
              </p:cNvSpPr>
              <p:nvPr/>
            </p:nvSpPr>
            <p:spPr bwMode="auto">
              <a:xfrm>
                <a:off x="2256"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3709" name="Line 86"/>
              <p:cNvSpPr>
                <a:spLocks noChangeShapeType="1"/>
              </p:cNvSpPr>
              <p:nvPr/>
            </p:nvSpPr>
            <p:spPr bwMode="auto">
              <a:xfrm>
                <a:off x="2688"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3710" name="Line 87"/>
              <p:cNvSpPr>
                <a:spLocks noChangeShapeType="1"/>
              </p:cNvSpPr>
              <p:nvPr/>
            </p:nvSpPr>
            <p:spPr bwMode="auto">
              <a:xfrm>
                <a:off x="3120"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3711" name="Line 88"/>
              <p:cNvSpPr>
                <a:spLocks noChangeShapeType="1"/>
              </p:cNvSpPr>
              <p:nvPr/>
            </p:nvSpPr>
            <p:spPr bwMode="auto">
              <a:xfrm>
                <a:off x="3504"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3712" name="Line 89"/>
              <p:cNvSpPr>
                <a:spLocks noChangeShapeType="1"/>
              </p:cNvSpPr>
              <p:nvPr/>
            </p:nvSpPr>
            <p:spPr bwMode="auto">
              <a:xfrm>
                <a:off x="3888"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583701" name="Rectangle 90"/>
            <p:cNvSpPr>
              <a:spLocks noChangeArrowheads="1"/>
            </p:cNvSpPr>
            <p:nvPr/>
          </p:nvSpPr>
          <p:spPr bwMode="auto">
            <a:xfrm>
              <a:off x="0" y="0"/>
              <a:ext cx="4308"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1      2      3      4      5      6       7       8     9     10     11</a:t>
              </a:r>
            </a:p>
          </p:txBody>
        </p:sp>
      </p:grpSp>
      <p:grpSp>
        <p:nvGrpSpPr>
          <p:cNvPr id="583691" name="Group 91"/>
          <p:cNvGrpSpPr>
            <a:grpSpLocks/>
          </p:cNvGrpSpPr>
          <p:nvPr/>
        </p:nvGrpSpPr>
        <p:grpSpPr bwMode="auto">
          <a:xfrm>
            <a:off x="5953744" y="5951910"/>
            <a:ext cx="576263" cy="919163"/>
            <a:chOff x="0" y="0"/>
            <a:chExt cx="363" cy="579"/>
          </a:xfrm>
        </p:grpSpPr>
        <p:sp>
          <p:nvSpPr>
            <p:cNvPr id="583698" name="Rectangle 92"/>
            <p:cNvSpPr>
              <a:spLocks noChangeArrowheads="1"/>
            </p:cNvSpPr>
            <p:nvPr/>
          </p:nvSpPr>
          <p:spPr bwMode="auto">
            <a:xfrm>
              <a:off x="0" y="352"/>
              <a:ext cx="363"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Mid</a:t>
              </a:r>
            </a:p>
          </p:txBody>
        </p:sp>
        <p:sp>
          <p:nvSpPr>
            <p:cNvPr id="583699" name="Line 93"/>
            <p:cNvSpPr>
              <a:spLocks noChangeShapeType="1"/>
            </p:cNvSpPr>
            <p:nvPr/>
          </p:nvSpPr>
          <p:spPr bwMode="auto">
            <a:xfrm flipV="1">
              <a:off x="192" y="0"/>
              <a:ext cx="0" cy="340"/>
            </a:xfrm>
            <a:prstGeom prst="line">
              <a:avLst/>
            </a:prstGeom>
            <a:noFill/>
            <a:ln w="2857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583692" name="Group 94"/>
          <p:cNvGrpSpPr>
            <a:grpSpLocks/>
          </p:cNvGrpSpPr>
          <p:nvPr/>
        </p:nvGrpSpPr>
        <p:grpSpPr bwMode="auto">
          <a:xfrm>
            <a:off x="5776291" y="5931272"/>
            <a:ext cx="647700" cy="677863"/>
            <a:chOff x="0" y="0"/>
            <a:chExt cx="408" cy="427"/>
          </a:xfrm>
        </p:grpSpPr>
        <p:sp>
          <p:nvSpPr>
            <p:cNvPr id="583696" name="Rectangle 95"/>
            <p:cNvSpPr>
              <a:spLocks noChangeArrowheads="1"/>
            </p:cNvSpPr>
            <p:nvPr/>
          </p:nvSpPr>
          <p:spPr bwMode="auto">
            <a:xfrm>
              <a:off x="0" y="200"/>
              <a:ext cx="408"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High</a:t>
              </a:r>
            </a:p>
          </p:txBody>
        </p:sp>
        <p:sp>
          <p:nvSpPr>
            <p:cNvPr id="583697" name="Line 96"/>
            <p:cNvSpPr>
              <a:spLocks noChangeShapeType="1"/>
            </p:cNvSpPr>
            <p:nvPr/>
          </p:nvSpPr>
          <p:spPr bwMode="auto">
            <a:xfrm flipV="1">
              <a:off x="240" y="0"/>
              <a:ext cx="0" cy="22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583693" name="Group 97"/>
          <p:cNvGrpSpPr>
            <a:grpSpLocks/>
          </p:cNvGrpSpPr>
          <p:nvPr/>
        </p:nvGrpSpPr>
        <p:grpSpPr bwMode="auto">
          <a:xfrm>
            <a:off x="5166691" y="5956672"/>
            <a:ext cx="647700" cy="627063"/>
            <a:chOff x="0" y="0"/>
            <a:chExt cx="408" cy="395"/>
          </a:xfrm>
        </p:grpSpPr>
        <p:sp>
          <p:nvSpPr>
            <p:cNvPr id="583694" name="Rectangle 98"/>
            <p:cNvSpPr>
              <a:spLocks noChangeArrowheads="1"/>
            </p:cNvSpPr>
            <p:nvPr/>
          </p:nvSpPr>
          <p:spPr bwMode="auto">
            <a:xfrm>
              <a:off x="0" y="168"/>
              <a:ext cx="408"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Low</a:t>
              </a:r>
            </a:p>
          </p:txBody>
        </p:sp>
        <p:sp>
          <p:nvSpPr>
            <p:cNvPr id="583695" name="Line 99"/>
            <p:cNvSpPr>
              <a:spLocks noChangeShapeType="1"/>
            </p:cNvSpPr>
            <p:nvPr/>
          </p:nvSpPr>
          <p:spPr bwMode="auto">
            <a:xfrm flipV="1">
              <a:off x="272" y="0"/>
              <a:ext cx="0" cy="22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2" name="灯片编号占位符 1"/>
          <p:cNvSpPr>
            <a:spLocks noGrp="1"/>
          </p:cNvSpPr>
          <p:nvPr>
            <p:ph type="sldNum" sz="quarter" idx="12"/>
          </p:nvPr>
        </p:nvSpPr>
        <p:spPr>
          <a:xfrm>
            <a:off x="8750469" y="6478972"/>
            <a:ext cx="395536" cy="365125"/>
          </a:xfrm>
        </p:spPr>
        <p:txBody>
          <a:bodyPr/>
          <a:lstStyle/>
          <a:p>
            <a:fld id="{0C913308-F349-4B6D-A68A-DD1791B4A57B}" type="slidenum">
              <a:rPr lang="zh-CN" altLang="en-US" smtClean="0"/>
              <a:pPr/>
              <a:t>16</a:t>
            </a:fld>
            <a:endParaRPr lang="zh-CN" altLang="en-US"/>
          </a:p>
        </p:txBody>
      </p:sp>
      <p:sp>
        <p:nvSpPr>
          <p:cNvPr id="99" name="标题 2"/>
          <p:cNvSpPr txBox="1">
            <a:spLocks/>
          </p:cNvSpPr>
          <p:nvPr/>
        </p:nvSpPr>
        <p:spPr>
          <a:xfrm>
            <a:off x="107504" y="0"/>
            <a:ext cx="8229600" cy="61021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000" kern="1200">
                <a:solidFill>
                  <a:schemeClr val="tx1"/>
                </a:solidFill>
                <a:latin typeface="+mn-lt"/>
                <a:ea typeface="宋体" panose="02010600030101010101" pitchFamily="2" charset="-122"/>
                <a:cs typeface="+mj-cs"/>
              </a:defRPr>
            </a:lvl1pPr>
          </a:lstStyle>
          <a:p>
            <a:pPr algn="l"/>
            <a:r>
              <a:rPr lang="zh-CN" altLang="en-US" sz="3200" dirty="0">
                <a:latin typeface="华文新魏" panose="02010800040101010101" pitchFamily="2" charset="-122"/>
                <a:ea typeface="华文新魏" panose="02010800040101010101" pitchFamily="2" charset="-122"/>
              </a:rPr>
              <a:t>折半（二分）查找</a:t>
            </a:r>
            <a:r>
              <a:rPr lang="en-US" altLang="zh-CN" sz="3200" dirty="0">
                <a:latin typeface="华文新魏" panose="02010800040101010101" pitchFamily="2" charset="-122"/>
                <a:ea typeface="华文新魏" panose="02010800040101010101" pitchFamily="2" charset="-122"/>
              </a:rPr>
              <a:t>- </a:t>
            </a:r>
            <a:r>
              <a:rPr lang="en-US" altLang="en-US" sz="3200" dirty="0" err="1">
                <a:latin typeface="华文新魏" panose="02010800040101010101" pitchFamily="2" charset="-122"/>
                <a:ea typeface="华文新魏" panose="02010800040101010101" pitchFamily="2" charset="-122"/>
              </a:rPr>
              <a:t>算法</a:t>
            </a:r>
            <a:r>
              <a:rPr lang="zh-CN" altLang="en-US" sz="3200" dirty="0">
                <a:latin typeface="华文新魏" panose="02010800040101010101" pitchFamily="2" charset="-122"/>
                <a:ea typeface="华文新魏" panose="02010800040101010101" pitchFamily="2" charset="-122"/>
              </a:rPr>
              <a:t>运行实例</a:t>
            </a:r>
            <a:r>
              <a:rPr lang="en-US" altLang="zh-CN" sz="3200" dirty="0">
                <a:latin typeface="华文新魏" panose="02010800040101010101" pitchFamily="2" charset="-122"/>
                <a:ea typeface="华文新魏" panose="02010800040101010101" pitchFamily="2" charset="-122"/>
              </a:rPr>
              <a:t>II</a:t>
            </a:r>
            <a:endParaRPr lang="zh-CN" altLang="en-US" sz="3200" dirty="0">
              <a:latin typeface="华文新魏" panose="02010800040101010101" pitchFamily="2" charset="-122"/>
              <a:ea typeface="华文新魏" panose="02010800040101010101" pitchFamily="2" charset="-122"/>
            </a:endParaRPr>
          </a:p>
        </p:txBody>
      </p:sp>
      <p:sp>
        <p:nvSpPr>
          <p:cNvPr id="5" name="文本框 4"/>
          <p:cNvSpPr txBox="1"/>
          <p:nvPr/>
        </p:nvSpPr>
        <p:spPr>
          <a:xfrm>
            <a:off x="265870" y="1339368"/>
            <a:ext cx="461665" cy="3094892"/>
          </a:xfrm>
          <a:prstGeom prst="rect">
            <a:avLst/>
          </a:prstGeom>
          <a:noFill/>
        </p:spPr>
        <p:txBody>
          <a:bodyPr vert="eaVert" wrap="square" rtlCol="0">
            <a:spAutoFit/>
          </a:bodyPr>
          <a:lstStyle/>
          <a:p>
            <a:r>
              <a:rPr lang="zh-CN" altLang="en-US" b="1" dirty="0">
                <a:latin typeface="华文楷体" panose="02010600040101010101" pitchFamily="2" charset="-122"/>
                <a:ea typeface="华文楷体" panose="02010600040101010101" pitchFamily="2" charset="-122"/>
              </a:rPr>
              <a:t>（</a:t>
            </a:r>
            <a:r>
              <a:rPr lang="en-US" altLang="en-US" b="1" dirty="0">
                <a:latin typeface="华文楷体" panose="02010600040101010101" pitchFamily="2" charset="-122"/>
                <a:ea typeface="华文楷体" panose="02010600040101010101" pitchFamily="2" charset="-122"/>
              </a:rPr>
              <a:t>b)  </a:t>
            </a:r>
            <a:r>
              <a:rPr lang="zh-CN" altLang="en-US" b="1" dirty="0">
                <a:latin typeface="华文楷体" panose="02010600040101010101" pitchFamily="2" charset="-122"/>
                <a:ea typeface="华文楷体" panose="02010600040101010101" pitchFamily="2" charset="-122"/>
              </a:rPr>
              <a:t>查找不成功示例</a:t>
            </a:r>
            <a:endParaRPr lang="zh-CN" altLang="en-US" dirty="0"/>
          </a:p>
        </p:txBody>
      </p:sp>
    </p:spTree>
    <p:extLst>
      <p:ext uri="{BB962C8B-B14F-4D97-AF65-F5344CB8AC3E}">
        <p14:creationId xmlns:p14="http://schemas.microsoft.com/office/powerpoint/2010/main" val="3576135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368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37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376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8376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837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8373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8373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8373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837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837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8371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8371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8369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8369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8369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836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68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460" name="Text Box 4"/>
          <p:cNvSpPr txBox="1">
            <a:spLocks noChangeArrowheads="1"/>
          </p:cNvSpPr>
          <p:nvPr/>
        </p:nvSpPr>
        <p:spPr bwMode="auto">
          <a:xfrm>
            <a:off x="228600" y="782960"/>
            <a:ext cx="8229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2400" dirty="0" err="1">
                <a:latin typeface="Times New Roman" panose="02020603050405020304" pitchFamily="18" charset="0"/>
                <a:ea typeface="楷体_GB2312" pitchFamily="49" charset="-122"/>
                <a:cs typeface="Times New Roman" panose="02020603050405020304" pitchFamily="18" charset="0"/>
              </a:rPr>
              <a:t>ST.length</a:t>
            </a:r>
            <a:r>
              <a:rPr kumimoji="1" lang="en-US" altLang="zh-CN" sz="2400" dirty="0">
                <a:latin typeface="Times New Roman" panose="02020603050405020304" pitchFamily="18" charset="0"/>
                <a:ea typeface="楷体_GB2312" pitchFamily="49" charset="-122"/>
                <a:cs typeface="Times New Roman" panose="02020603050405020304" pitchFamily="18" charset="0"/>
              </a:rPr>
              <a:t>=11</a:t>
            </a:r>
            <a:endParaRPr kumimoji="1" lang="en-US" altLang="zh-CN" sz="2400" dirty="0">
              <a:latin typeface="Times New Roman" panose="02020603050405020304" pitchFamily="18" charset="0"/>
              <a:cs typeface="Times New Roman" panose="02020603050405020304" pitchFamily="18" charset="0"/>
            </a:endParaRPr>
          </a:p>
        </p:txBody>
      </p:sp>
      <p:grpSp>
        <p:nvGrpSpPr>
          <p:cNvPr id="3" name="组合 2"/>
          <p:cNvGrpSpPr/>
          <p:nvPr/>
        </p:nvGrpSpPr>
        <p:grpSpPr>
          <a:xfrm>
            <a:off x="228600" y="3112839"/>
            <a:ext cx="8610600" cy="3048000"/>
            <a:chOff x="228600" y="3501008"/>
            <a:chExt cx="8610600" cy="3048000"/>
          </a:xfrm>
        </p:grpSpPr>
        <p:sp>
          <p:nvSpPr>
            <p:cNvPr id="531462" name="Oval 6"/>
            <p:cNvSpPr>
              <a:spLocks noChangeArrowheads="1"/>
            </p:cNvSpPr>
            <p:nvPr/>
          </p:nvSpPr>
          <p:spPr bwMode="auto">
            <a:xfrm>
              <a:off x="4267200" y="3501008"/>
              <a:ext cx="609600" cy="533400"/>
            </a:xfrm>
            <a:prstGeom prst="ellipse">
              <a:avLst/>
            </a:prstGeom>
            <a:solidFill>
              <a:srgbClr val="CCFFCC"/>
            </a:solidFill>
            <a:ln>
              <a:noFill/>
            </a:ln>
            <a:effectLst/>
            <a:extLst>
              <a:ext uri="{91240B29-F687-4F45-9708-019B960494DF}">
                <a14:hiddenLine xmlns:a14="http://schemas.microsoft.com/office/drawing/2010/main" w="38100" cap="sq">
                  <a:solidFill>
                    <a:srgbClr val="008080"/>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b="1" dirty="0">
                  <a:solidFill>
                    <a:srgbClr val="006600"/>
                  </a:solidFill>
                  <a:latin typeface="Times New Roman" panose="02020603050405020304" pitchFamily="18" charset="0"/>
                </a:rPr>
                <a:t>6</a:t>
              </a:r>
              <a:endParaRPr kumimoji="1" lang="en-US" altLang="zh-CN" sz="2400" dirty="0">
                <a:latin typeface="Times New Roman" panose="02020603050405020304" pitchFamily="18" charset="0"/>
              </a:endParaRPr>
            </a:p>
          </p:txBody>
        </p:sp>
        <p:sp>
          <p:nvSpPr>
            <p:cNvPr id="531463" name="Oval 7"/>
            <p:cNvSpPr>
              <a:spLocks noChangeArrowheads="1"/>
            </p:cNvSpPr>
            <p:nvPr/>
          </p:nvSpPr>
          <p:spPr bwMode="auto">
            <a:xfrm>
              <a:off x="1295400" y="3958208"/>
              <a:ext cx="609600" cy="533400"/>
            </a:xfrm>
            <a:prstGeom prst="ellipse">
              <a:avLst/>
            </a:prstGeom>
            <a:solidFill>
              <a:schemeClr val="hlink"/>
            </a:solidFill>
            <a:ln>
              <a:noFill/>
            </a:ln>
            <a:effectLst/>
            <a:extLst>
              <a:ext uri="{91240B29-F687-4F45-9708-019B960494DF}">
                <a14:hiddenLine xmlns:a14="http://schemas.microsoft.com/office/drawing/2010/main" w="38100" cap="sq">
                  <a:solidFill>
                    <a:srgbClr val="008080"/>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b="1" dirty="0">
                  <a:solidFill>
                    <a:schemeClr val="accent2"/>
                  </a:solidFill>
                  <a:latin typeface="Times New Roman" panose="02020603050405020304" pitchFamily="18" charset="0"/>
                </a:rPr>
                <a:t>3</a:t>
              </a:r>
              <a:endParaRPr kumimoji="1" lang="en-US" altLang="zh-CN" sz="2400" dirty="0">
                <a:latin typeface="Times New Roman" panose="02020603050405020304" pitchFamily="18" charset="0"/>
              </a:endParaRPr>
            </a:p>
          </p:txBody>
        </p:sp>
        <p:sp>
          <p:nvSpPr>
            <p:cNvPr id="531464" name="Oval 8"/>
            <p:cNvSpPr>
              <a:spLocks noChangeArrowheads="1"/>
            </p:cNvSpPr>
            <p:nvPr/>
          </p:nvSpPr>
          <p:spPr bwMode="auto">
            <a:xfrm>
              <a:off x="6400800" y="3958208"/>
              <a:ext cx="609600" cy="533400"/>
            </a:xfrm>
            <a:prstGeom prst="ellipse">
              <a:avLst/>
            </a:prstGeom>
            <a:solidFill>
              <a:schemeClr val="hlink"/>
            </a:solidFill>
            <a:ln>
              <a:noFill/>
            </a:ln>
            <a:effectLst/>
            <a:extLst>
              <a:ext uri="{91240B29-F687-4F45-9708-019B960494DF}">
                <a14:hiddenLine xmlns:a14="http://schemas.microsoft.com/office/drawing/2010/main" w="38100" cap="sq">
                  <a:solidFill>
                    <a:srgbClr val="008080"/>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b="1" dirty="0">
                  <a:solidFill>
                    <a:schemeClr val="accent2"/>
                  </a:solidFill>
                  <a:latin typeface="Times New Roman" panose="02020603050405020304" pitchFamily="18" charset="0"/>
                </a:rPr>
                <a:t>9</a:t>
              </a:r>
              <a:endParaRPr kumimoji="1" lang="en-US" altLang="zh-CN" sz="2400" b="1" dirty="0">
                <a:latin typeface="Times New Roman" panose="02020603050405020304" pitchFamily="18" charset="0"/>
              </a:endParaRPr>
            </a:p>
          </p:txBody>
        </p:sp>
        <p:sp>
          <p:nvSpPr>
            <p:cNvPr id="531465" name="Oval 9"/>
            <p:cNvSpPr>
              <a:spLocks noChangeArrowheads="1"/>
            </p:cNvSpPr>
            <p:nvPr/>
          </p:nvSpPr>
          <p:spPr bwMode="auto">
            <a:xfrm>
              <a:off x="381000" y="4567808"/>
              <a:ext cx="609600" cy="533400"/>
            </a:xfrm>
            <a:prstGeom prst="ellipse">
              <a:avLst/>
            </a:prstGeom>
            <a:solidFill>
              <a:srgbClr val="FF99FF"/>
            </a:solidFill>
            <a:ln>
              <a:noFill/>
            </a:ln>
            <a:effectLst/>
            <a:extLst>
              <a:ext uri="{91240B29-F687-4F45-9708-019B960494DF}">
                <a14:hiddenLine xmlns:a14="http://schemas.microsoft.com/office/drawing/2010/main" w="38100" cap="sq">
                  <a:solidFill>
                    <a:srgbClr val="008080"/>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b="1" dirty="0">
                  <a:solidFill>
                    <a:srgbClr val="800080"/>
                  </a:solidFill>
                  <a:latin typeface="Times New Roman" panose="02020603050405020304" pitchFamily="18" charset="0"/>
                </a:rPr>
                <a:t>1</a:t>
              </a:r>
              <a:endParaRPr kumimoji="1" lang="en-US" altLang="zh-CN" sz="2400" dirty="0">
                <a:solidFill>
                  <a:srgbClr val="800080"/>
                </a:solidFill>
                <a:latin typeface="Times New Roman" panose="02020603050405020304" pitchFamily="18" charset="0"/>
              </a:endParaRPr>
            </a:p>
          </p:txBody>
        </p:sp>
        <p:sp>
          <p:nvSpPr>
            <p:cNvPr id="531466" name="Oval 10"/>
            <p:cNvSpPr>
              <a:spLocks noChangeArrowheads="1"/>
            </p:cNvSpPr>
            <p:nvPr/>
          </p:nvSpPr>
          <p:spPr bwMode="auto">
            <a:xfrm>
              <a:off x="2286000" y="4491608"/>
              <a:ext cx="609600" cy="533400"/>
            </a:xfrm>
            <a:prstGeom prst="ellipse">
              <a:avLst/>
            </a:prstGeom>
            <a:solidFill>
              <a:srgbClr val="FF99FF"/>
            </a:solidFill>
            <a:ln>
              <a:noFill/>
            </a:ln>
            <a:effectLst/>
            <a:extLst>
              <a:ext uri="{91240B29-F687-4F45-9708-019B960494DF}">
                <a14:hiddenLine xmlns:a14="http://schemas.microsoft.com/office/drawing/2010/main" w="38100" cap="sq">
                  <a:solidFill>
                    <a:srgbClr val="008080"/>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b="1" dirty="0">
                  <a:solidFill>
                    <a:srgbClr val="800080"/>
                  </a:solidFill>
                  <a:latin typeface="Times New Roman" panose="02020603050405020304" pitchFamily="18" charset="0"/>
                </a:rPr>
                <a:t>4</a:t>
              </a:r>
              <a:endParaRPr kumimoji="1" lang="en-US" altLang="zh-CN" sz="2400" dirty="0">
                <a:solidFill>
                  <a:srgbClr val="800080"/>
                </a:solidFill>
                <a:latin typeface="Times New Roman" panose="02020603050405020304" pitchFamily="18" charset="0"/>
              </a:endParaRPr>
            </a:p>
          </p:txBody>
        </p:sp>
        <p:sp>
          <p:nvSpPr>
            <p:cNvPr id="531467" name="Rectangle 11"/>
            <p:cNvSpPr>
              <a:spLocks noChangeArrowheads="1"/>
            </p:cNvSpPr>
            <p:nvPr/>
          </p:nvSpPr>
          <p:spPr bwMode="auto">
            <a:xfrm>
              <a:off x="228600" y="5634608"/>
              <a:ext cx="304800" cy="4572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68" name="Rectangle 12"/>
            <p:cNvSpPr>
              <a:spLocks noChangeArrowheads="1"/>
            </p:cNvSpPr>
            <p:nvPr/>
          </p:nvSpPr>
          <p:spPr bwMode="auto">
            <a:xfrm>
              <a:off x="1066800" y="6091808"/>
              <a:ext cx="304800" cy="4572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69" name="Rectangle 13"/>
            <p:cNvSpPr>
              <a:spLocks noChangeArrowheads="1"/>
            </p:cNvSpPr>
            <p:nvPr/>
          </p:nvSpPr>
          <p:spPr bwMode="auto">
            <a:xfrm>
              <a:off x="1828800" y="6091808"/>
              <a:ext cx="304800" cy="4572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70" name="Rectangle 14"/>
            <p:cNvSpPr>
              <a:spLocks noChangeArrowheads="1"/>
            </p:cNvSpPr>
            <p:nvPr/>
          </p:nvSpPr>
          <p:spPr bwMode="auto">
            <a:xfrm>
              <a:off x="2362200" y="5406008"/>
              <a:ext cx="304800" cy="4572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71" name="Rectangle 15"/>
            <p:cNvSpPr>
              <a:spLocks noChangeArrowheads="1"/>
            </p:cNvSpPr>
            <p:nvPr/>
          </p:nvSpPr>
          <p:spPr bwMode="auto">
            <a:xfrm>
              <a:off x="3124200" y="6091808"/>
              <a:ext cx="304800" cy="4572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72" name="Rectangle 16"/>
            <p:cNvSpPr>
              <a:spLocks noChangeArrowheads="1"/>
            </p:cNvSpPr>
            <p:nvPr/>
          </p:nvSpPr>
          <p:spPr bwMode="auto">
            <a:xfrm>
              <a:off x="3886200" y="6091808"/>
              <a:ext cx="304800" cy="4572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73" name="Rectangle 17"/>
            <p:cNvSpPr>
              <a:spLocks noChangeArrowheads="1"/>
            </p:cNvSpPr>
            <p:nvPr/>
          </p:nvSpPr>
          <p:spPr bwMode="auto">
            <a:xfrm>
              <a:off x="4572000" y="5406008"/>
              <a:ext cx="304800" cy="4572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74" name="Rectangle 18"/>
            <p:cNvSpPr>
              <a:spLocks noChangeArrowheads="1"/>
            </p:cNvSpPr>
            <p:nvPr/>
          </p:nvSpPr>
          <p:spPr bwMode="auto">
            <a:xfrm>
              <a:off x="5410200" y="6091808"/>
              <a:ext cx="304800" cy="4572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75" name="Rectangle 19"/>
            <p:cNvSpPr>
              <a:spLocks noChangeArrowheads="1"/>
            </p:cNvSpPr>
            <p:nvPr/>
          </p:nvSpPr>
          <p:spPr bwMode="auto">
            <a:xfrm>
              <a:off x="6172200" y="6091808"/>
              <a:ext cx="304800" cy="4572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76" name="Rectangle 20"/>
            <p:cNvSpPr>
              <a:spLocks noChangeArrowheads="1"/>
            </p:cNvSpPr>
            <p:nvPr/>
          </p:nvSpPr>
          <p:spPr bwMode="auto">
            <a:xfrm>
              <a:off x="6934200" y="5406008"/>
              <a:ext cx="304800" cy="4572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77" name="Rectangle 21"/>
            <p:cNvSpPr>
              <a:spLocks noChangeArrowheads="1"/>
            </p:cNvSpPr>
            <p:nvPr/>
          </p:nvSpPr>
          <p:spPr bwMode="auto">
            <a:xfrm>
              <a:off x="7848600" y="6091808"/>
              <a:ext cx="304800" cy="4572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78" name="Rectangle 22"/>
            <p:cNvSpPr>
              <a:spLocks noChangeArrowheads="1"/>
            </p:cNvSpPr>
            <p:nvPr/>
          </p:nvSpPr>
          <p:spPr bwMode="auto">
            <a:xfrm>
              <a:off x="8534400" y="6091808"/>
              <a:ext cx="304800" cy="4572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79" name="Oval 23"/>
            <p:cNvSpPr>
              <a:spLocks noChangeArrowheads="1"/>
            </p:cNvSpPr>
            <p:nvPr/>
          </p:nvSpPr>
          <p:spPr bwMode="auto">
            <a:xfrm>
              <a:off x="1295400" y="5253608"/>
              <a:ext cx="609600" cy="533400"/>
            </a:xfrm>
            <a:prstGeom prst="ellipse">
              <a:avLst/>
            </a:prstGeom>
            <a:solidFill>
              <a:srgbClr val="9D9DFF"/>
            </a:solidFill>
            <a:ln>
              <a:noFill/>
            </a:ln>
            <a:effectLst/>
            <a:extLst>
              <a:ext uri="{91240B29-F687-4F45-9708-019B960494DF}">
                <a14:hiddenLine xmlns:a14="http://schemas.microsoft.com/office/drawing/2010/main" w="38100" cap="sq">
                  <a:solidFill>
                    <a:srgbClr val="008080"/>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b="1" dirty="0">
                  <a:latin typeface="Times New Roman" panose="02020603050405020304" pitchFamily="18" charset="0"/>
                </a:rPr>
                <a:t>2</a:t>
              </a:r>
              <a:endParaRPr kumimoji="1" lang="en-US" altLang="zh-CN" sz="2400" dirty="0">
                <a:latin typeface="Times New Roman" panose="02020603050405020304" pitchFamily="18" charset="0"/>
              </a:endParaRPr>
            </a:p>
          </p:txBody>
        </p:sp>
        <p:sp>
          <p:nvSpPr>
            <p:cNvPr id="531480" name="Oval 24"/>
            <p:cNvSpPr>
              <a:spLocks noChangeArrowheads="1"/>
            </p:cNvSpPr>
            <p:nvPr/>
          </p:nvSpPr>
          <p:spPr bwMode="auto">
            <a:xfrm>
              <a:off x="3352800" y="5177408"/>
              <a:ext cx="609600" cy="533400"/>
            </a:xfrm>
            <a:prstGeom prst="ellipse">
              <a:avLst/>
            </a:prstGeom>
            <a:solidFill>
              <a:srgbClr val="9D9DFF"/>
            </a:solidFill>
            <a:ln>
              <a:noFill/>
            </a:ln>
            <a:effectLst/>
            <a:extLst>
              <a:ext uri="{91240B29-F687-4F45-9708-019B960494DF}">
                <a14:hiddenLine xmlns:a14="http://schemas.microsoft.com/office/drawing/2010/main" w="38100" cap="sq">
                  <a:solidFill>
                    <a:srgbClr val="008080"/>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b="1" dirty="0">
                  <a:latin typeface="Times New Roman" panose="02020603050405020304" pitchFamily="18" charset="0"/>
                </a:rPr>
                <a:t>5</a:t>
              </a:r>
              <a:endParaRPr kumimoji="1" lang="en-US" altLang="zh-CN" sz="2400" dirty="0">
                <a:latin typeface="Times New Roman" panose="02020603050405020304" pitchFamily="18" charset="0"/>
              </a:endParaRPr>
            </a:p>
          </p:txBody>
        </p:sp>
        <p:sp>
          <p:nvSpPr>
            <p:cNvPr id="531481" name="Oval 25"/>
            <p:cNvSpPr>
              <a:spLocks noChangeArrowheads="1"/>
            </p:cNvSpPr>
            <p:nvPr/>
          </p:nvSpPr>
          <p:spPr bwMode="auto">
            <a:xfrm>
              <a:off x="4953000" y="4491608"/>
              <a:ext cx="609600" cy="533400"/>
            </a:xfrm>
            <a:prstGeom prst="ellipse">
              <a:avLst/>
            </a:prstGeom>
            <a:solidFill>
              <a:srgbClr val="FF99FF"/>
            </a:solidFill>
            <a:ln>
              <a:noFill/>
            </a:ln>
            <a:effectLst/>
            <a:extLst>
              <a:ext uri="{91240B29-F687-4F45-9708-019B960494DF}">
                <a14:hiddenLine xmlns:a14="http://schemas.microsoft.com/office/drawing/2010/main" w="38100" cap="sq">
                  <a:solidFill>
                    <a:srgbClr val="008080"/>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b="1" dirty="0">
                  <a:solidFill>
                    <a:srgbClr val="800080"/>
                  </a:solidFill>
                  <a:latin typeface="Times New Roman" panose="02020603050405020304" pitchFamily="18" charset="0"/>
                </a:rPr>
                <a:t>7</a:t>
              </a:r>
              <a:endParaRPr kumimoji="1" lang="en-US" altLang="zh-CN" sz="2400" dirty="0">
                <a:solidFill>
                  <a:srgbClr val="800080"/>
                </a:solidFill>
                <a:latin typeface="Times New Roman" panose="02020603050405020304" pitchFamily="18" charset="0"/>
              </a:endParaRPr>
            </a:p>
          </p:txBody>
        </p:sp>
        <p:sp>
          <p:nvSpPr>
            <p:cNvPr id="531482" name="Oval 26"/>
            <p:cNvSpPr>
              <a:spLocks noChangeArrowheads="1"/>
            </p:cNvSpPr>
            <p:nvPr/>
          </p:nvSpPr>
          <p:spPr bwMode="auto">
            <a:xfrm>
              <a:off x="5638800" y="5177408"/>
              <a:ext cx="609600" cy="533400"/>
            </a:xfrm>
            <a:prstGeom prst="ellipse">
              <a:avLst/>
            </a:prstGeom>
            <a:solidFill>
              <a:srgbClr val="9D9DFF"/>
            </a:solidFill>
            <a:ln>
              <a:noFill/>
            </a:ln>
            <a:effectLst/>
            <a:extLst>
              <a:ext uri="{91240B29-F687-4F45-9708-019B960494DF}">
                <a14:hiddenLine xmlns:a14="http://schemas.microsoft.com/office/drawing/2010/main" w="38100" cap="sq">
                  <a:solidFill>
                    <a:srgbClr val="008080"/>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b="1" dirty="0">
                  <a:latin typeface="Times New Roman" panose="02020603050405020304" pitchFamily="18" charset="0"/>
                </a:rPr>
                <a:t>8</a:t>
              </a:r>
              <a:endParaRPr kumimoji="1" lang="en-US" altLang="zh-CN" sz="2400" dirty="0">
                <a:latin typeface="Times New Roman" panose="02020603050405020304" pitchFamily="18" charset="0"/>
              </a:endParaRPr>
            </a:p>
          </p:txBody>
        </p:sp>
        <p:sp>
          <p:nvSpPr>
            <p:cNvPr id="531483" name="Oval 27"/>
            <p:cNvSpPr>
              <a:spLocks noChangeArrowheads="1"/>
            </p:cNvSpPr>
            <p:nvPr/>
          </p:nvSpPr>
          <p:spPr bwMode="auto">
            <a:xfrm>
              <a:off x="7315200" y="4567808"/>
              <a:ext cx="609600" cy="533400"/>
            </a:xfrm>
            <a:prstGeom prst="ellipse">
              <a:avLst/>
            </a:prstGeom>
            <a:solidFill>
              <a:srgbClr val="FF99FF"/>
            </a:solidFill>
            <a:ln>
              <a:noFill/>
            </a:ln>
            <a:effectLst/>
            <a:extLst>
              <a:ext uri="{91240B29-F687-4F45-9708-019B960494DF}">
                <a14:hiddenLine xmlns:a14="http://schemas.microsoft.com/office/drawing/2010/main" w="38100" cap="sq">
                  <a:solidFill>
                    <a:srgbClr val="008080"/>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b="1" dirty="0">
                  <a:solidFill>
                    <a:srgbClr val="800080"/>
                  </a:solidFill>
                  <a:latin typeface="Times New Roman" panose="02020603050405020304" pitchFamily="18" charset="0"/>
                </a:rPr>
                <a:t>10</a:t>
              </a:r>
              <a:endParaRPr kumimoji="1" lang="en-US" altLang="zh-CN" sz="2400" dirty="0">
                <a:solidFill>
                  <a:srgbClr val="800080"/>
                </a:solidFill>
                <a:latin typeface="Times New Roman" panose="02020603050405020304" pitchFamily="18" charset="0"/>
              </a:endParaRPr>
            </a:p>
          </p:txBody>
        </p:sp>
        <p:sp>
          <p:nvSpPr>
            <p:cNvPr id="531484" name="Oval 28"/>
            <p:cNvSpPr>
              <a:spLocks noChangeArrowheads="1"/>
            </p:cNvSpPr>
            <p:nvPr/>
          </p:nvSpPr>
          <p:spPr bwMode="auto">
            <a:xfrm>
              <a:off x="8001000" y="5253608"/>
              <a:ext cx="609600" cy="533400"/>
            </a:xfrm>
            <a:prstGeom prst="ellipse">
              <a:avLst/>
            </a:prstGeom>
            <a:solidFill>
              <a:srgbClr val="9D9DFF"/>
            </a:solidFill>
            <a:ln>
              <a:noFill/>
            </a:ln>
            <a:effectLst/>
            <a:extLst>
              <a:ext uri="{91240B29-F687-4F45-9708-019B960494DF}">
                <a14:hiddenLine xmlns:a14="http://schemas.microsoft.com/office/drawing/2010/main" w="38100" cap="sq">
                  <a:solidFill>
                    <a:srgbClr val="008080"/>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b="1" dirty="0">
                  <a:latin typeface="Times New Roman" panose="02020603050405020304" pitchFamily="18" charset="0"/>
                </a:rPr>
                <a:t>11</a:t>
              </a:r>
              <a:endParaRPr kumimoji="1" lang="en-US" altLang="zh-CN" sz="2400" dirty="0">
                <a:latin typeface="Times New Roman" panose="02020603050405020304" pitchFamily="18" charset="0"/>
              </a:endParaRPr>
            </a:p>
          </p:txBody>
        </p:sp>
        <p:sp>
          <p:nvSpPr>
            <p:cNvPr id="531485" name="Line 29"/>
            <p:cNvSpPr>
              <a:spLocks noChangeShapeType="1"/>
            </p:cNvSpPr>
            <p:nvPr/>
          </p:nvSpPr>
          <p:spPr bwMode="auto">
            <a:xfrm flipH="1">
              <a:off x="1905000" y="3805808"/>
              <a:ext cx="2286000" cy="381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86" name="Line 30"/>
            <p:cNvSpPr>
              <a:spLocks noChangeShapeType="1"/>
            </p:cNvSpPr>
            <p:nvPr/>
          </p:nvSpPr>
          <p:spPr bwMode="auto">
            <a:xfrm>
              <a:off x="4953000" y="3805808"/>
              <a:ext cx="1524000" cy="2286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87" name="Line 31"/>
            <p:cNvSpPr>
              <a:spLocks noChangeShapeType="1"/>
            </p:cNvSpPr>
            <p:nvPr/>
          </p:nvSpPr>
          <p:spPr bwMode="auto">
            <a:xfrm flipH="1">
              <a:off x="914400" y="4415408"/>
              <a:ext cx="381000" cy="228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88" name="Line 32"/>
            <p:cNvSpPr>
              <a:spLocks noChangeShapeType="1"/>
            </p:cNvSpPr>
            <p:nvPr/>
          </p:nvSpPr>
          <p:spPr bwMode="auto">
            <a:xfrm flipH="1">
              <a:off x="381000" y="5101208"/>
              <a:ext cx="152400" cy="533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89" name="Line 33"/>
            <p:cNvSpPr>
              <a:spLocks noChangeShapeType="1"/>
            </p:cNvSpPr>
            <p:nvPr/>
          </p:nvSpPr>
          <p:spPr bwMode="auto">
            <a:xfrm>
              <a:off x="990600" y="4948808"/>
              <a:ext cx="381000" cy="381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90" name="Line 34"/>
            <p:cNvSpPr>
              <a:spLocks noChangeShapeType="1"/>
            </p:cNvSpPr>
            <p:nvPr/>
          </p:nvSpPr>
          <p:spPr bwMode="auto">
            <a:xfrm flipH="1">
              <a:off x="1219200" y="5710808"/>
              <a:ext cx="152400" cy="381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91" name="Line 35"/>
            <p:cNvSpPr>
              <a:spLocks noChangeShapeType="1"/>
            </p:cNvSpPr>
            <p:nvPr/>
          </p:nvSpPr>
          <p:spPr bwMode="auto">
            <a:xfrm>
              <a:off x="1828800" y="5710808"/>
              <a:ext cx="152400" cy="381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92" name="Line 36"/>
            <p:cNvSpPr>
              <a:spLocks noChangeShapeType="1"/>
            </p:cNvSpPr>
            <p:nvPr/>
          </p:nvSpPr>
          <p:spPr bwMode="auto">
            <a:xfrm>
              <a:off x="1828800" y="4415408"/>
              <a:ext cx="457200" cy="152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93" name="Line 37"/>
            <p:cNvSpPr>
              <a:spLocks noChangeShapeType="1"/>
            </p:cNvSpPr>
            <p:nvPr/>
          </p:nvSpPr>
          <p:spPr bwMode="auto">
            <a:xfrm>
              <a:off x="2514600" y="5025008"/>
              <a:ext cx="0" cy="381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94" name="Line 38"/>
            <p:cNvSpPr>
              <a:spLocks noChangeShapeType="1"/>
            </p:cNvSpPr>
            <p:nvPr/>
          </p:nvSpPr>
          <p:spPr bwMode="auto">
            <a:xfrm>
              <a:off x="3810000" y="5634608"/>
              <a:ext cx="228600" cy="4572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95" name="Line 39"/>
            <p:cNvSpPr>
              <a:spLocks noChangeShapeType="1"/>
            </p:cNvSpPr>
            <p:nvPr/>
          </p:nvSpPr>
          <p:spPr bwMode="auto">
            <a:xfrm>
              <a:off x="2895600" y="4872608"/>
              <a:ext cx="533400" cy="381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96" name="Line 40"/>
            <p:cNvSpPr>
              <a:spLocks noChangeShapeType="1"/>
            </p:cNvSpPr>
            <p:nvPr/>
          </p:nvSpPr>
          <p:spPr bwMode="auto">
            <a:xfrm flipH="1">
              <a:off x="3276600" y="5634608"/>
              <a:ext cx="152400" cy="4572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97" name="Line 41"/>
            <p:cNvSpPr>
              <a:spLocks noChangeShapeType="1"/>
            </p:cNvSpPr>
            <p:nvPr/>
          </p:nvSpPr>
          <p:spPr bwMode="auto">
            <a:xfrm flipH="1">
              <a:off x="5486400" y="4186808"/>
              <a:ext cx="914400" cy="4572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98" name="Line 42"/>
            <p:cNvSpPr>
              <a:spLocks noChangeShapeType="1"/>
            </p:cNvSpPr>
            <p:nvPr/>
          </p:nvSpPr>
          <p:spPr bwMode="auto">
            <a:xfrm flipH="1">
              <a:off x="4724400" y="4948808"/>
              <a:ext cx="304800" cy="4572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99" name="Line 43"/>
            <p:cNvSpPr>
              <a:spLocks noChangeShapeType="1"/>
            </p:cNvSpPr>
            <p:nvPr/>
          </p:nvSpPr>
          <p:spPr bwMode="auto">
            <a:xfrm>
              <a:off x="5486400" y="4948808"/>
              <a:ext cx="304800" cy="228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500" name="Line 44"/>
            <p:cNvSpPr>
              <a:spLocks noChangeShapeType="1"/>
            </p:cNvSpPr>
            <p:nvPr/>
          </p:nvSpPr>
          <p:spPr bwMode="auto">
            <a:xfrm flipH="1">
              <a:off x="5638800" y="5710808"/>
              <a:ext cx="152400" cy="381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501" name="Line 45"/>
            <p:cNvSpPr>
              <a:spLocks noChangeShapeType="1"/>
            </p:cNvSpPr>
            <p:nvPr/>
          </p:nvSpPr>
          <p:spPr bwMode="auto">
            <a:xfrm>
              <a:off x="6096000" y="5710808"/>
              <a:ext cx="228600" cy="381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502" name="Line 46"/>
            <p:cNvSpPr>
              <a:spLocks noChangeShapeType="1"/>
            </p:cNvSpPr>
            <p:nvPr/>
          </p:nvSpPr>
          <p:spPr bwMode="auto">
            <a:xfrm>
              <a:off x="7010400" y="4263008"/>
              <a:ext cx="533400" cy="304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503" name="Line 47"/>
            <p:cNvSpPr>
              <a:spLocks noChangeShapeType="1"/>
            </p:cNvSpPr>
            <p:nvPr/>
          </p:nvSpPr>
          <p:spPr bwMode="auto">
            <a:xfrm flipH="1">
              <a:off x="7086600" y="5025008"/>
              <a:ext cx="304800" cy="381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504" name="Line 48"/>
            <p:cNvSpPr>
              <a:spLocks noChangeShapeType="1"/>
            </p:cNvSpPr>
            <p:nvPr/>
          </p:nvSpPr>
          <p:spPr bwMode="auto">
            <a:xfrm>
              <a:off x="7924800" y="4948808"/>
              <a:ext cx="304800" cy="304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505" name="Line 49"/>
            <p:cNvSpPr>
              <a:spLocks noChangeShapeType="1"/>
            </p:cNvSpPr>
            <p:nvPr/>
          </p:nvSpPr>
          <p:spPr bwMode="auto">
            <a:xfrm flipH="1">
              <a:off x="8001000" y="5787008"/>
              <a:ext cx="152400" cy="3048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506" name="Line 50"/>
            <p:cNvSpPr>
              <a:spLocks noChangeShapeType="1"/>
            </p:cNvSpPr>
            <p:nvPr/>
          </p:nvSpPr>
          <p:spPr bwMode="auto">
            <a:xfrm>
              <a:off x="8458200" y="5787008"/>
              <a:ext cx="152400" cy="304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31507" name="Text Box 51"/>
          <p:cNvSpPr txBox="1">
            <a:spLocks noChangeArrowheads="1"/>
          </p:cNvSpPr>
          <p:nvPr/>
        </p:nvSpPr>
        <p:spPr bwMode="auto">
          <a:xfrm>
            <a:off x="228600" y="2808039"/>
            <a:ext cx="11079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00006C"/>
                </a:solidFill>
                <a:latin typeface="华文楷体" panose="02010600040101010101" pitchFamily="2" charset="-122"/>
                <a:ea typeface="华文楷体" panose="02010600040101010101" pitchFamily="2" charset="-122"/>
              </a:rPr>
              <a:t>判定树</a:t>
            </a:r>
            <a:endParaRPr kumimoji="1" lang="zh-CN" altLang="en-US" sz="2400" b="1" dirty="0">
              <a:latin typeface="华文楷体" panose="02010600040101010101" pitchFamily="2" charset="-122"/>
              <a:ea typeface="华文楷体" panose="02010600040101010101" pitchFamily="2" charset="-122"/>
            </a:endParaRPr>
          </a:p>
        </p:txBody>
      </p:sp>
      <p:sp>
        <p:nvSpPr>
          <p:cNvPr id="531520" name="Rectangle 64"/>
          <p:cNvSpPr>
            <a:spLocks noGrp="1" noChangeArrowheads="1"/>
          </p:cNvSpPr>
          <p:nvPr>
            <p:ph type="title"/>
          </p:nvPr>
        </p:nvSpPr>
        <p:spPr>
          <a:xfrm>
            <a:off x="62968" y="6476"/>
            <a:ext cx="8229600" cy="647599"/>
          </a:xfrm>
        </p:spPr>
        <p:txBody>
          <a:bodyPr>
            <a:normAutofit fontScale="90000"/>
          </a:bodyPr>
          <a:lstStyle/>
          <a:p>
            <a:pPr algn="l"/>
            <a:r>
              <a:rPr lang="zh-CN" altLang="en-US" dirty="0">
                <a:latin typeface="华文新魏" panose="02010800040101010101" pitchFamily="2" charset="-122"/>
                <a:ea typeface="华文新魏" panose="02010800040101010101" pitchFamily="2" charset="-122"/>
              </a:rPr>
              <a:t>折半（二分）查找</a:t>
            </a:r>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算法分析</a:t>
            </a:r>
            <a:r>
              <a:rPr lang="en-US" altLang="zh-CN" dirty="0">
                <a:latin typeface="华文新魏" panose="02010800040101010101" pitchFamily="2" charset="-122"/>
                <a:ea typeface="华文新魏" panose="02010800040101010101" pitchFamily="2" charset="-122"/>
              </a:rPr>
              <a:t>-I</a:t>
            </a:r>
            <a:endParaRPr lang="zh-CN" altLang="en-US" dirty="0">
              <a:latin typeface="华文新魏" panose="02010800040101010101" pitchFamily="2" charset="-122"/>
              <a:ea typeface="华文新魏" panose="02010800040101010101" pitchFamily="2" charset="-122"/>
            </a:endParaRPr>
          </a:p>
        </p:txBody>
      </p:sp>
      <p:sp>
        <p:nvSpPr>
          <p:cNvPr id="2" name="TextBox 1"/>
          <p:cNvSpPr txBox="1"/>
          <p:nvPr/>
        </p:nvSpPr>
        <p:spPr>
          <a:xfrm>
            <a:off x="7327776" y="3381700"/>
            <a:ext cx="1130424" cy="461665"/>
          </a:xfrm>
          <a:prstGeom prst="rect">
            <a:avLst/>
          </a:prstGeom>
          <a:noFill/>
        </p:spPr>
        <p:txBody>
          <a:bodyPr wrap="square" rtlCol="0">
            <a:spAutoFit/>
          </a:bodyPr>
          <a:lstStyle/>
          <a:p>
            <a:r>
              <a:rPr lang="zh-CN" altLang="en-US" sz="2400" b="1" dirty="0">
                <a:latin typeface="华文楷体" panose="02010600040101010101" pitchFamily="2" charset="-122"/>
                <a:ea typeface="华文楷体" panose="02010600040101010101" pitchFamily="2" charset="-122"/>
              </a:rPr>
              <a:t>内结点</a:t>
            </a:r>
            <a:endParaRPr lang="en-US" b="1" dirty="0">
              <a:latin typeface="华文楷体" panose="02010600040101010101" pitchFamily="2" charset="-122"/>
              <a:ea typeface="华文楷体" panose="02010600040101010101" pitchFamily="2" charset="-122"/>
            </a:endParaRPr>
          </a:p>
        </p:txBody>
      </p:sp>
      <p:sp>
        <p:nvSpPr>
          <p:cNvPr id="64" name="TextBox 63"/>
          <p:cNvSpPr txBox="1"/>
          <p:nvPr/>
        </p:nvSpPr>
        <p:spPr>
          <a:xfrm>
            <a:off x="6682597" y="5703639"/>
            <a:ext cx="1112805" cy="461665"/>
          </a:xfrm>
          <a:prstGeom prst="rect">
            <a:avLst/>
          </a:prstGeom>
          <a:noFill/>
        </p:spPr>
        <p:txBody>
          <a:bodyPr wrap="none" rtlCol="0">
            <a:spAutoFit/>
          </a:bodyPr>
          <a:lstStyle/>
          <a:p>
            <a:r>
              <a:rPr lang="zh-CN" altLang="en-US" sz="2400" b="1" dirty="0">
                <a:latin typeface="华文楷体" panose="02010600040101010101" pitchFamily="2" charset="-122"/>
                <a:ea typeface="华文楷体" panose="02010600040101010101" pitchFamily="2" charset="-122"/>
              </a:rPr>
              <a:t>外结点</a:t>
            </a:r>
            <a:endParaRPr lang="en-US" b="1" dirty="0">
              <a:latin typeface="华文楷体" panose="02010600040101010101" pitchFamily="2" charset="-122"/>
              <a:ea typeface="华文楷体" panose="02010600040101010101" pitchFamily="2" charset="-122"/>
            </a:endParaRPr>
          </a:p>
        </p:txBody>
      </p:sp>
      <p:graphicFrame>
        <p:nvGraphicFramePr>
          <p:cNvPr id="4" name="表格 3"/>
          <p:cNvGraphicFramePr>
            <a:graphicFrameLocks noGrp="1"/>
          </p:cNvGraphicFramePr>
          <p:nvPr>
            <p:extLst>
              <p:ext uri="{D42A27DB-BD31-4B8C-83A1-F6EECF244321}">
                <p14:modId xmlns:p14="http://schemas.microsoft.com/office/powerpoint/2010/main" val="3522455351"/>
              </p:ext>
            </p:extLst>
          </p:nvPr>
        </p:nvGraphicFramePr>
        <p:xfrm>
          <a:off x="827584" y="1476500"/>
          <a:ext cx="6965772" cy="944388"/>
        </p:xfrm>
        <a:graphic>
          <a:graphicData uri="http://schemas.openxmlformats.org/drawingml/2006/table">
            <a:tbl>
              <a:tblPr firstRow="1" bandRow="1">
                <a:tableStyleId>{5C22544A-7EE6-4342-B048-85BDC9FD1C3A}</a:tableStyleId>
              </a:tblPr>
              <a:tblGrid>
                <a:gridCol w="580481">
                  <a:extLst>
                    <a:ext uri="{9D8B030D-6E8A-4147-A177-3AD203B41FA5}">
                      <a16:colId xmlns="" xmlns:a16="http://schemas.microsoft.com/office/drawing/2014/main" val="20000"/>
                    </a:ext>
                  </a:extLst>
                </a:gridCol>
                <a:gridCol w="580481">
                  <a:extLst>
                    <a:ext uri="{9D8B030D-6E8A-4147-A177-3AD203B41FA5}">
                      <a16:colId xmlns="" xmlns:a16="http://schemas.microsoft.com/office/drawing/2014/main" val="20001"/>
                    </a:ext>
                  </a:extLst>
                </a:gridCol>
                <a:gridCol w="580481">
                  <a:extLst>
                    <a:ext uri="{9D8B030D-6E8A-4147-A177-3AD203B41FA5}">
                      <a16:colId xmlns="" xmlns:a16="http://schemas.microsoft.com/office/drawing/2014/main" val="20002"/>
                    </a:ext>
                  </a:extLst>
                </a:gridCol>
                <a:gridCol w="580481">
                  <a:extLst>
                    <a:ext uri="{9D8B030D-6E8A-4147-A177-3AD203B41FA5}">
                      <a16:colId xmlns="" xmlns:a16="http://schemas.microsoft.com/office/drawing/2014/main" val="20003"/>
                    </a:ext>
                  </a:extLst>
                </a:gridCol>
                <a:gridCol w="580481">
                  <a:extLst>
                    <a:ext uri="{9D8B030D-6E8A-4147-A177-3AD203B41FA5}">
                      <a16:colId xmlns="" xmlns:a16="http://schemas.microsoft.com/office/drawing/2014/main" val="20004"/>
                    </a:ext>
                  </a:extLst>
                </a:gridCol>
                <a:gridCol w="580481">
                  <a:extLst>
                    <a:ext uri="{9D8B030D-6E8A-4147-A177-3AD203B41FA5}">
                      <a16:colId xmlns="" xmlns:a16="http://schemas.microsoft.com/office/drawing/2014/main" val="20005"/>
                    </a:ext>
                  </a:extLst>
                </a:gridCol>
                <a:gridCol w="580481">
                  <a:extLst>
                    <a:ext uri="{9D8B030D-6E8A-4147-A177-3AD203B41FA5}">
                      <a16:colId xmlns="" xmlns:a16="http://schemas.microsoft.com/office/drawing/2014/main" val="20006"/>
                    </a:ext>
                  </a:extLst>
                </a:gridCol>
                <a:gridCol w="580481">
                  <a:extLst>
                    <a:ext uri="{9D8B030D-6E8A-4147-A177-3AD203B41FA5}">
                      <a16:colId xmlns="" xmlns:a16="http://schemas.microsoft.com/office/drawing/2014/main" val="20007"/>
                    </a:ext>
                  </a:extLst>
                </a:gridCol>
                <a:gridCol w="580481">
                  <a:extLst>
                    <a:ext uri="{9D8B030D-6E8A-4147-A177-3AD203B41FA5}">
                      <a16:colId xmlns="" xmlns:a16="http://schemas.microsoft.com/office/drawing/2014/main" val="20008"/>
                    </a:ext>
                  </a:extLst>
                </a:gridCol>
                <a:gridCol w="580481">
                  <a:extLst>
                    <a:ext uri="{9D8B030D-6E8A-4147-A177-3AD203B41FA5}">
                      <a16:colId xmlns="" xmlns:a16="http://schemas.microsoft.com/office/drawing/2014/main" val="20009"/>
                    </a:ext>
                  </a:extLst>
                </a:gridCol>
                <a:gridCol w="580481">
                  <a:extLst>
                    <a:ext uri="{9D8B030D-6E8A-4147-A177-3AD203B41FA5}">
                      <a16:colId xmlns="" xmlns:a16="http://schemas.microsoft.com/office/drawing/2014/main" val="20010"/>
                    </a:ext>
                  </a:extLst>
                </a:gridCol>
                <a:gridCol w="580481">
                  <a:extLst>
                    <a:ext uri="{9D8B030D-6E8A-4147-A177-3AD203B41FA5}">
                      <a16:colId xmlns="" xmlns:a16="http://schemas.microsoft.com/office/drawing/2014/main" val="20011"/>
                    </a:ext>
                  </a:extLst>
                </a:gridCol>
              </a:tblGrid>
              <a:tr h="472194">
                <a:tc>
                  <a:txBody>
                    <a:bodyPr/>
                    <a:lstStyle/>
                    <a:p>
                      <a:pPr algn="ctr"/>
                      <a:r>
                        <a:rPr lang="en-US" altLang="zh-CN" dirty="0" err="1"/>
                        <a:t>i</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2</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3</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4</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5</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6</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7</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8</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9</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10</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0"/>
                  </a:ext>
                </a:extLst>
              </a:tr>
              <a:tr h="472194">
                <a:tc>
                  <a:txBody>
                    <a:bodyPr/>
                    <a:lstStyle/>
                    <a:p>
                      <a:pPr algn="ctr"/>
                      <a:r>
                        <a:rPr lang="en-US" altLang="zh-CN" b="1" dirty="0"/>
                        <a:t>Ci</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b="1" dirty="0">
                        <a:solidFill>
                          <a:srgbClr val="FF99CC"/>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CN" altLang="en-US" sz="1800" b="1" kern="1200" dirty="0">
                        <a:solidFill>
                          <a:schemeClr val="accent4"/>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b="1" dirty="0">
                        <a:solidFill>
                          <a:srgbClr val="0000F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CN" altLang="en-US" sz="1800" b="1" kern="1200" dirty="0">
                        <a:solidFill>
                          <a:srgbClr val="FF99CC"/>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CN" altLang="en-US" sz="1800" b="1" kern="1200" dirty="0">
                        <a:solidFill>
                          <a:schemeClr val="accent4"/>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b="1" dirty="0">
                        <a:solidFill>
                          <a:schemeClr val="accent3"/>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CN" altLang="en-US" sz="1800" b="1" kern="1200" dirty="0">
                        <a:solidFill>
                          <a:srgbClr val="FF99CC"/>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CN" altLang="en-US" sz="1800" b="1" kern="1200" dirty="0">
                        <a:solidFill>
                          <a:schemeClr val="accent4"/>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CN" altLang="en-US" sz="1800" b="1" kern="1200" dirty="0">
                        <a:solidFill>
                          <a:srgbClr val="0000FF"/>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CN" altLang="en-US" sz="1800" b="1" kern="1200" dirty="0">
                        <a:solidFill>
                          <a:srgbClr val="FF99CC"/>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CN" altLang="en-US" sz="1800" b="1" kern="1200" dirty="0">
                        <a:solidFill>
                          <a:schemeClr val="accent4"/>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bl>
          </a:graphicData>
        </a:graphic>
      </p:graphicFrame>
      <p:sp>
        <p:nvSpPr>
          <p:cNvPr id="5" name="文本框 4"/>
          <p:cNvSpPr txBox="1"/>
          <p:nvPr/>
        </p:nvSpPr>
        <p:spPr>
          <a:xfrm>
            <a:off x="4343400" y="1995441"/>
            <a:ext cx="533400" cy="369332"/>
          </a:xfrm>
          <a:prstGeom prst="rect">
            <a:avLst/>
          </a:prstGeom>
          <a:noFill/>
        </p:spPr>
        <p:txBody>
          <a:bodyPr wrap="square" rtlCol="0">
            <a:spAutoFit/>
          </a:bodyPr>
          <a:lstStyle/>
          <a:p>
            <a:pPr algn="ctr"/>
            <a:r>
              <a:rPr lang="en-US" altLang="zh-CN" b="1" dirty="0">
                <a:solidFill>
                  <a:schemeClr val="accent3"/>
                </a:solidFill>
              </a:rPr>
              <a:t>1</a:t>
            </a:r>
            <a:endParaRPr lang="zh-CN" altLang="en-US" b="1" dirty="0">
              <a:solidFill>
                <a:schemeClr val="accent3"/>
              </a:solidFill>
            </a:endParaRPr>
          </a:p>
        </p:txBody>
      </p:sp>
      <p:sp>
        <p:nvSpPr>
          <p:cNvPr id="68" name="文本框 67"/>
          <p:cNvSpPr txBox="1"/>
          <p:nvPr/>
        </p:nvSpPr>
        <p:spPr>
          <a:xfrm>
            <a:off x="6078873" y="1995441"/>
            <a:ext cx="533400" cy="369332"/>
          </a:xfrm>
          <a:prstGeom prst="rect">
            <a:avLst/>
          </a:prstGeom>
          <a:noFill/>
        </p:spPr>
        <p:txBody>
          <a:bodyPr wrap="square" rtlCol="0">
            <a:spAutoFit/>
          </a:bodyPr>
          <a:lstStyle/>
          <a:p>
            <a:pPr algn="ctr"/>
            <a:r>
              <a:rPr lang="en-US" altLang="zh-CN" b="1" dirty="0">
                <a:solidFill>
                  <a:srgbClr val="0000FF"/>
                </a:solidFill>
              </a:rPr>
              <a:t>2</a:t>
            </a:r>
            <a:endParaRPr lang="zh-CN" altLang="en-US" b="1" dirty="0">
              <a:solidFill>
                <a:srgbClr val="0000FF"/>
              </a:solidFill>
            </a:endParaRPr>
          </a:p>
        </p:txBody>
      </p:sp>
      <p:sp>
        <p:nvSpPr>
          <p:cNvPr id="69" name="文本框 68"/>
          <p:cNvSpPr txBox="1"/>
          <p:nvPr/>
        </p:nvSpPr>
        <p:spPr>
          <a:xfrm>
            <a:off x="2590800" y="1994744"/>
            <a:ext cx="533400" cy="369332"/>
          </a:xfrm>
          <a:prstGeom prst="rect">
            <a:avLst/>
          </a:prstGeom>
          <a:noFill/>
        </p:spPr>
        <p:txBody>
          <a:bodyPr wrap="square" rtlCol="0">
            <a:spAutoFit/>
          </a:bodyPr>
          <a:lstStyle/>
          <a:p>
            <a:pPr algn="ctr"/>
            <a:r>
              <a:rPr lang="en-US" altLang="zh-CN" b="1" dirty="0">
                <a:solidFill>
                  <a:srgbClr val="0000FF"/>
                </a:solidFill>
              </a:rPr>
              <a:t>2</a:t>
            </a:r>
            <a:endParaRPr lang="zh-CN" altLang="en-US" b="1" dirty="0">
              <a:solidFill>
                <a:srgbClr val="0000FF"/>
              </a:solidFill>
            </a:endParaRPr>
          </a:p>
        </p:txBody>
      </p:sp>
      <p:sp>
        <p:nvSpPr>
          <p:cNvPr id="70" name="文本框 69"/>
          <p:cNvSpPr txBox="1"/>
          <p:nvPr/>
        </p:nvSpPr>
        <p:spPr>
          <a:xfrm>
            <a:off x="3181341" y="1995614"/>
            <a:ext cx="533400" cy="369332"/>
          </a:xfrm>
          <a:prstGeom prst="rect">
            <a:avLst/>
          </a:prstGeom>
          <a:noFill/>
        </p:spPr>
        <p:txBody>
          <a:bodyPr wrap="square" rtlCol="0">
            <a:spAutoFit/>
          </a:bodyPr>
          <a:lstStyle/>
          <a:p>
            <a:pPr algn="ctr"/>
            <a:r>
              <a:rPr lang="en-US" altLang="zh-CN" b="1" dirty="0">
                <a:solidFill>
                  <a:srgbClr val="FF99CC"/>
                </a:solidFill>
              </a:rPr>
              <a:t>3</a:t>
            </a:r>
            <a:endParaRPr lang="zh-CN" altLang="en-US" b="1" dirty="0">
              <a:solidFill>
                <a:srgbClr val="FF99CC"/>
              </a:solidFill>
            </a:endParaRPr>
          </a:p>
        </p:txBody>
      </p:sp>
      <p:sp>
        <p:nvSpPr>
          <p:cNvPr id="71" name="文本框 70"/>
          <p:cNvSpPr txBox="1"/>
          <p:nvPr/>
        </p:nvSpPr>
        <p:spPr>
          <a:xfrm>
            <a:off x="1428741" y="1994744"/>
            <a:ext cx="533400" cy="369332"/>
          </a:xfrm>
          <a:prstGeom prst="rect">
            <a:avLst/>
          </a:prstGeom>
          <a:noFill/>
        </p:spPr>
        <p:txBody>
          <a:bodyPr wrap="square" rtlCol="0">
            <a:spAutoFit/>
          </a:bodyPr>
          <a:lstStyle/>
          <a:p>
            <a:pPr algn="ctr"/>
            <a:r>
              <a:rPr lang="en-US" altLang="zh-CN" b="1" dirty="0">
                <a:solidFill>
                  <a:srgbClr val="FF99CC"/>
                </a:solidFill>
              </a:rPr>
              <a:t>3</a:t>
            </a:r>
            <a:endParaRPr lang="zh-CN" altLang="en-US" b="1" dirty="0">
              <a:solidFill>
                <a:srgbClr val="FF99CC"/>
              </a:solidFill>
            </a:endParaRPr>
          </a:p>
        </p:txBody>
      </p:sp>
      <p:sp>
        <p:nvSpPr>
          <p:cNvPr id="72" name="文本框 71"/>
          <p:cNvSpPr txBox="1"/>
          <p:nvPr/>
        </p:nvSpPr>
        <p:spPr>
          <a:xfrm>
            <a:off x="4904704" y="1988840"/>
            <a:ext cx="533400" cy="369332"/>
          </a:xfrm>
          <a:prstGeom prst="rect">
            <a:avLst/>
          </a:prstGeom>
          <a:noFill/>
        </p:spPr>
        <p:txBody>
          <a:bodyPr wrap="square" rtlCol="0">
            <a:spAutoFit/>
          </a:bodyPr>
          <a:lstStyle/>
          <a:p>
            <a:pPr algn="ctr"/>
            <a:r>
              <a:rPr lang="en-US" altLang="zh-CN" b="1" dirty="0">
                <a:solidFill>
                  <a:srgbClr val="FF99CC"/>
                </a:solidFill>
              </a:rPr>
              <a:t>3</a:t>
            </a:r>
            <a:endParaRPr lang="zh-CN" altLang="en-US" b="1" dirty="0">
              <a:solidFill>
                <a:srgbClr val="FF99CC"/>
              </a:solidFill>
            </a:endParaRPr>
          </a:p>
        </p:txBody>
      </p:sp>
      <p:sp>
        <p:nvSpPr>
          <p:cNvPr id="73" name="文本框 72"/>
          <p:cNvSpPr txBox="1"/>
          <p:nvPr/>
        </p:nvSpPr>
        <p:spPr>
          <a:xfrm>
            <a:off x="6660592" y="2005508"/>
            <a:ext cx="533400" cy="369332"/>
          </a:xfrm>
          <a:prstGeom prst="rect">
            <a:avLst/>
          </a:prstGeom>
          <a:noFill/>
        </p:spPr>
        <p:txBody>
          <a:bodyPr wrap="square" rtlCol="0">
            <a:spAutoFit/>
          </a:bodyPr>
          <a:lstStyle/>
          <a:p>
            <a:pPr algn="ctr"/>
            <a:r>
              <a:rPr lang="en-US" altLang="zh-CN" b="1" dirty="0">
                <a:solidFill>
                  <a:srgbClr val="FF99CC"/>
                </a:solidFill>
              </a:rPr>
              <a:t>3</a:t>
            </a:r>
            <a:endParaRPr lang="zh-CN" altLang="en-US" b="1" dirty="0">
              <a:solidFill>
                <a:srgbClr val="FF99CC"/>
              </a:solidFill>
            </a:endParaRPr>
          </a:p>
        </p:txBody>
      </p:sp>
      <p:sp>
        <p:nvSpPr>
          <p:cNvPr id="74" name="文本框 73"/>
          <p:cNvSpPr txBox="1"/>
          <p:nvPr/>
        </p:nvSpPr>
        <p:spPr>
          <a:xfrm>
            <a:off x="7237435" y="1995441"/>
            <a:ext cx="533400" cy="369332"/>
          </a:xfrm>
          <a:prstGeom prst="rect">
            <a:avLst/>
          </a:prstGeom>
          <a:noFill/>
        </p:spPr>
        <p:txBody>
          <a:bodyPr wrap="square" rtlCol="0">
            <a:spAutoFit/>
          </a:bodyPr>
          <a:lstStyle/>
          <a:p>
            <a:pPr algn="ctr"/>
            <a:r>
              <a:rPr lang="en-US" altLang="zh-CN" b="1" dirty="0">
                <a:solidFill>
                  <a:srgbClr val="6600CC"/>
                </a:solidFill>
              </a:rPr>
              <a:t>4</a:t>
            </a:r>
            <a:endParaRPr lang="zh-CN" altLang="en-US" b="1" dirty="0">
              <a:solidFill>
                <a:srgbClr val="6600CC"/>
              </a:solidFill>
            </a:endParaRPr>
          </a:p>
        </p:txBody>
      </p:sp>
      <p:sp>
        <p:nvSpPr>
          <p:cNvPr id="75" name="文本框 74"/>
          <p:cNvSpPr txBox="1"/>
          <p:nvPr/>
        </p:nvSpPr>
        <p:spPr>
          <a:xfrm>
            <a:off x="5486400" y="2005508"/>
            <a:ext cx="533400" cy="369332"/>
          </a:xfrm>
          <a:prstGeom prst="rect">
            <a:avLst/>
          </a:prstGeom>
          <a:noFill/>
        </p:spPr>
        <p:txBody>
          <a:bodyPr wrap="square" rtlCol="0">
            <a:spAutoFit/>
          </a:bodyPr>
          <a:lstStyle/>
          <a:p>
            <a:pPr algn="ctr"/>
            <a:r>
              <a:rPr lang="en-US" altLang="zh-CN" b="1" dirty="0">
                <a:solidFill>
                  <a:srgbClr val="6600CC"/>
                </a:solidFill>
              </a:rPr>
              <a:t>4</a:t>
            </a:r>
            <a:endParaRPr lang="zh-CN" altLang="en-US" b="1" dirty="0">
              <a:solidFill>
                <a:srgbClr val="6600CC"/>
              </a:solidFill>
            </a:endParaRPr>
          </a:p>
        </p:txBody>
      </p:sp>
      <p:sp>
        <p:nvSpPr>
          <p:cNvPr id="76" name="文本框 75"/>
          <p:cNvSpPr txBox="1"/>
          <p:nvPr/>
        </p:nvSpPr>
        <p:spPr>
          <a:xfrm>
            <a:off x="3742645" y="1988840"/>
            <a:ext cx="533400" cy="369332"/>
          </a:xfrm>
          <a:prstGeom prst="rect">
            <a:avLst/>
          </a:prstGeom>
          <a:noFill/>
        </p:spPr>
        <p:txBody>
          <a:bodyPr wrap="square" rtlCol="0">
            <a:spAutoFit/>
          </a:bodyPr>
          <a:lstStyle/>
          <a:p>
            <a:pPr algn="ctr"/>
            <a:r>
              <a:rPr lang="en-US" altLang="zh-CN" b="1" dirty="0">
                <a:solidFill>
                  <a:srgbClr val="6600CC"/>
                </a:solidFill>
              </a:rPr>
              <a:t>4</a:t>
            </a:r>
            <a:endParaRPr lang="zh-CN" altLang="en-US" b="1" dirty="0">
              <a:solidFill>
                <a:srgbClr val="6600CC"/>
              </a:solidFill>
            </a:endParaRPr>
          </a:p>
        </p:txBody>
      </p:sp>
      <p:sp>
        <p:nvSpPr>
          <p:cNvPr id="77" name="文本框 76"/>
          <p:cNvSpPr txBox="1"/>
          <p:nvPr/>
        </p:nvSpPr>
        <p:spPr>
          <a:xfrm>
            <a:off x="2010437" y="1988840"/>
            <a:ext cx="533400" cy="369332"/>
          </a:xfrm>
          <a:prstGeom prst="rect">
            <a:avLst/>
          </a:prstGeom>
          <a:noFill/>
        </p:spPr>
        <p:txBody>
          <a:bodyPr wrap="square" rtlCol="0">
            <a:spAutoFit/>
          </a:bodyPr>
          <a:lstStyle/>
          <a:p>
            <a:pPr algn="ctr"/>
            <a:r>
              <a:rPr lang="en-US" altLang="zh-CN" b="1" dirty="0">
                <a:solidFill>
                  <a:srgbClr val="6600CC"/>
                </a:solidFill>
              </a:rPr>
              <a:t>4</a:t>
            </a:r>
            <a:endParaRPr lang="zh-CN" altLang="en-US" b="1" dirty="0">
              <a:solidFill>
                <a:srgbClr val="6600CC"/>
              </a:solidFill>
            </a:endParaRPr>
          </a:p>
        </p:txBody>
      </p:sp>
    </p:spTree>
    <p:extLst>
      <p:ext uri="{BB962C8B-B14F-4D97-AF65-F5344CB8AC3E}">
        <p14:creationId xmlns:p14="http://schemas.microsoft.com/office/powerpoint/2010/main" val="3616254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250"/>
                                  </p:stCondLst>
                                  <p:childTnLst>
                                    <p:set>
                                      <p:cBhvr>
                                        <p:cTn id="17" dur="1" fill="hold">
                                          <p:stCondLst>
                                            <p:cond delay="0"/>
                                          </p:stCondLst>
                                        </p:cTn>
                                        <p:tgtEl>
                                          <p:spTgt spid="69"/>
                                        </p:tgtEl>
                                        <p:attrNameLst>
                                          <p:attrName>style.visibility</p:attrName>
                                        </p:attrNameLst>
                                      </p:cBhvr>
                                      <p:to>
                                        <p:strVal val="visible"/>
                                      </p:to>
                                    </p:set>
                                  </p:childTnLst>
                                </p:cTn>
                              </p:par>
                            </p:childTnLst>
                          </p:cTn>
                        </p:par>
                        <p:par>
                          <p:cTn id="18" fill="hold">
                            <p:stCondLst>
                              <p:cond delay="250"/>
                            </p:stCondLst>
                            <p:childTnLst>
                              <p:par>
                                <p:cTn id="19" presetID="1" presetClass="entr" presetSubtype="0" fill="hold" grpId="0" nodeType="afterEffect">
                                  <p:stCondLst>
                                    <p:cond delay="250"/>
                                  </p:stCondLst>
                                  <p:childTnLst>
                                    <p:set>
                                      <p:cBhvr>
                                        <p:cTn id="20" dur="1" fill="hold">
                                          <p:stCondLst>
                                            <p:cond delay="0"/>
                                          </p:stCondLst>
                                        </p:cTn>
                                        <p:tgtEl>
                                          <p:spTgt spid="68"/>
                                        </p:tgtEl>
                                        <p:attrNameLst>
                                          <p:attrName>style.visibility</p:attrName>
                                        </p:attrNameLst>
                                      </p:cBhvr>
                                      <p:to>
                                        <p:strVal val="visible"/>
                                      </p:to>
                                    </p:set>
                                  </p:childTnLst>
                                </p:cTn>
                              </p:par>
                            </p:childTnLst>
                          </p:cTn>
                        </p:par>
                        <p:par>
                          <p:cTn id="21" fill="hold">
                            <p:stCondLst>
                              <p:cond delay="500"/>
                            </p:stCondLst>
                            <p:childTnLst>
                              <p:par>
                                <p:cTn id="22" presetID="1" presetClass="entr" presetSubtype="0" fill="hold" grpId="0" nodeType="afterEffect">
                                  <p:stCondLst>
                                    <p:cond delay="250"/>
                                  </p:stCondLst>
                                  <p:childTnLst>
                                    <p:set>
                                      <p:cBhvr>
                                        <p:cTn id="23" dur="1" fill="hold">
                                          <p:stCondLst>
                                            <p:cond delay="0"/>
                                          </p:stCondLst>
                                        </p:cTn>
                                        <p:tgtEl>
                                          <p:spTgt spid="71"/>
                                        </p:tgtEl>
                                        <p:attrNameLst>
                                          <p:attrName>style.visibility</p:attrName>
                                        </p:attrNameLst>
                                      </p:cBhvr>
                                      <p:to>
                                        <p:strVal val="visible"/>
                                      </p:to>
                                    </p:set>
                                  </p:childTnLst>
                                </p:cTn>
                              </p:par>
                            </p:childTnLst>
                          </p:cTn>
                        </p:par>
                        <p:par>
                          <p:cTn id="24" fill="hold">
                            <p:stCondLst>
                              <p:cond delay="750"/>
                            </p:stCondLst>
                            <p:childTnLst>
                              <p:par>
                                <p:cTn id="25" presetID="1" presetClass="entr" presetSubtype="0" fill="hold" grpId="0" nodeType="afterEffect">
                                  <p:stCondLst>
                                    <p:cond delay="250"/>
                                  </p:stCondLst>
                                  <p:childTnLst>
                                    <p:set>
                                      <p:cBhvr>
                                        <p:cTn id="26" dur="1" fill="hold">
                                          <p:stCondLst>
                                            <p:cond delay="0"/>
                                          </p:stCondLst>
                                        </p:cTn>
                                        <p:tgtEl>
                                          <p:spTgt spid="70"/>
                                        </p:tgtEl>
                                        <p:attrNameLst>
                                          <p:attrName>style.visibility</p:attrName>
                                        </p:attrNameLst>
                                      </p:cBhvr>
                                      <p:to>
                                        <p:strVal val="visible"/>
                                      </p:to>
                                    </p:set>
                                  </p:childTnLst>
                                </p:cTn>
                              </p:par>
                            </p:childTnLst>
                          </p:cTn>
                        </p:par>
                        <p:par>
                          <p:cTn id="27" fill="hold">
                            <p:stCondLst>
                              <p:cond delay="1000"/>
                            </p:stCondLst>
                            <p:childTnLst>
                              <p:par>
                                <p:cTn id="28" presetID="1" presetClass="entr" presetSubtype="0" fill="hold" grpId="0" nodeType="afterEffect">
                                  <p:stCondLst>
                                    <p:cond delay="500"/>
                                  </p:stCondLst>
                                  <p:childTnLst>
                                    <p:set>
                                      <p:cBhvr>
                                        <p:cTn id="29" dur="1" fill="hold">
                                          <p:stCondLst>
                                            <p:cond delay="0"/>
                                          </p:stCondLst>
                                        </p:cTn>
                                        <p:tgtEl>
                                          <p:spTgt spid="72"/>
                                        </p:tgtEl>
                                        <p:attrNameLst>
                                          <p:attrName>style.visibility</p:attrName>
                                        </p:attrNameLst>
                                      </p:cBhvr>
                                      <p:to>
                                        <p:strVal val="visible"/>
                                      </p:to>
                                    </p:set>
                                  </p:childTnLst>
                                </p:cTn>
                              </p:par>
                            </p:childTnLst>
                          </p:cTn>
                        </p:par>
                        <p:par>
                          <p:cTn id="30" fill="hold">
                            <p:stCondLst>
                              <p:cond delay="1500"/>
                            </p:stCondLst>
                            <p:childTnLst>
                              <p:par>
                                <p:cTn id="31" presetID="1" presetClass="entr" presetSubtype="0" fill="hold" grpId="0" nodeType="afterEffect">
                                  <p:stCondLst>
                                    <p:cond delay="750"/>
                                  </p:stCondLst>
                                  <p:childTnLst>
                                    <p:set>
                                      <p:cBhvr>
                                        <p:cTn id="32" dur="1" fill="hold">
                                          <p:stCondLst>
                                            <p:cond delay="0"/>
                                          </p:stCondLst>
                                        </p:cTn>
                                        <p:tgtEl>
                                          <p:spTgt spid="73"/>
                                        </p:tgtEl>
                                        <p:attrNameLst>
                                          <p:attrName>style.visibility</p:attrName>
                                        </p:attrNameLst>
                                      </p:cBhvr>
                                      <p:to>
                                        <p:strVal val="visible"/>
                                      </p:to>
                                    </p:set>
                                  </p:childTnLst>
                                </p:cTn>
                              </p:par>
                            </p:childTnLst>
                          </p:cTn>
                        </p:par>
                        <p:par>
                          <p:cTn id="33" fill="hold">
                            <p:stCondLst>
                              <p:cond delay="2250"/>
                            </p:stCondLst>
                            <p:childTnLst>
                              <p:par>
                                <p:cTn id="34" presetID="1" presetClass="entr" presetSubtype="0" fill="hold" grpId="0" nodeType="afterEffect">
                                  <p:stCondLst>
                                    <p:cond delay="250"/>
                                  </p:stCondLst>
                                  <p:childTnLst>
                                    <p:set>
                                      <p:cBhvr>
                                        <p:cTn id="35" dur="1" fill="hold">
                                          <p:stCondLst>
                                            <p:cond delay="0"/>
                                          </p:stCondLst>
                                        </p:cTn>
                                        <p:tgtEl>
                                          <p:spTgt spid="77"/>
                                        </p:tgtEl>
                                        <p:attrNameLst>
                                          <p:attrName>style.visibility</p:attrName>
                                        </p:attrNameLst>
                                      </p:cBhvr>
                                      <p:to>
                                        <p:strVal val="visible"/>
                                      </p:to>
                                    </p:set>
                                  </p:childTnLst>
                                </p:cTn>
                              </p:par>
                            </p:childTnLst>
                          </p:cTn>
                        </p:par>
                        <p:par>
                          <p:cTn id="36" fill="hold">
                            <p:stCondLst>
                              <p:cond delay="2500"/>
                            </p:stCondLst>
                            <p:childTnLst>
                              <p:par>
                                <p:cTn id="37" presetID="1" presetClass="entr" presetSubtype="0" fill="hold" grpId="0" nodeType="afterEffect">
                                  <p:stCondLst>
                                    <p:cond delay="250"/>
                                  </p:stCondLst>
                                  <p:childTnLst>
                                    <p:set>
                                      <p:cBhvr>
                                        <p:cTn id="38" dur="1" fill="hold">
                                          <p:stCondLst>
                                            <p:cond delay="0"/>
                                          </p:stCondLst>
                                        </p:cTn>
                                        <p:tgtEl>
                                          <p:spTgt spid="76"/>
                                        </p:tgtEl>
                                        <p:attrNameLst>
                                          <p:attrName>style.visibility</p:attrName>
                                        </p:attrNameLst>
                                      </p:cBhvr>
                                      <p:to>
                                        <p:strVal val="visible"/>
                                      </p:to>
                                    </p:set>
                                  </p:childTnLst>
                                </p:cTn>
                              </p:par>
                            </p:childTnLst>
                          </p:cTn>
                        </p:par>
                        <p:par>
                          <p:cTn id="39" fill="hold">
                            <p:stCondLst>
                              <p:cond delay="2750"/>
                            </p:stCondLst>
                            <p:childTnLst>
                              <p:par>
                                <p:cTn id="40" presetID="1" presetClass="entr" presetSubtype="0" fill="hold" grpId="0" nodeType="afterEffect">
                                  <p:stCondLst>
                                    <p:cond delay="500"/>
                                  </p:stCondLst>
                                  <p:childTnLst>
                                    <p:set>
                                      <p:cBhvr>
                                        <p:cTn id="41" dur="1" fill="hold">
                                          <p:stCondLst>
                                            <p:cond delay="0"/>
                                          </p:stCondLst>
                                        </p:cTn>
                                        <p:tgtEl>
                                          <p:spTgt spid="75"/>
                                        </p:tgtEl>
                                        <p:attrNameLst>
                                          <p:attrName>style.visibility</p:attrName>
                                        </p:attrNameLst>
                                      </p:cBhvr>
                                      <p:to>
                                        <p:strVal val="visible"/>
                                      </p:to>
                                    </p:set>
                                  </p:childTnLst>
                                </p:cTn>
                              </p:par>
                            </p:childTnLst>
                          </p:cTn>
                        </p:par>
                        <p:par>
                          <p:cTn id="42" fill="hold">
                            <p:stCondLst>
                              <p:cond delay="3250"/>
                            </p:stCondLst>
                            <p:childTnLst>
                              <p:par>
                                <p:cTn id="43" presetID="1" presetClass="entr" presetSubtype="0" fill="hold" grpId="0" nodeType="afterEffect">
                                  <p:stCondLst>
                                    <p:cond delay="750"/>
                                  </p:stCondLst>
                                  <p:childTnLst>
                                    <p:set>
                                      <p:cBhvr>
                                        <p:cTn id="44"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4" grpId="0"/>
      <p:bldP spid="5" grpId="0"/>
      <p:bldP spid="68" grpId="0"/>
      <p:bldP spid="69" grpId="0"/>
      <p:bldP spid="70" grpId="0"/>
      <p:bldP spid="71" grpId="0"/>
      <p:bldP spid="72" grpId="0"/>
      <p:bldP spid="73" grpId="0"/>
      <p:bldP spid="74" grpId="0"/>
      <p:bldP spid="75" grpId="0"/>
      <p:bldP spid="76" grpId="0"/>
      <p:bldP spid="7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p:cNvSpPr>
            <a:spLocks noGrp="1"/>
          </p:cNvSpPr>
          <p:nvPr>
            <p:ph idx="1"/>
          </p:nvPr>
        </p:nvSpPr>
        <p:spPr>
          <a:xfrm>
            <a:off x="133122" y="842790"/>
            <a:ext cx="8831366" cy="2098732"/>
          </a:xfrm>
        </p:spPr>
        <p:txBody>
          <a:bodyPr>
            <a:normAutofit/>
          </a:bodyPr>
          <a:lstStyle/>
          <a:p>
            <a:r>
              <a:rPr lang="zh-CN" altLang="en-US" sz="2400" dirty="0">
                <a:latin typeface="华文楷体" panose="02010600040101010101" pitchFamily="2" charset="-122"/>
                <a:ea typeface="华文楷体" panose="02010600040101010101" pitchFamily="2" charset="-122"/>
              </a:rPr>
              <a:t>二分查找的</a:t>
            </a:r>
            <a:r>
              <a:rPr lang="zh-CN" altLang="en-US" sz="2400" b="1" dirty="0">
                <a:solidFill>
                  <a:srgbClr val="0000FF"/>
                </a:solidFill>
                <a:latin typeface="华文楷体" panose="02010600040101010101" pitchFamily="2" charset="-122"/>
                <a:ea typeface="华文楷体" panose="02010600040101010101" pitchFamily="2" charset="-122"/>
              </a:rPr>
              <a:t>最多</a:t>
            </a:r>
            <a:r>
              <a:rPr lang="zh-CN" altLang="en-US" sz="2400" dirty="0">
                <a:latin typeface="华文楷体" panose="02010600040101010101" pitchFamily="2" charset="-122"/>
                <a:ea typeface="华文楷体" panose="02010600040101010101" pitchFamily="2" charset="-122"/>
              </a:rPr>
              <a:t>查找次数也就为</a:t>
            </a:r>
            <a:r>
              <a:rPr lang="zh-CN" altLang="en-US" sz="2400" dirty="0">
                <a:latin typeface="华文楷体" panose="02010600040101010101" pitchFamily="2" charset="-122"/>
                <a:ea typeface="华文楷体" panose="02010600040101010101" pitchFamily="2" charset="-122"/>
                <a:sym typeface="Symbol" pitchFamily="18" charset="2"/>
              </a:rPr>
              <a:t></a:t>
            </a:r>
            <a:r>
              <a:rPr lang="en-US" altLang="zh-CN" sz="2400" dirty="0">
                <a:latin typeface="华文楷体" panose="02010600040101010101" pitchFamily="2" charset="-122"/>
                <a:ea typeface="华文楷体" panose="02010600040101010101" pitchFamily="2" charset="-122"/>
              </a:rPr>
              <a:t>log</a:t>
            </a:r>
            <a:r>
              <a:rPr lang="en-US" altLang="zh-CN" sz="2400" baseline="-25000" dirty="0">
                <a:latin typeface="华文楷体" panose="02010600040101010101" pitchFamily="2" charset="-122"/>
                <a:ea typeface="华文楷体" panose="02010600040101010101" pitchFamily="2" charset="-122"/>
              </a:rPr>
              <a:t>2</a:t>
            </a:r>
            <a:r>
              <a:rPr lang="en-US" altLang="zh-CN" sz="2400" dirty="0">
                <a:latin typeface="华文楷体" panose="02010600040101010101" pitchFamily="2" charset="-122"/>
                <a:ea typeface="华文楷体" panose="02010600040101010101" pitchFamily="2" charset="-122"/>
              </a:rPr>
              <a:t>n</a:t>
            </a:r>
            <a:r>
              <a:rPr lang="en-US" altLang="en-US" sz="2400" dirty="0">
                <a:latin typeface="华文楷体" panose="02010600040101010101" pitchFamily="2" charset="-122"/>
                <a:ea typeface="华文楷体" panose="02010600040101010101" pitchFamily="2" charset="-122"/>
                <a:sym typeface="Symbol" pitchFamily="18" charset="2"/>
              </a:rPr>
              <a:t></a:t>
            </a:r>
            <a:r>
              <a:rPr lang="en-US" altLang="zh-CN" sz="2400" dirty="0">
                <a:latin typeface="华文楷体" panose="02010600040101010101" pitchFamily="2" charset="-122"/>
                <a:ea typeface="华文楷体" panose="02010600040101010101" pitchFamily="2" charset="-122"/>
              </a:rPr>
              <a:t>+1</a:t>
            </a:r>
            <a:r>
              <a:rPr lang="zh-CN" altLang="en-US" sz="2400" dirty="0">
                <a:latin typeface="华文楷体" panose="02010600040101010101" pitchFamily="2" charset="-122"/>
                <a:ea typeface="华文楷体" panose="02010600040101010101" pitchFamily="2" charset="-122"/>
              </a:rPr>
              <a:t>次</a:t>
            </a:r>
            <a:endParaRPr lang="en-US" altLang="zh-CN" sz="2400" dirty="0">
              <a:latin typeface="华文楷体" panose="02010600040101010101" pitchFamily="2" charset="-122"/>
              <a:ea typeface="华文楷体" panose="02010600040101010101" pitchFamily="2" charset="-122"/>
            </a:endParaRPr>
          </a:p>
          <a:p>
            <a:pPr>
              <a:spcBef>
                <a:spcPts val="2400"/>
              </a:spcBef>
            </a:pPr>
            <a:r>
              <a:rPr lang="zh-CN" altLang="en-US" sz="2400" dirty="0">
                <a:latin typeface="华文楷体" panose="02010600040101010101" pitchFamily="2" charset="-122"/>
                <a:ea typeface="华文楷体" panose="02010600040101010101" pitchFamily="2" charset="-122"/>
              </a:rPr>
              <a:t>设有序表长度</a:t>
            </a:r>
            <a:r>
              <a:rPr lang="en-US" altLang="zh-CN" sz="2400" b="1" dirty="0">
                <a:solidFill>
                  <a:schemeClr val="accent5"/>
                </a:solidFill>
                <a:latin typeface="华文楷体" panose="02010600040101010101" pitchFamily="2" charset="-122"/>
                <a:ea typeface="华文楷体" panose="02010600040101010101" pitchFamily="2" charset="-122"/>
              </a:rPr>
              <a:t>n=2</a:t>
            </a:r>
            <a:r>
              <a:rPr lang="en-US" altLang="zh-CN" sz="2400" b="1" baseline="30000" dirty="0">
                <a:solidFill>
                  <a:schemeClr val="accent5"/>
                </a:solidFill>
                <a:latin typeface="华文楷体" panose="02010600040101010101" pitchFamily="2" charset="-122"/>
                <a:ea typeface="华文楷体" panose="02010600040101010101" pitchFamily="2" charset="-122"/>
              </a:rPr>
              <a:t>h</a:t>
            </a:r>
            <a:r>
              <a:rPr lang="en-US" altLang="zh-CN" sz="2400" b="1" dirty="0">
                <a:solidFill>
                  <a:schemeClr val="accent5"/>
                </a:solidFill>
                <a:latin typeface="华文楷体" panose="02010600040101010101" pitchFamily="2" charset="-122"/>
                <a:ea typeface="华文楷体" panose="02010600040101010101" pitchFamily="2" charset="-122"/>
              </a:rPr>
              <a:t>-1</a:t>
            </a:r>
            <a:r>
              <a:rPr lang="zh-CN" altLang="en-US" sz="2400" dirty="0">
                <a:latin typeface="华文楷体" panose="02010600040101010101" pitchFamily="2" charset="-122"/>
                <a:ea typeface="华文楷体" panose="02010600040101010101" pitchFamily="2" charset="-122"/>
              </a:rPr>
              <a:t>，即对应的二叉树为满二叉树，则，由</a:t>
            </a:r>
            <a:r>
              <a:rPr lang="zh-CN" altLang="en-US" sz="2400" dirty="0">
                <a:latin typeface="华文楷体" panose="02010600040101010101" pitchFamily="2" charset="-122"/>
                <a:ea typeface="华文楷体" panose="02010600040101010101" pitchFamily="2" charset="-122"/>
                <a:sym typeface="Symbol" pitchFamily="18" charset="2"/>
              </a:rPr>
              <a:t>满</a:t>
            </a:r>
            <a:r>
              <a:rPr lang="zh-CN" altLang="en-US" sz="2400" dirty="0">
                <a:latin typeface="华文楷体" panose="02010600040101010101" pitchFamily="2" charset="-122"/>
                <a:ea typeface="华文楷体" panose="02010600040101010101" pitchFamily="2" charset="-122"/>
              </a:rPr>
              <a:t>二叉树性质知，第</a:t>
            </a:r>
            <a:r>
              <a:rPr lang="en-US" altLang="en-US" sz="2400" dirty="0">
                <a:latin typeface="华文楷体" panose="02010600040101010101" pitchFamily="2" charset="-122"/>
                <a:ea typeface="华文楷体" panose="02010600040101010101" pitchFamily="2" charset="-122"/>
              </a:rPr>
              <a:t>j </a:t>
            </a:r>
            <a:r>
              <a:rPr lang="zh-CN" altLang="en-US" sz="2400" dirty="0">
                <a:latin typeface="华文楷体" panose="02010600040101010101" pitchFamily="2" charset="-122"/>
                <a:ea typeface="华文楷体" panose="02010600040101010101" pitchFamily="2" charset="-122"/>
              </a:rPr>
              <a:t>层上的结点数为</a:t>
            </a:r>
            <a:r>
              <a:rPr lang="en-US" altLang="en-US" sz="2400" dirty="0">
                <a:latin typeface="华文楷体" panose="02010600040101010101" pitchFamily="2" charset="-122"/>
                <a:ea typeface="华文楷体" panose="02010600040101010101" pitchFamily="2" charset="-122"/>
              </a:rPr>
              <a:t>2</a:t>
            </a:r>
            <a:r>
              <a:rPr lang="en-US" altLang="en-US" sz="2400" baseline="30000" dirty="0">
                <a:latin typeface="华文楷体" panose="02010600040101010101" pitchFamily="2" charset="-122"/>
                <a:ea typeface="华文楷体" panose="02010600040101010101" pitchFamily="2" charset="-122"/>
              </a:rPr>
              <a:t>j</a:t>
            </a:r>
            <a:r>
              <a:rPr lang="en-US" altLang="en-US" sz="2400" dirty="0">
                <a:latin typeface="华文楷体" panose="02010600040101010101" pitchFamily="2" charset="-122"/>
                <a:ea typeface="华文楷体" panose="02010600040101010101" pitchFamily="2" charset="-122"/>
              </a:rPr>
              <a:t>-1 (</a:t>
            </a:r>
            <a:r>
              <a:rPr lang="en-US" altLang="en-US" sz="2400" dirty="0" err="1">
                <a:latin typeface="华文楷体" panose="02010600040101010101" pitchFamily="2" charset="-122"/>
                <a:ea typeface="华文楷体" panose="02010600040101010101" pitchFamily="2" charset="-122"/>
              </a:rPr>
              <a:t>j≤h</a:t>
            </a:r>
            <a:r>
              <a:rPr lang="en-US" altLang="en-US"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，设表中每个记录的查找概率相等，即</a:t>
            </a:r>
            <a:r>
              <a:rPr lang="en-US" altLang="en-US" sz="2400" dirty="0">
                <a:latin typeface="华文楷体" panose="02010600040101010101" pitchFamily="2" charset="-122"/>
                <a:ea typeface="华文楷体" panose="02010600040101010101" pitchFamily="2" charset="-122"/>
              </a:rPr>
              <a:t>Pi=1/n</a:t>
            </a:r>
            <a:r>
              <a:rPr lang="zh-CN" altLang="en-US" sz="2400" dirty="0">
                <a:latin typeface="华文楷体" panose="02010600040101010101" pitchFamily="2" charset="-122"/>
                <a:ea typeface="华文楷体" panose="02010600040101010101" pitchFamily="2" charset="-122"/>
              </a:rPr>
              <a:t>，则</a:t>
            </a:r>
            <a:r>
              <a:rPr lang="zh-CN" altLang="en-US" sz="2400" b="1" dirty="0">
                <a:solidFill>
                  <a:srgbClr val="0000FF"/>
                </a:solidFill>
                <a:latin typeface="华文楷体" panose="02010600040101010101" pitchFamily="2" charset="-122"/>
                <a:ea typeface="华文楷体" panose="02010600040101010101" pitchFamily="2" charset="-122"/>
              </a:rPr>
              <a:t>查找成功时的</a:t>
            </a:r>
            <a:r>
              <a:rPr lang="en-US" altLang="en-US" sz="2400" b="1" dirty="0">
                <a:solidFill>
                  <a:srgbClr val="0000FF"/>
                </a:solidFill>
                <a:latin typeface="华文楷体" panose="02010600040101010101" pitchFamily="2" charset="-122"/>
                <a:ea typeface="华文楷体" panose="02010600040101010101" pitchFamily="2" charset="-122"/>
              </a:rPr>
              <a:t>ASL</a:t>
            </a:r>
            <a:r>
              <a:rPr lang="zh-CN" altLang="en-US" sz="2400" dirty="0">
                <a:latin typeface="华文楷体" panose="02010600040101010101" pitchFamily="2" charset="-122"/>
                <a:ea typeface="华文楷体" panose="02010600040101010101" pitchFamily="2" charset="-122"/>
              </a:rPr>
              <a:t>：</a:t>
            </a:r>
            <a:endParaRPr lang="en-US" altLang="zh-CN" sz="2400" dirty="0">
              <a:latin typeface="华文楷体" panose="02010600040101010101" pitchFamily="2" charset="-122"/>
              <a:ea typeface="华文楷体" panose="02010600040101010101" pitchFamily="2" charset="-122"/>
            </a:endParaRPr>
          </a:p>
          <a:p>
            <a:pPr lvl="1"/>
            <a:endParaRPr lang="en-US" altLang="zh-CN" sz="2400" dirty="0">
              <a:latin typeface="华文楷体" panose="02010600040101010101" pitchFamily="2" charset="-122"/>
              <a:ea typeface="华文楷体" panose="02010600040101010101" pitchFamily="2" charset="-122"/>
            </a:endParaRPr>
          </a:p>
          <a:p>
            <a:pPr marL="57150" indent="0">
              <a:buNone/>
            </a:pPr>
            <a:endParaRPr lang="en-US" altLang="zh-CN" sz="2400" dirty="0">
              <a:latin typeface="华文楷体" panose="02010600040101010101" pitchFamily="2" charset="-122"/>
              <a:ea typeface="华文楷体" panose="02010600040101010101" pitchFamily="2" charset="-122"/>
            </a:endParaRPr>
          </a:p>
          <a:p>
            <a:pPr lvl="1"/>
            <a:endParaRPr lang="zh-CN" altLang="en-US" dirty="0"/>
          </a:p>
          <a:p>
            <a:endParaRPr lang="en-US" dirty="0"/>
          </a:p>
        </p:txBody>
      </p:sp>
      <p:sp>
        <p:nvSpPr>
          <p:cNvPr id="8" name="灯片编号占位符 7"/>
          <p:cNvSpPr>
            <a:spLocks noGrp="1"/>
          </p:cNvSpPr>
          <p:nvPr>
            <p:ph type="sldNum" sz="quarter" idx="12"/>
          </p:nvPr>
        </p:nvSpPr>
        <p:spPr/>
        <p:txBody>
          <a:bodyPr/>
          <a:lstStyle/>
          <a:p>
            <a:fld id="{0C913308-F349-4B6D-A68A-DD1791B4A57B}" type="slidenum">
              <a:rPr lang="zh-CN" altLang="en-US" smtClean="0"/>
              <a:pPr/>
              <a:t>18</a:t>
            </a:fld>
            <a:endParaRPr lang="zh-CN" altLang="en-US"/>
          </a:p>
        </p:txBody>
      </p:sp>
      <p:sp>
        <p:nvSpPr>
          <p:cNvPr id="26" name="Rectangle 64"/>
          <p:cNvSpPr txBox="1">
            <a:spLocks noChangeArrowheads="1"/>
          </p:cNvSpPr>
          <p:nvPr/>
        </p:nvSpPr>
        <p:spPr>
          <a:xfrm>
            <a:off x="133123" y="71237"/>
            <a:ext cx="8229600" cy="647599"/>
          </a:xfrm>
          <a:prstGeom prst="rect">
            <a:avLst/>
          </a:prstGeom>
        </p:spPr>
        <p:txBody>
          <a:bodyPr vert="horz" lIns="91440" tIns="45720" rIns="91440" bIns="45720" rtlCol="0" anchor="ctr">
            <a:normAutofit fontScale="97500" lnSpcReduction="10000"/>
          </a:bodyPr>
          <a:lstStyle>
            <a:lvl1pPr algn="ctr" defTabSz="914400" rtl="0" eaLnBrk="1" latinLnBrk="0" hangingPunct="1">
              <a:spcBef>
                <a:spcPct val="0"/>
              </a:spcBef>
              <a:buNone/>
              <a:defRPr sz="4000" kern="1200">
                <a:solidFill>
                  <a:schemeClr val="tx1"/>
                </a:solidFill>
                <a:latin typeface="+mn-lt"/>
                <a:ea typeface="宋体" panose="02010600030101010101" pitchFamily="2" charset="-122"/>
                <a:cs typeface="+mj-cs"/>
              </a:defRPr>
            </a:lvl1pPr>
          </a:lstStyle>
          <a:p>
            <a:pPr algn="l"/>
            <a:r>
              <a:rPr lang="zh-CN" altLang="en-US" dirty="0">
                <a:latin typeface="华文新魏" panose="02010800040101010101" pitchFamily="2" charset="-122"/>
                <a:ea typeface="华文新魏" panose="02010800040101010101" pitchFamily="2" charset="-122"/>
              </a:rPr>
              <a:t>折半（二分）查找</a:t>
            </a:r>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算法分析</a:t>
            </a:r>
            <a:r>
              <a:rPr lang="en-US" altLang="zh-CN" dirty="0">
                <a:latin typeface="华文新魏" panose="02010800040101010101" pitchFamily="2" charset="-122"/>
                <a:ea typeface="华文新魏" panose="02010800040101010101" pitchFamily="2" charset="-122"/>
              </a:rPr>
              <a:t>-I</a:t>
            </a:r>
            <a:endParaRPr lang="zh-CN" altLang="en-US" dirty="0">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4" name="文本框 3"/>
              <p:cNvSpPr txBox="1"/>
              <p:nvPr/>
            </p:nvSpPr>
            <p:spPr>
              <a:xfrm>
                <a:off x="544793" y="3065476"/>
                <a:ext cx="8347686" cy="2164632"/>
              </a:xfrm>
              <a:prstGeom prst="rect">
                <a:avLst/>
              </a:prstGeom>
              <a:noFill/>
            </p:spPr>
            <p:txBody>
              <a:bodyPr wrap="square" rtlCol="0">
                <a:spAutoFit/>
              </a:bodyPr>
              <a:lstStyle/>
              <a:p>
                <a14:m>
                  <m:oMath xmlns:m="http://schemas.openxmlformats.org/officeDocument/2006/math">
                    <m:r>
                      <a:rPr lang="en-US" altLang="zh-CN" sz="2400" b="1" i="0" smtClean="0">
                        <a:latin typeface="Cambria Math" panose="02040503050406030204" pitchFamily="18" charset="0"/>
                      </a:rPr>
                      <m:t>𝐀𝐒𝐋</m:t>
                    </m:r>
                    <m:r>
                      <a:rPr lang="en-US" altLang="zh-CN" sz="2400" b="0" i="1" baseline="-25000" smtClean="0">
                        <a:latin typeface="Cambria Math" panose="02040503050406030204" pitchFamily="18" charset="0"/>
                      </a:rPr>
                      <m:t>𝑠𝑢𝑐𝑐</m:t>
                    </m:r>
                    <m:r>
                      <a:rPr lang="en-US" altLang="zh-CN" sz="2400" i="1" smtClean="0">
                        <a:latin typeface="Cambria Math" panose="02040503050406030204" pitchFamily="18" charset="0"/>
                      </a:rPr>
                      <m:t>=</m:t>
                    </m:r>
                    <m:nary>
                      <m:naryPr>
                        <m:chr m:val="∑"/>
                        <m:ctrlPr>
                          <a:rPr lang="pt-BR" altLang="zh-CN" sz="2400" i="1" dirty="0" smtClean="0">
                            <a:latin typeface="Cambria Math" panose="02040503050406030204" pitchFamily="18" charset="0"/>
                          </a:rPr>
                        </m:ctrlPr>
                      </m:naryPr>
                      <m:sub>
                        <m:r>
                          <m:rPr>
                            <m:sty m:val="p"/>
                            <m:brk m:alnAt="23"/>
                          </m:rPr>
                          <a:rPr lang="en-US" altLang="zh-CN" sz="2400" i="1" dirty="0">
                            <a:latin typeface="Cambria Math" panose="02040503050406030204" pitchFamily="18" charset="0"/>
                          </a:rPr>
                          <m:t>i</m:t>
                        </m:r>
                        <m:r>
                          <a:rPr lang="pt-BR" altLang="zh-CN" sz="2400" i="1" dirty="0" smtClean="0">
                            <a:latin typeface="Cambria Math" panose="02040503050406030204" pitchFamily="18" charset="0"/>
                          </a:rPr>
                          <m:t>=0</m:t>
                        </m:r>
                      </m:sub>
                      <m:sup>
                        <m:r>
                          <a:rPr lang="pt-BR" altLang="zh-CN" sz="2400" i="1" dirty="0" smtClean="0">
                            <a:latin typeface="Cambria Math" panose="02040503050406030204" pitchFamily="18" charset="0"/>
                          </a:rPr>
                          <m:t>𝑛</m:t>
                        </m:r>
                      </m:sup>
                      <m:e>
                        <m:sSub>
                          <m:sSubPr>
                            <m:ctrlPr>
                              <a:rPr lang="pt-BR" altLang="zh-CN" sz="2400" i="1" dirty="0" smtClean="0">
                                <a:latin typeface="Cambria Math" panose="02040503050406030204" pitchFamily="18" charset="0"/>
                              </a:rPr>
                            </m:ctrlPr>
                          </m:sSubPr>
                          <m:e>
                            <m:r>
                              <a:rPr lang="en-US" altLang="zh-CN" sz="2400" b="0" i="1" dirty="0" smtClean="0">
                                <a:latin typeface="Cambria Math" panose="02040503050406030204" pitchFamily="18" charset="0"/>
                              </a:rPr>
                              <m:t>𝑃</m:t>
                            </m:r>
                          </m:e>
                          <m:sub>
                            <m:r>
                              <a:rPr lang="en-US" altLang="zh-CN" sz="2400" b="0" i="1" dirty="0" smtClean="0">
                                <a:latin typeface="Cambria Math" panose="02040503050406030204" pitchFamily="18" charset="0"/>
                              </a:rPr>
                              <m:t>𝑖</m:t>
                            </m:r>
                          </m:sub>
                        </m:sSub>
                        <m:r>
                          <a:rPr lang="en-US" altLang="zh-CN" sz="2400" b="0" i="1" dirty="0" smtClean="0">
                            <a:latin typeface="Cambria Math" panose="02040503050406030204" pitchFamily="18" charset="0"/>
                            <a:ea typeface="Cambria Math" panose="02040503050406030204" pitchFamily="18" charset="0"/>
                          </a:rPr>
                          <m:t>×</m:t>
                        </m:r>
                        <m:sSub>
                          <m:sSubPr>
                            <m:ctrlPr>
                              <a:rPr lang="en-US" altLang="zh-CN" sz="2400" b="0" i="1" dirty="0" smtClean="0">
                                <a:latin typeface="Cambria Math" panose="02040503050406030204" pitchFamily="18" charset="0"/>
                                <a:ea typeface="Cambria Math" panose="02040503050406030204" pitchFamily="18" charset="0"/>
                              </a:rPr>
                            </m:ctrlPr>
                          </m:sSubPr>
                          <m:e>
                            <m:r>
                              <a:rPr lang="en-US" altLang="zh-CN" sz="2400" b="0" i="1" dirty="0" smtClean="0">
                                <a:latin typeface="Cambria Math" panose="02040503050406030204" pitchFamily="18" charset="0"/>
                                <a:ea typeface="Cambria Math" panose="02040503050406030204" pitchFamily="18" charset="0"/>
                              </a:rPr>
                              <m:t>𝐶</m:t>
                            </m:r>
                          </m:e>
                          <m:sub>
                            <m:r>
                              <a:rPr lang="en-US" altLang="zh-CN" sz="2400" b="0" i="1" dirty="0" smtClean="0">
                                <a:latin typeface="Cambria Math" panose="02040503050406030204" pitchFamily="18" charset="0"/>
                                <a:ea typeface="Cambria Math" panose="02040503050406030204" pitchFamily="18" charset="0"/>
                              </a:rPr>
                              <m:t>𝑖</m:t>
                            </m:r>
                          </m:sub>
                        </m:sSub>
                        <m:r>
                          <a:rPr lang="en-US" altLang="zh-CN" sz="2400" b="0" i="1" dirty="0" smtClean="0">
                            <a:latin typeface="Cambria Math" panose="02040503050406030204" pitchFamily="18" charset="0"/>
                            <a:ea typeface="Cambria Math" panose="02040503050406030204" pitchFamily="18" charset="0"/>
                          </a:rPr>
                          <m:t>=</m:t>
                        </m:r>
                        <m:f>
                          <m:fPr>
                            <m:type m:val="skw"/>
                            <m:ctrlPr>
                              <a:rPr lang="en-US" altLang="zh-CN" sz="2400" i="1" dirty="0">
                                <a:latin typeface="Cambria Math" panose="02040503050406030204" pitchFamily="18" charset="0"/>
                                <a:ea typeface="Cambria Math" panose="02040503050406030204" pitchFamily="18" charset="0"/>
                              </a:rPr>
                            </m:ctrlPr>
                          </m:fPr>
                          <m:num>
                            <m:r>
                              <a:rPr lang="en-US" altLang="zh-CN" sz="2400" i="1" dirty="0">
                                <a:latin typeface="Cambria Math" panose="02040503050406030204" pitchFamily="18" charset="0"/>
                                <a:ea typeface="Cambria Math" panose="02040503050406030204" pitchFamily="18" charset="0"/>
                              </a:rPr>
                              <m:t>1</m:t>
                            </m:r>
                          </m:num>
                          <m:den>
                            <m:r>
                              <a:rPr lang="en-US" altLang="zh-CN" sz="2400" i="1" dirty="0">
                                <a:latin typeface="Cambria Math" panose="02040503050406030204" pitchFamily="18" charset="0"/>
                                <a:ea typeface="Cambria Math" panose="02040503050406030204" pitchFamily="18" charset="0"/>
                              </a:rPr>
                              <m:t>𝑛</m:t>
                            </m:r>
                          </m:den>
                        </m:f>
                        <m:nary>
                          <m:naryPr>
                            <m:chr m:val="∑"/>
                            <m:ctrlPr>
                              <a:rPr lang="en-US" altLang="zh-CN" sz="2400" b="0" i="1" dirty="0" smtClean="0">
                                <a:latin typeface="Cambria Math" panose="02040503050406030204" pitchFamily="18" charset="0"/>
                                <a:ea typeface="Cambria Math" panose="02040503050406030204" pitchFamily="18" charset="0"/>
                              </a:rPr>
                            </m:ctrlPr>
                          </m:naryPr>
                          <m:sub>
                            <m:r>
                              <m:rPr>
                                <m:brk m:alnAt="23"/>
                              </m:rPr>
                              <a:rPr lang="en-US" altLang="zh-CN" sz="2400" b="0" i="1" dirty="0" smtClean="0">
                                <a:latin typeface="Cambria Math" panose="02040503050406030204" pitchFamily="18" charset="0"/>
                                <a:ea typeface="Cambria Math" panose="02040503050406030204" pitchFamily="18" charset="0"/>
                              </a:rPr>
                              <m:t>𝑗</m:t>
                            </m:r>
                            <m:r>
                              <a:rPr lang="en-US" altLang="zh-CN" sz="2400" b="0" i="1" dirty="0" smtClean="0">
                                <a:latin typeface="Cambria Math" panose="02040503050406030204" pitchFamily="18" charset="0"/>
                                <a:ea typeface="Cambria Math" panose="02040503050406030204" pitchFamily="18" charset="0"/>
                              </a:rPr>
                              <m:t>=1</m:t>
                            </m:r>
                          </m:sub>
                          <m:sup>
                            <m:r>
                              <a:rPr lang="en-US" altLang="zh-CN" sz="2400" b="0" i="1" dirty="0" smtClean="0">
                                <a:latin typeface="Cambria Math" panose="02040503050406030204" pitchFamily="18" charset="0"/>
                                <a:ea typeface="Cambria Math" panose="02040503050406030204" pitchFamily="18" charset="0"/>
                              </a:rPr>
                              <m:t>h</m:t>
                            </m:r>
                          </m:sup>
                          <m:e>
                            <m:r>
                              <a:rPr lang="en-US" altLang="zh-CN" sz="2400" b="0" i="1" dirty="0" smtClean="0">
                                <a:latin typeface="Cambria Math" panose="02040503050406030204" pitchFamily="18" charset="0"/>
                                <a:ea typeface="Cambria Math" panose="02040503050406030204" pitchFamily="18" charset="0"/>
                              </a:rPr>
                              <m:t>𝑗</m:t>
                            </m:r>
                            <m:r>
                              <a:rPr lang="en-US" altLang="zh-CN" sz="2400" b="0" i="1" dirty="0" smtClean="0">
                                <a:latin typeface="Cambria Math" panose="02040503050406030204" pitchFamily="18" charset="0"/>
                                <a:ea typeface="Cambria Math" panose="02040503050406030204" pitchFamily="18" charset="0"/>
                              </a:rPr>
                              <m:t>×</m:t>
                            </m:r>
                            <m:sSup>
                              <m:sSupPr>
                                <m:ctrlPr>
                                  <a:rPr lang="en-US" altLang="zh-CN" sz="2400" b="0" i="1" dirty="0" smtClean="0">
                                    <a:latin typeface="Cambria Math" panose="02040503050406030204" pitchFamily="18" charset="0"/>
                                    <a:ea typeface="Cambria Math" panose="02040503050406030204" pitchFamily="18" charset="0"/>
                                  </a:rPr>
                                </m:ctrlPr>
                              </m:sSupPr>
                              <m:e>
                                <m:r>
                                  <a:rPr lang="en-US" altLang="zh-CN" sz="2400" b="0" i="1" dirty="0" smtClean="0">
                                    <a:latin typeface="Cambria Math" panose="02040503050406030204" pitchFamily="18" charset="0"/>
                                    <a:ea typeface="Cambria Math" panose="02040503050406030204" pitchFamily="18" charset="0"/>
                                  </a:rPr>
                                  <m:t>2</m:t>
                                </m:r>
                              </m:e>
                              <m:sup>
                                <m:r>
                                  <a:rPr lang="en-US" altLang="zh-CN" sz="2400" b="0" i="1" dirty="0" smtClean="0">
                                    <a:latin typeface="Cambria Math" panose="02040503050406030204" pitchFamily="18" charset="0"/>
                                    <a:ea typeface="Cambria Math" panose="02040503050406030204" pitchFamily="18" charset="0"/>
                                  </a:rPr>
                                  <m:t>𝑗</m:t>
                                </m:r>
                                <m:r>
                                  <a:rPr lang="en-US" altLang="zh-CN" sz="2400" b="0" i="1" dirty="0" smtClean="0">
                                    <a:latin typeface="Cambria Math" panose="02040503050406030204" pitchFamily="18" charset="0"/>
                                    <a:ea typeface="Cambria Math" panose="02040503050406030204" pitchFamily="18" charset="0"/>
                                  </a:rPr>
                                  <m:t>−1</m:t>
                                </m:r>
                              </m:sup>
                            </m:sSup>
                            <m:r>
                              <a:rPr lang="en-US" altLang="zh-CN" sz="2400" b="0" i="1" dirty="0" smtClean="0">
                                <a:latin typeface="Cambria Math" panose="02040503050406030204" pitchFamily="18" charset="0"/>
                                <a:ea typeface="Cambria Math" panose="02040503050406030204" pitchFamily="18" charset="0"/>
                              </a:rPr>
                              <m:t>=</m:t>
                            </m:r>
                            <m:f>
                              <m:fPr>
                                <m:ctrlPr>
                                  <a:rPr lang="en-US" altLang="zh-CN" sz="2400" b="0" i="1" dirty="0" smtClean="0">
                                    <a:latin typeface="Cambria Math" panose="02040503050406030204" pitchFamily="18" charset="0"/>
                                    <a:ea typeface="Cambria Math" panose="02040503050406030204" pitchFamily="18" charset="0"/>
                                  </a:rPr>
                                </m:ctrlPr>
                              </m:fPr>
                              <m:num>
                                <m:r>
                                  <a:rPr lang="en-US" altLang="zh-CN" sz="2400" b="0" i="1" dirty="0" smtClean="0">
                                    <a:latin typeface="Cambria Math" panose="02040503050406030204" pitchFamily="18" charset="0"/>
                                    <a:ea typeface="Cambria Math" panose="02040503050406030204" pitchFamily="18" charset="0"/>
                                  </a:rPr>
                                  <m:t>𝑛</m:t>
                                </m:r>
                                <m:r>
                                  <a:rPr lang="en-US" altLang="zh-CN" sz="2400" b="0" i="1" dirty="0" smtClean="0">
                                    <a:latin typeface="Cambria Math" panose="02040503050406030204" pitchFamily="18" charset="0"/>
                                    <a:ea typeface="Cambria Math" panose="02040503050406030204" pitchFamily="18" charset="0"/>
                                  </a:rPr>
                                  <m:t>+1</m:t>
                                </m:r>
                              </m:num>
                              <m:den>
                                <m:r>
                                  <a:rPr lang="en-US" altLang="zh-CN" sz="2400" b="0" i="1" dirty="0" smtClean="0">
                                    <a:latin typeface="Cambria Math" panose="02040503050406030204" pitchFamily="18" charset="0"/>
                                    <a:ea typeface="Cambria Math" panose="02040503050406030204" pitchFamily="18" charset="0"/>
                                  </a:rPr>
                                  <m:t>𝑛</m:t>
                                </m:r>
                              </m:den>
                            </m:f>
                            <m:func>
                              <m:funcPr>
                                <m:ctrlPr>
                                  <a:rPr lang="en-US" altLang="zh-CN" sz="2400" b="0" i="1" dirty="0" smtClean="0">
                                    <a:latin typeface="Cambria Math" panose="02040503050406030204" pitchFamily="18" charset="0"/>
                                    <a:ea typeface="Cambria Math" panose="02040503050406030204" pitchFamily="18" charset="0"/>
                                  </a:rPr>
                                </m:ctrlPr>
                              </m:funcPr>
                              <m:fName>
                                <m:sSub>
                                  <m:sSubPr>
                                    <m:ctrlPr>
                                      <a:rPr lang="en-US" altLang="zh-CN" sz="2400" b="0" i="1" dirty="0" smtClean="0">
                                        <a:latin typeface="Cambria Math" panose="02040503050406030204" pitchFamily="18" charset="0"/>
                                        <a:ea typeface="Cambria Math" panose="02040503050406030204" pitchFamily="18" charset="0"/>
                                      </a:rPr>
                                    </m:ctrlPr>
                                  </m:sSubPr>
                                  <m:e>
                                    <m:r>
                                      <m:rPr>
                                        <m:sty m:val="p"/>
                                      </m:rPr>
                                      <a:rPr lang="en-US" altLang="zh-CN" sz="2400" b="0" i="0" dirty="0" smtClean="0">
                                        <a:latin typeface="Cambria Math" panose="02040503050406030204" pitchFamily="18" charset="0"/>
                                        <a:ea typeface="Cambria Math" panose="02040503050406030204" pitchFamily="18" charset="0"/>
                                      </a:rPr>
                                      <m:t>log</m:t>
                                    </m:r>
                                  </m:e>
                                  <m:sub>
                                    <m:r>
                                      <a:rPr lang="en-US" altLang="zh-CN" sz="2400" b="0" i="1" dirty="0" smtClean="0">
                                        <a:latin typeface="Cambria Math" panose="02040503050406030204" pitchFamily="18" charset="0"/>
                                        <a:ea typeface="Cambria Math" panose="02040503050406030204" pitchFamily="18" charset="0"/>
                                      </a:rPr>
                                      <m:t>2</m:t>
                                    </m:r>
                                  </m:sub>
                                </m:sSub>
                              </m:fName>
                              <m:e>
                                <m:r>
                                  <a:rPr lang="en-US" altLang="zh-CN" sz="2400" b="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ea typeface="Cambria Math" panose="02040503050406030204" pitchFamily="18" charset="0"/>
                                  </a:rPr>
                                  <m:t>𝑛</m:t>
                                </m:r>
                                <m:r>
                                  <a:rPr lang="en-US" altLang="zh-CN" sz="2400" b="0" i="1" dirty="0" smtClean="0">
                                    <a:latin typeface="Cambria Math" panose="02040503050406030204" pitchFamily="18" charset="0"/>
                                    <a:ea typeface="Cambria Math" panose="02040503050406030204" pitchFamily="18" charset="0"/>
                                  </a:rPr>
                                  <m:t>+1)</m:t>
                                </m:r>
                              </m:e>
                            </m:func>
                          </m:e>
                        </m:nary>
                      </m:e>
                    </m:nary>
                  </m:oMath>
                </a14:m>
                <a:r>
                  <a:rPr lang="en-US" altLang="zh-CN" sz="2400" dirty="0"/>
                  <a:t>-1</a:t>
                </a:r>
              </a:p>
              <a:p>
                <a:pPr indent="536575"/>
                <a:r>
                  <a:rPr lang="zh-CN" altLang="en-US" sz="2400" dirty="0">
                    <a:latin typeface="宋体" panose="02010600030101010101" pitchFamily="2" charset="-122"/>
                    <a:ea typeface="宋体" panose="02010600030101010101" pitchFamily="2" charset="-122"/>
                  </a:rPr>
                  <a:t>－</a:t>
                </a:r>
                <a:r>
                  <a:rPr lang="en-US" altLang="zh-CN" sz="2400" dirty="0">
                    <a:latin typeface="华文楷体" panose="02010600040101010101" pitchFamily="2" charset="-122"/>
                    <a:ea typeface="华文楷体" panose="02010600040101010101" pitchFamily="2" charset="-122"/>
                  </a:rPr>
                  <a:t>Ci</a:t>
                </a:r>
                <a:r>
                  <a:rPr lang="zh-CN" altLang="en-US" sz="2400" dirty="0">
                    <a:latin typeface="华文楷体" panose="02010600040101010101" pitchFamily="2" charset="-122"/>
                    <a:ea typeface="华文楷体" panose="02010600040101010101" pitchFamily="2" charset="-122"/>
                  </a:rPr>
                  <a:t>为找到第</a:t>
                </a:r>
                <a:r>
                  <a:rPr lang="en-US" altLang="zh-CN" sz="2400" dirty="0" err="1">
                    <a:latin typeface="华文楷体" panose="02010600040101010101" pitchFamily="2" charset="-122"/>
                    <a:ea typeface="华文楷体" panose="02010600040101010101" pitchFamily="2" charset="-122"/>
                  </a:rPr>
                  <a:t>i</a:t>
                </a:r>
                <a:r>
                  <a:rPr lang="zh-CN" altLang="en-US" sz="2400" dirty="0">
                    <a:latin typeface="华文楷体" panose="02010600040101010101" pitchFamily="2" charset="-122"/>
                    <a:ea typeface="华文楷体" panose="02010600040101010101" pitchFamily="2" charset="-122"/>
                  </a:rPr>
                  <a:t>个记录时已进行过比较的关键字个数</a:t>
                </a:r>
                <a:endParaRPr lang="en-US" altLang="zh-CN" sz="2400" dirty="0">
                  <a:latin typeface="华文楷体" panose="02010600040101010101" pitchFamily="2" charset="-122"/>
                  <a:ea typeface="华文楷体" panose="02010600040101010101" pitchFamily="2" charset="-122"/>
                </a:endParaRPr>
              </a:p>
              <a:p>
                <a:pPr indent="536575"/>
                <a:r>
                  <a:rPr lang="zh-CN" altLang="en-US" sz="2400" dirty="0">
                    <a:latin typeface="宋体" panose="02010600030101010101" pitchFamily="2" charset="-122"/>
                  </a:rPr>
                  <a:t>－</a:t>
                </a:r>
                <a14:m>
                  <m:oMath xmlns:m="http://schemas.openxmlformats.org/officeDocument/2006/math">
                    <m:nary>
                      <m:naryPr>
                        <m:chr m:val="∑"/>
                        <m:ctrlPr>
                          <a:rPr lang="pt-BR" altLang="zh-CN" sz="2400" i="1" dirty="0" smtClean="0">
                            <a:latin typeface="Cambria Math" panose="02040503050406030204" pitchFamily="18" charset="0"/>
                            <a:ea typeface="华文楷体" panose="02010600040101010101" pitchFamily="2" charset="-122"/>
                          </a:rPr>
                        </m:ctrlPr>
                      </m:naryPr>
                      <m:sub>
                        <m:r>
                          <a:rPr lang="en-US" altLang="zh-CN" sz="2400" b="0" i="1" dirty="0" smtClean="0">
                            <a:latin typeface="Cambria Math" panose="02040503050406030204" pitchFamily="18" charset="0"/>
                            <a:ea typeface="华文楷体" panose="02010600040101010101" pitchFamily="2" charset="-122"/>
                          </a:rPr>
                          <m:t>𝑗</m:t>
                        </m:r>
                        <m:r>
                          <a:rPr lang="pt-BR" altLang="zh-CN" sz="2400" i="1" dirty="0" smtClean="0">
                            <a:latin typeface="Cambria Math" panose="02040503050406030204" pitchFamily="18" charset="0"/>
                            <a:ea typeface="华文楷体" panose="02010600040101010101" pitchFamily="2" charset="-122"/>
                          </a:rPr>
                          <m:t>=1</m:t>
                        </m:r>
                      </m:sub>
                      <m:sup>
                        <m:r>
                          <a:rPr lang="en-US" altLang="zh-CN" sz="2400" b="0" i="1" dirty="0" smtClean="0">
                            <a:latin typeface="Cambria Math" panose="02040503050406030204" pitchFamily="18" charset="0"/>
                            <a:ea typeface="华文楷体" panose="02010600040101010101" pitchFamily="2" charset="-122"/>
                          </a:rPr>
                          <m:t>h</m:t>
                        </m:r>
                      </m:sup>
                      <m:e>
                        <m:r>
                          <a:rPr lang="en-US" altLang="zh-CN" sz="2400" b="0" i="1" dirty="0" smtClean="0">
                            <a:latin typeface="Cambria Math" panose="02040503050406030204" pitchFamily="18" charset="0"/>
                            <a:ea typeface="华文楷体" panose="02010600040101010101" pitchFamily="2" charset="-122"/>
                          </a:rPr>
                          <m:t>𝑗</m:t>
                        </m:r>
                        <m:r>
                          <a:rPr lang="en-US" altLang="zh-CN" sz="2400" b="0" i="1" dirty="0" smtClean="0">
                            <a:latin typeface="Cambria Math" panose="02040503050406030204" pitchFamily="18" charset="0"/>
                            <a:ea typeface="Cambria Math" panose="02040503050406030204" pitchFamily="18" charset="0"/>
                          </a:rPr>
                          <m:t>×</m:t>
                        </m:r>
                        <m:sSup>
                          <m:sSupPr>
                            <m:ctrlPr>
                              <a:rPr lang="en-US" altLang="zh-CN" sz="2400" b="0" i="1" dirty="0" smtClean="0">
                                <a:latin typeface="Cambria Math" panose="02040503050406030204" pitchFamily="18" charset="0"/>
                                <a:ea typeface="Cambria Math" panose="02040503050406030204" pitchFamily="18" charset="0"/>
                              </a:rPr>
                            </m:ctrlPr>
                          </m:sSupPr>
                          <m:e>
                            <m:r>
                              <a:rPr lang="en-US" altLang="zh-CN" sz="2400" b="0" i="1" dirty="0" smtClean="0">
                                <a:latin typeface="Cambria Math" panose="02040503050406030204" pitchFamily="18" charset="0"/>
                                <a:ea typeface="Cambria Math" panose="02040503050406030204" pitchFamily="18" charset="0"/>
                              </a:rPr>
                              <m:t>2</m:t>
                            </m:r>
                          </m:e>
                          <m:sup>
                            <m:r>
                              <a:rPr lang="en-US" altLang="zh-CN" sz="2400" b="0" i="1" dirty="0" smtClean="0">
                                <a:latin typeface="Cambria Math" panose="02040503050406030204" pitchFamily="18" charset="0"/>
                                <a:ea typeface="Cambria Math" panose="02040503050406030204" pitchFamily="18" charset="0"/>
                              </a:rPr>
                              <m:t>𝑗</m:t>
                            </m:r>
                            <m:r>
                              <a:rPr lang="en-US" altLang="zh-CN" sz="2400" b="0" i="1" dirty="0" smtClean="0">
                                <a:latin typeface="Cambria Math" panose="02040503050406030204" pitchFamily="18" charset="0"/>
                                <a:ea typeface="Cambria Math" panose="02040503050406030204" pitchFamily="18" charset="0"/>
                              </a:rPr>
                              <m:t>−1</m:t>
                            </m:r>
                          </m:sup>
                        </m:sSup>
                      </m:e>
                    </m:nary>
                  </m:oMath>
                </a14:m>
                <a:r>
                  <a:rPr lang="en-US" altLang="zh-CN" sz="2400" dirty="0">
                    <a:latin typeface="Cambria Math" panose="02040503050406030204" pitchFamily="18" charset="0"/>
                    <a:ea typeface="Cambria Math" panose="02040503050406030204" pitchFamily="18" charset="0"/>
                  </a:rPr>
                  <a:t>=(h-1) </a:t>
                </a:r>
                <a14:m>
                  <m:oMath xmlns:m="http://schemas.openxmlformats.org/officeDocument/2006/math">
                    <m:r>
                      <a:rPr lang="en-US" altLang="zh-CN" sz="2400" i="1" dirty="0">
                        <a:latin typeface="Cambria Math" panose="02040503050406030204" pitchFamily="18" charset="0"/>
                        <a:ea typeface="Cambria Math" panose="02040503050406030204" pitchFamily="18" charset="0"/>
                      </a:rPr>
                      <m:t>× </m:t>
                    </m:r>
                    <m:sSup>
                      <m:sSupPr>
                        <m:ctrlPr>
                          <a:rPr lang="en-US" altLang="zh-CN" sz="2400" i="1" smtClean="0">
                            <a:latin typeface="Cambria Math" panose="02040503050406030204" pitchFamily="18" charset="0"/>
                            <a:ea typeface="华文楷体" panose="02010600040101010101" pitchFamily="2" charset="-122"/>
                          </a:rPr>
                        </m:ctrlPr>
                      </m:sSupPr>
                      <m:e>
                        <m:r>
                          <a:rPr lang="en-US" altLang="zh-CN" sz="2400" b="0" i="1" smtClean="0">
                            <a:latin typeface="Cambria Math" panose="02040503050406030204" pitchFamily="18" charset="0"/>
                            <a:ea typeface="华文楷体" panose="02010600040101010101" pitchFamily="2" charset="-122"/>
                          </a:rPr>
                          <m:t>2</m:t>
                        </m:r>
                      </m:e>
                      <m:sup>
                        <m:r>
                          <a:rPr lang="en-US" altLang="zh-CN" sz="2400" b="0" i="1" smtClean="0">
                            <a:latin typeface="Cambria Math" panose="02040503050406030204" pitchFamily="18" charset="0"/>
                            <a:ea typeface="华文楷体" panose="02010600040101010101" pitchFamily="2" charset="-122"/>
                          </a:rPr>
                          <m:t>h</m:t>
                        </m:r>
                      </m:sup>
                    </m:sSup>
                    <m:r>
                      <a:rPr lang="en-US" altLang="zh-CN" sz="2400" b="0" i="1" smtClean="0">
                        <a:latin typeface="Cambria Math" panose="02040503050406030204" pitchFamily="18" charset="0"/>
                        <a:ea typeface="华文楷体" panose="02010600040101010101" pitchFamily="2" charset="-122"/>
                      </a:rPr>
                      <m:t>+1</m:t>
                    </m:r>
                  </m:oMath>
                </a14:m>
                <a:endParaRPr lang="en-US" altLang="zh-CN" sz="2400" dirty="0">
                  <a:latin typeface="华文楷体" panose="02010600040101010101" pitchFamily="2" charset="-122"/>
                  <a:ea typeface="华文楷体" panose="02010600040101010101" pitchFamily="2" charset="-122"/>
                </a:endParaRPr>
              </a:p>
              <a:p>
                <a:endParaRPr lang="en-US" altLang="zh-CN" sz="2400" dirty="0">
                  <a:latin typeface="华文楷体" panose="02010600040101010101" pitchFamily="2" charset="-122"/>
                  <a:ea typeface="华文楷体" panose="02010600040101010101" pitchFamily="2" charset="-122"/>
                </a:endParaRPr>
              </a:p>
              <a:p>
                <a:pPr marL="342900" lvl="0" indent="-342900">
                  <a:buFont typeface="Arial" panose="020B0604020202020204" pitchFamily="34" charset="0"/>
                  <a:buChar char="•"/>
                  <a:defRPr/>
                </a:pPr>
                <a:r>
                  <a:rPr lang="zh-CN" altLang="en-US" sz="2400" dirty="0">
                    <a:latin typeface="华文楷体" panose="02010600040101010101" pitchFamily="2" charset="-122"/>
                    <a:ea typeface="华文楷体" panose="02010600040101010101" pitchFamily="2" charset="-122"/>
                  </a:rPr>
                  <a:t>当</a:t>
                </a:r>
                <a:r>
                  <a:rPr lang="en-US" altLang="en-US" sz="2400" dirty="0">
                    <a:latin typeface="华文楷体" panose="02010600040101010101" pitchFamily="2" charset="-122"/>
                    <a:ea typeface="华文楷体" panose="02010600040101010101" pitchFamily="2" charset="-122"/>
                  </a:rPr>
                  <a:t>n</a:t>
                </a:r>
                <a:r>
                  <a:rPr lang="zh-CN" altLang="en-US" sz="2400" dirty="0">
                    <a:latin typeface="华文楷体" panose="02010600040101010101" pitchFamily="2" charset="-122"/>
                    <a:ea typeface="华文楷体" panose="02010600040101010101" pitchFamily="2" charset="-122"/>
                  </a:rPr>
                  <a:t>很大 </a:t>
                </a:r>
                <a:r>
                  <a:rPr lang="en-US" altLang="en-US" sz="2400" dirty="0">
                    <a:latin typeface="华文楷体" panose="02010600040101010101" pitchFamily="2" charset="-122"/>
                    <a:ea typeface="华文楷体" panose="02010600040101010101" pitchFamily="2" charset="-122"/>
                  </a:rPr>
                  <a:t>(n&gt;50)</a:t>
                </a:r>
                <a:r>
                  <a:rPr lang="zh-CN" altLang="en-US" sz="2400" dirty="0">
                    <a:latin typeface="华文楷体" panose="02010600040101010101" pitchFamily="2" charset="-122"/>
                    <a:ea typeface="华文楷体" panose="02010600040101010101" pitchFamily="2" charset="-122"/>
                  </a:rPr>
                  <a:t>时，</a:t>
                </a:r>
                <a:r>
                  <a:rPr lang="en-US" altLang="zh-CN" sz="2400" b="1" dirty="0"/>
                  <a:t> </a:t>
                </a:r>
                <a14:m>
                  <m:oMath xmlns:m="http://schemas.openxmlformats.org/officeDocument/2006/math">
                    <m:r>
                      <a:rPr lang="en-US" altLang="zh-CN" sz="2400" b="1">
                        <a:latin typeface="Cambria Math" panose="02040503050406030204" pitchFamily="18" charset="0"/>
                      </a:rPr>
                      <m:t>𝐀𝐒𝐋</m:t>
                    </m:r>
                    <m:r>
                      <a:rPr lang="en-US" altLang="zh-CN" sz="2400" i="1" baseline="-25000">
                        <a:latin typeface="Cambria Math" panose="02040503050406030204" pitchFamily="18" charset="0"/>
                      </a:rPr>
                      <m:t>𝑠𝑢𝑐𝑐</m:t>
                    </m:r>
                    <m:r>
                      <a:rPr lang="en-US" altLang="zh-CN" sz="2400" i="1" baseline="-25000">
                        <a:latin typeface="Cambria Math" panose="02040503050406030204" pitchFamily="18" charset="0"/>
                      </a:rPr>
                      <m:t> </m:t>
                    </m:r>
                  </m:oMath>
                </a14:m>
                <a:r>
                  <a:rPr lang="en-US" altLang="en-US" sz="2400" dirty="0">
                    <a:latin typeface="华文楷体" panose="02010600040101010101" pitchFamily="2" charset="-122"/>
                    <a:ea typeface="华文楷体" panose="02010600040101010101" pitchFamily="2" charset="-122"/>
                  </a:rPr>
                  <a:t>≈ ㏒</a:t>
                </a:r>
                <a:r>
                  <a:rPr lang="en-US" altLang="en-US" sz="2400" baseline="-25000" dirty="0">
                    <a:latin typeface="华文楷体" panose="02010600040101010101" pitchFamily="2" charset="-122"/>
                    <a:ea typeface="华文楷体" panose="02010600040101010101" pitchFamily="2" charset="-122"/>
                  </a:rPr>
                  <a:t>2</a:t>
                </a:r>
                <a:r>
                  <a:rPr lang="en-US" altLang="en-US" sz="2400" dirty="0">
                    <a:latin typeface="华文楷体" panose="02010600040101010101" pitchFamily="2" charset="-122"/>
                    <a:ea typeface="华文楷体" panose="02010600040101010101" pitchFamily="2" charset="-122"/>
                  </a:rPr>
                  <a:t>(n+1)-1</a:t>
                </a:r>
                <a:r>
                  <a:rPr lang="en-US" altLang="zh-CN" sz="2400" dirty="0">
                    <a:latin typeface="华文楷体" panose="02010600040101010101" pitchFamily="2" charset="-122"/>
                    <a:ea typeface="华文楷体" panose="02010600040101010101" pitchFamily="2" charset="-122"/>
                  </a:rPr>
                  <a:t>→O(log</a:t>
                </a:r>
                <a:r>
                  <a:rPr lang="en-US" altLang="zh-CN" sz="2400" baseline="-25000" dirty="0">
                    <a:latin typeface="华文楷体" panose="02010600040101010101" pitchFamily="2" charset="-122"/>
                    <a:ea typeface="华文楷体" panose="02010600040101010101" pitchFamily="2" charset="-122"/>
                  </a:rPr>
                  <a:t>2</a:t>
                </a:r>
                <a:r>
                  <a:rPr lang="en-US" altLang="zh-CN" sz="2400" dirty="0">
                    <a:latin typeface="华文楷体" panose="02010600040101010101" pitchFamily="2" charset="-122"/>
                    <a:ea typeface="华文楷体" panose="02010600040101010101" pitchFamily="2" charset="-122"/>
                  </a:rPr>
                  <a:t>n)</a:t>
                </a:r>
              </a:p>
            </p:txBody>
          </p:sp>
        </mc:Choice>
        <mc:Fallback xmlns="">
          <p:sp>
            <p:nvSpPr>
              <p:cNvPr id="4" name="文本框 3"/>
              <p:cNvSpPr txBox="1">
                <a:spLocks noRot="1" noChangeAspect="1" noMove="1" noResize="1" noEditPoints="1" noAdjustHandles="1" noChangeArrowheads="1" noChangeShapeType="1" noTextEdit="1"/>
              </p:cNvSpPr>
              <p:nvPr/>
            </p:nvSpPr>
            <p:spPr>
              <a:xfrm>
                <a:off x="544793" y="3065476"/>
                <a:ext cx="8347686" cy="2164632"/>
              </a:xfrm>
              <a:prstGeom prst="rect">
                <a:avLst/>
              </a:prstGeom>
              <a:blipFill rotWithShape="0">
                <a:blip r:embed="rId3"/>
                <a:stretch>
                  <a:fillRect l="-949" b="-563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03834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638" y="-23204"/>
            <a:ext cx="8962870" cy="684758"/>
          </a:xfrm>
        </p:spPr>
        <p:txBody>
          <a:bodyPr>
            <a:normAutofit/>
          </a:bodyPr>
          <a:lstStyle/>
          <a:p>
            <a:pPr algn="l"/>
            <a:r>
              <a:rPr lang="zh-CN" altLang="en-US" sz="3200" dirty="0">
                <a:latin typeface="华文新魏" panose="02010800040101010101" pitchFamily="2" charset="-122"/>
                <a:ea typeface="华文新魏" panose="02010800040101010101" pitchFamily="2" charset="-122"/>
              </a:rPr>
              <a:t>折半（二分）查找算法分析</a:t>
            </a:r>
            <a:r>
              <a:rPr lang="en-US" altLang="zh-CN" sz="3200" dirty="0">
                <a:latin typeface="华文新魏" panose="02010800040101010101" pitchFamily="2" charset="-122"/>
                <a:ea typeface="华文新魏" panose="02010800040101010101" pitchFamily="2" charset="-122"/>
              </a:rPr>
              <a:t>-</a:t>
            </a:r>
            <a:r>
              <a:rPr lang="zh-CN" altLang="en-US" sz="3200" dirty="0">
                <a:latin typeface="华文新魏" panose="02010800040101010101" pitchFamily="2" charset="-122"/>
                <a:ea typeface="华文新魏" panose="02010800040101010101" pitchFamily="2" charset="-122"/>
              </a:rPr>
              <a:t>算法分析</a:t>
            </a:r>
            <a:r>
              <a:rPr lang="en-US" altLang="zh-CN" sz="3200" dirty="0">
                <a:latin typeface="华文新魏" panose="02010800040101010101" pitchFamily="2" charset="-122"/>
                <a:ea typeface="华文新魏" panose="02010800040101010101" pitchFamily="2" charset="-122"/>
              </a:rPr>
              <a:t>-</a:t>
            </a:r>
            <a:r>
              <a:rPr lang="zh-CN" altLang="en-US" sz="3200" dirty="0">
                <a:latin typeface="华文新魏" panose="02010800040101010101" pitchFamily="2" charset="-122"/>
                <a:ea typeface="华文新魏" panose="02010800040101010101" pitchFamily="2" charset="-122"/>
              </a:rPr>
              <a:t>查找实例</a:t>
            </a:r>
            <a:endParaRPr lang="en-US" sz="3200" dirty="0">
              <a:latin typeface="华文新魏" panose="02010800040101010101" pitchFamily="2" charset="-122"/>
              <a:ea typeface="华文新魏" panose="02010800040101010101" pitchFamily="2" charset="-122"/>
            </a:endParaRPr>
          </a:p>
        </p:txBody>
      </p:sp>
      <p:sp>
        <p:nvSpPr>
          <p:cNvPr id="5" name="内容占位符 4"/>
          <p:cNvSpPr>
            <a:spLocks noGrp="1"/>
          </p:cNvSpPr>
          <p:nvPr>
            <p:ph idx="1"/>
          </p:nvPr>
        </p:nvSpPr>
        <p:spPr>
          <a:xfrm>
            <a:off x="143273" y="785428"/>
            <a:ext cx="8229600" cy="5832648"/>
          </a:xfrm>
        </p:spPr>
        <p:txBody>
          <a:bodyPr>
            <a:normAutofit/>
          </a:bodyPr>
          <a:lstStyle/>
          <a:p>
            <a:pPr marL="630238" indent="-630238">
              <a:buNone/>
            </a:pPr>
            <a:r>
              <a:rPr lang="zh-CN" altLang="en-US" sz="2400" dirty="0">
                <a:latin typeface="华文楷体" panose="02010600040101010101" pitchFamily="2" charset="-122"/>
                <a:ea typeface="华文楷体" panose="02010600040101010101" pitchFamily="2" charset="-122"/>
              </a:rPr>
              <a:t>例：对有序顺序表 </a:t>
            </a:r>
            <a:r>
              <a:rPr lang="en-US" altLang="zh-CN" sz="2400" dirty="0">
                <a:latin typeface="华文楷体" panose="02010600040101010101" pitchFamily="2" charset="-122"/>
                <a:ea typeface="华文楷体" panose="02010600040101010101" pitchFamily="2" charset="-122"/>
              </a:rPr>
              <a:t>(10, 20, 30, 40, 50, 60)</a:t>
            </a:r>
            <a:r>
              <a:rPr lang="zh-CN" altLang="en-US" sz="2400" dirty="0">
                <a:latin typeface="华文楷体" panose="02010600040101010101" pitchFamily="2" charset="-122"/>
                <a:ea typeface="华文楷体" panose="02010600040101010101" pitchFamily="2" charset="-122"/>
              </a:rPr>
              <a:t>进行二分查找，对应的判定树如下：</a:t>
            </a:r>
            <a:endParaRPr lang="en-US" sz="2400" dirty="0">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19</a:t>
            </a:fld>
            <a:endParaRPr lang="zh-CN" altLang="en-US"/>
          </a:p>
        </p:txBody>
      </p:sp>
      <p:grpSp>
        <p:nvGrpSpPr>
          <p:cNvPr id="54" name="组合 53"/>
          <p:cNvGrpSpPr/>
          <p:nvPr/>
        </p:nvGrpSpPr>
        <p:grpSpPr>
          <a:xfrm>
            <a:off x="1187624" y="2627009"/>
            <a:ext cx="6953200" cy="3657600"/>
            <a:chOff x="1219200" y="2939752"/>
            <a:chExt cx="6629400" cy="3657600"/>
          </a:xfrm>
        </p:grpSpPr>
        <p:sp>
          <p:nvSpPr>
            <p:cNvPr id="9" name="Oval 3"/>
            <p:cNvSpPr>
              <a:spLocks noChangeArrowheads="1"/>
            </p:cNvSpPr>
            <p:nvPr/>
          </p:nvSpPr>
          <p:spPr bwMode="auto">
            <a:xfrm>
              <a:off x="1905000" y="3930352"/>
              <a:ext cx="533400" cy="533400"/>
            </a:xfrm>
            <a:prstGeom prst="ellipse">
              <a:avLst/>
            </a:prstGeom>
            <a:solidFill>
              <a:schemeClr val="accent4">
                <a:lumMod val="40000"/>
                <a:lumOff val="60000"/>
              </a:schemeClr>
            </a:solidFill>
            <a:ln w="38100">
              <a:solidFill>
                <a:schemeClr val="tx1"/>
              </a:solidFill>
              <a:round/>
              <a:headEnd/>
              <a:tailEnd/>
            </a:ln>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b="1">
                  <a:solidFill>
                    <a:srgbClr val="0000FF"/>
                  </a:solidFill>
                  <a:latin typeface="Times New Roman" pitchFamily="18" charset="0"/>
                </a:rPr>
                <a:t>10</a:t>
              </a:r>
              <a:endParaRPr kumimoji="1" lang="en-US" altLang="zh-CN" sz="2400">
                <a:solidFill>
                  <a:srgbClr val="0000FF"/>
                </a:solidFill>
                <a:latin typeface="Times New Roman" pitchFamily="18" charset="0"/>
              </a:endParaRPr>
            </a:p>
          </p:txBody>
        </p:sp>
        <p:sp>
          <p:nvSpPr>
            <p:cNvPr id="10" name="Oval 4"/>
            <p:cNvSpPr>
              <a:spLocks noChangeArrowheads="1"/>
            </p:cNvSpPr>
            <p:nvPr/>
          </p:nvSpPr>
          <p:spPr bwMode="auto">
            <a:xfrm>
              <a:off x="5943600" y="3930352"/>
              <a:ext cx="533400" cy="533400"/>
            </a:xfrm>
            <a:prstGeom prst="ellipse">
              <a:avLst/>
            </a:prstGeom>
            <a:solidFill>
              <a:schemeClr val="accent4">
                <a:lumMod val="40000"/>
                <a:lumOff val="60000"/>
              </a:schemeClr>
            </a:solidFill>
            <a:ln w="38100">
              <a:solidFill>
                <a:schemeClr val="tx1"/>
              </a:solidFill>
              <a:round/>
              <a:headEnd/>
              <a:tailEnd/>
            </a:ln>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b="1">
                  <a:solidFill>
                    <a:srgbClr val="0000FF"/>
                  </a:solidFill>
                  <a:latin typeface="Times New Roman" pitchFamily="18" charset="0"/>
                </a:rPr>
                <a:t>50</a:t>
              </a:r>
              <a:endParaRPr kumimoji="1" lang="en-US" altLang="zh-CN" sz="2400">
                <a:solidFill>
                  <a:srgbClr val="0000FF"/>
                </a:solidFill>
                <a:latin typeface="Times New Roman" pitchFamily="18" charset="0"/>
              </a:endParaRPr>
            </a:p>
          </p:txBody>
        </p:sp>
        <p:sp>
          <p:nvSpPr>
            <p:cNvPr id="11" name="Rectangle 5"/>
            <p:cNvSpPr>
              <a:spLocks noChangeArrowheads="1"/>
            </p:cNvSpPr>
            <p:nvPr/>
          </p:nvSpPr>
          <p:spPr bwMode="auto">
            <a:xfrm>
              <a:off x="3352800" y="6216352"/>
              <a:ext cx="533400" cy="381000"/>
            </a:xfrm>
            <a:prstGeom prst="rect">
              <a:avLst/>
            </a:prstGeom>
            <a:solidFill>
              <a:schemeClr val="accent6">
                <a:lumMod val="40000"/>
                <a:lumOff val="60000"/>
              </a:schemeClr>
            </a:solidFill>
            <a:ln w="38100">
              <a:solidFill>
                <a:schemeClr val="tx1"/>
              </a:solidFill>
              <a:miter lim="800000"/>
              <a:headEnd/>
              <a:tailEnd/>
            </a:ln>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solidFill>
                  <a:srgbClr val="0000FF"/>
                </a:solidFill>
              </a:endParaRPr>
            </a:p>
          </p:txBody>
        </p:sp>
        <p:sp>
          <p:nvSpPr>
            <p:cNvPr id="12" name="Rectangle 6"/>
            <p:cNvSpPr>
              <a:spLocks noChangeArrowheads="1"/>
            </p:cNvSpPr>
            <p:nvPr/>
          </p:nvSpPr>
          <p:spPr bwMode="auto">
            <a:xfrm>
              <a:off x="1219200" y="5073352"/>
              <a:ext cx="533400" cy="381000"/>
            </a:xfrm>
            <a:prstGeom prst="rect">
              <a:avLst/>
            </a:prstGeom>
            <a:solidFill>
              <a:schemeClr val="accent6">
                <a:lumMod val="40000"/>
                <a:lumOff val="60000"/>
              </a:schemeClr>
            </a:solidFill>
            <a:ln w="38100">
              <a:solidFill>
                <a:schemeClr val="tx1"/>
              </a:solidFill>
              <a:miter lim="800000"/>
              <a:headEnd/>
              <a:tailEnd/>
            </a:ln>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solidFill>
                  <a:srgbClr val="0000FF"/>
                </a:solidFill>
              </a:endParaRPr>
            </a:p>
          </p:txBody>
        </p:sp>
        <p:sp>
          <p:nvSpPr>
            <p:cNvPr id="13" name="Rectangle 7"/>
            <p:cNvSpPr>
              <a:spLocks noChangeArrowheads="1"/>
            </p:cNvSpPr>
            <p:nvPr/>
          </p:nvSpPr>
          <p:spPr bwMode="auto">
            <a:xfrm>
              <a:off x="2057400" y="6216352"/>
              <a:ext cx="533400" cy="381000"/>
            </a:xfrm>
            <a:prstGeom prst="rect">
              <a:avLst/>
            </a:prstGeom>
            <a:solidFill>
              <a:schemeClr val="accent6">
                <a:lumMod val="40000"/>
                <a:lumOff val="60000"/>
              </a:schemeClr>
            </a:solidFill>
            <a:ln w="38100">
              <a:solidFill>
                <a:schemeClr val="tx1"/>
              </a:solidFill>
              <a:miter lim="800000"/>
              <a:headEnd/>
              <a:tailEnd/>
            </a:ln>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solidFill>
                  <a:srgbClr val="0000FF"/>
                </a:solidFill>
              </a:endParaRPr>
            </a:p>
          </p:txBody>
        </p:sp>
        <p:sp>
          <p:nvSpPr>
            <p:cNvPr id="14" name="Rectangle 8"/>
            <p:cNvSpPr>
              <a:spLocks noChangeArrowheads="1"/>
            </p:cNvSpPr>
            <p:nvPr/>
          </p:nvSpPr>
          <p:spPr bwMode="auto">
            <a:xfrm>
              <a:off x="4419600" y="6216352"/>
              <a:ext cx="533400" cy="381000"/>
            </a:xfrm>
            <a:prstGeom prst="rect">
              <a:avLst/>
            </a:prstGeom>
            <a:solidFill>
              <a:schemeClr val="accent6">
                <a:lumMod val="40000"/>
                <a:lumOff val="60000"/>
              </a:schemeClr>
            </a:solidFill>
            <a:ln w="38100">
              <a:solidFill>
                <a:schemeClr val="tx1"/>
              </a:solidFill>
              <a:miter lim="800000"/>
              <a:headEnd/>
              <a:tailEnd/>
            </a:ln>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solidFill>
                  <a:srgbClr val="0000FF"/>
                </a:solidFill>
              </a:endParaRPr>
            </a:p>
          </p:txBody>
        </p:sp>
        <p:sp>
          <p:nvSpPr>
            <p:cNvPr id="15" name="Rectangle 9"/>
            <p:cNvSpPr>
              <a:spLocks noChangeArrowheads="1"/>
            </p:cNvSpPr>
            <p:nvPr/>
          </p:nvSpPr>
          <p:spPr bwMode="auto">
            <a:xfrm>
              <a:off x="5410200" y="6216352"/>
              <a:ext cx="533400" cy="381000"/>
            </a:xfrm>
            <a:prstGeom prst="rect">
              <a:avLst/>
            </a:prstGeom>
            <a:solidFill>
              <a:schemeClr val="accent6">
                <a:lumMod val="40000"/>
                <a:lumOff val="60000"/>
              </a:schemeClr>
            </a:solidFill>
            <a:ln w="38100">
              <a:solidFill>
                <a:schemeClr val="tx1"/>
              </a:solidFill>
              <a:miter lim="800000"/>
              <a:headEnd/>
              <a:tailEnd/>
            </a:ln>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solidFill>
                  <a:srgbClr val="0000FF"/>
                </a:solidFill>
              </a:endParaRPr>
            </a:p>
          </p:txBody>
        </p:sp>
        <p:sp>
          <p:nvSpPr>
            <p:cNvPr id="16" name="Rectangle 10"/>
            <p:cNvSpPr>
              <a:spLocks noChangeArrowheads="1"/>
            </p:cNvSpPr>
            <p:nvPr/>
          </p:nvSpPr>
          <p:spPr bwMode="auto">
            <a:xfrm>
              <a:off x="6248400" y="6216352"/>
              <a:ext cx="533400" cy="381000"/>
            </a:xfrm>
            <a:prstGeom prst="rect">
              <a:avLst/>
            </a:prstGeom>
            <a:solidFill>
              <a:schemeClr val="accent6">
                <a:lumMod val="40000"/>
                <a:lumOff val="60000"/>
              </a:schemeClr>
            </a:solidFill>
            <a:ln w="38100">
              <a:solidFill>
                <a:schemeClr val="tx1"/>
              </a:solidFill>
              <a:miter lim="800000"/>
              <a:headEnd/>
              <a:tailEnd/>
            </a:ln>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solidFill>
                  <a:srgbClr val="0000FF"/>
                </a:solidFill>
              </a:endParaRPr>
            </a:p>
          </p:txBody>
        </p:sp>
        <p:sp>
          <p:nvSpPr>
            <p:cNvPr id="17" name="Rectangle 11"/>
            <p:cNvSpPr>
              <a:spLocks noChangeArrowheads="1"/>
            </p:cNvSpPr>
            <p:nvPr/>
          </p:nvSpPr>
          <p:spPr bwMode="auto">
            <a:xfrm>
              <a:off x="7315200" y="6216352"/>
              <a:ext cx="533400" cy="381000"/>
            </a:xfrm>
            <a:prstGeom prst="rect">
              <a:avLst/>
            </a:prstGeom>
            <a:solidFill>
              <a:schemeClr val="accent6">
                <a:lumMod val="40000"/>
                <a:lumOff val="60000"/>
              </a:schemeClr>
            </a:solidFill>
            <a:ln w="38100">
              <a:solidFill>
                <a:schemeClr val="tx1"/>
              </a:solidFill>
              <a:miter lim="800000"/>
              <a:headEnd/>
              <a:tailEnd/>
            </a:ln>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solidFill>
                  <a:srgbClr val="0000FF"/>
                </a:solidFill>
              </a:endParaRPr>
            </a:p>
          </p:txBody>
        </p:sp>
        <p:sp>
          <p:nvSpPr>
            <p:cNvPr id="18" name="Text Box 12"/>
            <p:cNvSpPr txBox="1">
              <a:spLocks noChangeArrowheads="1"/>
            </p:cNvSpPr>
            <p:nvPr/>
          </p:nvSpPr>
          <p:spPr bwMode="auto">
            <a:xfrm>
              <a:off x="1965325" y="4325640"/>
              <a:ext cx="387350" cy="519112"/>
            </a:xfrm>
            <a:prstGeom prst="rect">
              <a:avLst/>
            </a:prstGeom>
            <a:noFill/>
            <a:ln w="9525">
              <a:noFill/>
              <a:miter lim="800000"/>
              <a:headEnd/>
              <a:tailEnd/>
            </a:ln>
            <a:effectLst/>
          </p:spPr>
          <p:txBody>
            <a:bodyPr wrap="none">
              <a:spAutoFit/>
            </a:bodyPr>
            <a:lstStyle/>
            <a:p>
              <a:pPr>
                <a:defRPr/>
              </a:pPr>
              <a:r>
                <a:rPr kumimoji="1" lang="en-US" altLang="zh-CN" sz="2800" b="1">
                  <a:solidFill>
                    <a:srgbClr val="0000FF"/>
                  </a:solidFill>
                  <a:effectLst>
                    <a:outerShdw blurRad="38100" dist="38100" dir="2700000" algn="tl">
                      <a:srgbClr val="C0C0C0"/>
                    </a:outerShdw>
                  </a:effectLst>
                  <a:latin typeface="Times New Roman" pitchFamily="18" charset="0"/>
                </a:rPr>
                <a:t>=</a:t>
              </a:r>
              <a:endParaRPr kumimoji="1" lang="en-US" altLang="zh-CN" sz="2800" b="1">
                <a:solidFill>
                  <a:srgbClr val="0000FF"/>
                </a:solidFill>
                <a:latin typeface="Times New Roman" pitchFamily="18" charset="0"/>
              </a:endParaRPr>
            </a:p>
          </p:txBody>
        </p:sp>
        <p:sp>
          <p:nvSpPr>
            <p:cNvPr id="19" name="Text Box 13"/>
            <p:cNvSpPr txBox="1">
              <a:spLocks noChangeArrowheads="1"/>
            </p:cNvSpPr>
            <p:nvPr/>
          </p:nvSpPr>
          <p:spPr bwMode="auto">
            <a:xfrm>
              <a:off x="3956050" y="3335040"/>
              <a:ext cx="387350" cy="519112"/>
            </a:xfrm>
            <a:prstGeom prst="rect">
              <a:avLst/>
            </a:prstGeom>
            <a:noFill/>
            <a:ln w="9525">
              <a:noFill/>
              <a:miter lim="800000"/>
              <a:headEnd/>
              <a:tailEnd/>
            </a:ln>
            <a:effectLst/>
          </p:spPr>
          <p:txBody>
            <a:bodyPr wrap="none">
              <a:spAutoFit/>
            </a:bodyPr>
            <a:lstStyle/>
            <a:p>
              <a:pPr>
                <a:defRPr/>
              </a:pPr>
              <a:r>
                <a:rPr kumimoji="1" lang="en-US" altLang="zh-CN" sz="2800" b="1">
                  <a:solidFill>
                    <a:srgbClr val="0000FF"/>
                  </a:solidFill>
                  <a:effectLst>
                    <a:outerShdw blurRad="38100" dist="38100" dir="2700000" algn="tl">
                      <a:srgbClr val="C0C0C0"/>
                    </a:outerShdw>
                  </a:effectLst>
                  <a:latin typeface="Times New Roman" pitchFamily="18" charset="0"/>
                </a:rPr>
                <a:t>=</a:t>
              </a:r>
              <a:endParaRPr kumimoji="1" lang="en-US" altLang="zh-CN" sz="2800" b="1">
                <a:solidFill>
                  <a:srgbClr val="0000FF"/>
                </a:solidFill>
                <a:latin typeface="Times New Roman" pitchFamily="18" charset="0"/>
              </a:endParaRPr>
            </a:p>
          </p:txBody>
        </p:sp>
        <p:sp>
          <p:nvSpPr>
            <p:cNvPr id="20" name="Text Box 14"/>
            <p:cNvSpPr txBox="1">
              <a:spLocks noChangeArrowheads="1"/>
            </p:cNvSpPr>
            <p:nvPr/>
          </p:nvSpPr>
          <p:spPr bwMode="auto">
            <a:xfrm>
              <a:off x="5022850" y="5392440"/>
              <a:ext cx="387350" cy="519112"/>
            </a:xfrm>
            <a:prstGeom prst="rect">
              <a:avLst/>
            </a:prstGeom>
            <a:noFill/>
            <a:ln w="9525">
              <a:noFill/>
              <a:miter lim="800000"/>
              <a:headEnd/>
              <a:tailEnd/>
            </a:ln>
            <a:effectLst/>
          </p:spPr>
          <p:txBody>
            <a:bodyPr wrap="none">
              <a:spAutoFit/>
            </a:bodyPr>
            <a:lstStyle/>
            <a:p>
              <a:pPr>
                <a:defRPr/>
              </a:pPr>
              <a:r>
                <a:rPr kumimoji="1" lang="en-US" altLang="zh-CN" sz="2800" b="1">
                  <a:solidFill>
                    <a:srgbClr val="0000FF"/>
                  </a:solidFill>
                  <a:effectLst>
                    <a:outerShdw blurRad="38100" dist="38100" dir="2700000" algn="tl">
                      <a:srgbClr val="C0C0C0"/>
                    </a:outerShdw>
                  </a:effectLst>
                  <a:latin typeface="Times New Roman" pitchFamily="18" charset="0"/>
                </a:rPr>
                <a:t>=</a:t>
              </a:r>
              <a:endParaRPr kumimoji="1" lang="en-US" altLang="zh-CN" sz="2800" b="1">
                <a:solidFill>
                  <a:srgbClr val="0000FF"/>
                </a:solidFill>
                <a:latin typeface="Times New Roman" pitchFamily="18" charset="0"/>
              </a:endParaRPr>
            </a:p>
          </p:txBody>
        </p:sp>
        <p:sp>
          <p:nvSpPr>
            <p:cNvPr id="21" name="Text Box 15"/>
            <p:cNvSpPr txBox="1">
              <a:spLocks noChangeArrowheads="1"/>
            </p:cNvSpPr>
            <p:nvPr/>
          </p:nvSpPr>
          <p:spPr bwMode="auto">
            <a:xfrm>
              <a:off x="2813050" y="5378152"/>
              <a:ext cx="387350" cy="519113"/>
            </a:xfrm>
            <a:prstGeom prst="rect">
              <a:avLst/>
            </a:prstGeom>
            <a:noFill/>
            <a:ln w="9525">
              <a:noFill/>
              <a:miter lim="800000"/>
              <a:headEnd/>
              <a:tailEnd/>
            </a:ln>
            <a:effectLst/>
          </p:spPr>
          <p:txBody>
            <a:bodyPr wrap="none">
              <a:spAutoFit/>
            </a:bodyPr>
            <a:lstStyle/>
            <a:p>
              <a:pPr>
                <a:defRPr/>
              </a:pPr>
              <a:r>
                <a:rPr kumimoji="1" lang="en-US" altLang="zh-CN" sz="2800" b="1">
                  <a:solidFill>
                    <a:srgbClr val="0000FF"/>
                  </a:solidFill>
                  <a:effectLst>
                    <a:outerShdw blurRad="38100" dist="38100" dir="2700000" algn="tl">
                      <a:srgbClr val="C0C0C0"/>
                    </a:outerShdw>
                  </a:effectLst>
                  <a:latin typeface="Times New Roman" pitchFamily="18" charset="0"/>
                </a:rPr>
                <a:t>=</a:t>
              </a:r>
              <a:endParaRPr kumimoji="1" lang="en-US" altLang="zh-CN" sz="2800" b="1">
                <a:solidFill>
                  <a:srgbClr val="0000FF"/>
                </a:solidFill>
                <a:latin typeface="Times New Roman" pitchFamily="18" charset="0"/>
              </a:endParaRPr>
            </a:p>
          </p:txBody>
        </p:sp>
        <p:sp>
          <p:nvSpPr>
            <p:cNvPr id="22" name="Text Box 16"/>
            <p:cNvSpPr txBox="1">
              <a:spLocks noChangeArrowheads="1"/>
            </p:cNvSpPr>
            <p:nvPr/>
          </p:nvSpPr>
          <p:spPr bwMode="auto">
            <a:xfrm>
              <a:off x="6013450" y="4311352"/>
              <a:ext cx="387350" cy="519113"/>
            </a:xfrm>
            <a:prstGeom prst="rect">
              <a:avLst/>
            </a:prstGeom>
            <a:noFill/>
            <a:ln w="9525">
              <a:noFill/>
              <a:miter lim="800000"/>
              <a:headEnd/>
              <a:tailEnd/>
            </a:ln>
            <a:effectLst/>
          </p:spPr>
          <p:txBody>
            <a:bodyPr wrap="none">
              <a:spAutoFit/>
            </a:bodyPr>
            <a:lstStyle/>
            <a:p>
              <a:pPr>
                <a:defRPr/>
              </a:pPr>
              <a:r>
                <a:rPr kumimoji="1" lang="en-US" altLang="zh-CN" sz="2800" b="1">
                  <a:solidFill>
                    <a:srgbClr val="0000FF"/>
                  </a:solidFill>
                  <a:effectLst>
                    <a:outerShdw blurRad="38100" dist="38100" dir="2700000" algn="tl">
                      <a:srgbClr val="C0C0C0"/>
                    </a:outerShdw>
                  </a:effectLst>
                  <a:latin typeface="Times New Roman" pitchFamily="18" charset="0"/>
                </a:rPr>
                <a:t>=</a:t>
              </a:r>
              <a:endParaRPr kumimoji="1" lang="en-US" altLang="zh-CN" sz="2800" b="1">
                <a:solidFill>
                  <a:srgbClr val="0000FF"/>
                </a:solidFill>
                <a:latin typeface="Times New Roman" pitchFamily="18" charset="0"/>
              </a:endParaRPr>
            </a:p>
          </p:txBody>
        </p:sp>
        <p:sp>
          <p:nvSpPr>
            <p:cNvPr id="23" name="Text Box 17"/>
            <p:cNvSpPr txBox="1">
              <a:spLocks noChangeArrowheads="1"/>
            </p:cNvSpPr>
            <p:nvPr/>
          </p:nvSpPr>
          <p:spPr bwMode="auto">
            <a:xfrm>
              <a:off x="6851650" y="5378152"/>
              <a:ext cx="387350" cy="519113"/>
            </a:xfrm>
            <a:prstGeom prst="rect">
              <a:avLst/>
            </a:prstGeom>
            <a:noFill/>
            <a:ln w="9525">
              <a:noFill/>
              <a:miter lim="800000"/>
              <a:headEnd/>
              <a:tailEnd/>
            </a:ln>
            <a:effectLst/>
          </p:spPr>
          <p:txBody>
            <a:bodyPr wrap="none">
              <a:spAutoFit/>
            </a:bodyPr>
            <a:lstStyle/>
            <a:p>
              <a:pPr>
                <a:defRPr/>
              </a:pPr>
              <a:r>
                <a:rPr kumimoji="1" lang="en-US" altLang="zh-CN" sz="2800" b="1">
                  <a:solidFill>
                    <a:srgbClr val="0000FF"/>
                  </a:solidFill>
                  <a:effectLst>
                    <a:outerShdw blurRad="38100" dist="38100" dir="2700000" algn="tl">
                      <a:srgbClr val="C0C0C0"/>
                    </a:outerShdw>
                  </a:effectLst>
                  <a:latin typeface="Times New Roman" pitchFamily="18" charset="0"/>
                </a:rPr>
                <a:t>=</a:t>
              </a:r>
              <a:endParaRPr kumimoji="1" lang="en-US" altLang="zh-CN" sz="2800" b="1">
                <a:solidFill>
                  <a:srgbClr val="0000FF"/>
                </a:solidFill>
                <a:latin typeface="Times New Roman" pitchFamily="18" charset="0"/>
              </a:endParaRPr>
            </a:p>
          </p:txBody>
        </p:sp>
        <p:sp>
          <p:nvSpPr>
            <p:cNvPr id="24" name="Line 18"/>
            <p:cNvSpPr>
              <a:spLocks noChangeShapeType="1"/>
            </p:cNvSpPr>
            <p:nvPr/>
          </p:nvSpPr>
          <p:spPr bwMode="auto">
            <a:xfrm>
              <a:off x="2362200" y="4387552"/>
              <a:ext cx="5334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solidFill>
                  <a:srgbClr val="0000FF"/>
                </a:solidFill>
              </a:endParaRPr>
            </a:p>
          </p:txBody>
        </p:sp>
        <p:sp>
          <p:nvSpPr>
            <p:cNvPr id="25" name="Line 19"/>
            <p:cNvSpPr>
              <a:spLocks noChangeShapeType="1"/>
            </p:cNvSpPr>
            <p:nvPr/>
          </p:nvSpPr>
          <p:spPr bwMode="auto">
            <a:xfrm flipH="1">
              <a:off x="1447800" y="4387552"/>
              <a:ext cx="5334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solidFill>
                  <a:srgbClr val="0000FF"/>
                </a:solidFill>
              </a:endParaRPr>
            </a:p>
          </p:txBody>
        </p:sp>
        <p:sp>
          <p:nvSpPr>
            <p:cNvPr id="26" name="Oval 20"/>
            <p:cNvSpPr>
              <a:spLocks noChangeArrowheads="1"/>
            </p:cNvSpPr>
            <p:nvPr/>
          </p:nvSpPr>
          <p:spPr bwMode="auto">
            <a:xfrm>
              <a:off x="3886200" y="2939752"/>
              <a:ext cx="533400" cy="533400"/>
            </a:xfrm>
            <a:prstGeom prst="ellipse">
              <a:avLst/>
            </a:prstGeom>
            <a:solidFill>
              <a:schemeClr val="accent4">
                <a:lumMod val="40000"/>
                <a:lumOff val="60000"/>
              </a:schemeClr>
            </a:solidFill>
            <a:ln w="38100">
              <a:solidFill>
                <a:schemeClr val="tx1"/>
              </a:solidFill>
              <a:round/>
              <a:headEnd/>
              <a:tailEnd/>
            </a:ln>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b="1" dirty="0">
                  <a:solidFill>
                    <a:srgbClr val="0000FF"/>
                  </a:solidFill>
                  <a:latin typeface="Times New Roman" pitchFamily="18" charset="0"/>
                </a:rPr>
                <a:t>30</a:t>
              </a:r>
              <a:endParaRPr kumimoji="1" lang="en-US" altLang="zh-CN" sz="2400" dirty="0">
                <a:solidFill>
                  <a:srgbClr val="0000FF"/>
                </a:solidFill>
                <a:latin typeface="Times New Roman" pitchFamily="18" charset="0"/>
              </a:endParaRPr>
            </a:p>
          </p:txBody>
        </p:sp>
        <p:sp>
          <p:nvSpPr>
            <p:cNvPr id="27" name="Line 21"/>
            <p:cNvSpPr>
              <a:spLocks noChangeShapeType="1"/>
            </p:cNvSpPr>
            <p:nvPr/>
          </p:nvSpPr>
          <p:spPr bwMode="auto">
            <a:xfrm flipV="1">
              <a:off x="4724400" y="5454352"/>
              <a:ext cx="381000" cy="762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solidFill>
                  <a:srgbClr val="0000FF"/>
                </a:solidFill>
              </a:endParaRPr>
            </a:p>
          </p:txBody>
        </p:sp>
        <p:sp>
          <p:nvSpPr>
            <p:cNvPr id="28" name="Line 22"/>
            <p:cNvSpPr>
              <a:spLocks noChangeShapeType="1"/>
            </p:cNvSpPr>
            <p:nvPr/>
          </p:nvSpPr>
          <p:spPr bwMode="auto">
            <a:xfrm flipV="1">
              <a:off x="2362200" y="5454352"/>
              <a:ext cx="533400" cy="762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solidFill>
                  <a:srgbClr val="0000FF"/>
                </a:solidFill>
              </a:endParaRPr>
            </a:p>
          </p:txBody>
        </p:sp>
        <p:sp>
          <p:nvSpPr>
            <p:cNvPr id="29" name="Line 23"/>
            <p:cNvSpPr>
              <a:spLocks noChangeShapeType="1"/>
            </p:cNvSpPr>
            <p:nvPr/>
          </p:nvSpPr>
          <p:spPr bwMode="auto">
            <a:xfrm flipV="1">
              <a:off x="6553200" y="5454352"/>
              <a:ext cx="381000" cy="762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solidFill>
                  <a:srgbClr val="0000FF"/>
                </a:solidFill>
              </a:endParaRPr>
            </a:p>
          </p:txBody>
        </p:sp>
        <p:sp>
          <p:nvSpPr>
            <p:cNvPr id="30" name="Line 24"/>
            <p:cNvSpPr>
              <a:spLocks noChangeShapeType="1"/>
            </p:cNvSpPr>
            <p:nvPr/>
          </p:nvSpPr>
          <p:spPr bwMode="auto">
            <a:xfrm flipH="1" flipV="1">
              <a:off x="7162800" y="5454352"/>
              <a:ext cx="381000" cy="762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solidFill>
                  <a:srgbClr val="0000FF"/>
                </a:solidFill>
              </a:endParaRPr>
            </a:p>
          </p:txBody>
        </p:sp>
        <p:sp>
          <p:nvSpPr>
            <p:cNvPr id="31" name="Line 25"/>
            <p:cNvSpPr>
              <a:spLocks noChangeShapeType="1"/>
            </p:cNvSpPr>
            <p:nvPr/>
          </p:nvSpPr>
          <p:spPr bwMode="auto">
            <a:xfrm>
              <a:off x="6400800" y="4387552"/>
              <a:ext cx="5334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solidFill>
                  <a:srgbClr val="0000FF"/>
                </a:solidFill>
              </a:endParaRPr>
            </a:p>
          </p:txBody>
        </p:sp>
        <p:sp>
          <p:nvSpPr>
            <p:cNvPr id="32" name="Line 26"/>
            <p:cNvSpPr>
              <a:spLocks noChangeShapeType="1"/>
            </p:cNvSpPr>
            <p:nvPr/>
          </p:nvSpPr>
          <p:spPr bwMode="auto">
            <a:xfrm flipH="1">
              <a:off x="5334000" y="4387552"/>
              <a:ext cx="6858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solidFill>
                  <a:srgbClr val="0000FF"/>
                </a:solidFill>
              </a:endParaRPr>
            </a:p>
          </p:txBody>
        </p:sp>
        <p:sp>
          <p:nvSpPr>
            <p:cNvPr id="33" name="Line 27"/>
            <p:cNvSpPr>
              <a:spLocks noChangeShapeType="1"/>
            </p:cNvSpPr>
            <p:nvPr/>
          </p:nvSpPr>
          <p:spPr bwMode="auto">
            <a:xfrm flipH="1" flipV="1">
              <a:off x="3124200" y="5454352"/>
              <a:ext cx="457200" cy="762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solidFill>
                  <a:srgbClr val="0000FF"/>
                </a:solidFill>
              </a:endParaRPr>
            </a:p>
          </p:txBody>
        </p:sp>
        <p:sp>
          <p:nvSpPr>
            <p:cNvPr id="34" name="Text Box 28"/>
            <p:cNvSpPr txBox="1">
              <a:spLocks noChangeArrowheads="1"/>
            </p:cNvSpPr>
            <p:nvPr/>
          </p:nvSpPr>
          <p:spPr bwMode="auto">
            <a:xfrm>
              <a:off x="2286000" y="5392440"/>
              <a:ext cx="387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b="1">
                  <a:solidFill>
                    <a:srgbClr val="0000FF"/>
                  </a:solidFill>
                  <a:latin typeface="Times New Roman" pitchFamily="18" charset="0"/>
                </a:rPr>
                <a:t>&lt;</a:t>
              </a:r>
              <a:endParaRPr kumimoji="1" lang="en-US" altLang="zh-CN" sz="2400">
                <a:solidFill>
                  <a:srgbClr val="0000FF"/>
                </a:solidFill>
                <a:latin typeface="Times New Roman" pitchFamily="18" charset="0"/>
              </a:endParaRPr>
            </a:p>
          </p:txBody>
        </p:sp>
        <p:sp>
          <p:nvSpPr>
            <p:cNvPr id="35" name="Text Box 29"/>
            <p:cNvSpPr txBox="1">
              <a:spLocks noChangeArrowheads="1"/>
            </p:cNvSpPr>
            <p:nvPr/>
          </p:nvSpPr>
          <p:spPr bwMode="auto">
            <a:xfrm>
              <a:off x="3194050" y="3125911"/>
              <a:ext cx="387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b="1">
                  <a:solidFill>
                    <a:srgbClr val="0000FF"/>
                  </a:solidFill>
                  <a:latin typeface="Times New Roman" pitchFamily="18" charset="0"/>
                </a:rPr>
                <a:t>&lt;</a:t>
              </a:r>
              <a:endParaRPr kumimoji="1" lang="en-US" altLang="zh-CN" sz="2400">
                <a:solidFill>
                  <a:srgbClr val="0000FF"/>
                </a:solidFill>
                <a:latin typeface="Times New Roman" pitchFamily="18" charset="0"/>
              </a:endParaRPr>
            </a:p>
          </p:txBody>
        </p:sp>
        <p:sp>
          <p:nvSpPr>
            <p:cNvPr id="36" name="Text Box 30"/>
            <p:cNvSpPr txBox="1">
              <a:spLocks noChangeArrowheads="1"/>
            </p:cNvSpPr>
            <p:nvPr/>
          </p:nvSpPr>
          <p:spPr bwMode="auto">
            <a:xfrm>
              <a:off x="1447800" y="4158952"/>
              <a:ext cx="387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b="1">
                  <a:solidFill>
                    <a:srgbClr val="0000FF"/>
                  </a:solidFill>
                  <a:latin typeface="Times New Roman" pitchFamily="18" charset="0"/>
                </a:rPr>
                <a:t>&lt;</a:t>
              </a:r>
              <a:endParaRPr kumimoji="1" lang="en-US" altLang="zh-CN" sz="2400">
                <a:solidFill>
                  <a:srgbClr val="0000FF"/>
                </a:solidFill>
                <a:latin typeface="Times New Roman" pitchFamily="18" charset="0"/>
              </a:endParaRPr>
            </a:p>
          </p:txBody>
        </p:sp>
        <p:sp>
          <p:nvSpPr>
            <p:cNvPr id="37" name="Text Box 31"/>
            <p:cNvSpPr txBox="1">
              <a:spLocks noChangeArrowheads="1"/>
            </p:cNvSpPr>
            <p:nvPr/>
          </p:nvSpPr>
          <p:spPr bwMode="auto">
            <a:xfrm>
              <a:off x="4572000" y="5392440"/>
              <a:ext cx="387350" cy="519112"/>
            </a:xfrm>
            <a:prstGeom prst="rect">
              <a:avLst/>
            </a:prstGeom>
            <a:noFill/>
            <a:ln w="9525">
              <a:noFill/>
              <a:miter lim="800000"/>
              <a:headEnd/>
              <a:tailEnd/>
            </a:ln>
            <a:effectLst/>
          </p:spPr>
          <p:txBody>
            <a:bodyPr wrap="none">
              <a:spAutoFit/>
            </a:bodyPr>
            <a:lstStyle/>
            <a:p>
              <a:pPr>
                <a:defRPr/>
              </a:pPr>
              <a:r>
                <a:rPr kumimoji="1" lang="en-US" altLang="zh-CN" sz="2800" b="1">
                  <a:solidFill>
                    <a:srgbClr val="0000FF"/>
                  </a:solidFill>
                  <a:latin typeface="Times New Roman" pitchFamily="18" charset="0"/>
                </a:rPr>
                <a:t>&lt;</a:t>
              </a:r>
              <a:endParaRPr kumimoji="1" lang="en-US" altLang="zh-CN" sz="2400">
                <a:solidFill>
                  <a:srgbClr val="0000FF"/>
                </a:solidFill>
                <a:effectLst>
                  <a:outerShdw blurRad="38100" dist="38100" dir="2700000" algn="tl">
                    <a:srgbClr val="C0C0C0"/>
                  </a:outerShdw>
                </a:effectLst>
                <a:latin typeface="Times New Roman" pitchFamily="18" charset="0"/>
              </a:endParaRPr>
            </a:p>
          </p:txBody>
        </p:sp>
        <p:sp>
          <p:nvSpPr>
            <p:cNvPr id="38" name="Text Box 32"/>
            <p:cNvSpPr txBox="1">
              <a:spLocks noChangeArrowheads="1"/>
            </p:cNvSpPr>
            <p:nvPr/>
          </p:nvSpPr>
          <p:spPr bwMode="auto">
            <a:xfrm>
              <a:off x="5470264" y="4206031"/>
              <a:ext cx="387350" cy="519113"/>
            </a:xfrm>
            <a:prstGeom prst="rect">
              <a:avLst/>
            </a:prstGeom>
            <a:noFill/>
            <a:ln w="9525">
              <a:noFill/>
              <a:miter lim="800000"/>
              <a:headEnd/>
              <a:tailEnd/>
            </a:ln>
            <a:effectLst/>
          </p:spPr>
          <p:txBody>
            <a:bodyPr wrap="none">
              <a:spAutoFit/>
            </a:bodyPr>
            <a:lstStyle/>
            <a:p>
              <a:pPr>
                <a:defRPr/>
              </a:pPr>
              <a:r>
                <a:rPr kumimoji="1" lang="en-US" altLang="zh-CN" sz="2800" b="1">
                  <a:solidFill>
                    <a:srgbClr val="0000FF"/>
                  </a:solidFill>
                  <a:latin typeface="Times New Roman" pitchFamily="18" charset="0"/>
                </a:rPr>
                <a:t>&lt;</a:t>
              </a:r>
              <a:endParaRPr kumimoji="1" lang="en-US" altLang="zh-CN" sz="2400">
                <a:solidFill>
                  <a:srgbClr val="0000FF"/>
                </a:solidFill>
                <a:effectLst>
                  <a:outerShdw blurRad="38100" dist="38100" dir="2700000" algn="tl">
                    <a:srgbClr val="C0C0C0"/>
                  </a:outerShdw>
                </a:effectLst>
                <a:latin typeface="Times New Roman" pitchFamily="18" charset="0"/>
              </a:endParaRPr>
            </a:p>
          </p:txBody>
        </p:sp>
        <p:sp>
          <p:nvSpPr>
            <p:cNvPr id="39" name="Text Box 33"/>
            <p:cNvSpPr txBox="1">
              <a:spLocks noChangeArrowheads="1"/>
            </p:cNvSpPr>
            <p:nvPr/>
          </p:nvSpPr>
          <p:spPr bwMode="auto">
            <a:xfrm>
              <a:off x="6394450" y="5378152"/>
              <a:ext cx="387350" cy="519113"/>
            </a:xfrm>
            <a:prstGeom prst="rect">
              <a:avLst/>
            </a:prstGeom>
            <a:noFill/>
            <a:ln w="9525">
              <a:noFill/>
              <a:miter lim="800000"/>
              <a:headEnd/>
              <a:tailEnd/>
            </a:ln>
            <a:effectLst/>
          </p:spPr>
          <p:txBody>
            <a:bodyPr wrap="none">
              <a:spAutoFit/>
            </a:bodyPr>
            <a:lstStyle/>
            <a:p>
              <a:pPr>
                <a:defRPr/>
              </a:pPr>
              <a:r>
                <a:rPr kumimoji="1" lang="en-US" altLang="zh-CN" sz="2800" b="1">
                  <a:solidFill>
                    <a:srgbClr val="0000FF"/>
                  </a:solidFill>
                  <a:latin typeface="Times New Roman" pitchFamily="18" charset="0"/>
                </a:rPr>
                <a:t>&lt;</a:t>
              </a:r>
              <a:endParaRPr kumimoji="1" lang="en-US" altLang="zh-CN" sz="2400">
                <a:solidFill>
                  <a:srgbClr val="0000FF"/>
                </a:solidFill>
                <a:effectLst>
                  <a:outerShdw blurRad="38100" dist="38100" dir="2700000" algn="tl">
                    <a:srgbClr val="C0C0C0"/>
                  </a:outerShdw>
                </a:effectLst>
                <a:latin typeface="Times New Roman" pitchFamily="18" charset="0"/>
              </a:endParaRPr>
            </a:p>
          </p:txBody>
        </p:sp>
        <p:sp>
          <p:nvSpPr>
            <p:cNvPr id="40" name="Text Box 34"/>
            <p:cNvSpPr txBox="1">
              <a:spLocks noChangeArrowheads="1"/>
            </p:cNvSpPr>
            <p:nvPr/>
          </p:nvSpPr>
          <p:spPr bwMode="auto">
            <a:xfrm>
              <a:off x="4641850" y="3068960"/>
              <a:ext cx="387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b="1">
                  <a:solidFill>
                    <a:srgbClr val="0000FF"/>
                  </a:solidFill>
                  <a:latin typeface="Times New Roman" pitchFamily="18" charset="0"/>
                </a:rPr>
                <a:t>&gt;</a:t>
              </a:r>
              <a:endParaRPr kumimoji="1" lang="en-US" altLang="zh-CN" sz="2400">
                <a:solidFill>
                  <a:srgbClr val="0000FF"/>
                </a:solidFill>
                <a:latin typeface="Times New Roman" pitchFamily="18" charset="0"/>
              </a:endParaRPr>
            </a:p>
          </p:txBody>
        </p:sp>
        <p:sp>
          <p:nvSpPr>
            <p:cNvPr id="41" name="Text Box 35"/>
            <p:cNvSpPr txBox="1">
              <a:spLocks noChangeArrowheads="1"/>
            </p:cNvSpPr>
            <p:nvPr/>
          </p:nvSpPr>
          <p:spPr bwMode="auto">
            <a:xfrm>
              <a:off x="3346450" y="5392440"/>
              <a:ext cx="387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b="1">
                  <a:solidFill>
                    <a:srgbClr val="0000FF"/>
                  </a:solidFill>
                  <a:latin typeface="Times New Roman" pitchFamily="18" charset="0"/>
                </a:rPr>
                <a:t>&gt;</a:t>
              </a:r>
              <a:endParaRPr kumimoji="1" lang="en-US" altLang="zh-CN" sz="2400">
                <a:solidFill>
                  <a:srgbClr val="0000FF"/>
                </a:solidFill>
                <a:latin typeface="Times New Roman" pitchFamily="18" charset="0"/>
              </a:endParaRPr>
            </a:p>
          </p:txBody>
        </p:sp>
        <p:sp>
          <p:nvSpPr>
            <p:cNvPr id="42" name="Text Box 36"/>
            <p:cNvSpPr txBox="1">
              <a:spLocks noChangeArrowheads="1"/>
            </p:cNvSpPr>
            <p:nvPr/>
          </p:nvSpPr>
          <p:spPr bwMode="auto">
            <a:xfrm>
              <a:off x="2514600" y="4173240"/>
              <a:ext cx="387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b="1">
                  <a:solidFill>
                    <a:srgbClr val="0000FF"/>
                  </a:solidFill>
                  <a:latin typeface="Times New Roman" pitchFamily="18" charset="0"/>
                </a:rPr>
                <a:t>&gt;</a:t>
              </a:r>
              <a:endParaRPr kumimoji="1" lang="en-US" altLang="zh-CN" sz="2400">
                <a:solidFill>
                  <a:srgbClr val="0000FF"/>
                </a:solidFill>
                <a:latin typeface="Times New Roman" pitchFamily="18" charset="0"/>
              </a:endParaRPr>
            </a:p>
          </p:txBody>
        </p:sp>
        <p:sp>
          <p:nvSpPr>
            <p:cNvPr id="43" name="Text Box 37"/>
            <p:cNvSpPr txBox="1">
              <a:spLocks noChangeArrowheads="1"/>
            </p:cNvSpPr>
            <p:nvPr/>
          </p:nvSpPr>
          <p:spPr bwMode="auto">
            <a:xfrm>
              <a:off x="6546850" y="4158952"/>
              <a:ext cx="387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b="1">
                  <a:solidFill>
                    <a:srgbClr val="0000FF"/>
                  </a:solidFill>
                  <a:latin typeface="Times New Roman" pitchFamily="18" charset="0"/>
                </a:rPr>
                <a:t>&gt;</a:t>
              </a:r>
              <a:endParaRPr kumimoji="1" lang="en-US" altLang="zh-CN" sz="2400">
                <a:solidFill>
                  <a:srgbClr val="0000FF"/>
                </a:solidFill>
                <a:latin typeface="Times New Roman" pitchFamily="18" charset="0"/>
              </a:endParaRPr>
            </a:p>
          </p:txBody>
        </p:sp>
        <p:sp>
          <p:nvSpPr>
            <p:cNvPr id="44" name="Text Box 38"/>
            <p:cNvSpPr txBox="1">
              <a:spLocks noChangeArrowheads="1"/>
            </p:cNvSpPr>
            <p:nvPr/>
          </p:nvSpPr>
          <p:spPr bwMode="auto">
            <a:xfrm>
              <a:off x="5410200" y="5392440"/>
              <a:ext cx="387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b="1">
                  <a:solidFill>
                    <a:srgbClr val="0000FF"/>
                  </a:solidFill>
                  <a:latin typeface="Times New Roman" pitchFamily="18" charset="0"/>
                </a:rPr>
                <a:t>&gt;</a:t>
              </a:r>
              <a:endParaRPr kumimoji="1" lang="en-US" altLang="zh-CN" sz="2400">
                <a:solidFill>
                  <a:srgbClr val="0000FF"/>
                </a:solidFill>
                <a:latin typeface="Times New Roman" pitchFamily="18" charset="0"/>
              </a:endParaRPr>
            </a:p>
          </p:txBody>
        </p:sp>
        <p:sp>
          <p:nvSpPr>
            <p:cNvPr id="45" name="Text Box 39"/>
            <p:cNvSpPr txBox="1">
              <a:spLocks noChangeArrowheads="1"/>
            </p:cNvSpPr>
            <p:nvPr/>
          </p:nvSpPr>
          <p:spPr bwMode="auto">
            <a:xfrm>
              <a:off x="7315200" y="5392440"/>
              <a:ext cx="387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b="1">
                  <a:solidFill>
                    <a:srgbClr val="0000FF"/>
                  </a:solidFill>
                  <a:latin typeface="Times New Roman" pitchFamily="18" charset="0"/>
                </a:rPr>
                <a:t>&gt;</a:t>
              </a:r>
              <a:endParaRPr kumimoji="1" lang="en-US" altLang="zh-CN" sz="2400">
                <a:solidFill>
                  <a:srgbClr val="0000FF"/>
                </a:solidFill>
                <a:latin typeface="Times New Roman" pitchFamily="18" charset="0"/>
              </a:endParaRPr>
            </a:p>
          </p:txBody>
        </p:sp>
        <p:sp>
          <p:nvSpPr>
            <p:cNvPr id="46" name="Line 40"/>
            <p:cNvSpPr>
              <a:spLocks noChangeShapeType="1"/>
            </p:cNvSpPr>
            <p:nvPr/>
          </p:nvSpPr>
          <p:spPr bwMode="auto">
            <a:xfrm flipH="1" flipV="1">
              <a:off x="5334000" y="5454352"/>
              <a:ext cx="304800" cy="762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solidFill>
                  <a:srgbClr val="0000FF"/>
                </a:solidFill>
              </a:endParaRPr>
            </a:p>
          </p:txBody>
        </p:sp>
        <p:sp>
          <p:nvSpPr>
            <p:cNvPr id="47" name="Line 41"/>
            <p:cNvSpPr>
              <a:spLocks noChangeShapeType="1"/>
            </p:cNvSpPr>
            <p:nvPr/>
          </p:nvSpPr>
          <p:spPr bwMode="auto">
            <a:xfrm flipH="1">
              <a:off x="2362200" y="3320752"/>
              <a:ext cx="1524000" cy="762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solidFill>
                  <a:srgbClr val="0000FF"/>
                </a:solidFill>
              </a:endParaRPr>
            </a:p>
          </p:txBody>
        </p:sp>
        <p:sp>
          <p:nvSpPr>
            <p:cNvPr id="48" name="Line 42"/>
            <p:cNvSpPr>
              <a:spLocks noChangeShapeType="1"/>
            </p:cNvSpPr>
            <p:nvPr/>
          </p:nvSpPr>
          <p:spPr bwMode="auto">
            <a:xfrm>
              <a:off x="4419600" y="3320752"/>
              <a:ext cx="1524000" cy="762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solidFill>
                  <a:srgbClr val="0000FF"/>
                </a:solidFill>
              </a:endParaRPr>
            </a:p>
          </p:txBody>
        </p:sp>
        <p:sp>
          <p:nvSpPr>
            <p:cNvPr id="49" name="Oval 43"/>
            <p:cNvSpPr>
              <a:spLocks noChangeArrowheads="1"/>
            </p:cNvSpPr>
            <p:nvPr/>
          </p:nvSpPr>
          <p:spPr bwMode="auto">
            <a:xfrm>
              <a:off x="2743200" y="4997152"/>
              <a:ext cx="533400" cy="533400"/>
            </a:xfrm>
            <a:prstGeom prst="ellipse">
              <a:avLst/>
            </a:prstGeom>
            <a:solidFill>
              <a:schemeClr val="accent4">
                <a:lumMod val="40000"/>
                <a:lumOff val="60000"/>
              </a:schemeClr>
            </a:solidFill>
            <a:ln w="38100">
              <a:solidFill>
                <a:schemeClr val="tx1"/>
              </a:solidFill>
              <a:round/>
              <a:headEnd/>
              <a:tailEnd/>
            </a:ln>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b="1">
                  <a:solidFill>
                    <a:srgbClr val="0000FF"/>
                  </a:solidFill>
                  <a:latin typeface="Times New Roman" pitchFamily="18" charset="0"/>
                </a:rPr>
                <a:t>20</a:t>
              </a:r>
              <a:endParaRPr kumimoji="1" lang="en-US" altLang="zh-CN" sz="2400">
                <a:solidFill>
                  <a:srgbClr val="0000FF"/>
                </a:solidFill>
                <a:latin typeface="Times New Roman" pitchFamily="18" charset="0"/>
              </a:endParaRPr>
            </a:p>
          </p:txBody>
        </p:sp>
        <p:sp>
          <p:nvSpPr>
            <p:cNvPr id="50" name="Oval 44"/>
            <p:cNvSpPr>
              <a:spLocks noChangeArrowheads="1"/>
            </p:cNvSpPr>
            <p:nvPr/>
          </p:nvSpPr>
          <p:spPr bwMode="auto">
            <a:xfrm>
              <a:off x="4953000" y="4997152"/>
              <a:ext cx="533400" cy="533400"/>
            </a:xfrm>
            <a:prstGeom prst="ellipse">
              <a:avLst/>
            </a:prstGeom>
            <a:solidFill>
              <a:schemeClr val="accent4">
                <a:lumMod val="40000"/>
                <a:lumOff val="60000"/>
              </a:schemeClr>
            </a:solidFill>
            <a:ln w="38100">
              <a:solidFill>
                <a:schemeClr val="tx1"/>
              </a:solidFill>
              <a:round/>
              <a:headEnd/>
              <a:tailEnd/>
            </a:ln>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b="1">
                  <a:solidFill>
                    <a:srgbClr val="0000FF"/>
                  </a:solidFill>
                  <a:latin typeface="Times New Roman" pitchFamily="18" charset="0"/>
                </a:rPr>
                <a:t>40</a:t>
              </a:r>
              <a:endParaRPr kumimoji="1" lang="en-US" altLang="zh-CN" sz="2400">
                <a:solidFill>
                  <a:srgbClr val="0000FF"/>
                </a:solidFill>
                <a:latin typeface="Times New Roman" pitchFamily="18" charset="0"/>
              </a:endParaRPr>
            </a:p>
          </p:txBody>
        </p:sp>
        <p:sp>
          <p:nvSpPr>
            <p:cNvPr id="51" name="Oval 45"/>
            <p:cNvSpPr>
              <a:spLocks noChangeArrowheads="1"/>
            </p:cNvSpPr>
            <p:nvPr/>
          </p:nvSpPr>
          <p:spPr bwMode="auto">
            <a:xfrm>
              <a:off x="6781800" y="4997152"/>
              <a:ext cx="533400" cy="533400"/>
            </a:xfrm>
            <a:prstGeom prst="ellipse">
              <a:avLst/>
            </a:prstGeom>
            <a:solidFill>
              <a:schemeClr val="accent4">
                <a:lumMod val="40000"/>
                <a:lumOff val="60000"/>
              </a:schemeClr>
            </a:solidFill>
            <a:ln w="38100">
              <a:solidFill>
                <a:schemeClr val="tx1"/>
              </a:solidFill>
              <a:round/>
              <a:headEnd/>
              <a:tailEnd/>
            </a:ln>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b="1">
                  <a:solidFill>
                    <a:srgbClr val="0000FF"/>
                  </a:solidFill>
                  <a:latin typeface="Times New Roman" pitchFamily="18" charset="0"/>
                </a:rPr>
                <a:t>60</a:t>
              </a:r>
              <a:endParaRPr kumimoji="1" lang="en-US" altLang="zh-CN" sz="2400">
                <a:solidFill>
                  <a:srgbClr val="0000FF"/>
                </a:solidFill>
                <a:latin typeface="Times New Roman" pitchFamily="18" charset="0"/>
              </a:endParaRPr>
            </a:p>
          </p:txBody>
        </p:sp>
      </p:grpSp>
      <p:sp>
        <p:nvSpPr>
          <p:cNvPr id="52" name="Text Box 46"/>
          <p:cNvSpPr txBox="1">
            <a:spLocks noChangeArrowheads="1"/>
          </p:cNvSpPr>
          <p:nvPr/>
        </p:nvSpPr>
        <p:spPr bwMode="auto">
          <a:xfrm>
            <a:off x="5818035" y="2223413"/>
            <a:ext cx="338265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dirty="0" err="1">
                <a:solidFill>
                  <a:srgbClr val="0000FF"/>
                </a:solidFill>
                <a:latin typeface="Times New Roman" pitchFamily="18" charset="0"/>
              </a:rPr>
              <a:t>ASL</a:t>
            </a:r>
            <a:r>
              <a:rPr kumimoji="1" lang="en-US" altLang="zh-CN" sz="2400" b="1" i="1" baseline="-25000" dirty="0" err="1">
                <a:solidFill>
                  <a:srgbClr val="0000FF"/>
                </a:solidFill>
                <a:latin typeface="Times New Roman" pitchFamily="18" charset="0"/>
              </a:rPr>
              <a:t>unsucc</a:t>
            </a:r>
            <a:r>
              <a:rPr kumimoji="1" lang="en-US" altLang="zh-CN" sz="2400" b="1" dirty="0">
                <a:solidFill>
                  <a:srgbClr val="0000FF"/>
                </a:solidFill>
                <a:latin typeface="Times New Roman" pitchFamily="18" charset="0"/>
              </a:rPr>
              <a:t> = (2*1+3*6)/7</a:t>
            </a:r>
          </a:p>
          <a:p>
            <a:pPr eaLnBrk="1" hangingPunct="1"/>
            <a:r>
              <a:rPr kumimoji="1" lang="en-US" altLang="zh-CN" sz="2400" b="1" dirty="0">
                <a:solidFill>
                  <a:srgbClr val="0000FF"/>
                </a:solidFill>
                <a:latin typeface="Times New Roman" pitchFamily="18" charset="0"/>
              </a:rPr>
              <a:t>                = 20/7 ≈ 2.8571</a:t>
            </a:r>
            <a:endParaRPr kumimoji="1" lang="en-US" altLang="zh-CN" sz="2400" dirty="0">
              <a:solidFill>
                <a:srgbClr val="0000FF"/>
              </a:solidFill>
              <a:latin typeface="Times New Roman" pitchFamily="18" charset="0"/>
            </a:endParaRPr>
          </a:p>
        </p:txBody>
      </p:sp>
      <p:sp>
        <p:nvSpPr>
          <p:cNvPr id="53" name="Text Box 47"/>
          <p:cNvSpPr txBox="1">
            <a:spLocks noChangeArrowheads="1"/>
          </p:cNvSpPr>
          <p:nvPr/>
        </p:nvSpPr>
        <p:spPr bwMode="auto">
          <a:xfrm>
            <a:off x="102347" y="2015498"/>
            <a:ext cx="407856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dirty="0" err="1">
                <a:solidFill>
                  <a:srgbClr val="0000FF"/>
                </a:solidFill>
                <a:latin typeface="Times New Roman" pitchFamily="18" charset="0"/>
              </a:rPr>
              <a:t>ASL</a:t>
            </a:r>
            <a:r>
              <a:rPr kumimoji="1" lang="en-US" altLang="zh-CN" sz="2400" b="1" i="1" baseline="-25000" dirty="0" err="1">
                <a:solidFill>
                  <a:srgbClr val="0000FF"/>
                </a:solidFill>
                <a:latin typeface="Times New Roman" pitchFamily="18" charset="0"/>
              </a:rPr>
              <a:t>succ</a:t>
            </a:r>
            <a:r>
              <a:rPr kumimoji="1" lang="en-US" altLang="zh-CN" sz="2400" b="1" dirty="0">
                <a:solidFill>
                  <a:srgbClr val="0000FF"/>
                </a:solidFill>
                <a:latin typeface="Times New Roman" pitchFamily="18" charset="0"/>
              </a:rPr>
              <a:t> = (1+2*2+ 3*3)/6 </a:t>
            </a:r>
          </a:p>
          <a:p>
            <a:pPr eaLnBrk="1" hangingPunct="1"/>
            <a:r>
              <a:rPr kumimoji="1" lang="en-US" altLang="zh-CN" sz="2400" b="1" dirty="0">
                <a:solidFill>
                  <a:srgbClr val="0000FF"/>
                </a:solidFill>
                <a:latin typeface="Times New Roman" pitchFamily="18" charset="0"/>
              </a:rPr>
              <a:t>	 = 14/6 ≈ 2.3333</a:t>
            </a:r>
            <a:endParaRPr kumimoji="1" lang="en-US" altLang="zh-CN" sz="2400" dirty="0">
              <a:solidFill>
                <a:srgbClr val="0000FF"/>
              </a:solidFill>
              <a:latin typeface="Times New Roman" pitchFamily="18" charset="0"/>
            </a:endParaRPr>
          </a:p>
        </p:txBody>
      </p:sp>
    </p:spTree>
    <p:extLst>
      <p:ext uri="{BB962C8B-B14F-4D97-AF65-F5344CB8AC3E}">
        <p14:creationId xmlns:p14="http://schemas.microsoft.com/office/powerpoint/2010/main" val="3458394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308"/>
            <a:ext cx="8686800" cy="836404"/>
          </a:xfrm>
        </p:spPr>
        <p:txBody>
          <a:bodyPr>
            <a:normAutofit fontScale="90000"/>
          </a:bodyPr>
          <a:lstStyle/>
          <a:p>
            <a:pPr algn="l"/>
            <a:r>
              <a:rPr lang="zh-CN" altLang="en-US" dirty="0">
                <a:latin typeface="华文新魏" panose="02010800040101010101" pitchFamily="2" charset="-122"/>
                <a:ea typeface="华文新魏" panose="02010800040101010101" pitchFamily="2" charset="-122"/>
              </a:rPr>
              <a:t>折半（二分）查找算法分析</a:t>
            </a:r>
            <a:r>
              <a:rPr lang="en-US" altLang="zh-CN" dirty="0">
                <a:latin typeface="华文新魏" panose="02010800040101010101" pitchFamily="2" charset="-122"/>
                <a:ea typeface="华文新魏" panose="02010800040101010101" pitchFamily="2" charset="-122"/>
              </a:rPr>
              <a:t>- </a:t>
            </a:r>
            <a:r>
              <a:rPr lang="zh-CN" altLang="en-US" dirty="0">
                <a:latin typeface="华文新魏" panose="02010800040101010101" pitchFamily="2" charset="-122"/>
                <a:ea typeface="华文新魏" panose="02010800040101010101" pitchFamily="2" charset="-122"/>
              </a:rPr>
              <a:t>优缺点比较</a:t>
            </a:r>
          </a:p>
        </p:txBody>
      </p:sp>
      <p:sp>
        <p:nvSpPr>
          <p:cNvPr id="3" name="内容占位符 2"/>
          <p:cNvSpPr>
            <a:spLocks noGrp="1"/>
          </p:cNvSpPr>
          <p:nvPr>
            <p:ph idx="1"/>
          </p:nvPr>
        </p:nvSpPr>
        <p:spPr/>
        <p:txBody>
          <a:bodyPr>
            <a:normAutofit fontScale="85000" lnSpcReduction="10000"/>
          </a:bodyPr>
          <a:lstStyle/>
          <a:p>
            <a:r>
              <a:rPr lang="en-US" altLang="zh-CN" dirty="0">
                <a:latin typeface="Times New Roman" panose="02020603050405020304" pitchFamily="18" charset="0"/>
                <a:ea typeface="华文楷体" panose="02010600040101010101" pitchFamily="2" charset="-122"/>
                <a:cs typeface="Times New Roman" panose="02020603050405020304" pitchFamily="18" charset="0"/>
              </a:rPr>
              <a:t>Strength</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b="1" dirty="0">
                <a:solidFill>
                  <a:srgbClr val="FFC000"/>
                </a:solidFill>
                <a:latin typeface="Times New Roman" panose="02020603050405020304" pitchFamily="18" charset="0"/>
                <a:ea typeface="华文楷体" panose="02010600040101010101" pitchFamily="2" charset="-122"/>
                <a:cs typeface="Times New Roman" panose="02020603050405020304" pitchFamily="18" charset="0"/>
              </a:rPr>
              <a:t>二分查找速度很快</a:t>
            </a:r>
            <a:endParaRPr lang="en-US" altLang="zh-CN" b="1" dirty="0">
              <a:solidFill>
                <a:srgbClr val="FFC000"/>
              </a:solidFill>
              <a:latin typeface="Times New Roman" panose="02020603050405020304" pitchFamily="18" charset="0"/>
              <a:ea typeface="华文楷体" panose="02010600040101010101" pitchFamily="2" charset="-122"/>
              <a:cs typeface="Times New Roman" panose="02020603050405020304" pitchFamily="18" charset="0"/>
            </a:endParaRPr>
          </a:p>
          <a:p>
            <a:pPr marL="898525" lvl="1" indent="-361950"/>
            <a:r>
              <a:rPr lang="en-US" altLang="zh-CN" dirty="0">
                <a:latin typeface="Times New Roman" panose="02020603050405020304" pitchFamily="18" charset="0"/>
                <a:ea typeface="华文楷体" panose="02010600040101010101" pitchFamily="2" charset="-122"/>
                <a:cs typeface="Times New Roman" panose="02020603050405020304" pitchFamily="18" charset="0"/>
              </a:rPr>
              <a:t>1000</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个元素的有序表，至多需要比较</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10</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次</a:t>
            </a:r>
          </a:p>
          <a:p>
            <a:pPr marL="898525" lvl="1" indent="-361950"/>
            <a:r>
              <a:rPr lang="en-US" altLang="zh-CN" dirty="0">
                <a:latin typeface="Times New Roman" panose="02020603050405020304" pitchFamily="18" charset="0"/>
                <a:ea typeface="华文楷体" panose="02010600040101010101" pitchFamily="2" charset="-122"/>
                <a:cs typeface="Times New Roman" panose="02020603050405020304" pitchFamily="18" charset="0"/>
              </a:rPr>
              <a:t>1000,000</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个元素的有序表，需要不超过</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20</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次的比较</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dirty="0">
                <a:latin typeface="Times New Roman" panose="02020603050405020304" pitchFamily="18" charset="0"/>
                <a:ea typeface="华文楷体" panose="02010600040101010101" pitchFamily="2" charset="-122"/>
                <a:cs typeface="Times New Roman" panose="02020603050405020304" pitchFamily="18" charset="0"/>
              </a:rPr>
              <a:t>Limitation</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b="1" dirty="0">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查找对象是有序表</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，即在查找之前需要对顺序表进行排序操作</a:t>
            </a:r>
          </a:p>
          <a:p>
            <a:r>
              <a:rPr lang="en-US" altLang="zh-CN" dirty="0">
                <a:latin typeface="Times New Roman" panose="02020603050405020304" pitchFamily="18" charset="0"/>
                <a:ea typeface="华文楷体" panose="02010600040101010101" pitchFamily="2" charset="-122"/>
                <a:cs typeface="Times New Roman" panose="02020603050405020304" pitchFamily="18" charset="0"/>
              </a:rPr>
              <a:t>Weaknesses</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898525" lvl="1" indent="-361950"/>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二分查找无法应用于链表</a:t>
            </a:r>
          </a:p>
          <a:p>
            <a:pPr marL="898525" lvl="1" indent="-361950"/>
            <a:r>
              <a:rPr lang="zh-CN" altLang="en-US" b="1" dirty="0">
                <a:solidFill>
                  <a:schemeClr val="accent3">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在不等概率查找的情况下，二分查找不一定是有序表最好的查找方法</a:t>
            </a:r>
          </a:p>
          <a:p>
            <a:pPr marL="898525" lvl="1" indent="-361950"/>
            <a:r>
              <a:rPr lang="zh-CN" altLang="en-US" b="1" dirty="0">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当查找表的长度不大时，也许二分查找的效率不如顺序查找</a:t>
            </a:r>
            <a:endParaRPr lang="en-US" altLang="zh-CN" b="1" dirty="0">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marL="361950" indent="-361950"/>
            <a:r>
              <a:rPr lang="en-US" altLang="zh-CN" dirty="0">
                <a:latin typeface="Times New Roman" panose="02020603050405020304" pitchFamily="18" charset="0"/>
                <a:ea typeface="华文楷体" panose="02010600040101010101" pitchFamily="2" charset="-122"/>
                <a:cs typeface="Times New Roman" panose="02020603050405020304" pitchFamily="18" charset="0"/>
              </a:rPr>
              <a:t>Conclusion</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：适合于大量的静态数据</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898525" lvl="1" indent="-361950"/>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有序表的插入和删除都比较麻烦，平均要移动表中一半的元素</a:t>
            </a: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20</a:t>
            </a:fld>
            <a:endParaRPr lang="zh-CN" altLang="en-US"/>
          </a:p>
        </p:txBody>
      </p:sp>
    </p:spTree>
    <p:extLst>
      <p:ext uri="{BB962C8B-B14F-4D97-AF65-F5344CB8AC3E}">
        <p14:creationId xmlns:p14="http://schemas.microsoft.com/office/powerpoint/2010/main" val="3287470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1810" name="Rectangle 2"/>
          <p:cNvSpPr>
            <a:spLocks noGrp="1" noChangeArrowheads="1"/>
          </p:cNvSpPr>
          <p:nvPr>
            <p:ph type="title"/>
          </p:nvPr>
        </p:nvSpPr>
        <p:spPr>
          <a:xfrm>
            <a:off x="13689" y="-36687"/>
            <a:ext cx="8229600" cy="828775"/>
          </a:xfrm>
        </p:spPr>
        <p:txBody>
          <a:bodyPr>
            <a:normAutofit/>
          </a:bodyPr>
          <a:lstStyle/>
          <a:p>
            <a:pPr algn="l"/>
            <a:r>
              <a:rPr lang="en-US" altLang="en-US" sz="3600" dirty="0">
                <a:latin typeface="华文新魏" panose="02010800040101010101" pitchFamily="2" charset="-122"/>
                <a:ea typeface="华文新魏" panose="02010800040101010101" pitchFamily="2" charset="-122"/>
              </a:rPr>
              <a:t>2.3 </a:t>
            </a:r>
            <a:r>
              <a:rPr lang="en-US" altLang="en-US" sz="3600" dirty="0" err="1">
                <a:latin typeface="华文新魏" panose="02010800040101010101" pitchFamily="2" charset="-122"/>
                <a:ea typeface="华文新魏" panose="02010800040101010101" pitchFamily="2" charset="-122"/>
              </a:rPr>
              <a:t>Fibonacci查找</a:t>
            </a:r>
            <a:endParaRPr lang="en-US" altLang="en-US" sz="3600" dirty="0">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631811" name="Rectangle 3"/>
              <p:cNvSpPr>
                <a:spLocks noGrp="1" noChangeArrowheads="1"/>
              </p:cNvSpPr>
              <p:nvPr>
                <p:ph idx="1"/>
              </p:nvPr>
            </p:nvSpPr>
            <p:spPr>
              <a:xfrm>
                <a:off x="107504" y="792088"/>
                <a:ext cx="8928992" cy="5832648"/>
              </a:xfrm>
            </p:spPr>
            <p:txBody>
              <a:bodyPr>
                <a:normAutofit fontScale="85000" lnSpcReduction="10000"/>
              </a:bodyPr>
              <a:lstStyle/>
              <a:p>
                <a:r>
                  <a:rPr lang="zh-CN" altLang="en-US" sz="2400" dirty="0">
                    <a:latin typeface="华文楷体" panose="02010600040101010101" pitchFamily="2" charset="-122"/>
                    <a:ea typeface="华文楷体" panose="02010600040101010101" pitchFamily="2" charset="-122"/>
                  </a:rPr>
                  <a:t>基于有序顺序表的查找：</a:t>
                </a:r>
                <a:endParaRPr lang="en-US" altLang="en-US" sz="2400" dirty="0">
                  <a:latin typeface="华文楷体" panose="02010600040101010101" pitchFamily="2" charset="-122"/>
                  <a:ea typeface="华文楷体" panose="02010600040101010101" pitchFamily="2" charset="-122"/>
                </a:endParaRPr>
              </a:p>
              <a:p>
                <a:pPr marL="0" indent="0">
                  <a:buNone/>
                </a:pPr>
                <a:r>
                  <a:rPr lang="en-US" altLang="en-US" sz="2400" dirty="0" err="1">
                    <a:latin typeface="华文楷体" panose="02010600040101010101" pitchFamily="2" charset="-122"/>
                    <a:ea typeface="华文楷体" panose="02010600040101010101" pitchFamily="2" charset="-122"/>
                  </a:rPr>
                  <a:t>查找过程中，先确定待查找记录在表中的范围，然后逐步缩小范围，直到找到或找不到记录为止</a:t>
                </a:r>
                <a:r>
                  <a:rPr lang="zh-CN" altLang="en-US" sz="2400" dirty="0">
                    <a:latin typeface="华文楷体" panose="02010600040101010101" pitchFamily="2" charset="-122"/>
                    <a:ea typeface="华文楷体" panose="02010600040101010101" pitchFamily="2" charset="-122"/>
                  </a:rPr>
                  <a:t>。</a:t>
                </a:r>
                <a:endParaRPr lang="en-US" altLang="en-US" sz="2400" dirty="0">
                  <a:latin typeface="华文楷体" panose="02010600040101010101" pitchFamily="2" charset="-122"/>
                  <a:ea typeface="华文楷体" panose="02010600040101010101" pitchFamily="2" charset="-122"/>
                </a:endParaRPr>
              </a:p>
              <a:p>
                <a:r>
                  <a:rPr lang="en-US" altLang="en-US" sz="2400" dirty="0" err="1">
                    <a:latin typeface="Times New Roman" panose="02020603050405020304" pitchFamily="18" charset="0"/>
                    <a:ea typeface="华文楷体" panose="02010600040101010101" pitchFamily="2" charset="-122"/>
                    <a:cs typeface="Times New Roman" panose="02020603050405020304" pitchFamily="18" charset="0"/>
                  </a:rPr>
                  <a:t>Fibonacci数列</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en-US" sz="2400" dirty="0">
                  <a:latin typeface="Times New Roman" panose="02020603050405020304" pitchFamily="18" charset="0"/>
                  <a:ea typeface="华文楷体" panose="02010600040101010101" pitchFamily="2" charset="-122"/>
                  <a:cs typeface="Times New Roman" panose="02020603050405020304" pitchFamily="18" charset="0"/>
                </a:endParaRPr>
              </a:p>
              <a:p>
                <a:pPr marL="0" indent="0">
                  <a:buNone/>
                </a:pP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        F(0)=0，F(1)=1，F(j)=F(j-1)+F(j-2)</a:t>
                </a:r>
              </a:p>
              <a:p>
                <a:pPr>
                  <a:buFont typeface="Times New Roman" panose="02020603050405020304" pitchFamily="18" charset="0"/>
                  <a:buChar char="⸺"/>
                </a:pPr>
                <a:r>
                  <a:rPr lang="en-US" altLang="en-US" sz="2400" dirty="0" err="1">
                    <a:latin typeface="Times New Roman" panose="02020603050405020304" pitchFamily="18" charset="0"/>
                    <a:ea typeface="华文楷体" panose="02010600040101010101" pitchFamily="2" charset="-122"/>
                    <a:cs typeface="Times New Roman" panose="02020603050405020304" pitchFamily="18" charset="0"/>
                  </a:rPr>
                  <a:t>Fibonacci数列</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0, 1, 1, 2, 3, 5, 8, 13, 21, 34, 55, 89, 144, 233</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377</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610</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987</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1597</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2584</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4181</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6765</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10946</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17711</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28657</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46368</a:t>
                </a:r>
              </a:p>
              <a:p>
                <a:pPr>
                  <a:buFont typeface="Times New Roman" panose="02020603050405020304" pitchFamily="18" charset="0"/>
                  <a:buChar char="⸺"/>
                </a:pPr>
                <a:r>
                  <a:rPr lang="en-US" altLang="en-US" sz="2400" b="0" dirty="0">
                    <a:ea typeface="华文楷体" panose="02010600040101010101" pitchFamily="2" charset="-122"/>
                    <a:cs typeface="Times New Roman" panose="02020603050405020304" pitchFamily="18" charset="0"/>
                  </a:rPr>
                  <a:t>F</a:t>
                </a:r>
                <a14:m>
                  <m:oMath xmlns:m="http://schemas.openxmlformats.org/officeDocument/2006/math">
                    <m:d>
                      <m:dPr>
                        <m:ctrlPr>
                          <a:rPr lang="en-US" altLang="en-US" sz="2400" b="0" i="1" smtClean="0">
                            <a:latin typeface="Cambria Math" panose="02040503050406030204" pitchFamily="18" charset="0"/>
                            <a:ea typeface="华文楷体" panose="02010600040101010101" pitchFamily="2" charset="-122"/>
                            <a:cs typeface="Times New Roman" panose="02020603050405020304" pitchFamily="18" charset="0"/>
                          </a:rPr>
                        </m:ctrlPr>
                      </m:dPr>
                      <m:e>
                        <m:r>
                          <a:rPr lang="en-US" altLang="en-US" sz="2400" b="0" i="1" smtClean="0">
                            <a:latin typeface="Cambria Math" panose="02040503050406030204" pitchFamily="18" charset="0"/>
                            <a:ea typeface="华文楷体" panose="02010600040101010101" pitchFamily="2" charset="-122"/>
                            <a:cs typeface="Times New Roman" panose="02020603050405020304" pitchFamily="18" charset="0"/>
                          </a:rPr>
                          <m:t>𝑛</m:t>
                        </m:r>
                      </m:e>
                    </m:d>
                    <m:r>
                      <a:rPr lang="en-US" altLang="en-US" sz="2400" b="0" i="1" smtClean="0">
                        <a:latin typeface="Cambria Math" panose="02040503050406030204" pitchFamily="18" charset="0"/>
                        <a:ea typeface="华文楷体" panose="02010600040101010101" pitchFamily="2" charset="-122"/>
                        <a:cs typeface="Times New Roman" panose="02020603050405020304" pitchFamily="18" charset="0"/>
                      </a:rPr>
                      <m:t>=</m:t>
                    </m:r>
                    <m:f>
                      <m:fPr>
                        <m:type m:val="skw"/>
                        <m:ctrlPr>
                          <a:rPr lang="en-US" altLang="en-US" sz="2400" b="0" i="1" smtClean="0">
                            <a:latin typeface="Cambria Math" panose="02040503050406030204" pitchFamily="18" charset="0"/>
                            <a:ea typeface="华文楷体" panose="02010600040101010101" pitchFamily="2" charset="-122"/>
                            <a:cs typeface="Times New Roman" panose="02020603050405020304" pitchFamily="18" charset="0"/>
                          </a:rPr>
                        </m:ctrlPr>
                      </m:fPr>
                      <m:num>
                        <m:r>
                          <a:rPr lang="en-US" altLang="en-US" sz="2400" b="0" i="1" smtClean="0">
                            <a:latin typeface="Cambria Math" panose="02040503050406030204" pitchFamily="18" charset="0"/>
                            <a:ea typeface="华文楷体" panose="02010600040101010101" pitchFamily="2" charset="-122"/>
                            <a:cs typeface="Times New Roman" panose="02020603050405020304" pitchFamily="18" charset="0"/>
                          </a:rPr>
                          <m:t>1</m:t>
                        </m:r>
                      </m:num>
                      <m:den>
                        <m:rad>
                          <m:radPr>
                            <m:degHide m:val="on"/>
                            <m:ctrlPr>
                              <a:rPr lang="en-US" altLang="en-US" sz="2400" b="0" i="1" smtClean="0">
                                <a:latin typeface="Cambria Math" panose="02040503050406030204" pitchFamily="18" charset="0"/>
                                <a:ea typeface="华文楷体" panose="02010600040101010101" pitchFamily="2" charset="-122"/>
                                <a:cs typeface="Times New Roman" panose="02020603050405020304" pitchFamily="18" charset="0"/>
                              </a:rPr>
                            </m:ctrlPr>
                          </m:radPr>
                          <m:deg/>
                          <m:e>
                            <m:r>
                              <a:rPr lang="en-US" altLang="en-US" sz="2400" b="0" i="1" smtClean="0">
                                <a:latin typeface="Cambria Math" panose="02040503050406030204" pitchFamily="18" charset="0"/>
                                <a:ea typeface="华文楷体" panose="02010600040101010101" pitchFamily="2" charset="-122"/>
                                <a:cs typeface="Times New Roman" panose="02020603050405020304" pitchFamily="18" charset="0"/>
                              </a:rPr>
                              <m:t>5</m:t>
                            </m:r>
                          </m:e>
                        </m:rad>
                      </m:den>
                    </m:f>
                    <m:d>
                      <m:dPr>
                        <m:begChr m:val="["/>
                        <m:endChr m:val="]"/>
                        <m:ctrlPr>
                          <a:rPr lang="en-US" altLang="en-US" sz="2400" b="0" i="1" smtClean="0">
                            <a:latin typeface="Cambria Math" panose="02040503050406030204" pitchFamily="18" charset="0"/>
                            <a:ea typeface="华文楷体" panose="02010600040101010101" pitchFamily="2" charset="-122"/>
                            <a:cs typeface="Times New Roman" panose="02020603050405020304" pitchFamily="18" charset="0"/>
                          </a:rPr>
                        </m:ctrlPr>
                      </m:dPr>
                      <m:e>
                        <m:sSup>
                          <m:sSupPr>
                            <m:ctrlPr>
                              <a:rPr lang="en-US" altLang="en-US" sz="2400" b="0" i="1" smtClean="0">
                                <a:latin typeface="Cambria Math" panose="02040503050406030204" pitchFamily="18" charset="0"/>
                                <a:ea typeface="华文楷体" panose="02010600040101010101" pitchFamily="2" charset="-122"/>
                                <a:cs typeface="Times New Roman" panose="02020603050405020304" pitchFamily="18" charset="0"/>
                              </a:rPr>
                            </m:ctrlPr>
                          </m:sSupPr>
                          <m:e>
                            <m:d>
                              <m:dPr>
                                <m:ctrlPr>
                                  <a:rPr lang="en-US" altLang="en-US" sz="2400" b="0" i="1" smtClean="0">
                                    <a:latin typeface="Cambria Math" panose="02040503050406030204" pitchFamily="18" charset="0"/>
                                    <a:ea typeface="华文楷体" panose="02010600040101010101" pitchFamily="2" charset="-122"/>
                                    <a:cs typeface="Times New Roman" panose="02020603050405020304" pitchFamily="18" charset="0"/>
                                  </a:rPr>
                                </m:ctrlPr>
                              </m:dPr>
                              <m:e>
                                <m:f>
                                  <m:fPr>
                                    <m:ctrlPr>
                                      <a:rPr lang="en-US" altLang="en-US" sz="2400" b="0" i="1" smtClean="0">
                                        <a:latin typeface="Cambria Math" panose="02040503050406030204" pitchFamily="18" charset="0"/>
                                        <a:ea typeface="华文楷体" panose="02010600040101010101" pitchFamily="2" charset="-122"/>
                                        <a:cs typeface="Times New Roman" panose="02020603050405020304" pitchFamily="18" charset="0"/>
                                      </a:rPr>
                                    </m:ctrlPr>
                                  </m:fPr>
                                  <m:num>
                                    <m:r>
                                      <a:rPr lang="en-US" altLang="en-US" sz="2400" b="0" i="1" smtClean="0">
                                        <a:latin typeface="Cambria Math" panose="02040503050406030204" pitchFamily="18" charset="0"/>
                                        <a:ea typeface="华文楷体" panose="02010600040101010101" pitchFamily="2" charset="-122"/>
                                        <a:cs typeface="Times New Roman" panose="02020603050405020304" pitchFamily="18" charset="0"/>
                                      </a:rPr>
                                      <m:t>1+</m:t>
                                    </m:r>
                                    <m:rad>
                                      <m:radPr>
                                        <m:degHide m:val="on"/>
                                        <m:ctrlPr>
                                          <a:rPr lang="en-US" altLang="en-US" sz="2400" b="0" i="1" smtClean="0">
                                            <a:latin typeface="Cambria Math" panose="02040503050406030204" pitchFamily="18" charset="0"/>
                                            <a:ea typeface="华文楷体" panose="02010600040101010101" pitchFamily="2" charset="-122"/>
                                            <a:cs typeface="Times New Roman" panose="02020603050405020304" pitchFamily="18" charset="0"/>
                                          </a:rPr>
                                        </m:ctrlPr>
                                      </m:radPr>
                                      <m:deg/>
                                      <m:e>
                                        <m:r>
                                          <a:rPr lang="en-US" altLang="en-US" sz="2400" b="0" i="1" smtClean="0">
                                            <a:latin typeface="Cambria Math" panose="02040503050406030204" pitchFamily="18" charset="0"/>
                                            <a:ea typeface="华文楷体" panose="02010600040101010101" pitchFamily="2" charset="-122"/>
                                            <a:cs typeface="Times New Roman" panose="02020603050405020304" pitchFamily="18" charset="0"/>
                                          </a:rPr>
                                          <m:t>5</m:t>
                                        </m:r>
                                      </m:e>
                                    </m:rad>
                                  </m:num>
                                  <m:den>
                                    <m:r>
                                      <a:rPr lang="en-US" altLang="en-US" sz="2400" b="0" i="1" smtClean="0">
                                        <a:latin typeface="Cambria Math" panose="02040503050406030204" pitchFamily="18" charset="0"/>
                                        <a:ea typeface="华文楷体" panose="02010600040101010101" pitchFamily="2" charset="-122"/>
                                        <a:cs typeface="Times New Roman" panose="02020603050405020304" pitchFamily="18" charset="0"/>
                                      </a:rPr>
                                      <m:t>2</m:t>
                                    </m:r>
                                  </m:den>
                                </m:f>
                              </m:e>
                            </m:d>
                          </m:e>
                          <m:sup>
                            <m:r>
                              <a:rPr lang="en-US" altLang="en-US" sz="2400" b="0" i="1" smtClean="0">
                                <a:latin typeface="Cambria Math" panose="02040503050406030204" pitchFamily="18" charset="0"/>
                                <a:ea typeface="华文楷体" panose="02010600040101010101" pitchFamily="2" charset="-122"/>
                                <a:cs typeface="Times New Roman" panose="02020603050405020304" pitchFamily="18" charset="0"/>
                              </a:rPr>
                              <m:t>𝑛</m:t>
                            </m:r>
                          </m:sup>
                        </m:sSup>
                        <m:r>
                          <a:rPr lang="en-US" altLang="en-US" sz="2400" b="0" i="1" smtClean="0">
                            <a:latin typeface="Cambria Math" panose="02040503050406030204" pitchFamily="18" charset="0"/>
                            <a:ea typeface="华文楷体" panose="02010600040101010101" pitchFamily="2" charset="-122"/>
                            <a:cs typeface="Times New Roman" panose="02020603050405020304" pitchFamily="18" charset="0"/>
                          </a:rPr>
                          <m:t>−</m:t>
                        </m:r>
                        <m:sSup>
                          <m:sSupPr>
                            <m:ctrlPr>
                              <a:rPr lang="en-US" altLang="en-US" sz="2400" i="1">
                                <a:latin typeface="Cambria Math" panose="02040503050406030204" pitchFamily="18" charset="0"/>
                                <a:ea typeface="华文楷体" panose="02010600040101010101" pitchFamily="2" charset="-122"/>
                                <a:cs typeface="Times New Roman" panose="02020603050405020304" pitchFamily="18" charset="0"/>
                              </a:rPr>
                            </m:ctrlPr>
                          </m:sSupPr>
                          <m:e>
                            <m:d>
                              <m:dPr>
                                <m:ctrlPr>
                                  <a:rPr lang="en-US" altLang="en-US" sz="2400" i="1">
                                    <a:latin typeface="Cambria Math" panose="02040503050406030204" pitchFamily="18" charset="0"/>
                                    <a:ea typeface="华文楷体" panose="02010600040101010101" pitchFamily="2" charset="-122"/>
                                    <a:cs typeface="Times New Roman" panose="02020603050405020304" pitchFamily="18" charset="0"/>
                                  </a:rPr>
                                </m:ctrlPr>
                              </m:dPr>
                              <m:e>
                                <m:f>
                                  <m:fPr>
                                    <m:ctrlPr>
                                      <a:rPr lang="en-US" altLang="en-US" sz="2400" i="1">
                                        <a:latin typeface="Cambria Math" panose="02040503050406030204" pitchFamily="18" charset="0"/>
                                        <a:ea typeface="华文楷体" panose="02010600040101010101" pitchFamily="2" charset="-122"/>
                                        <a:cs typeface="Times New Roman" panose="02020603050405020304" pitchFamily="18" charset="0"/>
                                      </a:rPr>
                                    </m:ctrlPr>
                                  </m:fPr>
                                  <m:num>
                                    <m:r>
                                      <a:rPr lang="en-US" altLang="en-US" sz="2400" i="1">
                                        <a:latin typeface="Cambria Math" panose="02040503050406030204" pitchFamily="18" charset="0"/>
                                        <a:ea typeface="华文楷体" panose="02010600040101010101" pitchFamily="2" charset="-122"/>
                                        <a:cs typeface="Times New Roman" panose="02020603050405020304" pitchFamily="18" charset="0"/>
                                      </a:rPr>
                                      <m:t>1</m:t>
                                    </m:r>
                                    <m:r>
                                      <a:rPr lang="en-US" altLang="en-US" sz="2400" b="0" i="1" smtClean="0">
                                        <a:latin typeface="Cambria Math" panose="02040503050406030204" pitchFamily="18" charset="0"/>
                                        <a:ea typeface="华文楷体" panose="02010600040101010101" pitchFamily="2" charset="-122"/>
                                        <a:cs typeface="Times New Roman" panose="02020603050405020304" pitchFamily="18" charset="0"/>
                                      </a:rPr>
                                      <m:t>−</m:t>
                                    </m:r>
                                    <m:rad>
                                      <m:radPr>
                                        <m:degHide m:val="on"/>
                                        <m:ctrlPr>
                                          <a:rPr lang="en-US" altLang="en-US" sz="2400" i="1">
                                            <a:latin typeface="Cambria Math" panose="02040503050406030204" pitchFamily="18" charset="0"/>
                                            <a:ea typeface="华文楷体" panose="02010600040101010101" pitchFamily="2" charset="-122"/>
                                            <a:cs typeface="Times New Roman" panose="02020603050405020304" pitchFamily="18" charset="0"/>
                                          </a:rPr>
                                        </m:ctrlPr>
                                      </m:radPr>
                                      <m:deg/>
                                      <m:e>
                                        <m:r>
                                          <a:rPr lang="en-US" altLang="en-US" sz="2400" i="1">
                                            <a:latin typeface="Cambria Math" panose="02040503050406030204" pitchFamily="18" charset="0"/>
                                            <a:ea typeface="华文楷体" panose="02010600040101010101" pitchFamily="2" charset="-122"/>
                                            <a:cs typeface="Times New Roman" panose="02020603050405020304" pitchFamily="18" charset="0"/>
                                          </a:rPr>
                                          <m:t>5</m:t>
                                        </m:r>
                                      </m:e>
                                    </m:rad>
                                  </m:num>
                                  <m:den>
                                    <m:r>
                                      <a:rPr lang="en-US" altLang="en-US" sz="2400" i="1">
                                        <a:latin typeface="Cambria Math" panose="02040503050406030204" pitchFamily="18" charset="0"/>
                                        <a:ea typeface="华文楷体" panose="02010600040101010101" pitchFamily="2" charset="-122"/>
                                        <a:cs typeface="Times New Roman" panose="02020603050405020304" pitchFamily="18" charset="0"/>
                                      </a:rPr>
                                      <m:t>2</m:t>
                                    </m:r>
                                  </m:den>
                                </m:f>
                              </m:e>
                            </m:d>
                          </m:e>
                          <m:sup>
                            <m:r>
                              <a:rPr lang="en-US" altLang="en-US" sz="2400" i="1">
                                <a:latin typeface="Cambria Math" panose="02040503050406030204" pitchFamily="18" charset="0"/>
                                <a:ea typeface="华文楷体" panose="02010600040101010101" pitchFamily="2" charset="-122"/>
                                <a:cs typeface="Times New Roman" panose="02020603050405020304" pitchFamily="18" charset="0"/>
                              </a:rPr>
                              <m:t>𝑛</m:t>
                            </m:r>
                          </m:sup>
                        </m:sSup>
                      </m:e>
                    </m:d>
                  </m:oMath>
                </a14:m>
                <a:endParaRPr lang="en-US" altLang="en-US" sz="2400" dirty="0">
                  <a:latin typeface="Times New Roman" panose="02020603050405020304" pitchFamily="18" charset="0"/>
                  <a:ea typeface="华文楷体" panose="02010600040101010101" pitchFamily="2" charset="-122"/>
                  <a:cs typeface="Times New Roman" panose="02020603050405020304" pitchFamily="18" charset="0"/>
                </a:endParaRPr>
              </a:p>
              <a:p>
                <a:pPr>
                  <a:buFont typeface="Times New Roman" panose="02020603050405020304" pitchFamily="18" charset="0"/>
                  <a:buChar char="⸺"/>
                </a:pPr>
                <a:r>
                  <a:rPr lang="zh-CN" altLang="en-US" sz="2400" dirty="0">
                    <a:latin typeface="华文楷体" panose="02010600040101010101" pitchFamily="2" charset="-122"/>
                    <a:ea typeface="华文楷体" panose="02010600040101010101" pitchFamily="2" charset="-122"/>
                  </a:rPr>
                  <a:t>当</a:t>
                </a:r>
                <a:r>
                  <a:rPr lang="en-US" altLang="zh-CN" sz="2400" dirty="0">
                    <a:latin typeface="华文楷体" panose="02010600040101010101" pitchFamily="2" charset="-122"/>
                    <a:ea typeface="华文楷体" panose="02010600040101010101" pitchFamily="2" charset="-122"/>
                  </a:rPr>
                  <a:t>n</a:t>
                </a:r>
                <a:r>
                  <a:rPr lang="zh-CN" altLang="en-US" sz="2400" dirty="0">
                    <a:latin typeface="华文楷体" panose="02010600040101010101" pitchFamily="2" charset="-122"/>
                    <a:ea typeface="华文楷体" panose="02010600040101010101" pitchFamily="2" charset="-122"/>
                  </a:rPr>
                  <a:t>趋向于无穷大时，前一项与后一项的比值越来越逼近</a:t>
                </a:r>
                <a:r>
                  <a:rPr lang="zh-CN" altLang="en-US" sz="2400" dirty="0">
                    <a:latin typeface="华文楷体" panose="02010600040101010101" pitchFamily="2" charset="-122"/>
                    <a:ea typeface="华文楷体" panose="02010600040101010101" pitchFamily="2" charset="-122"/>
                    <a:hlinkClick r:id="rId2">
                      <a:extLst>
                        <a:ext uri="{A12FA001-AC4F-418D-AE19-62706E023703}">
                          <ahyp:hlinkClr xmlns="" xmlns:ahyp="http://schemas.microsoft.com/office/drawing/2018/hyperlinkcolor" val="tx"/>
                        </a:ext>
                      </a:extLst>
                    </a:hlinkClick>
                  </a:rPr>
                  <a:t>黄金分割</a:t>
                </a:r>
                <a:r>
                  <a:rPr lang="en-US" altLang="zh-CN" sz="2400" dirty="0">
                    <a:latin typeface="华文楷体" panose="02010600040101010101" pitchFamily="2" charset="-122"/>
                    <a:ea typeface="华文楷体" panose="02010600040101010101" pitchFamily="2" charset="-122"/>
                  </a:rPr>
                  <a:t>0.618</a:t>
                </a:r>
                <a:endParaRPr lang="en-US" altLang="en-US" sz="2400" dirty="0">
                  <a:latin typeface="华文楷体" panose="02010600040101010101" pitchFamily="2" charset="-122"/>
                  <a:ea typeface="华文楷体" panose="02010600040101010101" pitchFamily="2" charset="-122"/>
                </a:endParaRPr>
              </a:p>
              <a:p>
                <a:pPr marL="0" indent="0">
                  <a:buNone/>
                </a:pPr>
                <a:r>
                  <a:rPr lang="en-US" altLang="zh-CN" sz="2800" dirty="0">
                    <a:latin typeface="Times New Roman" panose="02020603050405020304" pitchFamily="18" charset="0"/>
                    <a:cs typeface="Times New Roman" panose="02020603050405020304" pitchFamily="18" charset="0"/>
                  </a:rPr>
                  <a:t>1÷1=1</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1÷2=0.5</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2÷3=0.666...</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3÷5=0.6,</a:t>
                </a:r>
                <a:r>
                  <a:rPr lang="zh-CN" altLang="en-US"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5÷8=0.625,  …………,  55÷89=0.617977,  ……………</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144÷233=0.618025, …, 46368÷75025=0.6180339886, …...</a:t>
                </a:r>
                <a:endParaRPr lang="en-US" altLang="en-US" sz="2800" dirty="0">
                  <a:latin typeface="Times New Roman" panose="02020603050405020304" pitchFamily="18" charset="0"/>
                  <a:cs typeface="Times New Roman" panose="02020603050405020304" pitchFamily="18" charset="0"/>
                </a:endParaRPr>
              </a:p>
              <a:p>
                <a:endParaRPr lang="en-US" altLang="en-US" dirty="0"/>
              </a:p>
            </p:txBody>
          </p:sp>
        </mc:Choice>
        <mc:Fallback xmlns="">
          <p:sp>
            <p:nvSpPr>
              <p:cNvPr id="631811" name="Rectangle 3"/>
              <p:cNvSpPr>
                <a:spLocks noGrp="1" noRot="1" noChangeAspect="1" noMove="1" noResize="1" noEditPoints="1" noAdjustHandles="1" noChangeArrowheads="1" noChangeShapeType="1" noTextEdit="1"/>
              </p:cNvSpPr>
              <p:nvPr>
                <p:ph idx="1"/>
              </p:nvPr>
            </p:nvSpPr>
            <p:spPr>
              <a:xfrm>
                <a:off x="107504" y="792088"/>
                <a:ext cx="8928992" cy="5832648"/>
              </a:xfrm>
              <a:blipFill>
                <a:blip r:embed="rId3"/>
                <a:stretch>
                  <a:fillRect l="-1093" t="-1045" r="-1708"/>
                </a:stretch>
              </a:blipFill>
            </p:spPr>
            <p:txBody>
              <a:bodyPr/>
              <a:lstStyle/>
              <a:p>
                <a:r>
                  <a:rPr lang="zh-CN" altLang="en-US">
                    <a:noFill/>
                  </a:rPr>
                  <a:t> </a:t>
                </a:r>
              </a:p>
            </p:txBody>
          </p:sp>
        </mc:Fallback>
      </mc:AlternateContent>
      <p:sp>
        <p:nvSpPr>
          <p:cNvPr id="2" name="灯片编号占位符 1"/>
          <p:cNvSpPr>
            <a:spLocks noGrp="1"/>
          </p:cNvSpPr>
          <p:nvPr>
            <p:ph type="sldNum" sz="quarter" idx="12"/>
          </p:nvPr>
        </p:nvSpPr>
        <p:spPr/>
        <p:txBody>
          <a:bodyPr/>
          <a:lstStyle/>
          <a:p>
            <a:fld id="{0C913308-F349-4B6D-A68A-DD1791B4A57B}" type="slidenum">
              <a:rPr lang="zh-CN" altLang="en-US" smtClean="0"/>
              <a:pPr/>
              <a:t>21</a:t>
            </a:fld>
            <a:endParaRPr lang="zh-CN" altLang="en-US"/>
          </a:p>
        </p:txBody>
      </p:sp>
    </p:spTree>
    <p:extLst>
      <p:ext uri="{BB962C8B-B14F-4D97-AF65-F5344CB8AC3E}">
        <p14:creationId xmlns:p14="http://schemas.microsoft.com/office/powerpoint/2010/main" val="36601100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9544" y="0"/>
            <a:ext cx="8229600" cy="936104"/>
          </a:xfrm>
        </p:spPr>
        <p:txBody>
          <a:bodyPr/>
          <a:lstStyle/>
          <a:p>
            <a:pPr algn="l"/>
            <a:r>
              <a:rPr lang="en-US" altLang="en-US" dirty="0" err="1">
                <a:latin typeface="华文新魏" panose="02010800040101010101" pitchFamily="2" charset="-122"/>
                <a:ea typeface="华文新魏" panose="02010800040101010101" pitchFamily="2" charset="-122"/>
              </a:rPr>
              <a:t>Fibonacci查找</a:t>
            </a:r>
            <a:r>
              <a:rPr lang="en-US" altLang="en-US"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算法思想</a:t>
            </a:r>
          </a:p>
        </p:txBody>
      </p:sp>
      <p:sp>
        <p:nvSpPr>
          <p:cNvPr id="3" name="内容占位符 2"/>
          <p:cNvSpPr>
            <a:spLocks noGrp="1"/>
          </p:cNvSpPr>
          <p:nvPr>
            <p:ph idx="1"/>
          </p:nvPr>
        </p:nvSpPr>
        <p:spPr>
          <a:xfrm>
            <a:off x="142198" y="1451317"/>
            <a:ext cx="8784976" cy="4608512"/>
          </a:xfrm>
        </p:spPr>
        <p:txBody>
          <a:bodyPr>
            <a:normAutofit fontScale="92500" lnSpcReduction="10000"/>
          </a:bodyPr>
          <a:lstStyle/>
          <a:p>
            <a:r>
              <a:rPr lang="en-US" altLang="en-US" sz="2600" dirty="0">
                <a:latin typeface="华文楷体" panose="02010600040101010101" pitchFamily="2" charset="-122"/>
                <a:ea typeface="华文楷体" panose="02010600040101010101" pitchFamily="2" charset="-122"/>
              </a:rPr>
              <a:t>设查找表中的记录数n比某个Fibonacci数小1，即设n=F(j)-1</a:t>
            </a:r>
          </a:p>
          <a:p>
            <a:r>
              <a:rPr lang="en-US" altLang="en-US" sz="2600" dirty="0" err="1">
                <a:latin typeface="华文楷体" panose="02010600040101010101" pitchFamily="2" charset="-122"/>
                <a:ea typeface="华文楷体" panose="02010600040101010101" pitchFamily="2" charset="-122"/>
              </a:rPr>
              <a:t>用Low、High和Mid表示待查找区间的下界、上界和分割位置，初值为Low</a:t>
            </a:r>
            <a:r>
              <a:rPr lang="en-US" altLang="en-US" sz="2600" dirty="0">
                <a:latin typeface="华文楷体" panose="02010600040101010101" pitchFamily="2" charset="-122"/>
                <a:ea typeface="华文楷体" panose="02010600040101010101" pitchFamily="2" charset="-122"/>
              </a:rPr>
              <a:t>=1，High=n</a:t>
            </a:r>
          </a:p>
          <a:p>
            <a:pPr marL="1522413" indent="-623888">
              <a:buNone/>
            </a:pPr>
            <a:r>
              <a:rPr lang="en-US" altLang="en-US" sz="2600" dirty="0">
                <a:latin typeface="华文楷体" panose="02010600040101010101" pitchFamily="2" charset="-122"/>
                <a:ea typeface="华文楷体" panose="02010600040101010101" pitchFamily="2" charset="-122"/>
              </a:rPr>
              <a:t>⑴  </a:t>
            </a:r>
            <a:r>
              <a:rPr lang="en-US" altLang="en-US" sz="2600" dirty="0" err="1">
                <a:latin typeface="华文楷体" panose="02010600040101010101" pitchFamily="2" charset="-122"/>
                <a:ea typeface="华文楷体" panose="02010600040101010101" pitchFamily="2" charset="-122"/>
              </a:rPr>
              <a:t>取分割位置Mid：Mid</a:t>
            </a:r>
            <a:r>
              <a:rPr lang="en-US" altLang="en-US" sz="2600" dirty="0">
                <a:latin typeface="华文楷体" panose="02010600040101010101" pitchFamily="2" charset="-122"/>
                <a:ea typeface="华文楷体" panose="02010600040101010101" pitchFamily="2" charset="-122"/>
              </a:rPr>
              <a:t>=</a:t>
            </a:r>
            <a:r>
              <a:rPr lang="en-US" altLang="en-US" sz="2600" dirty="0">
                <a:latin typeface="华文楷体" panose="02010600040101010101" pitchFamily="2" charset="-122"/>
                <a:ea typeface="华文楷体" panose="02010600040101010101" pitchFamily="2" charset="-122"/>
                <a:sym typeface="Symbol" pitchFamily="18" charset="2"/>
              </a:rPr>
              <a:t>F(j-1)</a:t>
            </a:r>
          </a:p>
          <a:p>
            <a:pPr marL="1522413" indent="-623888">
              <a:buNone/>
            </a:pPr>
            <a:r>
              <a:rPr lang="en-US" altLang="en-US" sz="2600" dirty="0">
                <a:latin typeface="华文楷体" panose="02010600040101010101" pitchFamily="2" charset="-122"/>
                <a:ea typeface="华文楷体" panose="02010600040101010101" pitchFamily="2" charset="-122"/>
              </a:rPr>
              <a:t>⑵</a:t>
            </a:r>
            <a:r>
              <a:rPr lang="en-US" altLang="en-US" sz="2600" dirty="0">
                <a:latin typeface="华文楷体" panose="02010600040101010101" pitchFamily="2" charset="-122"/>
                <a:ea typeface="华文楷体" panose="02010600040101010101" pitchFamily="2" charset="-122"/>
                <a:sym typeface="Symbol" pitchFamily="18" charset="2"/>
              </a:rPr>
              <a:t>  </a:t>
            </a:r>
            <a:r>
              <a:rPr lang="en-US" altLang="en-US" sz="2600" dirty="0" err="1">
                <a:latin typeface="华文楷体" panose="02010600040101010101" pitchFamily="2" charset="-122"/>
                <a:ea typeface="华文楷体" panose="02010600040101010101" pitchFamily="2" charset="-122"/>
                <a:sym typeface="Symbol" pitchFamily="18" charset="2"/>
              </a:rPr>
              <a:t>比较</a:t>
            </a:r>
            <a:r>
              <a:rPr lang="en-US" altLang="zh-CN" sz="2600" dirty="0" err="1">
                <a:latin typeface="华文楷体" panose="02010600040101010101" pitchFamily="2" charset="-122"/>
                <a:ea typeface="华文楷体" panose="02010600040101010101" pitchFamily="2" charset="-122"/>
                <a:sym typeface="Symbol" pitchFamily="18" charset="2"/>
              </a:rPr>
              <a:t>key</a:t>
            </a:r>
            <a:r>
              <a:rPr lang="zh-CN" altLang="en-US" sz="2600" dirty="0">
                <a:latin typeface="华文楷体" panose="02010600040101010101" pitchFamily="2" charset="-122"/>
                <a:ea typeface="华文楷体" panose="02010600040101010101" pitchFamily="2" charset="-122"/>
                <a:sym typeface="Symbol" pitchFamily="18" charset="2"/>
              </a:rPr>
              <a:t>值与</a:t>
            </a:r>
            <a:r>
              <a:rPr lang="en-US" altLang="en-US" sz="2600" dirty="0" err="1">
                <a:latin typeface="华文楷体" panose="02010600040101010101" pitchFamily="2" charset="-122"/>
                <a:ea typeface="华文楷体" panose="02010600040101010101" pitchFamily="2" charset="-122"/>
              </a:rPr>
              <a:t>分割位置记录的关键字</a:t>
            </a:r>
            <a:r>
              <a:rPr lang="en-US" altLang="en-US" sz="2600" dirty="0">
                <a:latin typeface="华文楷体" panose="02010600040101010101" pitchFamily="2" charset="-122"/>
                <a:ea typeface="华文楷体" panose="02010600040101010101" pitchFamily="2" charset="-122"/>
              </a:rPr>
              <a:t>：</a:t>
            </a:r>
          </a:p>
          <a:p>
            <a:pPr marL="1971675" lvl="1" indent="-449263">
              <a:buFont typeface="Wingdings" panose="05000000000000000000" pitchFamily="2" charset="2"/>
              <a:buChar char="Ø"/>
            </a:pPr>
            <a:r>
              <a:rPr lang="zh-CN" altLang="en-US" sz="2600" dirty="0">
                <a:latin typeface="华文楷体" panose="02010600040101010101" pitchFamily="2" charset="-122"/>
                <a:ea typeface="华文楷体" panose="02010600040101010101" pitchFamily="2" charset="-122"/>
              </a:rPr>
              <a:t>相等：查找成功</a:t>
            </a:r>
          </a:p>
          <a:p>
            <a:pPr marL="1971675" lvl="1" indent="-449263">
              <a:buFont typeface="Wingdings" panose="05000000000000000000" pitchFamily="2" charset="2"/>
              <a:buChar char="Ø"/>
            </a:pPr>
            <a:r>
              <a:rPr lang="zh-CN" altLang="en-US" sz="2600" dirty="0">
                <a:latin typeface="华文楷体" panose="02010600040101010101" pitchFamily="2" charset="-122"/>
                <a:ea typeface="华文楷体" panose="02010600040101010101" pitchFamily="2" charset="-122"/>
              </a:rPr>
              <a:t>小于：待查记录在区间的前半段，修改上界指针： </a:t>
            </a:r>
            <a:r>
              <a:rPr lang="en-US" altLang="en-US" sz="2600" dirty="0">
                <a:latin typeface="华文楷体" panose="02010600040101010101" pitchFamily="2" charset="-122"/>
                <a:ea typeface="华文楷体" panose="02010600040101010101" pitchFamily="2" charset="-122"/>
              </a:rPr>
              <a:t>High=Mid-1</a:t>
            </a:r>
            <a:r>
              <a:rPr lang="zh-CN" altLang="en-US" sz="2600" dirty="0">
                <a:latin typeface="华文楷体" panose="02010600040101010101" pitchFamily="2" charset="-122"/>
                <a:ea typeface="华文楷体" panose="02010600040101010101" pitchFamily="2" charset="-122"/>
              </a:rPr>
              <a:t>，这时，区间长度为</a:t>
            </a:r>
            <a:r>
              <a:rPr lang="en-US" altLang="en-US" sz="2600" dirty="0">
                <a:latin typeface="华文楷体" panose="02010600040101010101" pitchFamily="2" charset="-122"/>
                <a:ea typeface="华文楷体" panose="02010600040101010101" pitchFamily="2" charset="-122"/>
              </a:rPr>
              <a:t>F(j-1)-1</a:t>
            </a:r>
            <a:r>
              <a:rPr lang="zh-CN" altLang="en-US" sz="2600" dirty="0">
                <a:latin typeface="华文楷体" panose="02010600040101010101" pitchFamily="2" charset="-122"/>
                <a:ea typeface="华文楷体" panose="02010600040101010101" pitchFamily="2" charset="-122"/>
              </a:rPr>
              <a:t>，转⑴ ；</a:t>
            </a:r>
          </a:p>
          <a:p>
            <a:pPr marL="1971675" lvl="1" indent="-449263">
              <a:buFont typeface="Wingdings" panose="05000000000000000000" pitchFamily="2" charset="2"/>
              <a:buChar char="Ø"/>
            </a:pPr>
            <a:r>
              <a:rPr lang="zh-CN" altLang="en-US" sz="2600" dirty="0">
                <a:latin typeface="华文楷体" panose="02010600040101010101" pitchFamily="2" charset="-122"/>
                <a:ea typeface="华文楷体" panose="02010600040101010101" pitchFamily="2" charset="-122"/>
              </a:rPr>
              <a:t>大于：待查记录在区间的后半段，修改下界指针：</a:t>
            </a:r>
            <a:r>
              <a:rPr lang="en-US" altLang="en-US" sz="2600" dirty="0">
                <a:latin typeface="华文楷体" panose="02010600040101010101" pitchFamily="2" charset="-122"/>
                <a:ea typeface="华文楷体" panose="02010600040101010101" pitchFamily="2" charset="-122"/>
              </a:rPr>
              <a:t>Low=Mid+1</a:t>
            </a:r>
            <a:r>
              <a:rPr lang="zh-CN" altLang="en-US" sz="2600" dirty="0">
                <a:latin typeface="华文楷体" panose="02010600040101010101" pitchFamily="2" charset="-122"/>
                <a:ea typeface="华文楷体" panose="02010600040101010101" pitchFamily="2" charset="-122"/>
              </a:rPr>
              <a:t>，</a:t>
            </a:r>
            <a:r>
              <a:rPr lang="en-US" altLang="en-US" sz="2600" dirty="0">
                <a:latin typeface="华文楷体" panose="02010600040101010101" pitchFamily="2" charset="-122"/>
                <a:ea typeface="华文楷体" panose="02010600040101010101" pitchFamily="2" charset="-122"/>
              </a:rPr>
              <a:t> </a:t>
            </a:r>
            <a:r>
              <a:rPr lang="zh-CN" altLang="en-US" sz="2600" dirty="0">
                <a:latin typeface="华文楷体" panose="02010600040101010101" pitchFamily="2" charset="-122"/>
                <a:ea typeface="华文楷体" panose="02010600040101010101" pitchFamily="2" charset="-122"/>
              </a:rPr>
              <a:t>这时，区间长度为</a:t>
            </a:r>
            <a:r>
              <a:rPr lang="en-US" altLang="en-US" sz="2600" dirty="0">
                <a:latin typeface="华文楷体" panose="02010600040101010101" pitchFamily="2" charset="-122"/>
                <a:ea typeface="华文楷体" panose="02010600040101010101" pitchFamily="2" charset="-122"/>
              </a:rPr>
              <a:t>F(j-2)-1</a:t>
            </a:r>
            <a:r>
              <a:rPr lang="zh-CN" altLang="en-US" sz="2600" dirty="0">
                <a:latin typeface="华文楷体" panose="02010600040101010101" pitchFamily="2" charset="-122"/>
                <a:ea typeface="华文楷体" panose="02010600040101010101" pitchFamily="2" charset="-122"/>
              </a:rPr>
              <a:t>，转⑴ ；</a:t>
            </a:r>
          </a:p>
          <a:p>
            <a:r>
              <a:rPr lang="zh-CN" altLang="en-US" sz="2600" dirty="0">
                <a:latin typeface="华文楷体" panose="02010600040101010101" pitchFamily="2" charset="-122"/>
                <a:ea typeface="华文楷体" panose="02010600040101010101" pitchFamily="2" charset="-122"/>
              </a:rPr>
              <a:t>直到越界</a:t>
            </a:r>
            <a:r>
              <a:rPr lang="en-US" altLang="en-US" sz="2600" dirty="0">
                <a:latin typeface="华文楷体" panose="02010600040101010101" pitchFamily="2" charset="-122"/>
                <a:ea typeface="华文楷体" panose="02010600040101010101" pitchFamily="2" charset="-122"/>
              </a:rPr>
              <a:t>(Low&gt;High)</a:t>
            </a:r>
            <a:r>
              <a:rPr lang="zh-CN" altLang="en-US" sz="2600" dirty="0">
                <a:latin typeface="华文楷体" panose="02010600040101010101" pitchFamily="2" charset="-122"/>
                <a:ea typeface="华文楷体" panose="02010600040101010101" pitchFamily="2" charset="-122"/>
              </a:rPr>
              <a:t>，查找失败</a:t>
            </a:r>
          </a:p>
          <a:p>
            <a:pPr lvl="1"/>
            <a:endParaRPr lang="en-US" altLang="en-US" dirty="0"/>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22</a:t>
            </a:fld>
            <a:endParaRPr lang="zh-CN" altLang="en-US"/>
          </a:p>
        </p:txBody>
      </p:sp>
      <p:sp>
        <p:nvSpPr>
          <p:cNvPr id="6" name="文本框 5"/>
          <p:cNvSpPr txBox="1"/>
          <p:nvPr/>
        </p:nvSpPr>
        <p:spPr>
          <a:xfrm>
            <a:off x="6789301" y="712580"/>
            <a:ext cx="2351112" cy="52322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CN" sz="2800" dirty="0">
                <a:solidFill>
                  <a:srgbClr val="FFC000"/>
                </a:solidFill>
                <a:latin typeface="Times New Roman" panose="02020603050405020304" pitchFamily="18" charset="0"/>
                <a:cs typeface="Times New Roman" panose="02020603050405020304" pitchFamily="18" charset="0"/>
              </a:rPr>
              <a:t>?</a:t>
            </a:r>
            <a:r>
              <a:rPr lang="en-US" altLang="zh-CN" sz="2800" dirty="0">
                <a:solidFill>
                  <a:schemeClr val="tx1"/>
                </a:solidFill>
                <a:latin typeface="Times New Roman" panose="02020603050405020304" pitchFamily="18" charset="0"/>
                <a:cs typeface="Times New Roman" panose="02020603050405020304" pitchFamily="18" charset="0"/>
              </a:rPr>
              <a:t>If </a:t>
            </a:r>
            <a:r>
              <a:rPr lang="en-US" altLang="zh-CN" sz="2800" dirty="0" err="1">
                <a:solidFill>
                  <a:schemeClr val="tx1"/>
                </a:solidFill>
                <a:latin typeface="Times New Roman" panose="02020603050405020304" pitchFamily="18" charset="0"/>
                <a:cs typeface="Times New Roman" panose="02020603050405020304" pitchFamily="18" charset="0"/>
              </a:rPr>
              <a:t>n≠F</a:t>
            </a:r>
            <a:r>
              <a:rPr lang="en-US" altLang="zh-CN" sz="2800" dirty="0">
                <a:solidFill>
                  <a:schemeClr val="tx1"/>
                </a:solidFill>
                <a:latin typeface="Times New Roman" panose="02020603050405020304" pitchFamily="18" charset="0"/>
                <a:cs typeface="Times New Roman" panose="02020603050405020304" pitchFamily="18" charset="0"/>
              </a:rPr>
              <a:t>[j]-1</a:t>
            </a:r>
            <a:endParaRPr lang="zh-CN" altLang="en-US" sz="2800" dirty="0">
              <a:solidFill>
                <a:schemeClr val="tx1"/>
              </a:solidFill>
              <a:latin typeface="Times New Roman" panose="02020603050405020304" pitchFamily="18" charset="0"/>
              <a:cs typeface="Times New Roman" panose="02020603050405020304" pitchFamily="18" charset="0"/>
            </a:endParaRPr>
          </a:p>
        </p:txBody>
      </p:sp>
      <p:sp>
        <p:nvSpPr>
          <p:cNvPr id="7" name="文本框 6"/>
          <p:cNvSpPr txBox="1"/>
          <p:nvPr/>
        </p:nvSpPr>
        <p:spPr>
          <a:xfrm>
            <a:off x="3995936" y="725883"/>
            <a:ext cx="2501006" cy="584775"/>
          </a:xfrm>
          <a:prstGeom prst="rect">
            <a:avLst/>
          </a:prstGeom>
          <a:noFill/>
        </p:spPr>
        <p:txBody>
          <a:bodyPr wrap="none" rtlCol="0">
            <a:spAutoFit/>
          </a:bodyPr>
          <a:lstStyle/>
          <a:p>
            <a:r>
              <a:rPr lang="en-US" altLang="zh-CN" sz="3200" i="1" dirty="0">
                <a:solidFill>
                  <a:srgbClr val="FFC000"/>
                </a:solidFill>
                <a:latin typeface="Times New Roman" panose="02020603050405020304" pitchFamily="18" charset="0"/>
                <a:cs typeface="Times New Roman" panose="02020603050405020304" pitchFamily="18" charset="0"/>
              </a:rPr>
              <a:t>?</a:t>
            </a:r>
            <a:r>
              <a:rPr lang="en-US" altLang="zh-CN" sz="32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Why n=F(j)-1</a:t>
            </a:r>
            <a:endParaRPr lang="zh-CN"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6025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07504" y="30731"/>
            <a:ext cx="8229600" cy="936104"/>
          </a:xfrm>
        </p:spPr>
        <p:txBody>
          <a:bodyPr/>
          <a:lstStyle/>
          <a:p>
            <a:pPr algn="l"/>
            <a:r>
              <a:rPr lang="zh-CN" altLang="en-US" dirty="0">
                <a:latin typeface="华文新魏" panose="02010800040101010101" pitchFamily="2" charset="-122"/>
                <a:ea typeface="华文新魏" panose="02010800040101010101" pitchFamily="2" charset="-122"/>
              </a:rPr>
              <a:t>有序表的查找的进一步分析</a:t>
            </a:r>
          </a:p>
        </p:txBody>
      </p:sp>
      <mc:AlternateContent xmlns:mc="http://schemas.openxmlformats.org/markup-compatibility/2006" xmlns:a14="http://schemas.microsoft.com/office/drawing/2010/main">
        <mc:Choice Requires="a14">
          <p:sp>
            <p:nvSpPr>
              <p:cNvPr id="4" name="内容占位符 3"/>
              <p:cNvSpPr>
                <a:spLocks noGrp="1"/>
              </p:cNvSpPr>
              <p:nvPr>
                <p:ph idx="1"/>
              </p:nvPr>
            </p:nvSpPr>
            <p:spPr/>
            <p:txBody>
              <a:bodyPr>
                <a:normAutofit/>
              </a:bodyPr>
              <a:lstStyle/>
              <a:p>
                <a:r>
                  <a:rPr lang="en-US" altLang="en-US" dirty="0">
                    <a:latin typeface="华文楷体" panose="02010600040101010101" pitchFamily="2" charset="-122"/>
                    <a:ea typeface="华文楷体" panose="02010600040101010101" pitchFamily="2" charset="-122"/>
                  </a:rPr>
                  <a:t>Fibonacci</a:t>
                </a:r>
                <a:r>
                  <a:rPr lang="zh-CN" altLang="en-US" dirty="0">
                    <a:latin typeface="华文楷体" panose="02010600040101010101" pitchFamily="2" charset="-122"/>
                    <a:ea typeface="华文楷体" panose="02010600040101010101" pitchFamily="2" charset="-122"/>
                  </a:rPr>
                  <a:t>查找的平均性能比二分查找好，但最坏情况下比二分</a:t>
                </a:r>
                <a:r>
                  <a:rPr lang="zh-CN" altLang="en-US">
                    <a:latin typeface="华文楷体" panose="02010600040101010101" pitchFamily="2" charset="-122"/>
                    <a:ea typeface="华文楷体" panose="02010600040101010101" pitchFamily="2" charset="-122"/>
                  </a:rPr>
                  <a:t>查找差。</a:t>
                </a:r>
                <a:endParaRPr lang="en-US" altLang="zh-CN" dirty="0">
                  <a:latin typeface="华文楷体" panose="02010600040101010101" pitchFamily="2" charset="-122"/>
                  <a:ea typeface="华文楷体" panose="02010600040101010101" pitchFamily="2" charset="-122"/>
                </a:endParaRPr>
              </a:p>
              <a:p>
                <a:pPr marL="0" indent="0">
                  <a:buNone/>
                </a:pP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插值查找：根据</a:t>
                </a:r>
                <a:r>
                  <a:rPr lang="en-US" altLang="zh-CN" dirty="0">
                    <a:latin typeface="华文楷体" panose="02010600040101010101" pitchFamily="2" charset="-122"/>
                    <a:ea typeface="华文楷体" panose="02010600040101010101" pitchFamily="2" charset="-122"/>
                  </a:rPr>
                  <a:t>key</a:t>
                </a:r>
                <a:r>
                  <a:rPr lang="zh-CN" altLang="en-US" dirty="0">
                    <a:latin typeface="华文楷体" panose="02010600040101010101" pitchFamily="2" charset="-122"/>
                    <a:ea typeface="华文楷体" panose="02010600040101010101" pitchFamily="2" charset="-122"/>
                  </a:rPr>
                  <a:t>值来决定与哪个记录比较并分区</a:t>
                </a:r>
                <a:endParaRPr lang="en-US" altLang="zh-CN" dirty="0">
                  <a:latin typeface="华文楷体" panose="02010600040101010101" pitchFamily="2" charset="-122"/>
                  <a:ea typeface="华文楷体" panose="02010600040101010101" pitchFamily="2" charset="-122"/>
                </a:endParaRPr>
              </a:p>
              <a:p>
                <a:pPr lvl="1"/>
                <a:r>
                  <a:rPr lang="en-US" altLang="zh-CN" dirty="0">
                    <a:latin typeface="华文楷体" panose="02010600040101010101" pitchFamily="2" charset="-122"/>
                    <a:ea typeface="华文楷体" panose="02010600040101010101" pitchFamily="2" charset="-122"/>
                  </a:rPr>
                  <a:t>Key</a:t>
                </a:r>
                <a:r>
                  <a:rPr lang="zh-CN" altLang="en-US" dirty="0">
                    <a:latin typeface="华文楷体" panose="02010600040101010101" pitchFamily="2" charset="-122"/>
                    <a:ea typeface="华文楷体" panose="02010600040101010101" pitchFamily="2" charset="-122"/>
                  </a:rPr>
                  <a:t>与</a:t>
                </a:r>
                <a:r>
                  <a:rPr lang="en-US" altLang="zh-CN" dirty="0" err="1">
                    <a:latin typeface="华文楷体" panose="02010600040101010101" pitchFamily="2" charset="-122"/>
                    <a:ea typeface="华文楷体" panose="02010600040101010101" pitchFamily="2" charset="-122"/>
                  </a:rPr>
                  <a:t>ST.elem</a:t>
                </a:r>
                <a:r>
                  <a:rPr lang="en-US" altLang="zh-CN" dirty="0">
                    <a:latin typeface="华文楷体" panose="02010600040101010101" pitchFamily="2" charset="-122"/>
                    <a:ea typeface="华文楷体" panose="02010600040101010101" pitchFamily="2" charset="-122"/>
                  </a:rPr>
                  <a:t>[</a:t>
                </a:r>
                <a:r>
                  <a:rPr lang="en-US" altLang="zh-CN" dirty="0" err="1">
                    <a:latin typeface="华文楷体" panose="02010600040101010101" pitchFamily="2" charset="-122"/>
                    <a:ea typeface="华文楷体" panose="02010600040101010101" pitchFamily="2" charset="-122"/>
                  </a:rPr>
                  <a:t>i</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比较，其中</a:t>
                </a:r>
                <a:endParaRPr lang="en-US" altLang="zh-CN" dirty="0">
                  <a:latin typeface="华文楷体" panose="02010600040101010101" pitchFamily="2" charset="-122"/>
                  <a:ea typeface="华文楷体" panose="02010600040101010101" pitchFamily="2" charset="-122"/>
                </a:endParaRPr>
              </a:p>
              <a:p>
                <a:pPr marL="457200" lvl="1" indent="0">
                  <a:buNone/>
                </a:pPr>
                <a14:m>
                  <m:oMathPara xmlns:m="http://schemas.openxmlformats.org/officeDocument/2006/math">
                    <m:oMathParaPr>
                      <m:jc m:val="centerGroup"/>
                    </m:oMathParaPr>
                    <m:oMath xmlns:m="http://schemas.openxmlformats.org/officeDocument/2006/math">
                      <m:r>
                        <m:rPr>
                          <m:sty m:val="p"/>
                        </m:rPr>
                        <a:rPr lang="en-US" altLang="zh-CN">
                          <a:latin typeface="Cambria Math" panose="02040503050406030204" pitchFamily="18" charset="0"/>
                        </a:rPr>
                        <m:t>i</m:t>
                      </m:r>
                      <m:r>
                        <a:rPr lang="en-US" altLang="zh-CN" b="0" i="0"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𝐾𝑒𝑦</m:t>
                          </m:r>
                          <m:r>
                            <a:rPr lang="en-US" altLang="zh-CN" b="0" i="1" smtClean="0">
                              <a:latin typeface="Cambria Math" panose="02040503050406030204" pitchFamily="18" charset="0"/>
                            </a:rPr>
                            <m:t>−</m:t>
                          </m:r>
                          <m:r>
                            <a:rPr lang="en-US" altLang="zh-CN" b="0" i="1" smtClean="0">
                              <a:latin typeface="Cambria Math" panose="02040503050406030204" pitchFamily="18" charset="0"/>
                            </a:rPr>
                            <m:t>𝑆𝑇</m:t>
                          </m:r>
                          <m:r>
                            <a:rPr lang="en-US" altLang="zh-CN" b="0" i="1" smtClean="0">
                              <a:latin typeface="Cambria Math" panose="02040503050406030204" pitchFamily="18" charset="0"/>
                            </a:rPr>
                            <m:t>.</m:t>
                          </m:r>
                          <m:r>
                            <a:rPr lang="en-US" altLang="zh-CN" b="0" i="1" smtClean="0">
                              <a:latin typeface="Cambria Math" panose="02040503050406030204" pitchFamily="18" charset="0"/>
                            </a:rPr>
                            <m:t>𝑒𝑙𝑒𝑚</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𝑙</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𝑘𝑒𝑦</m:t>
                          </m:r>
                        </m:num>
                        <m:den>
                          <m:r>
                            <a:rPr lang="en-US" altLang="zh-CN" b="0" i="1" smtClean="0">
                              <a:latin typeface="Cambria Math" panose="02040503050406030204" pitchFamily="18" charset="0"/>
                            </a:rPr>
                            <m:t>𝑆𝑇</m:t>
                          </m:r>
                          <m:r>
                            <a:rPr lang="en-US" altLang="zh-CN" b="0" i="1" smtClean="0">
                              <a:latin typeface="Cambria Math" panose="02040503050406030204" pitchFamily="18" charset="0"/>
                            </a:rPr>
                            <m:t>.</m:t>
                          </m:r>
                          <m:r>
                            <a:rPr lang="en-US" altLang="zh-CN" b="0" i="1" smtClean="0">
                              <a:latin typeface="Cambria Math" panose="02040503050406030204" pitchFamily="18" charset="0"/>
                            </a:rPr>
                            <m:t>𝑒𝑙𝑒𝑚</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h</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𝑘𝑒𝑦</m:t>
                          </m:r>
                          <m:r>
                            <a:rPr lang="en-US" altLang="zh-CN" b="0" i="1" smtClean="0">
                              <a:latin typeface="Cambria Math" panose="02040503050406030204" pitchFamily="18" charset="0"/>
                            </a:rPr>
                            <m:t>−</m:t>
                          </m:r>
                          <m:r>
                            <a:rPr lang="en-US" altLang="zh-CN" b="0" i="1" smtClean="0">
                              <a:latin typeface="Cambria Math" panose="02040503050406030204" pitchFamily="18" charset="0"/>
                            </a:rPr>
                            <m:t>𝑆𝑇</m:t>
                          </m:r>
                          <m:r>
                            <a:rPr lang="en-US" altLang="zh-CN" b="0" i="1" smtClean="0">
                              <a:latin typeface="Cambria Math" panose="02040503050406030204" pitchFamily="18" charset="0"/>
                            </a:rPr>
                            <m:t>.</m:t>
                          </m:r>
                          <m:r>
                            <a:rPr lang="en-US" altLang="zh-CN" b="0" i="1" smtClean="0">
                              <a:latin typeface="Cambria Math" panose="02040503050406030204" pitchFamily="18" charset="0"/>
                            </a:rPr>
                            <m:t>𝑒𝑙𝑒𝑚</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𝑙</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𝑘𝑒𝑦</m:t>
                          </m:r>
                        </m:den>
                      </m:f>
                      <m:r>
                        <a:rPr lang="en-US" altLang="zh-CN" b="0" i="1" smtClean="0">
                          <a:latin typeface="Cambria Math" panose="02040503050406030204" pitchFamily="18" charset="0"/>
                        </a:rPr>
                        <m:t>(</m:t>
                      </m:r>
                      <m:r>
                        <a:rPr lang="en-US" altLang="zh-CN" b="0" i="1" smtClean="0">
                          <a:latin typeface="Cambria Math" panose="02040503050406030204" pitchFamily="18" charset="0"/>
                        </a:rPr>
                        <m:t>h</m:t>
                      </m:r>
                      <m:r>
                        <a:rPr lang="en-US" altLang="zh-CN" b="0" i="1" smtClean="0">
                          <a:latin typeface="Cambria Math" panose="02040503050406030204" pitchFamily="18" charset="0"/>
                        </a:rPr>
                        <m:t>−</m:t>
                      </m:r>
                      <m:r>
                        <a:rPr lang="en-US" altLang="zh-CN" b="0" i="1" smtClean="0">
                          <a:latin typeface="Cambria Math" panose="02040503050406030204" pitchFamily="18" charset="0"/>
                        </a:rPr>
                        <m:t>𝑙</m:t>
                      </m:r>
                      <m:r>
                        <a:rPr lang="en-US" altLang="zh-CN" b="0" i="1" smtClean="0">
                          <a:latin typeface="Cambria Math" panose="02040503050406030204" pitchFamily="18" charset="0"/>
                        </a:rPr>
                        <m:t>+1)</m:t>
                      </m:r>
                    </m:oMath>
                  </m:oMathPara>
                </a14:m>
                <a:endParaRPr lang="en-US" altLang="zh-CN" dirty="0">
                  <a:latin typeface="华文楷体" panose="02010600040101010101" pitchFamily="2" charset="-122"/>
                  <a:ea typeface="华文楷体" panose="02010600040101010101" pitchFamily="2" charset="-122"/>
                </a:endParaRPr>
              </a:p>
              <a:p>
                <a:pPr marL="457200" lvl="1" indent="0">
                  <a:buNone/>
                </a:pPr>
                <a:r>
                  <a:rPr lang="zh-CN" altLang="en-US" dirty="0">
                    <a:latin typeface="华文楷体" panose="02010600040101010101" pitchFamily="2" charset="-122"/>
                    <a:ea typeface="华文楷体" panose="02010600040101010101" pitchFamily="2" charset="-122"/>
                  </a:rPr>
                  <a:t>而</a:t>
                </a:r>
                <a:r>
                  <a:rPr lang="en-US" altLang="zh-CN" dirty="0" err="1">
                    <a:latin typeface="华文楷体" panose="02010600040101010101" pitchFamily="2" charset="-122"/>
                    <a:ea typeface="华文楷体" panose="02010600040101010101" pitchFamily="2" charset="-122"/>
                  </a:rPr>
                  <a:t>ST.elem</a:t>
                </a:r>
                <a:r>
                  <a:rPr lang="en-US" altLang="zh-CN" dirty="0">
                    <a:latin typeface="华文楷体" panose="02010600040101010101" pitchFamily="2" charset="-122"/>
                    <a:ea typeface="华文楷体" panose="02010600040101010101" pitchFamily="2" charset="-122"/>
                  </a:rPr>
                  <a:t>[l]</a:t>
                </a:r>
                <a:r>
                  <a:rPr lang="zh-CN" altLang="en-US" dirty="0">
                    <a:latin typeface="华文楷体" panose="02010600040101010101" pitchFamily="2" charset="-122"/>
                    <a:ea typeface="华文楷体" panose="02010600040101010101" pitchFamily="2" charset="-122"/>
                  </a:rPr>
                  <a:t>、</a:t>
                </a:r>
                <a:r>
                  <a:rPr lang="en-US" altLang="zh-CN" dirty="0" err="1">
                    <a:latin typeface="华文楷体" panose="02010600040101010101" pitchFamily="2" charset="-122"/>
                    <a:ea typeface="华文楷体" panose="02010600040101010101" pitchFamily="2" charset="-122"/>
                  </a:rPr>
                  <a:t>ST.elem</a:t>
                </a:r>
                <a:r>
                  <a:rPr lang="en-US" altLang="zh-CN" dirty="0">
                    <a:latin typeface="华文楷体" panose="02010600040101010101" pitchFamily="2" charset="-122"/>
                    <a:ea typeface="华文楷体" panose="02010600040101010101" pitchFamily="2" charset="-122"/>
                  </a:rPr>
                  <a:t>[h]</a:t>
                </a:r>
                <a:r>
                  <a:rPr lang="zh-CN" altLang="en-US" dirty="0">
                    <a:latin typeface="华文楷体" panose="02010600040101010101" pitchFamily="2" charset="-122"/>
                    <a:ea typeface="华文楷体" panose="02010600040101010101" pitchFamily="2" charset="-122"/>
                  </a:rPr>
                  <a:t>为具有最小和最大关键字的记录</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插值查找适用于关键字均匀分布</a:t>
                </a:r>
              </a:p>
            </p:txBody>
          </p:sp>
        </mc:Choice>
        <mc:Fallback xmlns="">
          <p:sp>
            <p:nvSpPr>
              <p:cNvPr id="4" name="内容占位符 3"/>
              <p:cNvSpPr>
                <a:spLocks noGrp="1" noRot="1" noChangeAspect="1" noMove="1" noResize="1" noEditPoints="1" noAdjustHandles="1" noChangeArrowheads="1" noChangeShapeType="1" noTextEdit="1"/>
              </p:cNvSpPr>
              <p:nvPr>
                <p:ph idx="1"/>
              </p:nvPr>
            </p:nvSpPr>
            <p:spPr>
              <a:blipFill>
                <a:blip r:embed="rId3"/>
                <a:stretch>
                  <a:fillRect l="-1704" t="-1463" r="-1259" b="-418"/>
                </a:stretch>
              </a:blipFill>
            </p:spPr>
            <p:txBody>
              <a:bodyPr/>
              <a:lstStyle/>
              <a:p>
                <a:r>
                  <a:rPr lang="zh-CN" altLang="en-US">
                    <a:noFill/>
                  </a:rPr>
                  <a:t> </a:t>
                </a:r>
              </a:p>
            </p:txBody>
          </p:sp>
        </mc:Fallback>
      </mc:AlternateContent>
      <p:sp>
        <p:nvSpPr>
          <p:cNvPr id="2" name="灯片编号占位符 1"/>
          <p:cNvSpPr>
            <a:spLocks noGrp="1"/>
          </p:cNvSpPr>
          <p:nvPr>
            <p:ph type="sldNum" sz="quarter" idx="12"/>
          </p:nvPr>
        </p:nvSpPr>
        <p:spPr/>
        <p:txBody>
          <a:bodyPr/>
          <a:lstStyle/>
          <a:p>
            <a:fld id="{0C913308-F349-4B6D-A68A-DD1791B4A57B}" type="slidenum">
              <a:rPr lang="zh-CN" altLang="en-US" smtClean="0"/>
              <a:t>23</a:t>
            </a:fld>
            <a:endParaRPr lang="zh-CN" altLang="en-US"/>
          </a:p>
        </p:txBody>
      </p:sp>
    </p:spTree>
    <p:extLst>
      <p:ext uri="{BB962C8B-B14F-4D97-AF65-F5344CB8AC3E}">
        <p14:creationId xmlns:p14="http://schemas.microsoft.com/office/powerpoint/2010/main" val="2734822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6690" name="Rectangle 2"/>
          <p:cNvSpPr>
            <a:spLocks noGrp="1" noChangeArrowheads="1"/>
          </p:cNvSpPr>
          <p:nvPr>
            <p:ph type="title"/>
          </p:nvPr>
        </p:nvSpPr>
        <p:spPr>
          <a:xfrm>
            <a:off x="11071" y="15748"/>
            <a:ext cx="8229600" cy="936104"/>
          </a:xfrm>
        </p:spPr>
        <p:txBody>
          <a:bodyPr>
            <a:normAutofit/>
          </a:bodyPr>
          <a:lstStyle/>
          <a:p>
            <a:pPr lvl="1" algn="l" rtl="0">
              <a:spcBef>
                <a:spcPct val="0"/>
              </a:spcBef>
            </a:pPr>
            <a:r>
              <a:rPr lang="en-US" altLang="en-US" sz="4000" kern="1200" dirty="0">
                <a:solidFill>
                  <a:schemeClr val="tx1"/>
                </a:solidFill>
                <a:latin typeface="华文琥珀" panose="02010800040101010101" pitchFamily="2" charset="-122"/>
                <a:ea typeface="华文琥珀" panose="02010800040101010101" pitchFamily="2" charset="-122"/>
                <a:cs typeface="+mj-cs"/>
              </a:rPr>
              <a:t>2.</a:t>
            </a:r>
            <a:r>
              <a:rPr lang="en-US" altLang="zh-CN" sz="4000" kern="1200" dirty="0">
                <a:solidFill>
                  <a:schemeClr val="tx1"/>
                </a:solidFill>
                <a:latin typeface="华文琥珀" panose="02010800040101010101" pitchFamily="2" charset="-122"/>
                <a:ea typeface="华文琥珀" panose="02010800040101010101" pitchFamily="2" charset="-122"/>
                <a:cs typeface="+mj-cs"/>
              </a:rPr>
              <a:t>3</a:t>
            </a:r>
            <a:r>
              <a:rPr lang="en-US" altLang="en-US" sz="4000" kern="1200" dirty="0">
                <a:solidFill>
                  <a:schemeClr val="tx1"/>
                </a:solidFill>
                <a:latin typeface="华文琥珀" panose="02010800040101010101" pitchFamily="2" charset="-122"/>
                <a:ea typeface="华文琥珀" panose="02010800040101010101" pitchFamily="2" charset="-122"/>
                <a:cs typeface="+mj-cs"/>
              </a:rPr>
              <a:t> </a:t>
            </a:r>
            <a:r>
              <a:rPr lang="en-US" altLang="en-US" sz="4000" kern="1200" dirty="0" err="1">
                <a:solidFill>
                  <a:schemeClr val="tx1"/>
                </a:solidFill>
                <a:latin typeface="华文琥珀" panose="02010800040101010101" pitchFamily="2" charset="-122"/>
                <a:ea typeface="华文琥珀" panose="02010800040101010101" pitchFamily="2" charset="-122"/>
                <a:cs typeface="+mj-cs"/>
              </a:rPr>
              <a:t>索引顺序查找</a:t>
            </a:r>
            <a:r>
              <a:rPr lang="en-US" altLang="en-US" sz="4000" kern="1200" dirty="0">
                <a:solidFill>
                  <a:schemeClr val="tx1"/>
                </a:solidFill>
                <a:latin typeface="华文琥珀" panose="02010800040101010101" pitchFamily="2" charset="-122"/>
                <a:ea typeface="华文琥珀" panose="02010800040101010101" pitchFamily="2" charset="-122"/>
                <a:cs typeface="+mj-cs"/>
              </a:rPr>
              <a:t>/</a:t>
            </a:r>
            <a:r>
              <a:rPr lang="en-US" altLang="en-US" sz="4000" kern="1200" dirty="0" err="1">
                <a:solidFill>
                  <a:schemeClr val="tx1"/>
                </a:solidFill>
                <a:latin typeface="华文琥珀" panose="02010800040101010101" pitchFamily="2" charset="-122"/>
                <a:ea typeface="华文琥珀" panose="02010800040101010101" pitchFamily="2" charset="-122"/>
                <a:cs typeface="+mj-cs"/>
              </a:rPr>
              <a:t>分块查找</a:t>
            </a:r>
            <a:endParaRPr lang="en-US" altLang="en-US" sz="4000" kern="1200" dirty="0">
              <a:solidFill>
                <a:schemeClr val="tx1"/>
              </a:solidFill>
              <a:latin typeface="华文琥珀" panose="02010800040101010101" pitchFamily="2" charset="-122"/>
              <a:ea typeface="华文琥珀" panose="02010800040101010101" pitchFamily="2" charset="-122"/>
              <a:cs typeface="+mj-cs"/>
            </a:endParaRPr>
          </a:p>
        </p:txBody>
      </p:sp>
      <p:sp>
        <p:nvSpPr>
          <p:cNvPr id="626691" name="Rectangle 3"/>
          <p:cNvSpPr>
            <a:spLocks noGrp="1" noChangeArrowheads="1"/>
          </p:cNvSpPr>
          <p:nvPr>
            <p:ph idx="1"/>
          </p:nvPr>
        </p:nvSpPr>
        <p:spPr>
          <a:xfrm>
            <a:off x="179512" y="1124744"/>
            <a:ext cx="8712968" cy="5256584"/>
          </a:xfrm>
        </p:spPr>
        <p:txBody>
          <a:bodyPr>
            <a:normAutofit/>
          </a:bodyPr>
          <a:lstStyle/>
          <a:p>
            <a:r>
              <a:rPr lang="en-US" altLang="en-US" sz="2400" dirty="0" err="1">
                <a:latin typeface="华文楷体" panose="02010600040101010101" pitchFamily="2" charset="-122"/>
                <a:ea typeface="华文楷体" panose="02010600040101010101" pitchFamily="2" charset="-122"/>
              </a:rPr>
              <a:t>查找表的组织</a:t>
            </a:r>
            <a:r>
              <a:rPr lang="zh-CN" altLang="en-US" sz="2400" dirty="0">
                <a:latin typeface="华文楷体" panose="02010600040101010101" pitchFamily="2" charset="-122"/>
                <a:ea typeface="华文楷体" panose="02010600040101010101" pitchFamily="2" charset="-122"/>
              </a:rPr>
              <a:t>：</a:t>
            </a:r>
            <a:r>
              <a:rPr lang="en-US" altLang="en-US" sz="2400" dirty="0" err="1">
                <a:latin typeface="华文楷体" panose="02010600040101010101" pitchFamily="2" charset="-122"/>
                <a:ea typeface="华文楷体" panose="02010600040101010101" pitchFamily="2" charset="-122"/>
              </a:rPr>
              <a:t>将查找表分成几块</a:t>
            </a:r>
            <a:endParaRPr lang="en-US" altLang="zh-CN" sz="2400" dirty="0">
              <a:latin typeface="华文楷体" panose="02010600040101010101" pitchFamily="2" charset="-122"/>
              <a:ea typeface="华文楷体" panose="02010600040101010101" pitchFamily="2" charset="-122"/>
            </a:endParaRPr>
          </a:p>
          <a:p>
            <a:pPr lvl="1"/>
            <a:r>
              <a:rPr lang="en-US" altLang="en-US" sz="2400" b="1" dirty="0">
                <a:solidFill>
                  <a:srgbClr val="0000FF"/>
                </a:solidFill>
                <a:latin typeface="华文楷体" panose="02010600040101010101" pitchFamily="2" charset="-122"/>
                <a:ea typeface="华文楷体" panose="02010600040101010101" pitchFamily="2" charset="-122"/>
              </a:rPr>
              <a:t>块间有序</a:t>
            </a:r>
            <a:r>
              <a:rPr lang="en-US" altLang="en-US" sz="2400" dirty="0">
                <a:latin typeface="华文楷体" panose="02010600040101010101" pitchFamily="2" charset="-122"/>
                <a:ea typeface="华文楷体" panose="02010600040101010101" pitchFamily="2" charset="-122"/>
              </a:rPr>
              <a:t>，即第i+1块的所有记录关键字均大于(</a:t>
            </a:r>
            <a:r>
              <a:rPr lang="en-US" altLang="en-US" sz="2400" dirty="0" err="1">
                <a:latin typeface="华文楷体" panose="02010600040101010101" pitchFamily="2" charset="-122"/>
                <a:ea typeface="华文楷体" panose="02010600040101010101" pitchFamily="2" charset="-122"/>
              </a:rPr>
              <a:t>或小于</a:t>
            </a:r>
            <a:r>
              <a:rPr lang="en-US" altLang="en-US" sz="2400" dirty="0">
                <a:latin typeface="华文楷体" panose="02010600040101010101" pitchFamily="2" charset="-122"/>
                <a:ea typeface="华文楷体" panose="02010600040101010101" pitchFamily="2" charset="-122"/>
              </a:rPr>
              <a:t>)</a:t>
            </a:r>
            <a:r>
              <a:rPr lang="en-US" altLang="en-US" sz="2400" dirty="0" err="1">
                <a:latin typeface="华文楷体" panose="02010600040101010101" pitchFamily="2" charset="-122"/>
                <a:ea typeface="华文楷体" panose="02010600040101010101" pitchFamily="2" charset="-122"/>
              </a:rPr>
              <a:t>第i块记录关键字</a:t>
            </a:r>
            <a:endParaRPr lang="en-US" altLang="en-US" sz="2400" dirty="0">
              <a:latin typeface="华文楷体" panose="02010600040101010101" pitchFamily="2" charset="-122"/>
              <a:ea typeface="华文楷体" panose="02010600040101010101" pitchFamily="2" charset="-122"/>
            </a:endParaRPr>
          </a:p>
          <a:p>
            <a:pPr lvl="1"/>
            <a:r>
              <a:rPr lang="en-US" altLang="en-US" sz="2400" b="1" dirty="0" err="1">
                <a:solidFill>
                  <a:srgbClr val="0000FF"/>
                </a:solidFill>
                <a:latin typeface="华文楷体" panose="02010600040101010101" pitchFamily="2" charset="-122"/>
                <a:ea typeface="华文楷体" panose="02010600040101010101" pitchFamily="2" charset="-122"/>
              </a:rPr>
              <a:t>块内无序</a:t>
            </a:r>
            <a:endParaRPr lang="en-US" altLang="en-US" sz="2400" b="1" dirty="0">
              <a:solidFill>
                <a:srgbClr val="0000FF"/>
              </a:solidFill>
              <a:latin typeface="华文楷体" panose="02010600040101010101" pitchFamily="2" charset="-122"/>
              <a:ea typeface="华文楷体" panose="02010600040101010101" pitchFamily="2" charset="-122"/>
            </a:endParaRPr>
          </a:p>
          <a:p>
            <a:pPr lvl="1"/>
            <a:r>
              <a:rPr lang="en-US" altLang="en-US" sz="2400" dirty="0" err="1">
                <a:latin typeface="华文楷体" panose="02010600040101010101" pitchFamily="2" charset="-122"/>
                <a:ea typeface="华文楷体" panose="02010600040101010101" pitchFamily="2" charset="-122"/>
              </a:rPr>
              <a:t>在查找表的基础上附加一个</a:t>
            </a:r>
            <a:r>
              <a:rPr lang="en-US" altLang="en-US" sz="2400" b="1" dirty="0" err="1">
                <a:solidFill>
                  <a:srgbClr val="0000FF"/>
                </a:solidFill>
                <a:latin typeface="华文楷体" panose="02010600040101010101" pitchFamily="2" charset="-122"/>
                <a:ea typeface="华文楷体" panose="02010600040101010101" pitchFamily="2" charset="-122"/>
              </a:rPr>
              <a:t>索引表</a:t>
            </a:r>
            <a:r>
              <a:rPr lang="en-US" altLang="en-US" sz="2400" dirty="0" err="1">
                <a:latin typeface="华文楷体" panose="02010600040101010101" pitchFamily="2" charset="-122"/>
                <a:ea typeface="华文楷体" panose="02010600040101010101" pitchFamily="2" charset="-122"/>
              </a:rPr>
              <a:t>，索引表是按关键字有序的，索引表中记录的构成是</a:t>
            </a:r>
            <a:r>
              <a:rPr lang="en-US" altLang="en-US" sz="2400" dirty="0">
                <a:latin typeface="华文楷体" panose="02010600040101010101" pitchFamily="2" charset="-122"/>
                <a:ea typeface="华文楷体" panose="02010600040101010101" pitchFamily="2" charset="-122"/>
              </a:rPr>
              <a:t>：</a:t>
            </a:r>
          </a:p>
          <a:p>
            <a:pPr lvl="1"/>
            <a:endParaRPr lang="en-US" altLang="en-US" sz="2400" dirty="0">
              <a:latin typeface="华文楷体" panose="02010600040101010101" pitchFamily="2" charset="-122"/>
              <a:ea typeface="华文楷体" panose="02010600040101010101" pitchFamily="2" charset="-122"/>
            </a:endParaRPr>
          </a:p>
          <a:p>
            <a:pPr lvl="1">
              <a:buFont typeface="Wingdings" panose="05000000000000000000" pitchFamily="2" charset="2"/>
              <a:buChar char="Ø"/>
            </a:pPr>
            <a:r>
              <a:rPr lang="zh-CN" altLang="en-US" sz="2400" dirty="0">
                <a:latin typeface="华文楷体" panose="02010600040101010101" pitchFamily="2" charset="-122"/>
                <a:ea typeface="华文楷体" panose="02010600040101010101" pitchFamily="2" charset="-122"/>
              </a:rPr>
              <a:t>可以建立多级索引</a:t>
            </a:r>
            <a:endParaRPr lang="en-US" altLang="zh-CN" sz="2400" dirty="0">
              <a:latin typeface="华文楷体" panose="02010600040101010101" pitchFamily="2" charset="-122"/>
              <a:ea typeface="华文楷体" panose="02010600040101010101" pitchFamily="2" charset="-122"/>
            </a:endParaRPr>
          </a:p>
          <a:p>
            <a:pPr lvl="1">
              <a:buFont typeface="Wingdings" panose="05000000000000000000" pitchFamily="2" charset="2"/>
              <a:buChar char="Ø"/>
            </a:pPr>
            <a:r>
              <a:rPr lang="zh-CN" altLang="en-US" sz="2400" dirty="0">
                <a:latin typeface="华文楷体" panose="02010600040101010101" pitchFamily="2" charset="-122"/>
                <a:ea typeface="华文楷体" panose="02010600040101010101" pitchFamily="2" charset="-122"/>
              </a:rPr>
              <a:t>可以建立多种索引</a:t>
            </a:r>
            <a:endParaRPr lang="en-US" altLang="zh-CN" sz="2400" dirty="0">
              <a:latin typeface="华文楷体" panose="02010600040101010101" pitchFamily="2" charset="-122"/>
              <a:ea typeface="华文楷体" panose="02010600040101010101" pitchFamily="2" charset="-122"/>
            </a:endParaRPr>
          </a:p>
          <a:p>
            <a:pPr marL="457200" lvl="1" indent="0">
              <a:buNone/>
            </a:pPr>
            <a:endParaRPr lang="en-US" altLang="en-US" sz="2400" dirty="0">
              <a:latin typeface="华文楷体" panose="02010600040101010101" pitchFamily="2" charset="-122"/>
              <a:ea typeface="华文楷体" panose="02010600040101010101" pitchFamily="2" charset="-122"/>
            </a:endParaRPr>
          </a:p>
          <a:p>
            <a:r>
              <a:rPr lang="en-US" altLang="en-US" sz="2400" dirty="0">
                <a:latin typeface="华文楷体" panose="02010600040101010101" pitchFamily="2" charset="-122"/>
                <a:ea typeface="华文楷体" panose="02010600040101010101" pitchFamily="2" charset="-122"/>
              </a:rPr>
              <a:t>先(</a:t>
            </a:r>
            <a:r>
              <a:rPr lang="zh-CN" altLang="en-US" sz="2400" dirty="0">
                <a:latin typeface="华文楷体" panose="02010600040101010101" pitchFamily="2" charset="-122"/>
                <a:ea typeface="华文楷体" panose="02010600040101010101" pitchFamily="2" charset="-122"/>
              </a:rPr>
              <a:t>用</a:t>
            </a:r>
            <a:r>
              <a:rPr lang="en-US" altLang="en-US" sz="2400" dirty="0" err="1">
                <a:latin typeface="华文楷体" panose="02010600040101010101" pitchFamily="2" charset="-122"/>
                <a:ea typeface="华文楷体" panose="02010600040101010101" pitchFamily="2" charset="-122"/>
              </a:rPr>
              <a:t>顺序查找</a:t>
            </a:r>
            <a:r>
              <a:rPr lang="zh-CN" altLang="en-US" sz="2400" dirty="0">
                <a:latin typeface="华文楷体" panose="02010600040101010101" pitchFamily="2" charset="-122"/>
                <a:ea typeface="华文楷体" panose="02010600040101010101" pitchFamily="2" charset="-122"/>
              </a:rPr>
              <a:t>或折半查找</a:t>
            </a:r>
            <a:r>
              <a:rPr lang="en-US" altLang="en-US" sz="2400" dirty="0">
                <a:latin typeface="华文楷体" panose="02010600040101010101" pitchFamily="2" charset="-122"/>
                <a:ea typeface="华文楷体" panose="02010600040101010101" pitchFamily="2" charset="-122"/>
              </a:rPr>
              <a:t>)</a:t>
            </a:r>
            <a:r>
              <a:rPr lang="en-US" altLang="en-US" sz="2400" dirty="0" err="1">
                <a:latin typeface="华文楷体" panose="02010600040101010101" pitchFamily="2" charset="-122"/>
                <a:ea typeface="华文楷体" panose="02010600040101010101" pitchFamily="2" charset="-122"/>
              </a:rPr>
              <a:t>确定待查记录所在块，再在块内查找</a:t>
            </a:r>
            <a:r>
              <a:rPr lang="en-US" altLang="en-US" sz="2400" dirty="0">
                <a:latin typeface="华文楷体" panose="02010600040101010101" pitchFamily="2" charset="-122"/>
                <a:ea typeface="华文楷体" panose="02010600040101010101" pitchFamily="2" charset="-122"/>
              </a:rPr>
              <a:t>(</a:t>
            </a:r>
            <a:r>
              <a:rPr lang="en-US" altLang="en-US" sz="2400" dirty="0" err="1">
                <a:latin typeface="华文楷体" panose="02010600040101010101" pitchFamily="2" charset="-122"/>
                <a:ea typeface="华文楷体" panose="02010600040101010101" pitchFamily="2" charset="-122"/>
              </a:rPr>
              <a:t>顺序查找</a:t>
            </a:r>
            <a:r>
              <a:rPr lang="en-US" altLang="en-US" sz="2400" dirty="0">
                <a:latin typeface="华文楷体" panose="02010600040101010101" pitchFamily="2" charset="-122"/>
                <a:ea typeface="华文楷体" panose="02010600040101010101" pitchFamily="2" charset="-122"/>
              </a:rPr>
              <a:t>)</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24</a:t>
            </a:fld>
            <a:endParaRPr lang="zh-CN" altLang="en-US"/>
          </a:p>
        </p:txBody>
      </p:sp>
      <p:grpSp>
        <p:nvGrpSpPr>
          <p:cNvPr id="586756" name="Group 4"/>
          <p:cNvGrpSpPr>
            <a:grpSpLocks/>
          </p:cNvGrpSpPr>
          <p:nvPr/>
        </p:nvGrpSpPr>
        <p:grpSpPr bwMode="auto">
          <a:xfrm>
            <a:off x="5436096" y="3429000"/>
            <a:ext cx="1619250" cy="863600"/>
            <a:chOff x="0" y="0"/>
            <a:chExt cx="1020" cy="544"/>
          </a:xfrm>
        </p:grpSpPr>
        <p:sp>
          <p:nvSpPr>
            <p:cNvPr id="586757" name="Rectangle 5"/>
            <p:cNvSpPr>
              <a:spLocks noChangeArrowheads="1"/>
            </p:cNvSpPr>
            <p:nvPr/>
          </p:nvSpPr>
          <p:spPr bwMode="auto">
            <a:xfrm>
              <a:off x="0" y="0"/>
              <a:ext cx="1020" cy="54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zh-CN" altLang="en-US" sz="2400" b="1" dirty="0">
                  <a:latin typeface="华文楷体" panose="02010600040101010101" pitchFamily="2" charset="-122"/>
                  <a:ea typeface="华文楷体" panose="02010600040101010101" pitchFamily="2" charset="-122"/>
                </a:rPr>
                <a:t>最大关键字</a:t>
              </a:r>
            </a:p>
            <a:p>
              <a:pPr eaLnBrk="1" hangingPunct="1">
                <a:spcBef>
                  <a:spcPct val="0"/>
                </a:spcBef>
                <a:buClrTx/>
                <a:buSzTx/>
                <a:buFontTx/>
                <a:buNone/>
              </a:pPr>
              <a:r>
                <a:rPr lang="zh-CN" altLang="en-US" sz="2400" b="1" dirty="0">
                  <a:latin typeface="华文楷体" panose="02010600040101010101" pitchFamily="2" charset="-122"/>
                  <a:ea typeface="华文楷体" panose="02010600040101010101" pitchFamily="2" charset="-122"/>
                </a:rPr>
                <a:t>起始指针</a:t>
              </a:r>
            </a:p>
          </p:txBody>
        </p:sp>
        <p:sp>
          <p:nvSpPr>
            <p:cNvPr id="586758" name="Line 6"/>
            <p:cNvSpPr>
              <a:spLocks noChangeShapeType="1"/>
            </p:cNvSpPr>
            <p:nvPr/>
          </p:nvSpPr>
          <p:spPr bwMode="auto">
            <a:xfrm>
              <a:off x="0" y="288"/>
              <a:ext cx="102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Tree>
    <p:extLst>
      <p:ext uri="{BB962C8B-B14F-4D97-AF65-F5344CB8AC3E}">
        <p14:creationId xmlns:p14="http://schemas.microsoft.com/office/powerpoint/2010/main" val="3713086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6691">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6691">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2669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25661" y="-19521"/>
            <a:ext cx="8229600" cy="936104"/>
          </a:xfrm>
        </p:spPr>
        <p:txBody>
          <a:bodyPr>
            <a:normAutofit/>
          </a:bodyPr>
          <a:lstStyle/>
          <a:p>
            <a:pPr algn="l"/>
            <a:r>
              <a:rPr lang="en-US" altLang="en-US" dirty="0" err="1">
                <a:latin typeface="华文新魏" panose="02010800040101010101" pitchFamily="2" charset="-122"/>
                <a:ea typeface="华文新魏" panose="02010800040101010101" pitchFamily="2" charset="-122"/>
              </a:rPr>
              <a:t>索引顺序查找</a:t>
            </a:r>
            <a:r>
              <a:rPr lang="en-US" altLang="zh-CN" dirty="0" err="1">
                <a:latin typeface="华文新魏" panose="02010800040101010101" pitchFamily="2" charset="-122"/>
                <a:ea typeface="华文新魏" panose="02010800040101010101" pitchFamily="2" charset="-122"/>
              </a:rPr>
              <a:t>-</a:t>
            </a:r>
            <a:r>
              <a:rPr lang="en-US" altLang="en-US" dirty="0" err="1">
                <a:latin typeface="华文新魏" panose="02010800040101010101" pitchFamily="2" charset="-122"/>
                <a:ea typeface="华文新魏" panose="02010800040101010101" pitchFamily="2" charset="-122"/>
              </a:rPr>
              <a:t>算法实现</a:t>
            </a:r>
            <a:endParaRPr lang="zh-CN" altLang="en-US" dirty="0">
              <a:latin typeface="华文新魏" panose="02010800040101010101" pitchFamily="2" charset="-122"/>
              <a:ea typeface="华文新魏" panose="02010800040101010101" pitchFamily="2" charset="-122"/>
            </a:endParaRPr>
          </a:p>
        </p:txBody>
      </p:sp>
      <p:sp>
        <p:nvSpPr>
          <p:cNvPr id="627714" name="Rectangle 2"/>
          <p:cNvSpPr>
            <a:spLocks noGrp="1" noChangeArrowheads="1"/>
          </p:cNvSpPr>
          <p:nvPr>
            <p:ph type="body" idx="1"/>
          </p:nvPr>
        </p:nvSpPr>
        <p:spPr/>
        <p:txBody>
          <a:bodyPr/>
          <a:lstStyle/>
          <a:p>
            <a:pPr marL="0" indent="0">
              <a:buNone/>
            </a:pPr>
            <a:r>
              <a:rPr lang="en-US" altLang="en-US" dirty="0"/>
              <a:t> </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typedef struct </a:t>
            </a:r>
            <a:r>
              <a:rPr lang="en-US" altLang="en-US" sz="2400" dirty="0" err="1">
                <a:latin typeface="Times New Roman" panose="02020603050405020304" pitchFamily="18" charset="0"/>
                <a:ea typeface="华文楷体" panose="02010600040101010101" pitchFamily="2" charset="-122"/>
                <a:cs typeface="Times New Roman" panose="02020603050405020304" pitchFamily="18" charset="0"/>
              </a:rPr>
              <a:t>IndexType</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 {</a:t>
            </a:r>
          </a:p>
          <a:p>
            <a:pPr marL="457200" lvl="1" indent="0">
              <a:buNone/>
            </a:pPr>
            <a:r>
              <a:rPr lang="en-US" altLang="en-US" sz="2400" dirty="0" err="1">
                <a:latin typeface="Times New Roman" panose="02020603050405020304" pitchFamily="18" charset="0"/>
                <a:ea typeface="华文楷体" panose="02010600040101010101" pitchFamily="2" charset="-122"/>
                <a:cs typeface="Times New Roman" panose="02020603050405020304" pitchFamily="18" charset="0"/>
              </a:rPr>
              <a:t>KeyType</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en-US" sz="2400" dirty="0" err="1">
                <a:latin typeface="Times New Roman" panose="02020603050405020304" pitchFamily="18" charset="0"/>
                <a:ea typeface="华文楷体" panose="02010600040101010101" pitchFamily="2" charset="-122"/>
                <a:cs typeface="Times New Roman" panose="02020603050405020304" pitchFamily="18" charset="0"/>
              </a:rPr>
              <a:t>maxkey</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en-US" sz="2400" dirty="0" err="1">
                <a:latin typeface="Times New Roman" panose="02020603050405020304" pitchFamily="18" charset="0"/>
                <a:ea typeface="华文楷体" panose="02010600040101010101" pitchFamily="2" charset="-122"/>
                <a:cs typeface="Times New Roman" panose="02020603050405020304" pitchFamily="18" charset="0"/>
              </a:rPr>
              <a:t>块中最大的关键字</a:t>
            </a:r>
            <a:endParaRPr lang="en-US" altLang="en-US" sz="2400" dirty="0">
              <a:latin typeface="Times New Roman" panose="02020603050405020304" pitchFamily="18" charset="0"/>
              <a:ea typeface="华文楷体" panose="02010600040101010101" pitchFamily="2" charset="-122"/>
              <a:cs typeface="Times New Roman" panose="02020603050405020304" pitchFamily="18" charset="0"/>
            </a:endParaRPr>
          </a:p>
          <a:p>
            <a:pPr marL="457200" lvl="1" indent="0">
              <a:buNone/>
            </a:pP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int </a:t>
            </a:r>
            <a:r>
              <a:rPr lang="en-US" altLang="en-US" sz="2400" dirty="0" err="1">
                <a:latin typeface="Times New Roman" panose="02020603050405020304" pitchFamily="18" charset="0"/>
                <a:ea typeface="华文楷体" panose="02010600040101010101" pitchFamily="2" charset="-122"/>
                <a:cs typeface="Times New Roman" panose="02020603050405020304" pitchFamily="18" charset="0"/>
              </a:rPr>
              <a:t>startpos</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en-US" sz="2400" dirty="0" err="1">
                <a:latin typeface="Times New Roman" panose="02020603050405020304" pitchFamily="18" charset="0"/>
                <a:ea typeface="华文楷体" panose="02010600040101010101" pitchFamily="2" charset="-122"/>
                <a:cs typeface="Times New Roman" panose="02020603050405020304" pitchFamily="18" charset="0"/>
              </a:rPr>
              <a:t>块的起始位置指针</a:t>
            </a:r>
            <a:endParaRPr lang="en-US" altLang="en-US" sz="2400" dirty="0">
              <a:latin typeface="Times New Roman" panose="02020603050405020304" pitchFamily="18" charset="0"/>
              <a:ea typeface="华文楷体" panose="02010600040101010101" pitchFamily="2" charset="-122"/>
              <a:cs typeface="Times New Roman" panose="02020603050405020304" pitchFamily="18" charset="0"/>
            </a:endParaRPr>
          </a:p>
          <a:p>
            <a:pPr marL="457200" lvl="1" indent="0">
              <a:buNone/>
            </a:pP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int length;                 //</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块的长度</a:t>
            </a:r>
            <a:endParaRPr lang="en-US" altLang="en-US" sz="2400" dirty="0">
              <a:latin typeface="Times New Roman" panose="02020603050405020304" pitchFamily="18" charset="0"/>
              <a:ea typeface="华文楷体" panose="02010600040101010101" pitchFamily="2" charset="-122"/>
              <a:cs typeface="Times New Roman" panose="02020603050405020304" pitchFamily="18" charset="0"/>
            </a:endParaRPr>
          </a:p>
          <a:p>
            <a:pPr marL="0" indent="0">
              <a:buNone/>
            </a:pP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 Index;</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25</a:t>
            </a:fld>
            <a:endParaRPr lang="zh-CN" altLang="en-US"/>
          </a:p>
        </p:txBody>
      </p:sp>
      <p:sp>
        <p:nvSpPr>
          <p:cNvPr id="10" name="Line 5"/>
          <p:cNvSpPr>
            <a:spLocks noChangeShapeType="1"/>
          </p:cNvSpPr>
          <p:nvPr/>
        </p:nvSpPr>
        <p:spPr bwMode="auto">
          <a:xfrm>
            <a:off x="4853236" y="5629275"/>
            <a:ext cx="0" cy="395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2" name="Text Box 7"/>
          <p:cNvSpPr txBox="1">
            <a:spLocks noChangeArrowheads="1"/>
          </p:cNvSpPr>
          <p:nvPr/>
        </p:nvSpPr>
        <p:spPr bwMode="auto">
          <a:xfrm>
            <a:off x="3126036" y="3311525"/>
            <a:ext cx="950912"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zh-CN" altLang="en-US" sz="2000" b="1" dirty="0">
                <a:latin typeface="华文楷体" panose="02010600040101010101" pitchFamily="2" charset="-122"/>
                <a:ea typeface="华文楷体" panose="02010600040101010101" pitchFamily="2" charset="-122"/>
              </a:rPr>
              <a:t>索引表</a:t>
            </a:r>
          </a:p>
        </p:txBody>
      </p:sp>
      <p:sp>
        <p:nvSpPr>
          <p:cNvPr id="13" name="Text Box 8"/>
          <p:cNvSpPr txBox="1">
            <a:spLocks noChangeArrowheads="1"/>
          </p:cNvSpPr>
          <p:nvPr/>
        </p:nvSpPr>
        <p:spPr bwMode="auto">
          <a:xfrm>
            <a:off x="486023" y="5203825"/>
            <a:ext cx="80327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1    2    3    4   5    6    7    8    9  10  11  12  13  14  15  16  17  18</a:t>
            </a:r>
          </a:p>
        </p:txBody>
      </p:sp>
      <p:sp>
        <p:nvSpPr>
          <p:cNvPr id="14" name="Rectangle 9"/>
          <p:cNvSpPr>
            <a:spLocks noChangeArrowheads="1"/>
          </p:cNvSpPr>
          <p:nvPr/>
        </p:nvSpPr>
        <p:spPr bwMode="auto">
          <a:xfrm>
            <a:off x="395536" y="5638800"/>
            <a:ext cx="8132762" cy="39528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22  12  13   8   9   20  33  42  44 38  24  48  60  58  74  57   86  53</a:t>
            </a:r>
          </a:p>
        </p:txBody>
      </p:sp>
      <p:sp>
        <p:nvSpPr>
          <p:cNvPr id="15" name="Line 10"/>
          <p:cNvSpPr>
            <a:spLocks noChangeShapeType="1"/>
          </p:cNvSpPr>
          <p:nvPr/>
        </p:nvSpPr>
        <p:spPr bwMode="auto">
          <a:xfrm>
            <a:off x="852736" y="5638800"/>
            <a:ext cx="0" cy="395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 name="Line 11"/>
          <p:cNvSpPr>
            <a:spLocks noChangeShapeType="1"/>
          </p:cNvSpPr>
          <p:nvPr/>
        </p:nvSpPr>
        <p:spPr bwMode="auto">
          <a:xfrm>
            <a:off x="1309936" y="5638800"/>
            <a:ext cx="0" cy="395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 name="Line 12"/>
          <p:cNvSpPr>
            <a:spLocks noChangeShapeType="1"/>
          </p:cNvSpPr>
          <p:nvPr/>
        </p:nvSpPr>
        <p:spPr bwMode="auto">
          <a:xfrm>
            <a:off x="1843336" y="5638800"/>
            <a:ext cx="0" cy="395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 name="Line 13"/>
          <p:cNvSpPr>
            <a:spLocks noChangeShapeType="1"/>
          </p:cNvSpPr>
          <p:nvPr/>
        </p:nvSpPr>
        <p:spPr bwMode="auto">
          <a:xfrm>
            <a:off x="8104436" y="5641975"/>
            <a:ext cx="0" cy="395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 name="Line 14"/>
          <p:cNvSpPr>
            <a:spLocks noChangeShapeType="1"/>
          </p:cNvSpPr>
          <p:nvPr/>
        </p:nvSpPr>
        <p:spPr bwMode="auto">
          <a:xfrm>
            <a:off x="2224336" y="5638800"/>
            <a:ext cx="0" cy="395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 name="Line 15"/>
          <p:cNvSpPr>
            <a:spLocks noChangeShapeType="1"/>
          </p:cNvSpPr>
          <p:nvPr/>
        </p:nvSpPr>
        <p:spPr bwMode="auto">
          <a:xfrm>
            <a:off x="2605336" y="5638800"/>
            <a:ext cx="0" cy="395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 name="Line 16"/>
          <p:cNvSpPr>
            <a:spLocks noChangeShapeType="1"/>
          </p:cNvSpPr>
          <p:nvPr/>
        </p:nvSpPr>
        <p:spPr bwMode="auto">
          <a:xfrm>
            <a:off x="3062536" y="5638800"/>
            <a:ext cx="0" cy="395288"/>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 name="Line 17"/>
          <p:cNvSpPr>
            <a:spLocks noChangeShapeType="1"/>
          </p:cNvSpPr>
          <p:nvPr/>
        </p:nvSpPr>
        <p:spPr bwMode="auto">
          <a:xfrm>
            <a:off x="3519736" y="5638800"/>
            <a:ext cx="0" cy="395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 name="Line 18"/>
          <p:cNvSpPr>
            <a:spLocks noChangeShapeType="1"/>
          </p:cNvSpPr>
          <p:nvPr/>
        </p:nvSpPr>
        <p:spPr bwMode="auto">
          <a:xfrm>
            <a:off x="3976936" y="5638800"/>
            <a:ext cx="0" cy="395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 name="Line 19"/>
          <p:cNvSpPr>
            <a:spLocks noChangeShapeType="1"/>
          </p:cNvSpPr>
          <p:nvPr/>
        </p:nvSpPr>
        <p:spPr bwMode="auto">
          <a:xfrm>
            <a:off x="7609136" y="5641975"/>
            <a:ext cx="0" cy="395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 name="Line 20"/>
          <p:cNvSpPr>
            <a:spLocks noChangeShapeType="1"/>
          </p:cNvSpPr>
          <p:nvPr/>
        </p:nvSpPr>
        <p:spPr bwMode="auto">
          <a:xfrm>
            <a:off x="4434136" y="5638800"/>
            <a:ext cx="0" cy="395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6" name="Line 21"/>
          <p:cNvSpPr>
            <a:spLocks noChangeShapeType="1"/>
          </p:cNvSpPr>
          <p:nvPr/>
        </p:nvSpPr>
        <p:spPr bwMode="auto">
          <a:xfrm>
            <a:off x="5297736" y="5638800"/>
            <a:ext cx="0" cy="395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7" name="Line 22"/>
          <p:cNvSpPr>
            <a:spLocks noChangeShapeType="1"/>
          </p:cNvSpPr>
          <p:nvPr/>
        </p:nvSpPr>
        <p:spPr bwMode="auto">
          <a:xfrm>
            <a:off x="5754936" y="5638800"/>
            <a:ext cx="0" cy="395288"/>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8" name="Line 23"/>
          <p:cNvSpPr>
            <a:spLocks noChangeShapeType="1"/>
          </p:cNvSpPr>
          <p:nvPr/>
        </p:nvSpPr>
        <p:spPr bwMode="auto">
          <a:xfrm>
            <a:off x="7101136" y="5638800"/>
            <a:ext cx="0" cy="395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9" name="Line 24"/>
          <p:cNvSpPr>
            <a:spLocks noChangeShapeType="1"/>
          </p:cNvSpPr>
          <p:nvPr/>
        </p:nvSpPr>
        <p:spPr bwMode="auto">
          <a:xfrm>
            <a:off x="6212136" y="5638800"/>
            <a:ext cx="0" cy="395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0" name="Line 25"/>
          <p:cNvSpPr>
            <a:spLocks noChangeShapeType="1"/>
          </p:cNvSpPr>
          <p:nvPr/>
        </p:nvSpPr>
        <p:spPr bwMode="auto">
          <a:xfrm>
            <a:off x="6670923" y="5638800"/>
            <a:ext cx="0" cy="395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31" name="Group 26"/>
          <p:cNvGrpSpPr>
            <a:grpSpLocks/>
          </p:cNvGrpSpPr>
          <p:nvPr/>
        </p:nvGrpSpPr>
        <p:grpSpPr bwMode="auto">
          <a:xfrm>
            <a:off x="659061" y="4497388"/>
            <a:ext cx="2241550" cy="733425"/>
            <a:chOff x="0" y="0"/>
            <a:chExt cx="1412" cy="462"/>
          </a:xfrm>
        </p:grpSpPr>
        <p:sp>
          <p:nvSpPr>
            <p:cNvPr id="50" name="Line 27"/>
            <p:cNvSpPr>
              <a:spLocks noChangeShapeType="1"/>
            </p:cNvSpPr>
            <p:nvPr/>
          </p:nvSpPr>
          <p:spPr bwMode="auto">
            <a:xfrm>
              <a:off x="1412" y="0"/>
              <a:ext cx="0" cy="16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1" name="Line 28"/>
            <p:cNvSpPr>
              <a:spLocks noChangeShapeType="1"/>
            </p:cNvSpPr>
            <p:nvPr/>
          </p:nvSpPr>
          <p:spPr bwMode="auto">
            <a:xfrm flipH="1">
              <a:off x="11" y="167"/>
              <a:ext cx="140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2" name="Line 29"/>
            <p:cNvSpPr>
              <a:spLocks noChangeShapeType="1"/>
            </p:cNvSpPr>
            <p:nvPr/>
          </p:nvSpPr>
          <p:spPr bwMode="auto">
            <a:xfrm>
              <a:off x="0" y="167"/>
              <a:ext cx="0" cy="29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nvGrpSpPr>
          <p:cNvPr id="32" name="Group 30"/>
          <p:cNvGrpSpPr>
            <a:grpSpLocks/>
          </p:cNvGrpSpPr>
          <p:nvPr/>
        </p:nvGrpSpPr>
        <p:grpSpPr bwMode="auto">
          <a:xfrm>
            <a:off x="3280023" y="4497388"/>
            <a:ext cx="287337" cy="755650"/>
            <a:chOff x="0" y="0"/>
            <a:chExt cx="181" cy="476"/>
          </a:xfrm>
        </p:grpSpPr>
        <p:sp>
          <p:nvSpPr>
            <p:cNvPr id="47" name="Line 31"/>
            <p:cNvSpPr>
              <a:spLocks noChangeShapeType="1"/>
            </p:cNvSpPr>
            <p:nvPr/>
          </p:nvSpPr>
          <p:spPr bwMode="auto">
            <a:xfrm>
              <a:off x="180"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8" name="Line 32"/>
            <p:cNvSpPr>
              <a:spLocks noChangeShapeType="1"/>
            </p:cNvSpPr>
            <p:nvPr/>
          </p:nvSpPr>
          <p:spPr bwMode="auto">
            <a:xfrm flipH="1">
              <a:off x="0" y="249"/>
              <a:ext cx="18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9" name="Line 33"/>
            <p:cNvSpPr>
              <a:spLocks noChangeShapeType="1"/>
            </p:cNvSpPr>
            <p:nvPr/>
          </p:nvSpPr>
          <p:spPr bwMode="auto">
            <a:xfrm>
              <a:off x="3" y="249"/>
              <a:ext cx="0" cy="22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nvGrpSpPr>
          <p:cNvPr id="33" name="Group 34"/>
          <p:cNvGrpSpPr>
            <a:grpSpLocks/>
          </p:cNvGrpSpPr>
          <p:nvPr/>
        </p:nvGrpSpPr>
        <p:grpSpPr bwMode="auto">
          <a:xfrm>
            <a:off x="4240461" y="4497388"/>
            <a:ext cx="1655762" cy="747713"/>
            <a:chOff x="0" y="0"/>
            <a:chExt cx="1043" cy="471"/>
          </a:xfrm>
        </p:grpSpPr>
        <p:sp>
          <p:nvSpPr>
            <p:cNvPr id="44" name="Line 35"/>
            <p:cNvSpPr>
              <a:spLocks noChangeShapeType="1"/>
            </p:cNvSpPr>
            <p:nvPr/>
          </p:nvSpPr>
          <p:spPr bwMode="auto">
            <a:xfrm>
              <a:off x="0" y="0"/>
              <a:ext cx="0" cy="22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5" name="Line 36"/>
            <p:cNvSpPr>
              <a:spLocks noChangeShapeType="1"/>
            </p:cNvSpPr>
            <p:nvPr/>
          </p:nvSpPr>
          <p:spPr bwMode="auto">
            <a:xfrm>
              <a:off x="0" y="222"/>
              <a:ext cx="104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6" name="Line 37"/>
            <p:cNvSpPr>
              <a:spLocks noChangeShapeType="1"/>
            </p:cNvSpPr>
            <p:nvPr/>
          </p:nvSpPr>
          <p:spPr bwMode="auto">
            <a:xfrm>
              <a:off x="1041" y="222"/>
              <a:ext cx="0" cy="249"/>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34" name="AutoShape 38"/>
          <p:cNvSpPr>
            <a:spLocks noChangeArrowheads="1"/>
          </p:cNvSpPr>
          <p:nvPr/>
        </p:nvSpPr>
        <p:spPr bwMode="auto">
          <a:xfrm>
            <a:off x="4967536" y="3714750"/>
            <a:ext cx="1570037" cy="503238"/>
          </a:xfrm>
          <a:prstGeom prst="wedgeEllipseCallout">
            <a:avLst>
              <a:gd name="adj1" fmla="val -43227"/>
              <a:gd name="adj2" fmla="val 74481"/>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zh-CN" altLang="en-US" sz="2400" b="1" dirty="0">
                <a:latin typeface="华文楷体" panose="02010600040101010101" pitchFamily="2" charset="-122"/>
                <a:ea typeface="华文楷体" panose="02010600040101010101" pitchFamily="2" charset="-122"/>
              </a:rPr>
              <a:t>查</a:t>
            </a:r>
            <a:r>
              <a:rPr lang="en-US" altLang="en-US" sz="2400" b="1" dirty="0">
                <a:latin typeface="华文楷体" panose="02010600040101010101" pitchFamily="2" charset="-122"/>
                <a:ea typeface="华文楷体" panose="02010600040101010101" pitchFamily="2" charset="-122"/>
              </a:rPr>
              <a:t>38</a:t>
            </a:r>
          </a:p>
        </p:txBody>
      </p:sp>
      <p:grpSp>
        <p:nvGrpSpPr>
          <p:cNvPr id="35" name="Group 39"/>
          <p:cNvGrpSpPr>
            <a:grpSpLocks/>
          </p:cNvGrpSpPr>
          <p:nvPr/>
        </p:nvGrpSpPr>
        <p:grpSpPr bwMode="auto">
          <a:xfrm>
            <a:off x="2633911" y="3702050"/>
            <a:ext cx="1800225" cy="787400"/>
            <a:chOff x="0" y="0"/>
            <a:chExt cx="1134" cy="496"/>
          </a:xfrm>
        </p:grpSpPr>
        <p:grpSp>
          <p:nvGrpSpPr>
            <p:cNvPr id="36" name="Group 40"/>
            <p:cNvGrpSpPr>
              <a:grpSpLocks/>
            </p:cNvGrpSpPr>
            <p:nvPr/>
          </p:nvGrpSpPr>
          <p:grpSpPr bwMode="auto">
            <a:xfrm>
              <a:off x="0" y="0"/>
              <a:ext cx="1134" cy="249"/>
              <a:chOff x="0" y="0"/>
              <a:chExt cx="1134" cy="249"/>
            </a:xfrm>
          </p:grpSpPr>
          <p:sp>
            <p:nvSpPr>
              <p:cNvPr id="41" name="Rectangle 41"/>
              <p:cNvSpPr>
                <a:spLocks noChangeArrowheads="1"/>
              </p:cNvSpPr>
              <p:nvPr/>
            </p:nvSpPr>
            <p:spPr bwMode="auto">
              <a:xfrm>
                <a:off x="0" y="0"/>
                <a:ext cx="1134" cy="249"/>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22    48     86</a:t>
                </a:r>
              </a:p>
            </p:txBody>
          </p:sp>
          <p:sp>
            <p:nvSpPr>
              <p:cNvPr id="42" name="Line 42"/>
              <p:cNvSpPr>
                <a:spLocks noChangeShapeType="1"/>
              </p:cNvSpPr>
              <p:nvPr/>
            </p:nvSpPr>
            <p:spPr bwMode="auto">
              <a:xfrm>
                <a:off x="384"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3" name="Line 43"/>
              <p:cNvSpPr>
                <a:spLocks noChangeShapeType="1"/>
              </p:cNvSpPr>
              <p:nvPr/>
            </p:nvSpPr>
            <p:spPr bwMode="auto">
              <a:xfrm>
                <a:off x="768"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37" name="Group 44"/>
            <p:cNvGrpSpPr>
              <a:grpSpLocks/>
            </p:cNvGrpSpPr>
            <p:nvPr/>
          </p:nvGrpSpPr>
          <p:grpSpPr bwMode="auto">
            <a:xfrm>
              <a:off x="0" y="247"/>
              <a:ext cx="1134" cy="249"/>
              <a:chOff x="0" y="0"/>
              <a:chExt cx="1134" cy="249"/>
            </a:xfrm>
          </p:grpSpPr>
          <p:sp>
            <p:nvSpPr>
              <p:cNvPr id="38" name="Rectangle 45"/>
              <p:cNvSpPr>
                <a:spLocks noChangeArrowheads="1"/>
              </p:cNvSpPr>
              <p:nvPr/>
            </p:nvSpPr>
            <p:spPr bwMode="auto">
              <a:xfrm>
                <a:off x="0" y="0"/>
                <a:ext cx="1134" cy="249"/>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zh-CN" altLang="en-US" sz="2400" b="1">
                    <a:latin typeface="Times New Roman" pitchFamily="18" charset="0"/>
                  </a:rPr>
                  <a:t> </a:t>
                </a:r>
                <a:r>
                  <a:rPr lang="en-US" altLang="en-US" sz="2400" b="1">
                    <a:latin typeface="Times New Roman" pitchFamily="18" charset="0"/>
                  </a:rPr>
                  <a:t>1      7      13</a:t>
                </a:r>
              </a:p>
            </p:txBody>
          </p:sp>
          <p:sp>
            <p:nvSpPr>
              <p:cNvPr id="39" name="Line 46"/>
              <p:cNvSpPr>
                <a:spLocks noChangeShapeType="1"/>
              </p:cNvSpPr>
              <p:nvPr/>
            </p:nvSpPr>
            <p:spPr bwMode="auto">
              <a:xfrm>
                <a:off x="384"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0" name="Line 47"/>
              <p:cNvSpPr>
                <a:spLocks noChangeShapeType="1"/>
              </p:cNvSpPr>
              <p:nvPr/>
            </p:nvSpPr>
            <p:spPr bwMode="auto">
              <a:xfrm>
                <a:off x="768" y="0"/>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sp>
        <p:nvSpPr>
          <p:cNvPr id="9" name="Rectangle 48"/>
          <p:cNvSpPr>
            <a:spLocks noChangeArrowheads="1"/>
          </p:cNvSpPr>
          <p:nvPr/>
        </p:nvSpPr>
        <p:spPr bwMode="auto">
          <a:xfrm>
            <a:off x="2321173" y="6192838"/>
            <a:ext cx="2736850" cy="404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zh-CN" altLang="en-US" sz="2400" b="1" dirty="0">
                <a:latin typeface="华文楷体" panose="02010600040101010101" pitchFamily="2" charset="-122"/>
                <a:ea typeface="华文楷体" panose="02010600040101010101" pitchFamily="2" charset="-122"/>
              </a:rPr>
              <a:t>分块查找示例</a:t>
            </a:r>
            <a:endParaRPr lang="zh-CN" altLang="en-US" sz="2400" dirty="0">
              <a:latin typeface="华文楷体" panose="02010600040101010101" pitchFamily="2" charset="-122"/>
              <a:ea typeface="华文楷体" panose="02010600040101010101" pitchFamily="2" charset="-122"/>
            </a:endParaRPr>
          </a:p>
        </p:txBody>
      </p:sp>
      <p:sp>
        <p:nvSpPr>
          <p:cNvPr id="3" name="TextBox 2"/>
          <p:cNvSpPr txBox="1"/>
          <p:nvPr/>
        </p:nvSpPr>
        <p:spPr>
          <a:xfrm>
            <a:off x="1188727" y="3702050"/>
            <a:ext cx="713658" cy="461665"/>
          </a:xfrm>
          <a:prstGeom prst="rect">
            <a:avLst/>
          </a:prstGeom>
          <a:noFill/>
        </p:spPr>
        <p:txBody>
          <a:bodyPr wrap="none" rtlCol="0">
            <a:spAutoFit/>
          </a:bodyPr>
          <a:lstStyle/>
          <a:p>
            <a:pPr algn="r"/>
            <a:r>
              <a:rPr lang="en-US" sz="2400" b="1" dirty="0">
                <a:latin typeface="Times New Roman" panose="02020603050405020304" pitchFamily="18" charset="0"/>
                <a:cs typeface="Times New Roman" panose="02020603050405020304" pitchFamily="18" charset="0"/>
              </a:rPr>
              <a:t>Key</a:t>
            </a:r>
            <a:endParaRPr lang="en-US" b="1" dirty="0">
              <a:latin typeface="Times New Roman" panose="02020603050405020304" pitchFamily="18" charset="0"/>
              <a:cs typeface="Times New Roman" panose="02020603050405020304" pitchFamily="18" charset="0"/>
            </a:endParaRPr>
          </a:p>
        </p:txBody>
      </p:sp>
      <p:sp>
        <p:nvSpPr>
          <p:cNvPr id="53" name="TextBox 52"/>
          <p:cNvSpPr txBox="1"/>
          <p:nvPr/>
        </p:nvSpPr>
        <p:spPr>
          <a:xfrm>
            <a:off x="639739" y="4097338"/>
            <a:ext cx="1988045" cy="461665"/>
          </a:xfrm>
          <a:prstGeom prst="rect">
            <a:avLst/>
          </a:prstGeom>
          <a:noFill/>
        </p:spPr>
        <p:txBody>
          <a:bodyPr wrap="none" rtlCol="0">
            <a:spAutoFit/>
          </a:bodyPr>
          <a:lstStyle/>
          <a:p>
            <a:pPr algn="r"/>
            <a:r>
              <a:rPr lang="en-US" altLang="zh-CN" sz="2400" b="1" dirty="0">
                <a:latin typeface="Times New Roman" panose="02020603050405020304" pitchFamily="18" charset="0"/>
                <a:cs typeface="Times New Roman" panose="02020603050405020304" pitchFamily="18" charset="0"/>
              </a:rPr>
              <a:t>Start </a:t>
            </a:r>
            <a:r>
              <a:rPr lang="en-US" sz="2400" b="1" dirty="0">
                <a:latin typeface="Times New Roman" panose="02020603050405020304" pitchFamily="18" charset="0"/>
                <a:cs typeface="Times New Roman" panose="02020603050405020304" pitchFamily="18" charset="0"/>
              </a:rPr>
              <a:t>Position</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8399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7" grpId="0" animBg="1"/>
      <p:bldP spid="3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10"/>
          <p:cNvSpPr>
            <a:spLocks noGrp="1"/>
          </p:cNvSpPr>
          <p:nvPr>
            <p:ph idx="1"/>
          </p:nvPr>
        </p:nvSpPr>
        <p:spPr>
          <a:xfrm>
            <a:off x="179512" y="773694"/>
            <a:ext cx="8229600" cy="6084306"/>
          </a:xfrm>
        </p:spPr>
        <p:txBody>
          <a:bodyPr>
            <a:normAutofit fontScale="92500" lnSpcReduction="10000"/>
          </a:bodyPr>
          <a:lstStyle/>
          <a:p>
            <a:pPr marL="0" indent="0">
              <a:lnSpc>
                <a:spcPct val="110000"/>
              </a:lnSpc>
              <a:spcBef>
                <a:spcPts val="0"/>
              </a:spcBef>
              <a:buNone/>
            </a:pPr>
            <a:r>
              <a:rPr lang="en-US" altLang="en-US" sz="2400" dirty="0">
                <a:latin typeface="Times New Roman" panose="02020603050405020304" pitchFamily="18" charset="0"/>
                <a:cs typeface="Times New Roman" panose="02020603050405020304" pitchFamily="18" charset="0"/>
              </a:rPr>
              <a:t>int </a:t>
            </a:r>
            <a:r>
              <a:rPr lang="en-US" altLang="en-US" sz="2400" dirty="0" err="1">
                <a:latin typeface="Times New Roman" panose="02020603050405020304" pitchFamily="18" charset="0"/>
                <a:cs typeface="Times New Roman" panose="02020603050405020304" pitchFamily="18" charset="0"/>
              </a:rPr>
              <a:t>Search_Block</a:t>
            </a:r>
            <a:r>
              <a:rPr lang="en-US" altLang="en-US" sz="2400" dirty="0">
                <a:latin typeface="Times New Roman" panose="02020603050405020304" pitchFamily="18" charset="0"/>
                <a:cs typeface="Times New Roman" panose="02020603050405020304" pitchFamily="18" charset="0"/>
              </a:rPr>
              <a:t> (</a:t>
            </a:r>
          </a:p>
          <a:p>
            <a:pPr marL="0" indent="0">
              <a:lnSpc>
                <a:spcPct val="110000"/>
              </a:lnSpc>
              <a:spcBef>
                <a:spcPts val="0"/>
              </a:spcBef>
              <a:buNone/>
            </a:pP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SSTable</a:t>
            </a:r>
            <a:r>
              <a:rPr lang="en-US" altLang="en-US" sz="2400" dirty="0">
                <a:latin typeface="Times New Roman" panose="02020603050405020304" pitchFamily="18" charset="0"/>
                <a:cs typeface="Times New Roman" panose="02020603050405020304" pitchFamily="18" charset="0"/>
              </a:rPr>
              <a:t> ST, Index </a:t>
            </a:r>
            <a:r>
              <a:rPr lang="en-US" altLang="en-US" sz="2400" dirty="0" err="1">
                <a:latin typeface="Times New Roman" panose="02020603050405020304" pitchFamily="18" charset="0"/>
                <a:cs typeface="Times New Roman" panose="02020603050405020304" pitchFamily="18" charset="0"/>
              </a:rPr>
              <a:t>ind</a:t>
            </a:r>
            <a:r>
              <a:rPr lang="en-US" altLang="en-US" sz="2400" dirty="0">
                <a:latin typeface="Times New Roman" panose="02020603050405020304" pitchFamily="18" charset="0"/>
                <a:cs typeface="Times New Roman" panose="02020603050405020304" pitchFamily="18" charset="0"/>
              </a:rPr>
              <a:t>[] , </a:t>
            </a:r>
            <a:r>
              <a:rPr lang="en-US" altLang="en-US" sz="2400" dirty="0" err="1">
                <a:latin typeface="Times New Roman" panose="02020603050405020304" pitchFamily="18" charset="0"/>
                <a:cs typeface="Times New Roman" panose="02020603050405020304" pitchFamily="18" charset="0"/>
              </a:rPr>
              <a:t>KeyType</a:t>
            </a:r>
            <a:r>
              <a:rPr lang="en-US" altLang="en-US" sz="2400" dirty="0">
                <a:latin typeface="Times New Roman" panose="02020603050405020304" pitchFamily="18" charset="0"/>
                <a:cs typeface="Times New Roman" panose="02020603050405020304" pitchFamily="18" charset="0"/>
              </a:rPr>
              <a:t> key , int n , int b)  { </a:t>
            </a:r>
          </a:p>
          <a:p>
            <a:pPr marL="0" indent="0">
              <a:lnSpc>
                <a:spcPct val="110000"/>
              </a:lnSpc>
              <a:spcBef>
                <a:spcPts val="0"/>
              </a:spcBef>
              <a:buNone/>
            </a:pPr>
            <a:r>
              <a:rPr lang="en-US" altLang="en-US" sz="24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表长为</a:t>
            </a:r>
            <a:r>
              <a:rPr lang="en-US" altLang="en-US" sz="2000" dirty="0">
                <a:latin typeface="Times New Roman" panose="02020603050405020304" pitchFamily="18" charset="0"/>
                <a:ea typeface="华文楷体" panose="02010600040101010101" pitchFamily="2" charset="-122"/>
                <a:cs typeface="Times New Roman" panose="02020603050405020304" pitchFamily="18" charset="0"/>
              </a:rPr>
              <a:t>n </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，块数为</a:t>
            </a:r>
            <a:r>
              <a:rPr lang="en-US" altLang="en-US" sz="2000" dirty="0">
                <a:latin typeface="Times New Roman" panose="02020603050405020304" pitchFamily="18" charset="0"/>
                <a:ea typeface="华文楷体" panose="02010600040101010101" pitchFamily="2" charset="-122"/>
                <a:cs typeface="Times New Roman" panose="02020603050405020304" pitchFamily="18" charset="0"/>
              </a:rPr>
              <a:t>b</a:t>
            </a:r>
          </a:p>
          <a:p>
            <a:pPr marL="457200" lvl="1" indent="0">
              <a:lnSpc>
                <a:spcPct val="110000"/>
              </a:lnSpc>
              <a:spcBef>
                <a:spcPts val="0"/>
              </a:spcBef>
              <a:buNone/>
            </a:pP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int </a:t>
            </a:r>
            <a:r>
              <a:rPr lang="en-US" altLang="en-US"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=0 , j , k ;</a:t>
            </a:r>
          </a:p>
          <a:p>
            <a:pPr marL="457200" lvl="1" indent="0">
              <a:lnSpc>
                <a:spcPct val="110000"/>
              </a:lnSpc>
              <a:spcBef>
                <a:spcPts val="1200"/>
              </a:spcBef>
              <a:buNone/>
            </a:pPr>
            <a:r>
              <a:rPr lang="en-US" altLang="en-US" sz="20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在块间顺序查找</a:t>
            </a:r>
            <a:endParaRPr lang="en-US" altLang="en-US" sz="2000" dirty="0">
              <a:latin typeface="Times New Roman" panose="02020603050405020304" pitchFamily="18" charset="0"/>
              <a:ea typeface="华文楷体" panose="02010600040101010101" pitchFamily="2" charset="-122"/>
              <a:cs typeface="Times New Roman" panose="02020603050405020304" pitchFamily="18" charset="0"/>
            </a:endParaRPr>
          </a:p>
          <a:p>
            <a:pPr marL="457200" lvl="1" indent="0">
              <a:lnSpc>
                <a:spcPct val="110000"/>
              </a:lnSpc>
              <a:spcBef>
                <a:spcPts val="0"/>
              </a:spcBef>
              <a:buNone/>
            </a:pP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while ((</a:t>
            </a:r>
            <a:r>
              <a:rPr lang="en-US" altLang="en-US"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&lt;b)&amp;&amp; LT(</a:t>
            </a:r>
            <a:r>
              <a:rPr lang="en-US" altLang="en-US" sz="2400" dirty="0" err="1">
                <a:latin typeface="Times New Roman" panose="02020603050405020304" pitchFamily="18" charset="0"/>
                <a:ea typeface="华文楷体" panose="02010600040101010101" pitchFamily="2" charset="-122"/>
                <a:cs typeface="Times New Roman" panose="02020603050405020304" pitchFamily="18" charset="0"/>
              </a:rPr>
              <a:t>ind</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en-US"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en-US" sz="2400" dirty="0" err="1">
                <a:latin typeface="Times New Roman" panose="02020603050405020304" pitchFamily="18" charset="0"/>
                <a:ea typeface="华文楷体" panose="02010600040101010101" pitchFamily="2" charset="-122"/>
                <a:cs typeface="Times New Roman" panose="02020603050405020304" pitchFamily="18" charset="0"/>
              </a:rPr>
              <a:t>maxkey</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 key) )  </a:t>
            </a:r>
            <a:r>
              <a:rPr lang="en-US" altLang="en-US"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  ;</a:t>
            </a:r>
          </a:p>
          <a:p>
            <a:pPr marL="457200" lvl="1" indent="0">
              <a:lnSpc>
                <a:spcPct val="110000"/>
              </a:lnSpc>
              <a:spcBef>
                <a:spcPts val="1200"/>
              </a:spcBef>
              <a:buNone/>
            </a:pP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if (</a:t>
            </a:r>
            <a:r>
              <a:rPr lang="en-US" altLang="en-US"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&gt;b) return(0); </a:t>
            </a:r>
            <a:r>
              <a:rPr lang="en-US" altLang="en-US" sz="20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没有找到</a:t>
            </a:r>
            <a:endParaRPr lang="en-US" altLang="en-US" sz="2000" dirty="0">
              <a:latin typeface="Times New Roman" panose="02020603050405020304" pitchFamily="18" charset="0"/>
              <a:ea typeface="华文楷体" panose="02010600040101010101" pitchFamily="2" charset="-122"/>
              <a:cs typeface="Times New Roman" panose="02020603050405020304" pitchFamily="18" charset="0"/>
            </a:endParaRPr>
          </a:p>
          <a:p>
            <a:pPr marL="457200" lvl="1" indent="0">
              <a:lnSpc>
                <a:spcPct val="110000"/>
              </a:lnSpc>
              <a:spcBef>
                <a:spcPts val="1200"/>
              </a:spcBef>
              <a:buNone/>
            </a:pP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j=</a:t>
            </a:r>
            <a:r>
              <a:rPr lang="en-US" altLang="en-US" sz="2400" dirty="0" err="1">
                <a:latin typeface="Times New Roman" panose="02020603050405020304" pitchFamily="18" charset="0"/>
                <a:ea typeface="华文楷体" panose="02010600040101010101" pitchFamily="2" charset="-122"/>
                <a:cs typeface="Times New Roman" panose="02020603050405020304" pitchFamily="18" charset="0"/>
              </a:rPr>
              <a:t>ind</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en-US"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en-US" sz="2400" dirty="0" err="1">
                <a:latin typeface="Times New Roman" panose="02020603050405020304" pitchFamily="18" charset="0"/>
                <a:ea typeface="华文楷体" panose="02010600040101010101" pitchFamily="2" charset="-122"/>
                <a:cs typeface="Times New Roman" panose="02020603050405020304" pitchFamily="18" charset="0"/>
              </a:rPr>
              <a:t>startpos</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a:t>
            </a:r>
          </a:p>
          <a:p>
            <a:pPr marL="457200" lvl="1" indent="0">
              <a:lnSpc>
                <a:spcPct val="110000"/>
              </a:lnSpc>
              <a:spcBef>
                <a:spcPts val="0"/>
              </a:spcBef>
              <a:buNone/>
            </a:pP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while ((j&lt;n) &amp;&amp; LQ(ST[j].key, </a:t>
            </a:r>
            <a:r>
              <a:rPr lang="en-US" altLang="en-US" sz="2400" dirty="0" err="1">
                <a:latin typeface="Times New Roman" panose="02020603050405020304" pitchFamily="18" charset="0"/>
                <a:ea typeface="华文楷体" panose="02010600040101010101" pitchFamily="2" charset="-122"/>
                <a:cs typeface="Times New Roman" panose="02020603050405020304" pitchFamily="18" charset="0"/>
              </a:rPr>
              <a:t>ind</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en-US"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en-US" sz="2400" dirty="0" err="1">
                <a:latin typeface="Times New Roman" panose="02020603050405020304" pitchFamily="18" charset="0"/>
                <a:ea typeface="华文楷体" panose="02010600040101010101" pitchFamily="2" charset="-122"/>
                <a:cs typeface="Times New Roman" panose="02020603050405020304" pitchFamily="18" charset="0"/>
              </a:rPr>
              <a:t>maxkey</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 ) {</a:t>
            </a:r>
          </a:p>
          <a:p>
            <a:pPr marL="457200" lvl="1" indent="0">
              <a:lnSpc>
                <a:spcPct val="110000"/>
              </a:lnSpc>
              <a:spcBef>
                <a:spcPts val="0"/>
              </a:spcBef>
              <a:buNone/>
            </a:pP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en-US" sz="20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在块内顺序查找</a:t>
            </a:r>
            <a:r>
              <a:rPr lang="en-US" altLang="en-US" sz="2000" dirty="0">
                <a:latin typeface="Times New Roman" panose="02020603050405020304" pitchFamily="18" charset="0"/>
                <a:ea typeface="华文楷体" panose="02010600040101010101" pitchFamily="2" charset="-122"/>
                <a:cs typeface="Times New Roman" panose="02020603050405020304" pitchFamily="18" charset="0"/>
              </a:rPr>
              <a:t>  </a:t>
            </a:r>
          </a:p>
          <a:p>
            <a:pPr marL="457200" lvl="1" indent="0">
              <a:lnSpc>
                <a:spcPct val="110000"/>
              </a:lnSpc>
              <a:spcBef>
                <a:spcPts val="0"/>
              </a:spcBef>
              <a:buNone/>
            </a:pP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	if ( EQ(ST[j].key, key) )  break ;</a:t>
            </a:r>
          </a:p>
          <a:p>
            <a:pPr marL="457200" lvl="1" indent="0">
              <a:lnSpc>
                <a:spcPct val="110000"/>
              </a:lnSpc>
              <a:spcBef>
                <a:spcPts val="0"/>
              </a:spcBef>
              <a:buNone/>
            </a:pP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en-US" sz="2400" dirty="0" err="1">
                <a:latin typeface="Times New Roman" panose="02020603050405020304" pitchFamily="18" charset="0"/>
                <a:ea typeface="华文楷体" panose="02010600040101010101" pitchFamily="2" charset="-122"/>
                <a:cs typeface="Times New Roman" panose="02020603050405020304" pitchFamily="18" charset="0"/>
              </a:rPr>
              <a:t>j++</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 ;</a:t>
            </a:r>
          </a:p>
          <a:p>
            <a:pPr marL="457200" lvl="1" indent="0">
              <a:lnSpc>
                <a:spcPct val="110000"/>
              </a:lnSpc>
              <a:spcBef>
                <a:spcPts val="0"/>
              </a:spcBef>
              <a:buNone/>
            </a:pP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 </a:t>
            </a:r>
          </a:p>
          <a:p>
            <a:pPr marL="457200" lvl="1" indent="0">
              <a:lnSpc>
                <a:spcPct val="110000"/>
              </a:lnSpc>
              <a:spcBef>
                <a:spcPts val="1200"/>
              </a:spcBef>
              <a:buNone/>
            </a:pP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if (j&gt;n||!EQ(ST[j].key, key) ) j=0;</a:t>
            </a:r>
          </a:p>
          <a:p>
            <a:pPr marL="457200" lvl="1" indent="0">
              <a:lnSpc>
                <a:spcPct val="110000"/>
              </a:lnSpc>
              <a:spcBef>
                <a:spcPts val="0"/>
              </a:spcBef>
              <a:buNone/>
            </a:pP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return(j); </a:t>
            </a:r>
          </a:p>
          <a:p>
            <a:pPr marL="0" indent="0">
              <a:lnSpc>
                <a:spcPct val="110000"/>
              </a:lnSpc>
              <a:spcBef>
                <a:spcPts val="0"/>
              </a:spcBef>
              <a:buNone/>
            </a:pPr>
            <a:r>
              <a:rPr lang="en-US" altLang="en-US" sz="24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26</a:t>
            </a:fld>
            <a:endParaRPr lang="zh-CN" altLang="en-US"/>
          </a:p>
        </p:txBody>
      </p:sp>
      <p:sp>
        <p:nvSpPr>
          <p:cNvPr id="5" name="标题 4"/>
          <p:cNvSpPr>
            <a:spLocks noGrp="1"/>
          </p:cNvSpPr>
          <p:nvPr>
            <p:ph type="title"/>
          </p:nvPr>
        </p:nvSpPr>
        <p:spPr>
          <a:xfrm>
            <a:off x="17253" y="-18394"/>
            <a:ext cx="8229600" cy="792088"/>
          </a:xfrm>
        </p:spPr>
        <p:txBody>
          <a:bodyPr>
            <a:normAutofit/>
          </a:bodyPr>
          <a:lstStyle/>
          <a:p>
            <a:pPr algn="l"/>
            <a:r>
              <a:rPr lang="en-US" altLang="en-US" sz="3600" dirty="0" err="1">
                <a:latin typeface="华文新魏" panose="02010800040101010101" pitchFamily="2" charset="-122"/>
                <a:ea typeface="华文新魏" panose="02010800040101010101" pitchFamily="2" charset="-122"/>
              </a:rPr>
              <a:t>索引顺序查找</a:t>
            </a:r>
            <a:r>
              <a:rPr lang="en-US" altLang="zh-CN" sz="3600" dirty="0">
                <a:latin typeface="华文新魏" panose="02010800040101010101" pitchFamily="2" charset="-122"/>
                <a:ea typeface="华文新魏" panose="02010800040101010101" pitchFamily="2" charset="-122"/>
              </a:rPr>
              <a:t>- </a:t>
            </a:r>
            <a:r>
              <a:rPr lang="en-US" altLang="en-US" sz="3600" dirty="0" err="1">
                <a:latin typeface="华文新魏" panose="02010800040101010101" pitchFamily="2" charset="-122"/>
                <a:ea typeface="华文新魏" panose="02010800040101010101" pitchFamily="2" charset="-122"/>
              </a:rPr>
              <a:t>算法实现</a:t>
            </a:r>
            <a:endParaRPr lang="zh-CN" altLang="en-US" sz="3600"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39341844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22694" y="-27384"/>
            <a:ext cx="8229600" cy="936104"/>
          </a:xfrm>
        </p:spPr>
        <p:txBody>
          <a:bodyPr/>
          <a:lstStyle/>
          <a:p>
            <a:pPr algn="l"/>
            <a:r>
              <a:rPr lang="en-US" altLang="en-US" dirty="0" err="1">
                <a:latin typeface="华文新魏" panose="02010800040101010101" pitchFamily="2" charset="-122"/>
                <a:ea typeface="华文新魏" panose="02010800040101010101" pitchFamily="2" charset="-122"/>
              </a:rPr>
              <a:t>索引顺序查找</a:t>
            </a:r>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算法分析</a:t>
            </a:r>
          </a:p>
        </p:txBody>
      </p:sp>
      <mc:AlternateContent xmlns:mc="http://schemas.openxmlformats.org/markup-compatibility/2006" xmlns:a14="http://schemas.microsoft.com/office/drawing/2010/main">
        <mc:Choice Requires="a14">
          <p:sp>
            <p:nvSpPr>
              <p:cNvPr id="9" name="内容占位符 8"/>
              <p:cNvSpPr>
                <a:spLocks noGrp="1"/>
              </p:cNvSpPr>
              <p:nvPr>
                <p:ph idx="1"/>
              </p:nvPr>
            </p:nvSpPr>
            <p:spPr>
              <a:xfrm>
                <a:off x="107504" y="909940"/>
                <a:ext cx="8469447" cy="5472608"/>
              </a:xfrm>
            </p:spPr>
            <p:txBody>
              <a:bodyPr>
                <a:normAutofit/>
              </a:bodyPr>
              <a:lstStyle/>
              <a:p>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索引顺序查找的平均查找长度</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(ASL)</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  </a:t>
                </a:r>
              </a:p>
              <a:p>
                <a:pPr marL="3230563" indent="-2244725">
                  <a:buNone/>
                </a:pPr>
                <a:r>
                  <a:rPr lang="zh-CN" altLang="en-US" sz="24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查找索引表确定所在块的平均查找长度</a:t>
                </a:r>
                <a:r>
                  <a:rPr lang="en-US" altLang="zh-CN" sz="2400" b="1" dirty="0" err="1">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L</a:t>
                </a:r>
                <a:r>
                  <a:rPr lang="en-US" altLang="zh-CN" sz="2400" b="1" baseline="-25000" dirty="0" err="1">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b</a:t>
                </a:r>
                <a:r>
                  <a:rPr lang="zh-CN" altLang="en-US" sz="24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  </a:t>
                </a:r>
                <a:b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br>
                <a:r>
                  <a:rPr lang="zh-CN" altLang="en-US" sz="2400" b="1" dirty="0">
                    <a:solidFill>
                      <a:schemeClr val="accent2">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在块内查找元素的平均查找长度</a:t>
                </a:r>
                <a:r>
                  <a:rPr lang="en-US" altLang="zh-CN" sz="2400" b="1" dirty="0" err="1">
                    <a:solidFill>
                      <a:schemeClr val="accent2">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L</a:t>
                </a:r>
                <a:r>
                  <a:rPr lang="en-US" altLang="zh-CN" sz="2400" b="1" baseline="-25000" dirty="0" err="1">
                    <a:solidFill>
                      <a:schemeClr val="accent2">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w</a:t>
                </a:r>
                <a:endParaRPr lang="en-US" altLang="zh-CN" sz="2400" b="1" baseline="-25000" dirty="0">
                  <a:solidFill>
                    <a:schemeClr val="accent2">
                      <a:lumMod val="75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设表长为</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n</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个记录，均分为</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块，每块记录数为</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s</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，则</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b=⌈n/s⌉</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；设记录的查找概率相等，每块的查找概率为</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1/b</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，块中记录的查找概率为</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1/s</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spcBef>
                    <a:spcPts val="2400"/>
                  </a:spcBef>
                </a:pP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若</a:t>
                </a:r>
                <a:r>
                  <a:rPr lang="zh-CN" altLang="en-US" sz="2400"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索引表和块内查找都用顺序查找</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lvl="1"/>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ASL</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为</a:t>
                </a:r>
                <a14:m>
                  <m:oMath xmlns:m="http://schemas.openxmlformats.org/officeDocument/2006/math">
                    <m:f>
                      <m:fPr>
                        <m:ctrlPr>
                          <a:rPr lang="en-US" altLang="zh-CN" sz="2400" i="1" smtClean="0">
                            <a:latin typeface="Cambria Math" panose="02040503050406030204" pitchFamily="18" charset="0"/>
                          </a:rPr>
                        </m:ctrlPr>
                      </m:fPr>
                      <m:num>
                        <m:r>
                          <a:rPr lang="en-US" altLang="zh-CN" sz="2400" smtClean="0">
                            <a:latin typeface="Cambria Math"/>
                          </a:rPr>
                          <m:t>1</m:t>
                        </m:r>
                      </m:num>
                      <m:den>
                        <m:r>
                          <a:rPr lang="en-US" altLang="zh-CN" sz="2400" smtClean="0">
                            <a:latin typeface="Cambria Math"/>
                          </a:rPr>
                          <m:t>2</m:t>
                        </m:r>
                      </m:den>
                    </m:f>
                    <m:d>
                      <m:dPr>
                        <m:ctrlPr>
                          <a:rPr lang="en-US" altLang="zh-CN" sz="2400" i="1" smtClean="0">
                            <a:latin typeface="Cambria Math" panose="02040503050406030204" pitchFamily="18" charset="0"/>
                          </a:rPr>
                        </m:ctrlPr>
                      </m:dPr>
                      <m:e>
                        <m:f>
                          <m:fPr>
                            <m:ctrlPr>
                              <a:rPr lang="en-US" altLang="zh-CN" sz="2400" i="1" smtClean="0">
                                <a:latin typeface="Cambria Math" panose="02040503050406030204" pitchFamily="18" charset="0"/>
                              </a:rPr>
                            </m:ctrlPr>
                          </m:fPr>
                          <m:num>
                            <m:r>
                              <a:rPr lang="en-US" altLang="zh-CN" sz="2400" smtClean="0">
                                <a:latin typeface="Cambria Math"/>
                              </a:rPr>
                              <m:t>𝑛</m:t>
                            </m:r>
                          </m:num>
                          <m:den>
                            <m:r>
                              <a:rPr lang="en-US" altLang="zh-CN" sz="2400" smtClean="0">
                                <a:latin typeface="Cambria Math"/>
                              </a:rPr>
                              <m:t>𝑠</m:t>
                            </m:r>
                          </m:den>
                        </m:f>
                        <m:r>
                          <a:rPr lang="en-US" altLang="zh-CN" sz="2400" smtClean="0">
                            <a:latin typeface="Cambria Math"/>
                          </a:rPr>
                          <m:t>+</m:t>
                        </m:r>
                        <m:r>
                          <m:rPr>
                            <m:sty m:val="p"/>
                          </m:rPr>
                          <a:rPr lang="en-US" altLang="zh-CN" sz="2400" smtClean="0">
                            <a:latin typeface="Cambria Math"/>
                          </a:rPr>
                          <m:t>s</m:t>
                        </m:r>
                      </m:e>
                    </m:d>
                    <m:r>
                      <a:rPr lang="en-US" altLang="zh-CN" sz="2400" smtClean="0">
                        <a:latin typeface="Cambria Math"/>
                      </a:rPr>
                      <m:t>+1</m:t>
                    </m:r>
                  </m:oMath>
                </a14:m>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marL="457200" lvl="1" indent="0">
                  <a:buNone/>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ASL=</a:t>
                </a:r>
                <a14:m>
                  <m:oMath xmlns:m="http://schemas.openxmlformats.org/officeDocument/2006/math">
                    <m:sSub>
                      <m:sSubPr>
                        <m:ctrlPr>
                          <a:rPr lang="en-US" altLang="zh-CN" sz="2400" i="1" smtClean="0">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华文楷体" panose="02010600040101010101" pitchFamily="2" charset="-122"/>
                            <a:cs typeface="Times New Roman" panose="02020603050405020304" pitchFamily="18" charset="0"/>
                          </a:rPr>
                          <m:t>𝐿</m:t>
                        </m:r>
                      </m:e>
                      <m:sub>
                        <m:r>
                          <a:rPr lang="en-US" altLang="zh-CN" sz="2400" b="0" i="1" smtClean="0">
                            <a:latin typeface="Cambria Math" panose="02040503050406030204" pitchFamily="18" charset="0"/>
                            <a:ea typeface="华文楷体" panose="02010600040101010101" pitchFamily="2" charset="-122"/>
                            <a:cs typeface="Times New Roman" panose="02020603050405020304" pitchFamily="18" charset="0"/>
                          </a:rPr>
                          <m:t>𝑏</m:t>
                        </m:r>
                      </m:sub>
                    </m:sSub>
                    <m:r>
                      <a:rPr lang="en-US" altLang="zh-CN" sz="2400" b="0" i="1" smtClean="0">
                        <a:latin typeface="Cambria Math" panose="02040503050406030204" pitchFamily="18" charset="0"/>
                        <a:ea typeface="华文楷体" panose="02010600040101010101" pitchFamily="2" charset="-122"/>
                        <a:cs typeface="Times New Roman" panose="02020603050405020304" pitchFamily="18" charset="0"/>
                      </a:rPr>
                      <m:t>+</m:t>
                    </m:r>
                    <m:sSub>
                      <m:sSubPr>
                        <m:ctrlPr>
                          <a:rPr lang="en-US" altLang="zh-CN" sz="2400" b="0" i="1" smtClean="0">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sz="2400" b="0" i="1" smtClean="0">
                            <a:latin typeface="Cambria Math" panose="02040503050406030204" pitchFamily="18" charset="0"/>
                            <a:ea typeface="华文楷体" panose="02010600040101010101" pitchFamily="2" charset="-122"/>
                            <a:cs typeface="Times New Roman" panose="02020603050405020304" pitchFamily="18" charset="0"/>
                          </a:rPr>
                          <m:t>𝐿</m:t>
                        </m:r>
                      </m:e>
                      <m:sub>
                        <m:r>
                          <a:rPr lang="en-US" altLang="zh-CN" sz="2400" b="0" i="1" smtClean="0">
                            <a:latin typeface="Cambria Math" panose="02040503050406030204" pitchFamily="18" charset="0"/>
                            <a:ea typeface="华文楷体" panose="02010600040101010101" pitchFamily="2" charset="-122"/>
                            <a:cs typeface="Times New Roman" panose="02020603050405020304" pitchFamily="18" charset="0"/>
                          </a:rPr>
                          <m:t>𝑤</m:t>
                        </m:r>
                      </m:sub>
                    </m:sSub>
                    <m:r>
                      <a:rPr lang="en-US" altLang="zh-CN" sz="2400" b="0" i="1" smtClean="0">
                        <a:latin typeface="Cambria Math" panose="02040503050406030204" pitchFamily="18" charset="0"/>
                        <a:ea typeface="华文楷体" panose="02010600040101010101" pitchFamily="2" charset="-122"/>
                        <a:cs typeface="Times New Roman" panose="02020603050405020304" pitchFamily="18" charset="0"/>
                      </a:rPr>
                      <m:t>=</m:t>
                    </m:r>
                    <m:f>
                      <m:fPr>
                        <m:ctrlPr>
                          <a:rPr lang="en-US" altLang="zh-CN" sz="2400" b="0" i="1" smtClean="0">
                            <a:latin typeface="Cambria Math" panose="02040503050406030204" pitchFamily="18" charset="0"/>
                            <a:ea typeface="华文楷体" panose="02010600040101010101" pitchFamily="2" charset="-122"/>
                            <a:cs typeface="Times New Roman" panose="02020603050405020304" pitchFamily="18" charset="0"/>
                          </a:rPr>
                        </m:ctrlPr>
                      </m:fPr>
                      <m:num>
                        <m:r>
                          <a:rPr lang="en-US" altLang="zh-CN" sz="2400" b="0" i="1" smtClean="0">
                            <a:latin typeface="Cambria Math" panose="02040503050406030204" pitchFamily="18" charset="0"/>
                            <a:ea typeface="华文楷体" panose="02010600040101010101" pitchFamily="2" charset="-122"/>
                            <a:cs typeface="Times New Roman" panose="02020603050405020304" pitchFamily="18" charset="0"/>
                          </a:rPr>
                          <m:t>1</m:t>
                        </m:r>
                      </m:num>
                      <m:den>
                        <m:r>
                          <a:rPr lang="en-US" altLang="zh-CN" sz="2400" b="0" i="1" smtClean="0">
                            <a:latin typeface="Cambria Math" panose="02040503050406030204" pitchFamily="18" charset="0"/>
                            <a:ea typeface="华文楷体" panose="02010600040101010101" pitchFamily="2" charset="-122"/>
                            <a:cs typeface="Times New Roman" panose="02020603050405020304" pitchFamily="18" charset="0"/>
                          </a:rPr>
                          <m:t>𝑏</m:t>
                        </m:r>
                      </m:den>
                    </m:f>
                    <m:nary>
                      <m:naryPr>
                        <m:chr m:val="∑"/>
                        <m:ctrlPr>
                          <a:rPr lang="en-US" altLang="zh-CN" sz="2400" b="0" i="1" smtClean="0">
                            <a:latin typeface="Cambria Math" panose="02040503050406030204" pitchFamily="18" charset="0"/>
                            <a:ea typeface="华文楷体" panose="02010600040101010101" pitchFamily="2" charset="-122"/>
                            <a:cs typeface="Times New Roman" panose="02020603050405020304" pitchFamily="18" charset="0"/>
                          </a:rPr>
                        </m:ctrlPr>
                      </m:naryPr>
                      <m:sub>
                        <m:r>
                          <m:rPr>
                            <m:brk m:alnAt="23"/>
                          </m:rPr>
                          <a:rPr lang="en-US" altLang="zh-CN" sz="2400" b="0" i="1" smtClean="0">
                            <a:latin typeface="Cambria Math" panose="02040503050406030204" pitchFamily="18" charset="0"/>
                            <a:ea typeface="华文楷体" panose="02010600040101010101" pitchFamily="2" charset="-122"/>
                            <a:cs typeface="Times New Roman" panose="02020603050405020304" pitchFamily="18" charset="0"/>
                          </a:rPr>
                          <m:t>𝑗</m:t>
                        </m:r>
                        <m:r>
                          <a:rPr lang="en-US" altLang="zh-CN" sz="2400" b="0" i="1" smtClean="0">
                            <a:latin typeface="Cambria Math" panose="02040503050406030204" pitchFamily="18" charset="0"/>
                            <a:ea typeface="华文楷体" panose="02010600040101010101" pitchFamily="2" charset="-122"/>
                            <a:cs typeface="Times New Roman" panose="02020603050405020304" pitchFamily="18" charset="0"/>
                          </a:rPr>
                          <m:t>=1</m:t>
                        </m:r>
                      </m:sub>
                      <m:sup>
                        <m:r>
                          <a:rPr lang="en-US" altLang="zh-CN" sz="2400" b="0" i="1" smtClean="0">
                            <a:latin typeface="Cambria Math" panose="02040503050406030204" pitchFamily="18" charset="0"/>
                            <a:ea typeface="华文楷体" panose="02010600040101010101" pitchFamily="2" charset="-122"/>
                            <a:cs typeface="Times New Roman" panose="02020603050405020304" pitchFamily="18" charset="0"/>
                          </a:rPr>
                          <m:t>𝑏</m:t>
                        </m:r>
                      </m:sup>
                      <m:e>
                        <m:r>
                          <a:rPr lang="en-US" altLang="zh-CN" sz="2400" b="0" i="1" smtClean="0">
                            <a:latin typeface="Cambria Math" panose="02040503050406030204" pitchFamily="18" charset="0"/>
                            <a:ea typeface="华文楷体" panose="02010600040101010101" pitchFamily="2" charset="-122"/>
                            <a:cs typeface="Times New Roman" panose="02020603050405020304" pitchFamily="18" charset="0"/>
                          </a:rPr>
                          <m:t>𝑗</m:t>
                        </m:r>
                      </m:e>
                    </m:nary>
                    <m:r>
                      <a:rPr lang="en-US" altLang="zh-CN" sz="2400" b="0" i="1" smtClean="0">
                        <a:latin typeface="Cambria Math" panose="02040503050406030204" pitchFamily="18" charset="0"/>
                        <a:ea typeface="华文楷体" panose="02010600040101010101" pitchFamily="2" charset="-122"/>
                        <a:cs typeface="Times New Roman" panose="02020603050405020304" pitchFamily="18" charset="0"/>
                      </a:rPr>
                      <m:t>+</m:t>
                    </m:r>
                    <m:f>
                      <m:fPr>
                        <m:ctrlPr>
                          <a:rPr lang="en-US" altLang="zh-CN" sz="2400" b="0" i="1" smtClean="0">
                            <a:latin typeface="Cambria Math" panose="02040503050406030204" pitchFamily="18" charset="0"/>
                            <a:ea typeface="华文楷体" panose="02010600040101010101" pitchFamily="2" charset="-122"/>
                            <a:cs typeface="Times New Roman" panose="02020603050405020304" pitchFamily="18" charset="0"/>
                          </a:rPr>
                        </m:ctrlPr>
                      </m:fPr>
                      <m:num>
                        <m:r>
                          <a:rPr lang="en-US" altLang="zh-CN" sz="2400" b="0" i="1" smtClean="0">
                            <a:latin typeface="Cambria Math" panose="02040503050406030204" pitchFamily="18" charset="0"/>
                            <a:ea typeface="华文楷体" panose="02010600040101010101" pitchFamily="2" charset="-122"/>
                            <a:cs typeface="Times New Roman" panose="02020603050405020304" pitchFamily="18" charset="0"/>
                          </a:rPr>
                          <m:t>1</m:t>
                        </m:r>
                      </m:num>
                      <m:den>
                        <m:r>
                          <a:rPr lang="en-US" altLang="zh-CN" sz="2400" b="0" i="1" smtClean="0">
                            <a:latin typeface="Cambria Math" panose="02040503050406030204" pitchFamily="18" charset="0"/>
                            <a:ea typeface="华文楷体" panose="02010600040101010101" pitchFamily="2" charset="-122"/>
                            <a:cs typeface="Times New Roman" panose="02020603050405020304" pitchFamily="18" charset="0"/>
                          </a:rPr>
                          <m:t>𝑠</m:t>
                        </m:r>
                      </m:den>
                    </m:f>
                    <m:nary>
                      <m:naryPr>
                        <m:chr m:val="∑"/>
                        <m:ctrlPr>
                          <a:rPr lang="en-US" altLang="zh-CN" sz="2400" b="0" i="1" smtClean="0">
                            <a:latin typeface="Cambria Math" panose="02040503050406030204" pitchFamily="18" charset="0"/>
                            <a:ea typeface="华文楷体" panose="02010600040101010101" pitchFamily="2" charset="-122"/>
                            <a:cs typeface="Times New Roman" panose="02020603050405020304" pitchFamily="18" charset="0"/>
                          </a:rPr>
                        </m:ctrlPr>
                      </m:naryPr>
                      <m:sub>
                        <m:r>
                          <m:rPr>
                            <m:brk m:alnAt="23"/>
                          </m:rPr>
                          <a:rPr lang="en-US" altLang="zh-CN" sz="2400" b="0" i="1" smtClean="0">
                            <a:latin typeface="Cambria Math" panose="02040503050406030204" pitchFamily="18" charset="0"/>
                            <a:ea typeface="华文楷体" panose="02010600040101010101" pitchFamily="2" charset="-122"/>
                            <a:cs typeface="Times New Roman" panose="02020603050405020304" pitchFamily="18" charset="0"/>
                          </a:rPr>
                          <m:t>𝑖</m:t>
                        </m:r>
                        <m:r>
                          <a:rPr lang="en-US" altLang="zh-CN" sz="2400" b="0" i="1" smtClean="0">
                            <a:latin typeface="Cambria Math" panose="02040503050406030204" pitchFamily="18" charset="0"/>
                            <a:ea typeface="华文楷体" panose="02010600040101010101" pitchFamily="2" charset="-122"/>
                            <a:cs typeface="Times New Roman" panose="02020603050405020304" pitchFamily="18" charset="0"/>
                          </a:rPr>
                          <m:t>=1</m:t>
                        </m:r>
                      </m:sub>
                      <m:sup>
                        <m:r>
                          <a:rPr lang="en-US" altLang="zh-CN" sz="2400" b="0" i="1" smtClean="0">
                            <a:latin typeface="Cambria Math" panose="02040503050406030204" pitchFamily="18" charset="0"/>
                            <a:ea typeface="华文楷体" panose="02010600040101010101" pitchFamily="2" charset="-122"/>
                            <a:cs typeface="Times New Roman" panose="02020603050405020304" pitchFamily="18" charset="0"/>
                          </a:rPr>
                          <m:t>𝑠</m:t>
                        </m:r>
                      </m:sup>
                      <m:e>
                        <m:r>
                          <a:rPr lang="en-US" altLang="zh-CN" sz="2400" b="0" i="1" smtClean="0">
                            <a:latin typeface="Cambria Math" panose="02040503050406030204" pitchFamily="18" charset="0"/>
                            <a:ea typeface="华文楷体" panose="02010600040101010101" pitchFamily="2" charset="-122"/>
                            <a:cs typeface="Times New Roman" panose="02020603050405020304" pitchFamily="18" charset="0"/>
                          </a:rPr>
                          <m:t>𝑖</m:t>
                        </m:r>
                      </m:e>
                    </m:nary>
                    <m:r>
                      <a:rPr lang="en-US" altLang="zh-CN" sz="2400" b="0" i="1" smtClean="0">
                        <a:latin typeface="Cambria Math" panose="02040503050406030204" pitchFamily="18" charset="0"/>
                        <a:ea typeface="华文楷体" panose="02010600040101010101" pitchFamily="2" charset="-122"/>
                        <a:cs typeface="Times New Roman" panose="02020603050405020304" pitchFamily="18" charset="0"/>
                      </a:rPr>
                      <m:t>=</m:t>
                    </m:r>
                    <m:f>
                      <m:fPr>
                        <m:ctrlPr>
                          <a:rPr lang="en-US" altLang="zh-CN" sz="2400" b="0" i="1" smtClean="0">
                            <a:latin typeface="Cambria Math" panose="02040503050406030204" pitchFamily="18" charset="0"/>
                            <a:ea typeface="华文楷体" panose="02010600040101010101" pitchFamily="2" charset="-122"/>
                            <a:cs typeface="Times New Roman" panose="02020603050405020304" pitchFamily="18" charset="0"/>
                          </a:rPr>
                        </m:ctrlPr>
                      </m:fPr>
                      <m:num>
                        <m:r>
                          <a:rPr lang="en-US" altLang="zh-CN" sz="2400" b="0" i="1" smtClean="0">
                            <a:latin typeface="Cambria Math" panose="02040503050406030204" pitchFamily="18" charset="0"/>
                            <a:ea typeface="华文楷体" panose="02010600040101010101" pitchFamily="2" charset="-122"/>
                            <a:cs typeface="Times New Roman" panose="02020603050405020304" pitchFamily="18" charset="0"/>
                          </a:rPr>
                          <m:t>𝑏</m:t>
                        </m:r>
                        <m:r>
                          <a:rPr lang="en-US" altLang="zh-CN" sz="2400" b="0" i="1" smtClean="0">
                            <a:latin typeface="Cambria Math" panose="02040503050406030204" pitchFamily="18" charset="0"/>
                            <a:ea typeface="华文楷体" panose="02010600040101010101" pitchFamily="2" charset="-122"/>
                            <a:cs typeface="Times New Roman" panose="02020603050405020304" pitchFamily="18" charset="0"/>
                          </a:rPr>
                          <m:t>+1</m:t>
                        </m:r>
                      </m:num>
                      <m:den>
                        <m:r>
                          <a:rPr lang="en-US" altLang="zh-CN" sz="2400" b="0" i="1" smtClean="0">
                            <a:latin typeface="Cambria Math" panose="02040503050406030204" pitchFamily="18" charset="0"/>
                            <a:ea typeface="华文楷体" panose="02010600040101010101" pitchFamily="2" charset="-122"/>
                            <a:cs typeface="Times New Roman" panose="02020603050405020304" pitchFamily="18" charset="0"/>
                          </a:rPr>
                          <m:t>2</m:t>
                        </m:r>
                      </m:den>
                    </m:f>
                    <m:r>
                      <a:rPr lang="en-US" altLang="zh-CN" sz="2400" b="0" i="1" smtClean="0">
                        <a:latin typeface="Cambria Math" panose="02040503050406030204" pitchFamily="18" charset="0"/>
                        <a:ea typeface="华文楷体" panose="02010600040101010101" pitchFamily="2" charset="-122"/>
                        <a:cs typeface="Times New Roman" panose="02020603050405020304" pitchFamily="18" charset="0"/>
                      </a:rPr>
                      <m:t>+</m:t>
                    </m:r>
                    <m:f>
                      <m:fPr>
                        <m:ctrlPr>
                          <a:rPr lang="en-US" altLang="zh-CN" sz="2400" b="0" i="1" smtClean="0">
                            <a:latin typeface="Cambria Math" panose="02040503050406030204" pitchFamily="18" charset="0"/>
                            <a:ea typeface="华文楷体" panose="02010600040101010101" pitchFamily="2" charset="-122"/>
                            <a:cs typeface="Times New Roman" panose="02020603050405020304" pitchFamily="18" charset="0"/>
                          </a:rPr>
                        </m:ctrlPr>
                      </m:fPr>
                      <m:num>
                        <m:r>
                          <a:rPr lang="en-US" altLang="zh-CN" sz="2400" b="0" i="1" smtClean="0">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2400" b="0" i="1" smtClean="0">
                            <a:latin typeface="Cambria Math" panose="02040503050406030204" pitchFamily="18" charset="0"/>
                            <a:ea typeface="华文楷体" panose="02010600040101010101" pitchFamily="2" charset="-122"/>
                            <a:cs typeface="Times New Roman" panose="02020603050405020304" pitchFamily="18" charset="0"/>
                          </a:rPr>
                          <m:t>+1</m:t>
                        </m:r>
                      </m:num>
                      <m:den>
                        <m:r>
                          <a:rPr lang="en-US" altLang="zh-CN" sz="2400" b="0" i="1" smtClean="0">
                            <a:latin typeface="Cambria Math" panose="02040503050406030204" pitchFamily="18" charset="0"/>
                            <a:ea typeface="华文楷体" panose="02010600040101010101" pitchFamily="2" charset="-122"/>
                            <a:cs typeface="Times New Roman" panose="02020603050405020304" pitchFamily="18" charset="0"/>
                          </a:rPr>
                          <m:t>2</m:t>
                        </m:r>
                      </m:den>
                    </m:f>
                  </m:oMath>
                </a14:m>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lvl="1"/>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当</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s=</a:t>
                </a:r>
                <a14:m>
                  <m:oMath xmlns:m="http://schemas.openxmlformats.org/officeDocument/2006/math">
                    <m:rad>
                      <m:radPr>
                        <m:degHide m:val="on"/>
                        <m:ctrlPr>
                          <a:rPr lang="en-US" altLang="zh-CN" sz="2400" i="1" smtClean="0">
                            <a:latin typeface="Cambria Math" panose="02040503050406030204" pitchFamily="18" charset="0"/>
                          </a:rPr>
                        </m:ctrlPr>
                      </m:radPr>
                      <m:deg/>
                      <m:e>
                        <m:r>
                          <a:rPr lang="en-US" altLang="zh-CN" sz="2400" smtClean="0">
                            <a:latin typeface="Cambria Math"/>
                          </a:rPr>
                          <m:t>𝑛</m:t>
                        </m:r>
                      </m:e>
                    </m:rad>
                  </m:oMath>
                </a14:m>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时，</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ASL</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有最小值</a:t>
                </a:r>
                <a14:m>
                  <m:oMath xmlns:m="http://schemas.openxmlformats.org/officeDocument/2006/math">
                    <m:rad>
                      <m:radPr>
                        <m:degHide m:val="on"/>
                        <m:ctrlPr>
                          <a:rPr lang="zh-CN" altLang="en-US" sz="2400" i="1" smtClean="0">
                            <a:latin typeface="Cambria Math" panose="02040503050406030204" pitchFamily="18" charset="0"/>
                          </a:rPr>
                        </m:ctrlPr>
                      </m:radPr>
                      <m:deg/>
                      <m:e>
                        <m:r>
                          <a:rPr lang="en-US" altLang="zh-CN" sz="2400" smtClean="0">
                            <a:latin typeface="Cambria Math"/>
                          </a:rPr>
                          <m:t>𝑛</m:t>
                        </m:r>
                      </m:e>
                    </m:rad>
                    <m:r>
                      <a:rPr lang="en-US" altLang="zh-CN" sz="2400" b="0" i="0" smtClean="0">
                        <a:latin typeface="Cambria Math" panose="02040503050406030204" pitchFamily="18" charset="0"/>
                      </a:rPr>
                      <m:t>+1</m:t>
                    </m:r>
                  </m:oMath>
                </a14:m>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，介于二分查找的</a:t>
                </a:r>
                <a:r>
                  <a:rPr kumimoji="1" lang="en-US" altLang="zh-CN" sz="2400" dirty="0">
                    <a:latin typeface="Times New Roman" panose="02020603050405020304" pitchFamily="18" charset="0"/>
                    <a:ea typeface="华文楷体" panose="02010600040101010101" pitchFamily="2" charset="-122"/>
                    <a:cs typeface="Times New Roman" panose="02020603050405020304" pitchFamily="18" charset="0"/>
                  </a:rPr>
                  <a:t>O(log</a:t>
                </a:r>
                <a:r>
                  <a:rPr kumimoji="1" lang="en-US" altLang="zh-CN" sz="2400" baseline="-25000" dirty="0">
                    <a:latin typeface="Times New Roman" panose="02020603050405020304" pitchFamily="18" charset="0"/>
                    <a:ea typeface="华文楷体" panose="02010600040101010101" pitchFamily="2" charset="-122"/>
                    <a:cs typeface="Times New Roman" panose="02020603050405020304" pitchFamily="18" charset="0"/>
                  </a:rPr>
                  <a:t>2</a:t>
                </a:r>
                <a:r>
                  <a:rPr kumimoji="1" lang="en-US" altLang="zh-CN" sz="2400" dirty="0">
                    <a:latin typeface="Times New Roman" panose="02020603050405020304" pitchFamily="18" charset="0"/>
                    <a:ea typeface="华文楷体" panose="02010600040101010101" pitchFamily="2" charset="-122"/>
                    <a:cs typeface="Times New Roman" panose="02020603050405020304" pitchFamily="18" charset="0"/>
                  </a:rPr>
                  <a:t>n)</a:t>
                </a:r>
                <a:r>
                  <a:rPr kumimoji="1" lang="zh-CN" altLang="en-US" sz="2400" dirty="0">
                    <a:latin typeface="Times New Roman" panose="02020603050405020304" pitchFamily="18" charset="0"/>
                    <a:ea typeface="华文楷体" panose="02010600040101010101" pitchFamily="2" charset="-122"/>
                    <a:cs typeface="Times New Roman" panose="02020603050405020304" pitchFamily="18" charset="0"/>
                  </a:rPr>
                  <a:t>和顺序查找的</a:t>
                </a:r>
                <a:r>
                  <a:rPr kumimoji="1" lang="en-US" altLang="zh-CN" sz="2400" dirty="0">
                    <a:latin typeface="Times New Roman" panose="02020603050405020304" pitchFamily="18" charset="0"/>
                    <a:ea typeface="华文楷体" panose="02010600040101010101" pitchFamily="2" charset="-122"/>
                    <a:cs typeface="Times New Roman" panose="02020603050405020304" pitchFamily="18" charset="0"/>
                  </a:rPr>
                  <a:t>O(n)</a:t>
                </a:r>
                <a:r>
                  <a:rPr kumimoji="1" lang="zh-CN" altLang="en-US" sz="2400" dirty="0">
                    <a:latin typeface="Times New Roman" panose="02020603050405020304" pitchFamily="18" charset="0"/>
                    <a:ea typeface="华文楷体" panose="02010600040101010101" pitchFamily="2" charset="-122"/>
                    <a:cs typeface="Times New Roman" panose="02020603050405020304" pitchFamily="18" charset="0"/>
                  </a:rPr>
                  <a:t>之间</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9" name="内容占位符 8"/>
              <p:cNvSpPr>
                <a:spLocks noGrp="1" noRot="1" noChangeAspect="1" noMove="1" noResize="1" noEditPoints="1" noAdjustHandles="1" noChangeArrowheads="1" noChangeShapeType="1" noTextEdit="1"/>
              </p:cNvSpPr>
              <p:nvPr>
                <p:ph idx="1"/>
              </p:nvPr>
            </p:nvSpPr>
            <p:spPr>
              <a:xfrm>
                <a:off x="107504" y="909940"/>
                <a:ext cx="8469447" cy="5472608"/>
              </a:xfrm>
              <a:blipFill rotWithShape="0">
                <a:blip r:embed="rId3"/>
                <a:stretch>
                  <a:fillRect l="-1008" t="-1002" r="-2016"/>
                </a:stretch>
              </a:blipFill>
            </p:spPr>
            <p:txBody>
              <a:bodyPr/>
              <a:lstStyle/>
              <a:p>
                <a:r>
                  <a:rPr lang="zh-CN" altLang="en-US">
                    <a:noFill/>
                  </a:rPr>
                  <a:t> </a:t>
                </a:r>
              </a:p>
            </p:txBody>
          </p:sp>
        </mc:Fallback>
      </mc:AlternateContent>
      <p:sp>
        <p:nvSpPr>
          <p:cNvPr id="2" name="灯片编号占位符 1"/>
          <p:cNvSpPr>
            <a:spLocks noGrp="1"/>
          </p:cNvSpPr>
          <p:nvPr>
            <p:ph type="sldNum" sz="quarter" idx="12"/>
          </p:nvPr>
        </p:nvSpPr>
        <p:spPr/>
        <p:txBody>
          <a:bodyPr/>
          <a:lstStyle/>
          <a:p>
            <a:fld id="{0C913308-F349-4B6D-A68A-DD1791B4A57B}" type="slidenum">
              <a:rPr lang="zh-CN" altLang="en-US" smtClean="0"/>
              <a:pPr/>
              <a:t>27</a:t>
            </a:fld>
            <a:endParaRPr lang="zh-CN" altLang="en-US"/>
          </a:p>
        </p:txBody>
      </p:sp>
    </p:spTree>
    <p:extLst>
      <p:ext uri="{BB962C8B-B14F-4D97-AF65-F5344CB8AC3E}">
        <p14:creationId xmlns:p14="http://schemas.microsoft.com/office/powerpoint/2010/main" val="22743218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a:bodyPr>
          <a:lstStyle/>
          <a:p>
            <a:r>
              <a:rPr lang="zh-CN" altLang="en-US" sz="3600" dirty="0">
                <a:latin typeface="华文新魏" panose="02010800040101010101" pitchFamily="2" charset="-122"/>
                <a:ea typeface="华文新魏" panose="02010800040101010101" pitchFamily="2" charset="-122"/>
              </a:rPr>
              <a:t>查找方法比较</a:t>
            </a:r>
          </a:p>
        </p:txBody>
      </p:sp>
      <p:graphicFrame>
        <p:nvGraphicFramePr>
          <p:cNvPr id="8" name="内容占位符 7"/>
          <p:cNvGraphicFramePr>
            <a:graphicFrameLocks noGrp="1"/>
          </p:cNvGraphicFramePr>
          <p:nvPr>
            <p:ph idx="1"/>
            <p:extLst>
              <p:ext uri="{D42A27DB-BD31-4B8C-83A1-F6EECF244321}">
                <p14:modId xmlns:p14="http://schemas.microsoft.com/office/powerpoint/2010/main" val="681661311"/>
              </p:ext>
            </p:extLst>
          </p:nvPr>
        </p:nvGraphicFramePr>
        <p:xfrm>
          <a:off x="136188" y="908720"/>
          <a:ext cx="8784976" cy="4114800"/>
        </p:xfrm>
        <a:graphic>
          <a:graphicData uri="http://schemas.openxmlformats.org/drawingml/2006/table">
            <a:tbl>
              <a:tblPr>
                <a:tableStyleId>{BC89EF96-8CEA-46FF-86C4-4CE0E7609802}</a:tableStyleId>
              </a:tblPr>
              <a:tblGrid>
                <a:gridCol w="1144343">
                  <a:extLst>
                    <a:ext uri="{9D8B030D-6E8A-4147-A177-3AD203B41FA5}">
                      <a16:colId xmlns="" xmlns:a16="http://schemas.microsoft.com/office/drawing/2014/main" val="20000"/>
                    </a:ext>
                  </a:extLst>
                </a:gridCol>
                <a:gridCol w="1840676">
                  <a:extLst>
                    <a:ext uri="{9D8B030D-6E8A-4147-A177-3AD203B41FA5}">
                      <a16:colId xmlns="" xmlns:a16="http://schemas.microsoft.com/office/drawing/2014/main" val="20001"/>
                    </a:ext>
                  </a:extLst>
                </a:gridCol>
                <a:gridCol w="1933319">
                  <a:extLst>
                    <a:ext uri="{9D8B030D-6E8A-4147-A177-3AD203B41FA5}">
                      <a16:colId xmlns="" xmlns:a16="http://schemas.microsoft.com/office/drawing/2014/main" val="20002"/>
                    </a:ext>
                  </a:extLst>
                </a:gridCol>
                <a:gridCol w="1710244">
                  <a:extLst>
                    <a:ext uri="{9D8B030D-6E8A-4147-A177-3AD203B41FA5}">
                      <a16:colId xmlns="" xmlns:a16="http://schemas.microsoft.com/office/drawing/2014/main" val="20003"/>
                    </a:ext>
                  </a:extLst>
                </a:gridCol>
                <a:gridCol w="2156394">
                  <a:extLst>
                    <a:ext uri="{9D8B030D-6E8A-4147-A177-3AD203B41FA5}">
                      <a16:colId xmlns="" xmlns:a16="http://schemas.microsoft.com/office/drawing/2014/main" val="20004"/>
                    </a:ext>
                  </a:extLst>
                </a:gridCol>
              </a:tblGrid>
              <a:tr h="518160">
                <a:tc>
                  <a:txBody>
                    <a:bodyPr/>
                    <a:lstStyle/>
                    <a:p>
                      <a:endParaRPr lang="zh-CN" sz="2800" kern="100" dirty="0">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64421" marR="164421"/>
                </a:tc>
                <a:tc>
                  <a:txBody>
                    <a:bodyPr/>
                    <a:lstStyle/>
                    <a:p>
                      <a:pPr algn="just">
                        <a:spcAft>
                          <a:spcPts val="0"/>
                        </a:spcAft>
                      </a:pPr>
                      <a:r>
                        <a:rPr lang="zh-CN" sz="2800" kern="100" dirty="0">
                          <a:effectLst/>
                          <a:latin typeface="Times New Roman" panose="02020603050405020304" pitchFamily="18" charset="0"/>
                          <a:ea typeface="华文楷体" panose="02010600040101010101" pitchFamily="2" charset="-122"/>
                          <a:cs typeface="Times New Roman" panose="02020603050405020304" pitchFamily="18" charset="0"/>
                        </a:rPr>
                        <a:t>顺序查找</a:t>
                      </a:r>
                    </a:p>
                  </a:txBody>
                  <a:tcPr marL="164421" marR="164421"/>
                </a:tc>
                <a:tc>
                  <a:txBody>
                    <a:bodyPr/>
                    <a:lstStyle/>
                    <a:p>
                      <a:pPr algn="just">
                        <a:spcAft>
                          <a:spcPts val="0"/>
                        </a:spcAft>
                      </a:pPr>
                      <a:r>
                        <a:rPr lang="zh-CN" sz="2800" kern="100" dirty="0">
                          <a:effectLst/>
                          <a:latin typeface="Times New Roman" panose="02020603050405020304" pitchFamily="18" charset="0"/>
                          <a:ea typeface="华文楷体" panose="02010600040101010101" pitchFamily="2" charset="-122"/>
                          <a:cs typeface="Times New Roman" panose="02020603050405020304" pitchFamily="18" charset="0"/>
                        </a:rPr>
                        <a:t>分块查找</a:t>
                      </a:r>
                    </a:p>
                  </a:txBody>
                  <a:tcPr marL="164421" marR="164421"/>
                </a:tc>
                <a:tc>
                  <a:txBody>
                    <a:bodyPr/>
                    <a:lstStyle/>
                    <a:p>
                      <a:pPr algn="just">
                        <a:spcAft>
                          <a:spcPts val="0"/>
                        </a:spcAft>
                      </a:pPr>
                      <a:r>
                        <a:rPr lang="zh-CN" sz="2800" kern="100">
                          <a:effectLst/>
                          <a:latin typeface="Times New Roman" panose="02020603050405020304" pitchFamily="18" charset="0"/>
                          <a:ea typeface="华文楷体" panose="02010600040101010101" pitchFamily="2" charset="-122"/>
                          <a:cs typeface="Times New Roman" panose="02020603050405020304" pitchFamily="18" charset="0"/>
                        </a:rPr>
                        <a:t>折半查找</a:t>
                      </a:r>
                    </a:p>
                  </a:txBody>
                  <a:tcPr marL="0" marR="0" marT="0" marB="0"/>
                </a:tc>
                <a:tc>
                  <a:txBody>
                    <a:bodyPr/>
                    <a:lstStyle/>
                    <a:p>
                      <a:pPr algn="just">
                        <a:spcAft>
                          <a:spcPts val="0"/>
                        </a:spcAft>
                      </a:pPr>
                      <a:r>
                        <a:rPr lang="en-US" sz="2800" kern="100">
                          <a:effectLst/>
                          <a:latin typeface="Times New Roman" panose="02020603050405020304" pitchFamily="18" charset="0"/>
                          <a:ea typeface="华文楷体" panose="02010600040101010101" pitchFamily="2" charset="-122"/>
                          <a:cs typeface="Times New Roman" panose="02020603050405020304" pitchFamily="18" charset="0"/>
                        </a:rPr>
                        <a:t>Fibonacci</a:t>
                      </a:r>
                      <a:r>
                        <a:rPr lang="zh-CN" sz="2800" kern="100">
                          <a:effectLst/>
                          <a:latin typeface="Times New Roman" panose="02020603050405020304" pitchFamily="18" charset="0"/>
                          <a:ea typeface="华文楷体" panose="02010600040101010101" pitchFamily="2" charset="-122"/>
                          <a:cs typeface="Times New Roman" panose="02020603050405020304" pitchFamily="18" charset="0"/>
                        </a:rPr>
                        <a:t>查找</a:t>
                      </a:r>
                    </a:p>
                  </a:txBody>
                  <a:tcPr marL="0" marR="0" marT="0" marB="0"/>
                </a:tc>
                <a:extLst>
                  <a:ext uri="{0D108BD9-81ED-4DB2-BD59-A6C34878D82A}">
                    <a16:rowId xmlns="" xmlns:a16="http://schemas.microsoft.com/office/drawing/2014/main" val="10000"/>
                  </a:ext>
                </a:extLst>
              </a:tr>
              <a:tr h="498475">
                <a:tc>
                  <a:txBody>
                    <a:bodyPr/>
                    <a:lstStyle/>
                    <a:p>
                      <a:pPr algn="just">
                        <a:spcAft>
                          <a:spcPts val="0"/>
                        </a:spcAft>
                      </a:pPr>
                      <a:r>
                        <a:rPr lang="en-US" sz="2800" kern="100">
                          <a:effectLst/>
                          <a:latin typeface="Times New Roman" panose="02020603050405020304" pitchFamily="18" charset="0"/>
                          <a:ea typeface="华文楷体" panose="02010600040101010101" pitchFamily="2" charset="-122"/>
                          <a:cs typeface="Times New Roman" panose="02020603050405020304" pitchFamily="18" charset="0"/>
                        </a:rPr>
                        <a:t>ASL</a:t>
                      </a:r>
                      <a:endParaRPr lang="zh-CN" sz="2800" kern="100">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64421" marR="164421"/>
                </a:tc>
                <a:tc>
                  <a:txBody>
                    <a:bodyPr/>
                    <a:lstStyle/>
                    <a:p>
                      <a:pPr algn="just">
                        <a:spcAft>
                          <a:spcPts val="0"/>
                        </a:spcAft>
                      </a:pPr>
                      <a:r>
                        <a:rPr lang="zh-CN" sz="2800" kern="100">
                          <a:effectLst/>
                          <a:latin typeface="Times New Roman" panose="02020603050405020304" pitchFamily="18" charset="0"/>
                          <a:ea typeface="华文楷体" panose="02010600040101010101" pitchFamily="2" charset="-122"/>
                          <a:cs typeface="Times New Roman" panose="02020603050405020304" pitchFamily="18" charset="0"/>
                        </a:rPr>
                        <a:t>最大</a:t>
                      </a:r>
                    </a:p>
                  </a:txBody>
                  <a:tcPr marL="164421" marR="164421"/>
                </a:tc>
                <a:tc>
                  <a:txBody>
                    <a:bodyPr/>
                    <a:lstStyle/>
                    <a:p>
                      <a:pPr algn="just">
                        <a:spcAft>
                          <a:spcPts val="0"/>
                        </a:spcAft>
                      </a:pPr>
                      <a:r>
                        <a:rPr lang="zh-CN" sz="2800" kern="100" dirty="0">
                          <a:effectLst/>
                          <a:latin typeface="Times New Roman" panose="02020603050405020304" pitchFamily="18" charset="0"/>
                          <a:ea typeface="华文楷体" panose="02010600040101010101" pitchFamily="2" charset="-122"/>
                          <a:cs typeface="Times New Roman" panose="02020603050405020304" pitchFamily="18" charset="0"/>
                        </a:rPr>
                        <a:t>两者之间</a:t>
                      </a:r>
                    </a:p>
                  </a:txBody>
                  <a:tcPr marL="164421" marR="164421"/>
                </a:tc>
                <a:tc>
                  <a:txBody>
                    <a:bodyPr/>
                    <a:lstStyle/>
                    <a:p>
                      <a:pPr algn="just">
                        <a:spcAft>
                          <a:spcPts val="0"/>
                        </a:spcAft>
                      </a:pPr>
                      <a:r>
                        <a:rPr lang="zh-CN" sz="2800" kern="100" dirty="0">
                          <a:effectLst/>
                          <a:latin typeface="Times New Roman" panose="02020603050405020304" pitchFamily="18" charset="0"/>
                          <a:ea typeface="华文楷体" panose="02010600040101010101" pitchFamily="2" charset="-122"/>
                          <a:cs typeface="Times New Roman" panose="02020603050405020304" pitchFamily="18" charset="0"/>
                        </a:rPr>
                        <a:t>最小</a:t>
                      </a:r>
                    </a:p>
                  </a:txBody>
                  <a:tcPr marL="0" marR="0" marT="0" marB="0"/>
                </a:tc>
                <a:tc>
                  <a:txBody>
                    <a:bodyPr/>
                    <a:lstStyle/>
                    <a:p>
                      <a:pPr algn="just">
                        <a:spcAft>
                          <a:spcPts val="0"/>
                        </a:spcAft>
                      </a:pPr>
                      <a:r>
                        <a:rPr lang="zh-CN" sz="2800" kern="100">
                          <a:effectLst/>
                          <a:latin typeface="Times New Roman" panose="02020603050405020304" pitchFamily="18" charset="0"/>
                          <a:ea typeface="华文楷体" panose="02010600040101010101" pitchFamily="2" charset="-122"/>
                          <a:cs typeface="Times New Roman" panose="02020603050405020304" pitchFamily="18" charset="0"/>
                        </a:rPr>
                        <a:t>在最坏情况下性能比折半查找差</a:t>
                      </a:r>
                    </a:p>
                  </a:txBody>
                  <a:tcPr marL="0" marR="0" marT="0" marB="0"/>
                </a:tc>
                <a:extLst>
                  <a:ext uri="{0D108BD9-81ED-4DB2-BD59-A6C34878D82A}">
                    <a16:rowId xmlns="" xmlns:a16="http://schemas.microsoft.com/office/drawing/2014/main" val="10001"/>
                  </a:ext>
                </a:extLst>
              </a:tr>
              <a:tr h="514350">
                <a:tc>
                  <a:txBody>
                    <a:bodyPr/>
                    <a:lstStyle/>
                    <a:p>
                      <a:pPr algn="just">
                        <a:spcAft>
                          <a:spcPts val="0"/>
                        </a:spcAft>
                      </a:pPr>
                      <a:r>
                        <a:rPr lang="zh-CN" sz="2800" kern="100">
                          <a:effectLst/>
                          <a:latin typeface="Times New Roman" panose="02020603050405020304" pitchFamily="18" charset="0"/>
                          <a:ea typeface="华文楷体" panose="02010600040101010101" pitchFamily="2" charset="-122"/>
                          <a:cs typeface="Times New Roman" panose="02020603050405020304" pitchFamily="18" charset="0"/>
                        </a:rPr>
                        <a:t>表结构</a:t>
                      </a:r>
                    </a:p>
                  </a:txBody>
                  <a:tcPr marL="164421" marR="164421"/>
                </a:tc>
                <a:tc>
                  <a:txBody>
                    <a:bodyPr/>
                    <a:lstStyle/>
                    <a:p>
                      <a:pPr algn="just">
                        <a:spcAft>
                          <a:spcPts val="0"/>
                        </a:spcAft>
                      </a:pPr>
                      <a:r>
                        <a:rPr lang="zh-CN" sz="2800" kern="100">
                          <a:effectLst/>
                          <a:latin typeface="Times New Roman" panose="02020603050405020304" pitchFamily="18" charset="0"/>
                          <a:ea typeface="华文楷体" panose="02010600040101010101" pitchFamily="2" charset="-122"/>
                          <a:cs typeface="Times New Roman" panose="02020603050405020304" pitchFamily="18" charset="0"/>
                        </a:rPr>
                        <a:t>有序表、无序表</a:t>
                      </a:r>
                    </a:p>
                  </a:txBody>
                  <a:tcPr marL="164421" marR="164421"/>
                </a:tc>
                <a:tc>
                  <a:txBody>
                    <a:bodyPr/>
                    <a:lstStyle/>
                    <a:p>
                      <a:pPr algn="just">
                        <a:spcAft>
                          <a:spcPts val="0"/>
                        </a:spcAft>
                      </a:pPr>
                      <a:r>
                        <a:rPr lang="zh-CN" sz="2800" kern="100">
                          <a:effectLst/>
                          <a:latin typeface="Times New Roman" panose="02020603050405020304" pitchFamily="18" charset="0"/>
                          <a:ea typeface="华文楷体" panose="02010600040101010101" pitchFamily="2" charset="-122"/>
                          <a:cs typeface="Times New Roman" panose="02020603050405020304" pitchFamily="18" charset="0"/>
                        </a:rPr>
                        <a:t>分块有序表</a:t>
                      </a:r>
                    </a:p>
                  </a:txBody>
                  <a:tcPr marL="164421" marR="164421"/>
                </a:tc>
                <a:tc>
                  <a:txBody>
                    <a:bodyPr/>
                    <a:lstStyle/>
                    <a:p>
                      <a:pPr algn="just">
                        <a:spcAft>
                          <a:spcPts val="0"/>
                        </a:spcAft>
                      </a:pPr>
                      <a:r>
                        <a:rPr lang="zh-CN" sz="2800" kern="100" dirty="0">
                          <a:effectLst/>
                          <a:latin typeface="Times New Roman" panose="02020603050405020304" pitchFamily="18" charset="0"/>
                          <a:ea typeface="华文楷体" panose="02010600040101010101" pitchFamily="2" charset="-122"/>
                          <a:cs typeface="Times New Roman" panose="02020603050405020304" pitchFamily="18" charset="0"/>
                        </a:rPr>
                        <a:t>有序表</a:t>
                      </a:r>
                    </a:p>
                  </a:txBody>
                  <a:tcPr marL="0" marR="0" marT="0" marB="0"/>
                </a:tc>
                <a:tc>
                  <a:txBody>
                    <a:bodyPr/>
                    <a:lstStyle/>
                    <a:p>
                      <a:pPr algn="just">
                        <a:spcAft>
                          <a:spcPts val="0"/>
                        </a:spcAft>
                      </a:pPr>
                      <a:r>
                        <a:rPr lang="zh-CN" sz="2800" kern="100">
                          <a:effectLst/>
                          <a:latin typeface="Times New Roman" panose="02020603050405020304" pitchFamily="18" charset="0"/>
                          <a:ea typeface="华文楷体" panose="02010600040101010101" pitchFamily="2" charset="-122"/>
                          <a:cs typeface="Times New Roman" panose="02020603050405020304" pitchFamily="18" charset="0"/>
                        </a:rPr>
                        <a:t>有序表</a:t>
                      </a:r>
                    </a:p>
                  </a:txBody>
                  <a:tcPr marL="0" marR="0" marT="0" marB="0"/>
                </a:tc>
                <a:extLst>
                  <a:ext uri="{0D108BD9-81ED-4DB2-BD59-A6C34878D82A}">
                    <a16:rowId xmlns="" xmlns:a16="http://schemas.microsoft.com/office/drawing/2014/main" val="10002"/>
                  </a:ext>
                </a:extLst>
              </a:tr>
              <a:tr h="1314678">
                <a:tc>
                  <a:txBody>
                    <a:bodyPr/>
                    <a:lstStyle/>
                    <a:p>
                      <a:pPr algn="just">
                        <a:spcAft>
                          <a:spcPts val="0"/>
                        </a:spcAft>
                      </a:pPr>
                      <a:r>
                        <a:rPr lang="zh-CN" sz="2800" kern="100">
                          <a:effectLst/>
                          <a:latin typeface="Times New Roman" panose="02020603050405020304" pitchFamily="18" charset="0"/>
                          <a:ea typeface="华文楷体" panose="02010600040101010101" pitchFamily="2" charset="-122"/>
                          <a:cs typeface="Times New Roman" panose="02020603050405020304" pitchFamily="18" charset="0"/>
                        </a:rPr>
                        <a:t>存储结构</a:t>
                      </a:r>
                    </a:p>
                  </a:txBody>
                  <a:tcPr marL="164421" marR="164421"/>
                </a:tc>
                <a:tc>
                  <a:txBody>
                    <a:bodyPr/>
                    <a:lstStyle/>
                    <a:p>
                      <a:pPr algn="just">
                        <a:spcAft>
                          <a:spcPts val="0"/>
                        </a:spcAft>
                      </a:pPr>
                      <a:r>
                        <a:rPr lang="zh-CN" sz="2800" kern="100">
                          <a:effectLst/>
                          <a:latin typeface="Times New Roman" panose="02020603050405020304" pitchFamily="18" charset="0"/>
                          <a:ea typeface="华文楷体" panose="02010600040101010101" pitchFamily="2" charset="-122"/>
                          <a:cs typeface="Times New Roman" panose="02020603050405020304" pitchFamily="18" charset="0"/>
                        </a:rPr>
                        <a:t>顺序存储结构</a:t>
                      </a:r>
                    </a:p>
                    <a:p>
                      <a:pPr algn="just">
                        <a:spcAft>
                          <a:spcPts val="0"/>
                        </a:spcAft>
                      </a:pPr>
                      <a:r>
                        <a:rPr lang="zh-CN" sz="2800" kern="100">
                          <a:effectLst/>
                          <a:latin typeface="Times New Roman" panose="02020603050405020304" pitchFamily="18" charset="0"/>
                          <a:ea typeface="华文楷体" panose="02010600040101010101" pitchFamily="2" charset="-122"/>
                          <a:cs typeface="Times New Roman" panose="02020603050405020304" pitchFamily="18" charset="0"/>
                        </a:rPr>
                        <a:t>线性链表</a:t>
                      </a:r>
                    </a:p>
                  </a:txBody>
                  <a:tcPr marL="164421" marR="164421"/>
                </a:tc>
                <a:tc>
                  <a:txBody>
                    <a:bodyPr/>
                    <a:lstStyle/>
                    <a:p>
                      <a:pPr algn="just">
                        <a:spcAft>
                          <a:spcPts val="0"/>
                        </a:spcAft>
                      </a:pPr>
                      <a:r>
                        <a:rPr lang="zh-CN" sz="2800" kern="100">
                          <a:effectLst/>
                          <a:latin typeface="Times New Roman" panose="02020603050405020304" pitchFamily="18" charset="0"/>
                          <a:ea typeface="华文楷体" panose="02010600040101010101" pitchFamily="2" charset="-122"/>
                          <a:cs typeface="Times New Roman" panose="02020603050405020304" pitchFamily="18" charset="0"/>
                        </a:rPr>
                        <a:t>顺序存储结构</a:t>
                      </a:r>
                    </a:p>
                    <a:p>
                      <a:pPr algn="just">
                        <a:spcAft>
                          <a:spcPts val="0"/>
                        </a:spcAft>
                      </a:pPr>
                      <a:r>
                        <a:rPr lang="zh-CN" sz="2800" kern="100">
                          <a:effectLst/>
                          <a:latin typeface="Times New Roman" panose="02020603050405020304" pitchFamily="18" charset="0"/>
                          <a:ea typeface="华文楷体" panose="02010600040101010101" pitchFamily="2" charset="-122"/>
                          <a:cs typeface="Times New Roman" panose="02020603050405020304" pitchFamily="18" charset="0"/>
                        </a:rPr>
                        <a:t>线性链表</a:t>
                      </a:r>
                    </a:p>
                  </a:txBody>
                  <a:tcPr marL="164421" marR="164421"/>
                </a:tc>
                <a:tc>
                  <a:txBody>
                    <a:bodyPr/>
                    <a:lstStyle/>
                    <a:p>
                      <a:pPr algn="just">
                        <a:spcAft>
                          <a:spcPts val="0"/>
                        </a:spcAft>
                      </a:pPr>
                      <a:r>
                        <a:rPr lang="zh-CN" sz="2800" kern="100" dirty="0">
                          <a:effectLst/>
                          <a:latin typeface="Times New Roman" panose="02020603050405020304" pitchFamily="18" charset="0"/>
                          <a:ea typeface="华文楷体" panose="02010600040101010101" pitchFamily="2" charset="-122"/>
                          <a:cs typeface="Times New Roman" panose="02020603050405020304" pitchFamily="18" charset="0"/>
                        </a:rPr>
                        <a:t>顺序存储结构</a:t>
                      </a:r>
                    </a:p>
                  </a:txBody>
                  <a:tcPr marL="0" marR="0" marT="0" marB="0"/>
                </a:tc>
                <a:tc>
                  <a:txBody>
                    <a:bodyPr/>
                    <a:lstStyle/>
                    <a:p>
                      <a:pPr algn="just">
                        <a:spcAft>
                          <a:spcPts val="0"/>
                        </a:spcAft>
                      </a:pPr>
                      <a:r>
                        <a:rPr lang="zh-CN" sz="2800" kern="100" dirty="0">
                          <a:effectLst/>
                          <a:latin typeface="Times New Roman" panose="02020603050405020304" pitchFamily="18" charset="0"/>
                          <a:ea typeface="华文楷体" panose="02010600040101010101" pitchFamily="2" charset="-122"/>
                          <a:cs typeface="Times New Roman" panose="02020603050405020304" pitchFamily="18" charset="0"/>
                        </a:rPr>
                        <a:t>顺序存储结构</a:t>
                      </a:r>
                    </a:p>
                  </a:txBody>
                  <a:tcPr marL="0" marR="0" marT="0" marB="0"/>
                </a:tc>
                <a:extLst>
                  <a:ext uri="{0D108BD9-81ED-4DB2-BD59-A6C34878D82A}">
                    <a16:rowId xmlns="" xmlns:a16="http://schemas.microsoft.com/office/drawing/2014/main" val="10003"/>
                  </a:ext>
                </a:extLst>
              </a:tr>
            </a:tbl>
          </a:graphicData>
        </a:graphic>
      </p:graphicFrame>
      <p:sp>
        <p:nvSpPr>
          <p:cNvPr id="2" name="灯片编号占位符 1"/>
          <p:cNvSpPr>
            <a:spLocks noGrp="1"/>
          </p:cNvSpPr>
          <p:nvPr>
            <p:ph type="sldNum" sz="quarter" idx="12"/>
          </p:nvPr>
        </p:nvSpPr>
        <p:spPr/>
        <p:txBody>
          <a:bodyPr/>
          <a:lstStyle/>
          <a:p>
            <a:fld id="{0C913308-F349-4B6D-A68A-DD1791B4A57B}" type="slidenum">
              <a:rPr lang="zh-CN" altLang="en-US" smtClean="0"/>
              <a:pPr/>
              <a:t>28</a:t>
            </a:fld>
            <a:endParaRPr lang="zh-CN" altLang="en-US"/>
          </a:p>
        </p:txBody>
      </p:sp>
      <p:sp>
        <p:nvSpPr>
          <p:cNvPr id="9" name="Rectangle 1"/>
          <p:cNvSpPr>
            <a:spLocks noChangeArrowheads="1"/>
          </p:cNvSpPr>
          <p:nvPr/>
        </p:nvSpPr>
        <p:spPr bwMode="auto">
          <a:xfrm>
            <a:off x="1260268" y="1772499"/>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896409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5879"/>
            <a:ext cx="8229600" cy="936104"/>
          </a:xfrm>
        </p:spPr>
        <p:txBody>
          <a:bodyPr/>
          <a:lstStyle/>
          <a:p>
            <a:pPr algn="l"/>
            <a:r>
              <a:rPr lang="en-US" altLang="zh-CN" dirty="0">
                <a:latin typeface="华文琥珀" panose="02010800040101010101" pitchFamily="2" charset="-122"/>
                <a:ea typeface="华文琥珀" panose="02010800040101010101" pitchFamily="2" charset="-122"/>
              </a:rPr>
              <a:t>2.4 </a:t>
            </a:r>
            <a:r>
              <a:rPr lang="zh-CN" altLang="en-US" dirty="0">
                <a:latin typeface="华文琥珀" panose="02010800040101010101" pitchFamily="2" charset="-122"/>
                <a:ea typeface="华文琥珀" panose="02010800040101010101" pitchFamily="2" charset="-122"/>
              </a:rPr>
              <a:t>静态树表</a:t>
            </a:r>
            <a:r>
              <a:rPr lang="en-US" altLang="zh-CN" dirty="0">
                <a:latin typeface="华文琥珀" panose="02010800040101010101" pitchFamily="2" charset="-122"/>
                <a:ea typeface="华文琥珀" panose="02010800040101010101" pitchFamily="2" charset="-122"/>
              </a:rPr>
              <a:t>/</a:t>
            </a:r>
            <a:r>
              <a:rPr lang="zh-CN" altLang="en-US" dirty="0">
                <a:latin typeface="华文琥珀" panose="02010800040101010101" pitchFamily="2" charset="-122"/>
                <a:ea typeface="华文琥珀" panose="02010800040101010101" pitchFamily="2" charset="-122"/>
              </a:rPr>
              <a:t>次优查找树的查找</a:t>
            </a:r>
            <a:endParaRPr lang="en-US" dirty="0">
              <a:latin typeface="华文琥珀" panose="02010800040101010101" pitchFamily="2" charset="-122"/>
              <a:ea typeface="华文琥珀" panose="02010800040101010101" pitchFamily="2" charset="-122"/>
            </a:endParaRPr>
          </a:p>
        </p:txBody>
      </p:sp>
      <p:sp>
        <p:nvSpPr>
          <p:cNvPr id="3" name="内容占位符 2"/>
          <p:cNvSpPr>
            <a:spLocks noGrp="1"/>
          </p:cNvSpPr>
          <p:nvPr>
            <p:ph idx="1"/>
          </p:nvPr>
        </p:nvSpPr>
        <p:spPr>
          <a:xfrm>
            <a:off x="103583" y="999473"/>
            <a:ext cx="8229600" cy="5832648"/>
          </a:xfrm>
        </p:spPr>
        <p:txBody>
          <a:bodyPr>
            <a:normAutofit/>
          </a:bodyPr>
          <a:lstStyle/>
          <a:p>
            <a:r>
              <a:rPr lang="zh-CN" altLang="en-US" sz="2400" dirty="0">
                <a:latin typeface="华文楷体" panose="02010600040101010101" pitchFamily="2" charset="-122"/>
                <a:ea typeface="华文楷体" panose="02010600040101010101" pitchFamily="2" charset="-122"/>
              </a:rPr>
              <a:t>若有序表中的各个元素的查找概率不等，那么，用折半查找，性能未必最优</a:t>
            </a:r>
            <a:endParaRPr lang="en-US" altLang="zh-CN" sz="2400" dirty="0">
              <a:latin typeface="华文楷体" panose="02010600040101010101" pitchFamily="2" charset="-122"/>
              <a:ea typeface="华文楷体" panose="02010600040101010101" pitchFamily="2" charset="-122"/>
            </a:endParaRPr>
          </a:p>
          <a:p>
            <a:r>
              <a:rPr lang="zh-CN" altLang="en-US" sz="2400" dirty="0">
                <a:latin typeface="华文楷体" panose="02010600040101010101" pitchFamily="2" charset="-122"/>
                <a:ea typeface="华文楷体" panose="02010600040101010101" pitchFamily="2" charset="-122"/>
              </a:rPr>
              <a:t>如何改进，以提高性能</a:t>
            </a:r>
            <a:r>
              <a:rPr lang="en-US" altLang="zh-CN" sz="2400" dirty="0">
                <a:latin typeface="华文楷体" panose="02010600040101010101" pitchFamily="2" charset="-122"/>
                <a:ea typeface="华文楷体" panose="02010600040101010101" pitchFamily="2" charset="-122"/>
              </a:rPr>
              <a:t>?</a:t>
            </a:r>
          </a:p>
          <a:p>
            <a:pPr lvl="1"/>
            <a:r>
              <a:rPr lang="zh-CN" altLang="en-US" sz="2400" dirty="0">
                <a:latin typeface="华文楷体" panose="02010600040101010101" pitchFamily="2" charset="-122"/>
                <a:ea typeface="华文楷体" panose="02010600040101010101" pitchFamily="2" charset="-122"/>
              </a:rPr>
              <a:t>需要找到查找性能最佳的判定树，即，</a:t>
            </a:r>
            <a:r>
              <a:rPr lang="zh-CN" altLang="en-US" sz="2400" b="1" dirty="0">
                <a:solidFill>
                  <a:srgbClr val="0000FF"/>
                </a:solidFill>
                <a:latin typeface="华文楷体" panose="02010600040101010101" pitchFamily="2" charset="-122"/>
                <a:ea typeface="华文楷体" panose="02010600040101010101" pitchFamily="2" charset="-122"/>
              </a:rPr>
              <a:t>静态最优查找树</a:t>
            </a:r>
            <a:r>
              <a:rPr lang="en-US" altLang="zh-CN" sz="2400" b="1" dirty="0">
                <a:solidFill>
                  <a:srgbClr val="0000FF"/>
                </a:solidFill>
                <a:latin typeface="华文楷体" panose="02010600040101010101" pitchFamily="2" charset="-122"/>
                <a:ea typeface="华文楷体" panose="02010600040101010101" pitchFamily="2" charset="-122"/>
              </a:rPr>
              <a:t>(Static Optimal Tree)</a:t>
            </a:r>
          </a:p>
          <a:p>
            <a:pPr lvl="1"/>
            <a:r>
              <a:rPr lang="zh-CN" altLang="en-US" sz="2400" dirty="0">
                <a:latin typeface="华文楷体" panose="02010600040101010101" pitchFamily="2" charset="-122"/>
                <a:ea typeface="华文楷体" panose="02010600040101010101" pitchFamily="2" charset="-122"/>
              </a:rPr>
              <a:t>该判定树的带权内路径长度之和最小</a:t>
            </a:r>
            <a:endParaRPr lang="en-US" altLang="zh-CN" sz="2400" dirty="0">
              <a:latin typeface="华文楷体" panose="02010600040101010101" pitchFamily="2" charset="-122"/>
              <a:ea typeface="华文楷体" panose="02010600040101010101" pitchFamily="2" charset="-122"/>
            </a:endParaRPr>
          </a:p>
          <a:p>
            <a:pPr marL="457200" lvl="1" indent="0">
              <a:buNone/>
            </a:pPr>
            <a:endParaRPr lang="en-US" altLang="zh-CN" sz="2400" dirty="0">
              <a:latin typeface="华文楷体" panose="02010600040101010101" pitchFamily="2" charset="-122"/>
              <a:ea typeface="华文楷体" panose="02010600040101010101" pitchFamily="2" charset="-122"/>
            </a:endParaRPr>
          </a:p>
          <a:p>
            <a:pPr lvl="1"/>
            <a:endParaRPr lang="en-US" altLang="zh-CN" sz="2400" dirty="0">
              <a:latin typeface="华文楷体" panose="02010600040101010101" pitchFamily="2" charset="-122"/>
              <a:ea typeface="华文楷体" panose="02010600040101010101" pitchFamily="2" charset="-122"/>
            </a:endParaRPr>
          </a:p>
          <a:p>
            <a:pPr marL="457200" lvl="1" indent="0">
              <a:buNone/>
            </a:pPr>
            <a:r>
              <a:rPr lang="en-US" altLang="zh-CN" sz="2400" dirty="0">
                <a:latin typeface="华文楷体" panose="02010600040101010101" pitchFamily="2" charset="-122"/>
                <a:ea typeface="华文楷体" panose="02010600040101010101" pitchFamily="2" charset="-122"/>
              </a:rPr>
              <a:t>n</a:t>
            </a:r>
            <a:r>
              <a:rPr lang="zh-CN" altLang="en-US" sz="2400" dirty="0">
                <a:latin typeface="华文楷体" panose="02010600040101010101" pitchFamily="2" charset="-122"/>
                <a:ea typeface="华文楷体" panose="02010600040101010101" pitchFamily="2" charset="-122"/>
              </a:rPr>
              <a:t>为有序表长度，</a:t>
            </a:r>
            <a:r>
              <a:rPr lang="en-US" altLang="zh-CN" sz="2400" dirty="0">
                <a:latin typeface="华文楷体" panose="02010600040101010101" pitchFamily="2" charset="-122"/>
                <a:ea typeface="华文楷体" panose="02010600040101010101" pitchFamily="2" charset="-122"/>
              </a:rPr>
              <a:t>hi</a:t>
            </a:r>
            <a:r>
              <a:rPr lang="zh-CN" altLang="en-US" sz="2400" dirty="0">
                <a:latin typeface="华文楷体" panose="02010600040101010101" pitchFamily="2" charset="-122"/>
                <a:ea typeface="华文楷体" panose="02010600040101010101" pitchFamily="2" charset="-122"/>
              </a:rPr>
              <a:t>为第</a:t>
            </a:r>
            <a:r>
              <a:rPr lang="en-US" altLang="zh-CN" sz="2400" dirty="0" err="1">
                <a:latin typeface="华文楷体" panose="02010600040101010101" pitchFamily="2" charset="-122"/>
                <a:ea typeface="华文楷体" panose="02010600040101010101" pitchFamily="2" charset="-122"/>
              </a:rPr>
              <a:t>i</a:t>
            </a:r>
            <a:r>
              <a:rPr lang="zh-CN" altLang="en-US" sz="2400" dirty="0">
                <a:latin typeface="华文楷体" panose="02010600040101010101" pitchFamily="2" charset="-122"/>
                <a:ea typeface="华文楷体" panose="02010600040101010101" pitchFamily="2" charset="-122"/>
              </a:rPr>
              <a:t>个结点在二叉树上的层次数，</a:t>
            </a:r>
            <a:r>
              <a:rPr lang="en-US" altLang="zh-CN" sz="2400" dirty="0" err="1">
                <a:latin typeface="华文楷体" panose="02010600040101010101" pitchFamily="2" charset="-122"/>
                <a:ea typeface="华文楷体" panose="02010600040101010101" pitchFamily="2" charset="-122"/>
              </a:rPr>
              <a:t>w</a:t>
            </a:r>
            <a:r>
              <a:rPr lang="en-US" altLang="zh-CN" sz="2400" baseline="-25000" dirty="0" err="1">
                <a:latin typeface="华文楷体" panose="02010600040101010101" pitchFamily="2" charset="-122"/>
                <a:ea typeface="华文楷体" panose="02010600040101010101" pitchFamily="2" charset="-122"/>
              </a:rPr>
              <a:t>i</a:t>
            </a:r>
            <a:r>
              <a:rPr lang="en-US" altLang="zh-CN" sz="2400" dirty="0">
                <a:latin typeface="华文楷体" panose="02010600040101010101" pitchFamily="2" charset="-122"/>
                <a:ea typeface="华文楷体" panose="02010600040101010101" pitchFamily="2" charset="-122"/>
              </a:rPr>
              <a:t>=</a:t>
            </a:r>
            <a:r>
              <a:rPr lang="en-US" altLang="zh-CN" sz="2400" dirty="0" err="1">
                <a:latin typeface="华文楷体" panose="02010600040101010101" pitchFamily="2" charset="-122"/>
                <a:ea typeface="华文楷体" panose="02010600040101010101" pitchFamily="2" charset="-122"/>
              </a:rPr>
              <a:t>cp</a:t>
            </a:r>
            <a:r>
              <a:rPr lang="en-US" altLang="zh-CN" sz="2400" baseline="-25000" dirty="0" err="1">
                <a:latin typeface="华文楷体" panose="02010600040101010101" pitchFamily="2" charset="-122"/>
                <a:ea typeface="华文楷体" panose="02010600040101010101" pitchFamily="2" charset="-122"/>
              </a:rPr>
              <a:t>i</a:t>
            </a:r>
            <a:r>
              <a:rPr lang="en-US" altLang="zh-CN" sz="2400" dirty="0">
                <a:latin typeface="华文楷体" panose="02010600040101010101" pitchFamily="2" charset="-122"/>
                <a:ea typeface="华文楷体" panose="02010600040101010101" pitchFamily="2" charset="-122"/>
              </a:rPr>
              <a:t> (</a:t>
            </a:r>
            <a:r>
              <a:rPr lang="en-US" altLang="zh-CN" sz="2400" dirty="0" err="1">
                <a:latin typeface="华文楷体" panose="02010600040101010101" pitchFamily="2" charset="-122"/>
                <a:ea typeface="华文楷体" panose="02010600040101010101" pitchFamily="2" charset="-122"/>
              </a:rPr>
              <a:t>i</a:t>
            </a:r>
            <a:r>
              <a:rPr lang="en-US" altLang="zh-CN" sz="2400" dirty="0">
                <a:latin typeface="华文楷体" panose="02010600040101010101" pitchFamily="2" charset="-122"/>
                <a:ea typeface="华文楷体" panose="02010600040101010101" pitchFamily="2" charset="-122"/>
              </a:rPr>
              <a:t>=1,2,…,n)</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p</a:t>
            </a:r>
            <a:r>
              <a:rPr lang="en-US" altLang="zh-CN" sz="2400" baseline="-25000" dirty="0">
                <a:latin typeface="华文楷体" panose="02010600040101010101" pitchFamily="2" charset="-122"/>
                <a:ea typeface="华文楷体" panose="02010600040101010101" pitchFamily="2" charset="-122"/>
              </a:rPr>
              <a:t>i</a:t>
            </a:r>
            <a:r>
              <a:rPr lang="zh-CN" altLang="en-US" sz="2400" dirty="0">
                <a:latin typeface="华文楷体" panose="02010600040101010101" pitchFamily="2" charset="-122"/>
                <a:ea typeface="华文楷体" panose="02010600040101010101" pitchFamily="2" charset="-122"/>
              </a:rPr>
              <a:t>为结点的查找概率，</a:t>
            </a:r>
            <a:r>
              <a:rPr lang="en-US" altLang="zh-CN" sz="2400" dirty="0">
                <a:latin typeface="华文楷体" panose="02010600040101010101" pitchFamily="2" charset="-122"/>
                <a:ea typeface="华文楷体" panose="02010600040101010101" pitchFamily="2" charset="-122"/>
              </a:rPr>
              <a:t>c</a:t>
            </a:r>
            <a:r>
              <a:rPr lang="zh-CN" altLang="en-US" sz="2400" dirty="0">
                <a:latin typeface="华文楷体" panose="02010600040101010101" pitchFamily="2" charset="-122"/>
                <a:ea typeface="华文楷体" panose="02010600040101010101" pitchFamily="2" charset="-122"/>
              </a:rPr>
              <a:t>为常量</a:t>
            </a:r>
            <a:endParaRPr lang="en-US" altLang="zh-CN" sz="2400" dirty="0">
              <a:latin typeface="华文楷体" panose="02010600040101010101" pitchFamily="2" charset="-122"/>
              <a:ea typeface="华文楷体" panose="02010600040101010101" pitchFamily="2" charset="-122"/>
            </a:endParaRPr>
          </a:p>
          <a:p>
            <a:pPr lvl="1"/>
            <a:endParaRPr 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29</a:t>
            </a:fld>
            <a:endParaRPr lang="zh-CN" altLang="en-US"/>
          </a:p>
        </p:txBody>
      </p:sp>
      <p:grpSp>
        <p:nvGrpSpPr>
          <p:cNvPr id="6" name="Group 4"/>
          <p:cNvGrpSpPr>
            <a:grpSpLocks/>
          </p:cNvGrpSpPr>
          <p:nvPr/>
        </p:nvGrpSpPr>
        <p:grpSpPr bwMode="auto">
          <a:xfrm>
            <a:off x="1619672" y="3499078"/>
            <a:ext cx="3810733" cy="833438"/>
            <a:chOff x="-360" y="-1982"/>
            <a:chExt cx="1789" cy="525"/>
          </a:xfrm>
        </p:grpSpPr>
        <p:sp>
          <p:nvSpPr>
            <p:cNvPr id="22" name="Rectangle 5"/>
            <p:cNvSpPr>
              <a:spLocks noChangeArrowheads="1"/>
            </p:cNvSpPr>
            <p:nvPr/>
          </p:nvSpPr>
          <p:spPr bwMode="auto">
            <a:xfrm>
              <a:off x="-360" y="-1895"/>
              <a:ext cx="1789"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zh-CN" sz="2800" b="1" dirty="0">
                  <a:latin typeface="Times New Roman" pitchFamily="18" charset="0"/>
                </a:rPr>
                <a:t>Min PH </a:t>
              </a:r>
              <a:r>
                <a:rPr lang="en-US" altLang="en-US" sz="2800" b="1" dirty="0">
                  <a:latin typeface="Times New Roman" pitchFamily="18" charset="0"/>
                </a:rPr>
                <a:t>=  </a:t>
              </a:r>
              <a:r>
                <a:rPr lang="en-US" altLang="zh-CN" sz="2800" b="1" dirty="0">
                  <a:latin typeface="Times New Roman" pitchFamily="18" charset="0"/>
                </a:rPr>
                <a:t>min </a:t>
              </a:r>
              <a:r>
                <a:rPr lang="en-US" altLang="en-US" sz="2800" b="1" dirty="0">
                  <a:latin typeface="Times New Roman" pitchFamily="18" charset="0"/>
                </a:rPr>
                <a:t>∑ </a:t>
              </a:r>
              <a:r>
                <a:rPr lang="en-US" altLang="zh-CN" sz="2800" b="1" dirty="0" err="1">
                  <a:latin typeface="Times New Roman" pitchFamily="18" charset="0"/>
                </a:rPr>
                <a:t>w</a:t>
              </a:r>
              <a:r>
                <a:rPr lang="en-US" altLang="en-US" sz="2800" b="1" baseline="-18000" dirty="0" err="1">
                  <a:latin typeface="Times New Roman" pitchFamily="18" charset="0"/>
                </a:rPr>
                <a:t>i</a:t>
              </a:r>
              <a:r>
                <a:rPr lang="en-US" altLang="en-US" sz="2800" b="1" dirty="0" err="1">
                  <a:latin typeface="Times New Roman" pitchFamily="18" charset="0"/>
                  <a:sym typeface="Symbol" pitchFamily="18" charset="2"/>
                </a:rPr>
                <a:t></a:t>
              </a:r>
              <a:r>
                <a:rPr lang="en-US" altLang="zh-CN" sz="2800" b="1" dirty="0" err="1">
                  <a:latin typeface="Times New Roman" pitchFamily="18" charset="0"/>
                  <a:sym typeface="Symbol" pitchFamily="18" charset="2"/>
                </a:rPr>
                <a:t>h</a:t>
              </a:r>
              <a:r>
                <a:rPr lang="en-US" altLang="en-US" sz="2800" b="1" baseline="-18000" dirty="0" err="1">
                  <a:latin typeface="Times New Roman" pitchFamily="18" charset="0"/>
                </a:rPr>
                <a:t>i</a:t>
              </a:r>
              <a:endParaRPr lang="en-US" altLang="en-US" sz="2800" b="1" dirty="0">
                <a:latin typeface="Times New Roman" pitchFamily="18" charset="0"/>
              </a:endParaRPr>
            </a:p>
          </p:txBody>
        </p:sp>
        <p:sp>
          <p:nvSpPr>
            <p:cNvPr id="23" name="Rectangle 6"/>
            <p:cNvSpPr>
              <a:spLocks noChangeArrowheads="1"/>
            </p:cNvSpPr>
            <p:nvPr/>
          </p:nvSpPr>
          <p:spPr bwMode="auto">
            <a:xfrm>
              <a:off x="750" y="-1661"/>
              <a:ext cx="363"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err="1">
                  <a:latin typeface="Times New Roman" pitchFamily="18" charset="0"/>
                </a:rPr>
                <a:t>i</a:t>
              </a:r>
              <a:r>
                <a:rPr lang="en-US" altLang="en-US" sz="2400">
                  <a:latin typeface="Times New Roman" pitchFamily="18" charset="0"/>
                </a:rPr>
                <a:t>=1</a:t>
              </a:r>
            </a:p>
          </p:txBody>
        </p:sp>
        <p:sp>
          <p:nvSpPr>
            <p:cNvPr id="24" name="Rectangle 7"/>
            <p:cNvSpPr>
              <a:spLocks noChangeArrowheads="1"/>
            </p:cNvSpPr>
            <p:nvPr/>
          </p:nvSpPr>
          <p:spPr bwMode="auto">
            <a:xfrm>
              <a:off x="769" y="-1982"/>
              <a:ext cx="182"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a:latin typeface="Times New Roman" pitchFamily="18" charset="0"/>
                </a:rPr>
                <a:t>n</a:t>
              </a:r>
            </a:p>
          </p:txBody>
        </p:sp>
      </p:grpSp>
    </p:spTree>
    <p:extLst>
      <p:ext uri="{BB962C8B-B14F-4D97-AF65-F5344CB8AC3E}">
        <p14:creationId xmlns:p14="http://schemas.microsoft.com/office/powerpoint/2010/main" val="425556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5496" y="44624"/>
            <a:ext cx="8229600" cy="792088"/>
          </a:xfrm>
        </p:spPr>
        <p:txBody>
          <a:bodyPr>
            <a:normAutofit/>
          </a:bodyPr>
          <a:lstStyle/>
          <a:p>
            <a:pPr algn="l"/>
            <a:r>
              <a:rPr lang="zh-CN" altLang="en-US" sz="3600" dirty="0">
                <a:latin typeface="华文新魏" panose="02010800040101010101" pitchFamily="2" charset="-122"/>
                <a:ea typeface="华文新魏" panose="02010800040101010101" pitchFamily="2" charset="-122"/>
              </a:rPr>
              <a:t>算法思路</a:t>
            </a:r>
          </a:p>
        </p:txBody>
      </p:sp>
      <p:sp>
        <p:nvSpPr>
          <p:cNvPr id="3" name="内容占位符 2"/>
          <p:cNvSpPr>
            <a:spLocks noGrp="1"/>
          </p:cNvSpPr>
          <p:nvPr>
            <p:ph idx="1"/>
          </p:nvPr>
        </p:nvSpPr>
        <p:spPr>
          <a:xfrm>
            <a:off x="457200" y="908720"/>
            <a:ext cx="8229600" cy="4392488"/>
          </a:xfrm>
        </p:spPr>
        <p:txBody>
          <a:bodyPr>
            <a:normAutofit/>
          </a:bodyPr>
          <a:lstStyle/>
          <a:p>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构造静态最优查找树的时间开销太大</a:t>
            </a:r>
            <a:endParaRPr lang="en-US"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为有序表构造</a:t>
            </a:r>
            <a:r>
              <a:rPr lang="zh-CN" altLang="en-US" sz="2400"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次优查找树</a:t>
            </a:r>
            <a:r>
              <a:rPr lang="en-US" altLang="zh-CN" sz="2400"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(Nearly Optimal Search Tree)</a:t>
            </a:r>
          </a:p>
          <a:p>
            <a:pPr>
              <a:spcBef>
                <a:spcPts val="2400"/>
              </a:spcBef>
            </a:pPr>
            <a:r>
              <a:rPr lang="zh-CN" altLang="en-US" sz="2400"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基于次优查找树的查找</a:t>
            </a:r>
            <a:endParaRPr lang="en-US" altLang="zh-CN" sz="2400"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endParaRPr>
          </a:p>
          <a:p>
            <a:pPr lvl="1"/>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给定</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Key</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lvl="1"/>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从根结点开始，将</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Key</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值与根结点比较，若</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key</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大于根结点值，在右子树中查找，若</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key</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小于根结点值，在左子树中查找</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lvl="1"/>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平均查找长度与</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logn</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成正比</a:t>
            </a:r>
            <a:endParaRPr lang="en-US" altLang="zh-CN"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30</a:t>
            </a:fld>
            <a:endParaRPr lang="zh-CN" altLang="en-US"/>
          </a:p>
        </p:txBody>
      </p:sp>
    </p:spTree>
    <p:extLst>
      <p:ext uri="{BB962C8B-B14F-4D97-AF65-F5344CB8AC3E}">
        <p14:creationId xmlns:p14="http://schemas.microsoft.com/office/powerpoint/2010/main" val="31108050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965" y="11162"/>
            <a:ext cx="8229600" cy="551421"/>
          </a:xfrm>
        </p:spPr>
        <p:txBody>
          <a:bodyPr>
            <a:normAutofit fontScale="90000"/>
          </a:bodyPr>
          <a:lstStyle/>
          <a:p>
            <a:pPr algn="l"/>
            <a:r>
              <a:rPr lang="zh-CN" altLang="en-US" dirty="0">
                <a:latin typeface="华文新魏" panose="02010800040101010101" pitchFamily="2" charset="-122"/>
                <a:ea typeface="华文新魏" panose="02010800040101010101" pitchFamily="2" charset="-122"/>
              </a:rPr>
              <a:t>次优查找树的构建</a:t>
            </a:r>
          </a:p>
        </p:txBody>
      </p:sp>
      <mc:AlternateContent xmlns:mc="http://schemas.openxmlformats.org/markup-compatibility/2006" xmlns:a14="http://schemas.microsoft.com/office/drawing/2010/main">
        <mc:Choice Requires="a14">
          <p:sp>
            <p:nvSpPr>
              <p:cNvPr id="7" name="内容占位符 6"/>
              <p:cNvSpPr>
                <a:spLocks noGrp="1"/>
              </p:cNvSpPr>
              <p:nvPr>
                <p:ph idx="1"/>
              </p:nvPr>
            </p:nvSpPr>
            <p:spPr>
              <a:xfrm>
                <a:off x="251520" y="842789"/>
                <a:ext cx="8784976" cy="4818459"/>
              </a:xfrm>
            </p:spPr>
            <p:txBody>
              <a:bodyPr>
                <a:normAutofit/>
              </a:bodyPr>
              <a:lstStyle/>
              <a:p>
                <a:pPr marL="0" indent="0">
                  <a:buNone/>
                </a:pPr>
                <a:r>
                  <a:rPr lang="zh-CN" altLang="en-US" sz="2800" dirty="0">
                    <a:latin typeface="华文楷体" panose="02010600040101010101" pitchFamily="2" charset="-122"/>
                    <a:ea typeface="华文楷体" panose="02010600040101010101" pitchFamily="2" charset="-122"/>
                  </a:rPr>
                  <a:t>已知按关键字升序排列的记录序列</a:t>
                </a:r>
                <a:r>
                  <a:rPr lang="en-US" altLang="zh-CN" sz="2800" dirty="0">
                    <a:latin typeface="华文楷体" panose="02010600040101010101" pitchFamily="2" charset="-122"/>
                    <a:ea typeface="华文楷体" panose="02010600040101010101" pitchFamily="2" charset="-122"/>
                  </a:rPr>
                  <a:t>(r</a:t>
                </a:r>
                <a:r>
                  <a:rPr lang="en-US" altLang="zh-CN" sz="2800" baseline="-25000" dirty="0">
                    <a:latin typeface="华文楷体" panose="02010600040101010101" pitchFamily="2" charset="-122"/>
                    <a:ea typeface="华文楷体" panose="02010600040101010101" pitchFamily="2" charset="-122"/>
                  </a:rPr>
                  <a:t>l</a:t>
                </a:r>
                <a:r>
                  <a:rPr lang="en-US" altLang="zh-CN" sz="2800" dirty="0">
                    <a:latin typeface="华文楷体" panose="02010600040101010101" pitchFamily="2" charset="-122"/>
                    <a:ea typeface="华文楷体" panose="02010600040101010101" pitchFamily="2" charset="-122"/>
                  </a:rPr>
                  <a:t>,r</a:t>
                </a:r>
                <a:r>
                  <a:rPr lang="en-US" altLang="zh-CN" sz="2800" baseline="-25000" dirty="0">
                    <a:latin typeface="华文楷体" panose="02010600040101010101" pitchFamily="2" charset="-122"/>
                    <a:ea typeface="华文楷体" panose="02010600040101010101" pitchFamily="2" charset="-122"/>
                  </a:rPr>
                  <a:t>l+1</a:t>
                </a:r>
                <a:r>
                  <a:rPr lang="en-US" altLang="zh-CN" sz="2800" dirty="0">
                    <a:latin typeface="华文楷体" panose="02010600040101010101" pitchFamily="2" charset="-122"/>
                    <a:ea typeface="华文楷体" panose="02010600040101010101" pitchFamily="2" charset="-122"/>
                  </a:rPr>
                  <a:t>,…,r</a:t>
                </a:r>
                <a:r>
                  <a:rPr lang="en-US" altLang="zh-CN" sz="2800" baseline="-25000" dirty="0">
                    <a:latin typeface="华文楷体" panose="02010600040101010101" pitchFamily="2" charset="-122"/>
                    <a:ea typeface="华文楷体" panose="02010600040101010101" pitchFamily="2" charset="-122"/>
                  </a:rPr>
                  <a:t>h</a:t>
                </a:r>
                <a:r>
                  <a:rPr lang="en-US" altLang="zh-CN" sz="2800" dirty="0">
                    <a:latin typeface="华文楷体" panose="02010600040101010101" pitchFamily="2" charset="-122"/>
                    <a:ea typeface="华文楷体" panose="02010600040101010101" pitchFamily="2" charset="-122"/>
                  </a:rPr>
                  <a:t>)</a:t>
                </a:r>
                <a:r>
                  <a:rPr lang="zh-CN" altLang="en-US" sz="2800" dirty="0">
                    <a:latin typeface="华文楷体" panose="02010600040101010101" pitchFamily="2" charset="-122"/>
                    <a:ea typeface="华文楷体" panose="02010600040101010101" pitchFamily="2" charset="-122"/>
                  </a:rPr>
                  <a:t>，与每个记录相应的权值为</a:t>
                </a:r>
                <a:r>
                  <a:rPr lang="en-US" altLang="zh-CN" sz="2800" dirty="0">
                    <a:latin typeface="华文楷体" panose="02010600040101010101" pitchFamily="2" charset="-122"/>
                    <a:ea typeface="华文楷体" panose="02010600040101010101" pitchFamily="2" charset="-122"/>
                  </a:rPr>
                  <a:t>w</a:t>
                </a:r>
                <a:r>
                  <a:rPr lang="en-US" altLang="zh-CN" sz="2800" baseline="-25000" dirty="0">
                    <a:latin typeface="华文楷体" panose="02010600040101010101" pitchFamily="2" charset="-122"/>
                    <a:ea typeface="华文楷体" panose="02010600040101010101" pitchFamily="2" charset="-122"/>
                  </a:rPr>
                  <a:t>l</a:t>
                </a:r>
                <a:r>
                  <a:rPr lang="en-US" altLang="zh-CN" sz="2800" dirty="0">
                    <a:latin typeface="华文楷体" panose="02010600040101010101" pitchFamily="2" charset="-122"/>
                    <a:ea typeface="华文楷体" panose="02010600040101010101" pitchFamily="2" charset="-122"/>
                  </a:rPr>
                  <a:t>,w</a:t>
                </a:r>
                <a:r>
                  <a:rPr lang="en-US" altLang="zh-CN" sz="2800" baseline="-25000" dirty="0">
                    <a:latin typeface="华文楷体" panose="02010600040101010101" pitchFamily="2" charset="-122"/>
                    <a:ea typeface="华文楷体" panose="02010600040101010101" pitchFamily="2" charset="-122"/>
                  </a:rPr>
                  <a:t>l+1</a:t>
                </a:r>
                <a:r>
                  <a:rPr lang="en-US" altLang="zh-CN" sz="2800" dirty="0">
                    <a:latin typeface="华文楷体" panose="02010600040101010101" pitchFamily="2" charset="-122"/>
                    <a:ea typeface="华文楷体" panose="02010600040101010101" pitchFamily="2" charset="-122"/>
                  </a:rPr>
                  <a:t>,…,</a:t>
                </a:r>
                <a:r>
                  <a:rPr lang="en-US" altLang="zh-CN" sz="2800" dirty="0" err="1">
                    <a:latin typeface="华文楷体" panose="02010600040101010101" pitchFamily="2" charset="-122"/>
                    <a:ea typeface="华文楷体" panose="02010600040101010101" pitchFamily="2" charset="-122"/>
                  </a:rPr>
                  <a:t>w</a:t>
                </a:r>
                <a:r>
                  <a:rPr lang="en-US" altLang="zh-CN" sz="2800" baseline="-25000" dirty="0" err="1">
                    <a:latin typeface="华文楷体" panose="02010600040101010101" pitchFamily="2" charset="-122"/>
                    <a:ea typeface="华文楷体" panose="02010600040101010101" pitchFamily="2" charset="-122"/>
                  </a:rPr>
                  <a:t>h</a:t>
                </a:r>
                <a:r>
                  <a:rPr lang="zh-CN" altLang="en-US" sz="2800" dirty="0">
                    <a:latin typeface="华文楷体" panose="02010600040101010101" pitchFamily="2" charset="-122"/>
                    <a:ea typeface="华文楷体" panose="02010600040101010101" pitchFamily="2" charset="-122"/>
                  </a:rPr>
                  <a:t>，现构造一棵二叉树，使得该树的带权内路径长度</a:t>
                </a:r>
                <a:r>
                  <a:rPr lang="en-US" altLang="zh-CN" sz="2800" dirty="0">
                    <a:latin typeface="华文楷体" panose="02010600040101010101" pitchFamily="2" charset="-122"/>
                    <a:ea typeface="华文楷体" panose="02010600040101010101" pitchFamily="2" charset="-122"/>
                  </a:rPr>
                  <a:t>PH</a:t>
                </a:r>
                <a:r>
                  <a:rPr lang="zh-CN" altLang="en-US" sz="2800" dirty="0">
                    <a:latin typeface="华文楷体" panose="02010600040101010101" pitchFamily="2" charset="-122"/>
                    <a:ea typeface="华文楷体" panose="02010600040101010101" pitchFamily="2" charset="-122"/>
                  </a:rPr>
                  <a:t>值在所有具有相同权值的二叉树中近似为最小</a:t>
                </a:r>
                <a:endParaRPr lang="en-US" altLang="zh-CN" sz="2800" dirty="0">
                  <a:latin typeface="华文楷体" panose="02010600040101010101" pitchFamily="2" charset="-122"/>
                  <a:ea typeface="华文楷体" panose="02010600040101010101" pitchFamily="2" charset="-122"/>
                </a:endParaRPr>
              </a:p>
              <a:p>
                <a:pPr marL="514350" indent="-514350">
                  <a:buFont typeface="+mj-ea"/>
                  <a:buAutoNum type="circleNumDbPlain"/>
                </a:pPr>
                <a:r>
                  <a:rPr lang="zh-CN" altLang="en-US" sz="2800" dirty="0">
                    <a:latin typeface="华文楷体" panose="02010600040101010101" pitchFamily="2" charset="-122"/>
                    <a:ea typeface="华文楷体" panose="02010600040101010101" pitchFamily="2" charset="-122"/>
                  </a:rPr>
                  <a:t>取第</a:t>
                </a:r>
                <a:r>
                  <a:rPr lang="en-US" altLang="zh-CN" sz="2800" dirty="0" err="1">
                    <a:latin typeface="华文楷体" panose="02010600040101010101" pitchFamily="2" charset="-122"/>
                    <a:ea typeface="华文楷体" panose="02010600040101010101" pitchFamily="2" charset="-122"/>
                  </a:rPr>
                  <a:t>i</a:t>
                </a:r>
                <a:r>
                  <a:rPr lang="en-US" altLang="zh-CN" sz="2800" dirty="0">
                    <a:latin typeface="华文楷体" panose="02010600040101010101" pitchFamily="2" charset="-122"/>
                    <a:ea typeface="华文楷体" panose="02010600040101010101" pitchFamily="2" charset="-122"/>
                  </a:rPr>
                  <a:t>(l&lt;=</a:t>
                </a:r>
                <a:r>
                  <a:rPr lang="en-US" altLang="zh-CN" sz="2800" dirty="0" err="1">
                    <a:latin typeface="华文楷体" panose="02010600040101010101" pitchFamily="2" charset="-122"/>
                    <a:ea typeface="华文楷体" panose="02010600040101010101" pitchFamily="2" charset="-122"/>
                  </a:rPr>
                  <a:t>i</a:t>
                </a:r>
                <a:r>
                  <a:rPr lang="en-US" altLang="zh-CN" sz="2800" dirty="0">
                    <a:latin typeface="华文楷体" panose="02010600040101010101" pitchFamily="2" charset="-122"/>
                    <a:ea typeface="华文楷体" panose="02010600040101010101" pitchFamily="2" charset="-122"/>
                  </a:rPr>
                  <a:t>&lt;=h)</a:t>
                </a:r>
                <a:r>
                  <a:rPr lang="zh-CN" altLang="en-US" sz="2800" dirty="0">
                    <a:latin typeface="华文楷体" panose="02010600040101010101" pitchFamily="2" charset="-122"/>
                    <a:ea typeface="华文楷体" panose="02010600040101010101" pitchFamily="2" charset="-122"/>
                  </a:rPr>
                  <a:t>个记录构造根节点，使得下式取最小</a:t>
                </a:r>
                <a:endParaRPr lang="en-US" altLang="zh-CN" sz="2800" dirty="0">
                  <a:latin typeface="华文楷体" panose="02010600040101010101" pitchFamily="2" charset="-122"/>
                  <a:ea typeface="华文楷体" panose="02010600040101010101" pitchFamily="2" charset="-122"/>
                </a:endParaRPr>
              </a:p>
              <a:p>
                <a:pPr marL="0" indent="0">
                  <a:buNone/>
                </a:pPr>
                <a14:m>
                  <m:oMathPara xmlns:m="http://schemas.openxmlformats.org/officeDocument/2006/math">
                    <m:oMathParaPr>
                      <m:jc m:val="centerGroup"/>
                    </m:oMathParaPr>
                    <m:oMath xmlns:m="http://schemas.openxmlformats.org/officeDocument/2006/math">
                      <m:r>
                        <a:rPr lang="en-US" altLang="zh-CN" sz="2800" i="1" smtClean="0">
                          <a:latin typeface="Cambria Math"/>
                          <a:ea typeface="Cambria Math"/>
                        </a:rPr>
                        <m:t>∆</m:t>
                      </m:r>
                      <m:sSub>
                        <m:sSubPr>
                          <m:ctrlPr>
                            <a:rPr lang="en-US" altLang="zh-CN" sz="2800" i="1" smtClean="0">
                              <a:latin typeface="Cambria Math" panose="02040503050406030204" pitchFamily="18" charset="0"/>
                              <a:ea typeface="Cambria Math"/>
                            </a:rPr>
                          </m:ctrlPr>
                        </m:sSubPr>
                        <m:e>
                          <m:r>
                            <a:rPr lang="en-US" altLang="zh-CN" sz="2800" b="0" i="1" smtClean="0">
                              <a:latin typeface="Cambria Math"/>
                              <a:ea typeface="Cambria Math"/>
                            </a:rPr>
                            <m:t>𝑃</m:t>
                          </m:r>
                        </m:e>
                        <m:sub>
                          <m:r>
                            <a:rPr lang="en-US" altLang="zh-CN" sz="2800" b="0" i="1" smtClean="0">
                              <a:latin typeface="Cambria Math"/>
                              <a:ea typeface="Cambria Math"/>
                            </a:rPr>
                            <m:t>𝑖</m:t>
                          </m:r>
                        </m:sub>
                      </m:sSub>
                      <m:r>
                        <a:rPr lang="en-US" altLang="zh-CN" sz="2800" b="0" i="1" smtClean="0">
                          <a:latin typeface="Cambria Math"/>
                          <a:ea typeface="Cambria Math"/>
                        </a:rPr>
                        <m:t>=|</m:t>
                      </m:r>
                      <m:nary>
                        <m:naryPr>
                          <m:chr m:val="∑"/>
                          <m:ctrlPr>
                            <a:rPr lang="en-US" altLang="zh-CN" sz="2800" b="0" i="1" smtClean="0">
                              <a:latin typeface="Cambria Math" panose="02040503050406030204" pitchFamily="18" charset="0"/>
                              <a:ea typeface="Cambria Math"/>
                            </a:rPr>
                          </m:ctrlPr>
                        </m:naryPr>
                        <m:sub>
                          <m:r>
                            <m:rPr>
                              <m:brk m:alnAt="23"/>
                            </m:rPr>
                            <a:rPr lang="en-US" altLang="zh-CN" sz="2800" b="0" i="1" smtClean="0">
                              <a:latin typeface="Cambria Math"/>
                              <a:ea typeface="Cambria Math"/>
                            </a:rPr>
                            <m:t>𝑗</m:t>
                          </m:r>
                          <m:r>
                            <a:rPr lang="en-US" altLang="zh-CN" sz="2800" b="0" i="1" smtClean="0">
                              <a:latin typeface="Cambria Math"/>
                              <a:ea typeface="Cambria Math"/>
                            </a:rPr>
                            <m:t>=</m:t>
                          </m:r>
                          <m:r>
                            <a:rPr lang="en-US" altLang="zh-CN" sz="2800" b="0" i="1" smtClean="0">
                              <a:latin typeface="Cambria Math"/>
                              <a:ea typeface="Cambria Math"/>
                            </a:rPr>
                            <m:t>𝑖</m:t>
                          </m:r>
                          <m:r>
                            <a:rPr lang="en-US" altLang="zh-CN" sz="2800" b="0" i="1" smtClean="0">
                              <a:latin typeface="Cambria Math"/>
                              <a:ea typeface="Cambria Math"/>
                            </a:rPr>
                            <m:t>+1</m:t>
                          </m:r>
                        </m:sub>
                        <m:sup>
                          <m:r>
                            <a:rPr lang="en-US" altLang="zh-CN" sz="2800" b="0" i="1" smtClean="0">
                              <a:latin typeface="Cambria Math"/>
                              <a:ea typeface="Cambria Math"/>
                            </a:rPr>
                            <m:t>h</m:t>
                          </m:r>
                        </m:sup>
                        <m:e>
                          <m:sSub>
                            <m:sSubPr>
                              <m:ctrlPr>
                                <a:rPr lang="en-US" altLang="zh-CN" sz="2800" b="0" i="1" smtClean="0">
                                  <a:latin typeface="Cambria Math" panose="02040503050406030204" pitchFamily="18" charset="0"/>
                                  <a:ea typeface="Cambria Math"/>
                                </a:rPr>
                              </m:ctrlPr>
                            </m:sSubPr>
                            <m:e>
                              <m:r>
                                <a:rPr lang="en-US" altLang="zh-CN" sz="2800" b="0" i="1" smtClean="0">
                                  <a:latin typeface="Cambria Math"/>
                                  <a:ea typeface="Cambria Math"/>
                                </a:rPr>
                                <m:t>𝑤</m:t>
                              </m:r>
                            </m:e>
                            <m:sub>
                              <m:r>
                                <a:rPr lang="en-US" altLang="zh-CN" sz="2800" b="0" i="1" smtClean="0">
                                  <a:latin typeface="Cambria Math"/>
                                  <a:ea typeface="Cambria Math"/>
                                </a:rPr>
                                <m:t>𝑗</m:t>
                              </m:r>
                            </m:sub>
                          </m:sSub>
                        </m:e>
                      </m:nary>
                      <m:r>
                        <a:rPr lang="en-US" altLang="zh-CN" sz="2800" b="0" i="1" smtClean="0">
                          <a:latin typeface="Cambria Math"/>
                          <a:ea typeface="Cambria Math"/>
                        </a:rPr>
                        <m:t>−</m:t>
                      </m:r>
                      <m:nary>
                        <m:naryPr>
                          <m:chr m:val="∑"/>
                          <m:ctrlPr>
                            <a:rPr lang="en-US" altLang="zh-CN" sz="2800" i="1">
                              <a:latin typeface="Cambria Math" panose="02040503050406030204" pitchFamily="18" charset="0"/>
                              <a:ea typeface="Cambria Math"/>
                            </a:rPr>
                          </m:ctrlPr>
                        </m:naryPr>
                        <m:sub>
                          <m:r>
                            <m:rPr>
                              <m:brk m:alnAt="23"/>
                            </m:rPr>
                            <a:rPr lang="en-US" altLang="zh-CN" sz="2800" i="1">
                              <a:latin typeface="Cambria Math"/>
                              <a:ea typeface="Cambria Math"/>
                            </a:rPr>
                            <m:t>𝑗</m:t>
                          </m:r>
                          <m:r>
                            <a:rPr lang="en-US" altLang="zh-CN" sz="2800" i="1">
                              <a:latin typeface="Cambria Math"/>
                              <a:ea typeface="Cambria Math"/>
                            </a:rPr>
                            <m:t>=</m:t>
                          </m:r>
                          <m:r>
                            <a:rPr lang="en-US" altLang="zh-CN" sz="2800" i="1">
                              <a:latin typeface="Cambria Math"/>
                              <a:ea typeface="Cambria Math"/>
                            </a:rPr>
                            <m:t>𝑖</m:t>
                          </m:r>
                        </m:sub>
                        <m:sup>
                          <m:r>
                            <a:rPr lang="en-US" altLang="zh-CN" sz="2800" b="0" i="1" smtClean="0">
                              <a:latin typeface="Cambria Math"/>
                              <a:ea typeface="Cambria Math"/>
                            </a:rPr>
                            <m:t>𝑖</m:t>
                          </m:r>
                          <m:r>
                            <a:rPr lang="en-US" altLang="zh-CN" sz="2800" b="0" i="1" smtClean="0">
                              <a:latin typeface="Cambria Math"/>
                              <a:ea typeface="Cambria Math"/>
                            </a:rPr>
                            <m:t>−1</m:t>
                          </m:r>
                        </m:sup>
                        <m:e>
                          <m:sSub>
                            <m:sSubPr>
                              <m:ctrlPr>
                                <a:rPr lang="en-US" altLang="zh-CN" sz="2800" i="1">
                                  <a:latin typeface="Cambria Math" panose="02040503050406030204" pitchFamily="18" charset="0"/>
                                  <a:ea typeface="Cambria Math"/>
                                </a:rPr>
                              </m:ctrlPr>
                            </m:sSubPr>
                            <m:e>
                              <m:r>
                                <a:rPr lang="en-US" altLang="zh-CN" sz="2800" i="1">
                                  <a:latin typeface="Cambria Math"/>
                                  <a:ea typeface="Cambria Math"/>
                                </a:rPr>
                                <m:t>𝑤</m:t>
                              </m:r>
                            </m:e>
                            <m:sub>
                              <m:r>
                                <a:rPr lang="en-US" altLang="zh-CN" sz="2800" i="1">
                                  <a:latin typeface="Cambria Math"/>
                                  <a:ea typeface="Cambria Math"/>
                                </a:rPr>
                                <m:t>𝑗</m:t>
                              </m:r>
                            </m:sub>
                          </m:sSub>
                        </m:e>
                      </m:nary>
                      <m:r>
                        <a:rPr lang="en-US" altLang="zh-CN" sz="2800" b="0" i="1" smtClean="0">
                          <a:latin typeface="Cambria Math"/>
                          <a:ea typeface="Cambria Math"/>
                        </a:rPr>
                        <m:t>|</m:t>
                      </m:r>
                    </m:oMath>
                  </m:oMathPara>
                </a14:m>
                <a:endParaRPr lang="en-US" altLang="zh-CN" sz="2800" dirty="0">
                  <a:latin typeface="华文楷体" panose="02010600040101010101" pitchFamily="2" charset="-122"/>
                  <a:ea typeface="华文楷体" panose="02010600040101010101" pitchFamily="2" charset="-122"/>
                </a:endParaRPr>
              </a:p>
              <a:p>
                <a:pPr marL="514350" indent="-514350">
                  <a:buFont typeface="+mj-ea"/>
                  <a:buAutoNum type="circleNumDbPlain" startAt="2"/>
                </a:pPr>
                <a:r>
                  <a:rPr lang="zh-CN" altLang="en-US" sz="2800" dirty="0">
                    <a:latin typeface="华文楷体" panose="02010600040101010101" pitchFamily="2" charset="-122"/>
                    <a:ea typeface="华文楷体" panose="02010600040101010101" pitchFamily="2" charset="-122"/>
                  </a:rPr>
                  <a:t>然后分别对子序列</a:t>
                </a:r>
                <a:r>
                  <a:rPr lang="en-US" altLang="zh-CN" sz="2800" dirty="0">
                    <a:latin typeface="华文楷体" panose="02010600040101010101" pitchFamily="2" charset="-122"/>
                    <a:ea typeface="华文楷体" panose="02010600040101010101" pitchFamily="2" charset="-122"/>
                  </a:rPr>
                  <a:t>(r</a:t>
                </a:r>
                <a:r>
                  <a:rPr lang="en-US" altLang="zh-CN" sz="2800" baseline="-25000" dirty="0">
                    <a:latin typeface="华文楷体" panose="02010600040101010101" pitchFamily="2" charset="-122"/>
                    <a:ea typeface="华文楷体" panose="02010600040101010101" pitchFamily="2" charset="-122"/>
                  </a:rPr>
                  <a:t>l</a:t>
                </a:r>
                <a:r>
                  <a:rPr lang="en-US" altLang="zh-CN" sz="2800" dirty="0">
                    <a:latin typeface="华文楷体" panose="02010600040101010101" pitchFamily="2" charset="-122"/>
                    <a:ea typeface="华文楷体" panose="02010600040101010101" pitchFamily="2" charset="-122"/>
                  </a:rPr>
                  <a:t>,r</a:t>
                </a:r>
                <a:r>
                  <a:rPr lang="en-US" altLang="zh-CN" sz="2800" baseline="-25000" dirty="0">
                    <a:latin typeface="华文楷体" panose="02010600040101010101" pitchFamily="2" charset="-122"/>
                    <a:ea typeface="华文楷体" panose="02010600040101010101" pitchFamily="2" charset="-122"/>
                  </a:rPr>
                  <a:t>l+1</a:t>
                </a:r>
                <a:r>
                  <a:rPr lang="en-US" altLang="zh-CN" sz="2800" dirty="0">
                    <a:latin typeface="华文楷体" panose="02010600040101010101" pitchFamily="2" charset="-122"/>
                    <a:ea typeface="华文楷体" panose="02010600040101010101" pitchFamily="2" charset="-122"/>
                  </a:rPr>
                  <a:t>,…,r</a:t>
                </a:r>
                <a:r>
                  <a:rPr lang="en-US" altLang="zh-CN" sz="2800" baseline="-25000" dirty="0">
                    <a:latin typeface="华文楷体" panose="02010600040101010101" pitchFamily="2" charset="-122"/>
                    <a:ea typeface="华文楷体" panose="02010600040101010101" pitchFamily="2" charset="-122"/>
                  </a:rPr>
                  <a:t>i-1</a:t>
                </a:r>
                <a:r>
                  <a:rPr lang="en-US" altLang="zh-CN" sz="2800" dirty="0">
                    <a:latin typeface="华文楷体" panose="02010600040101010101" pitchFamily="2" charset="-122"/>
                    <a:ea typeface="华文楷体" panose="02010600040101010101" pitchFamily="2" charset="-122"/>
                  </a:rPr>
                  <a:t>)</a:t>
                </a:r>
                <a:r>
                  <a:rPr lang="zh-CN" altLang="en-US"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(r</a:t>
                </a:r>
                <a:r>
                  <a:rPr lang="en-US" altLang="zh-CN" sz="2800" baseline="-25000" dirty="0">
                    <a:latin typeface="华文楷体" panose="02010600040101010101" pitchFamily="2" charset="-122"/>
                    <a:ea typeface="华文楷体" panose="02010600040101010101" pitchFamily="2" charset="-122"/>
                  </a:rPr>
                  <a:t>i+1</a:t>
                </a:r>
                <a:r>
                  <a:rPr lang="en-US" altLang="zh-CN" sz="2800" dirty="0">
                    <a:latin typeface="华文楷体" panose="02010600040101010101" pitchFamily="2" charset="-122"/>
                    <a:ea typeface="华文楷体" panose="02010600040101010101" pitchFamily="2" charset="-122"/>
                  </a:rPr>
                  <a:t>,…,r</a:t>
                </a:r>
                <a:r>
                  <a:rPr lang="en-US" altLang="zh-CN" sz="2800" baseline="-25000" dirty="0">
                    <a:latin typeface="华文楷体" panose="02010600040101010101" pitchFamily="2" charset="-122"/>
                    <a:ea typeface="华文楷体" panose="02010600040101010101" pitchFamily="2" charset="-122"/>
                  </a:rPr>
                  <a:t>h</a:t>
                </a:r>
                <a:r>
                  <a:rPr lang="en-US" altLang="zh-CN" sz="2800" dirty="0">
                    <a:latin typeface="华文楷体" panose="02010600040101010101" pitchFamily="2" charset="-122"/>
                    <a:ea typeface="华文楷体" panose="02010600040101010101" pitchFamily="2" charset="-122"/>
                  </a:rPr>
                  <a:t>)</a:t>
                </a:r>
                <a:r>
                  <a:rPr lang="zh-CN" altLang="en-US" sz="2800" dirty="0">
                    <a:latin typeface="华文楷体" panose="02010600040101010101" pitchFamily="2" charset="-122"/>
                    <a:ea typeface="华文楷体" panose="02010600040101010101" pitchFamily="2" charset="-122"/>
                  </a:rPr>
                  <a:t>构造两棵次优查找树，并分别设为根节点的左子树和右子树</a:t>
                </a:r>
              </a:p>
            </p:txBody>
          </p:sp>
        </mc:Choice>
        <mc:Fallback xmlns="">
          <p:sp>
            <p:nvSpPr>
              <p:cNvPr id="7" name="内容占位符 6"/>
              <p:cNvSpPr>
                <a:spLocks noGrp="1" noRot="1" noChangeAspect="1" noMove="1" noResize="1" noEditPoints="1" noAdjustHandles="1" noChangeArrowheads="1" noChangeShapeType="1" noTextEdit="1"/>
              </p:cNvSpPr>
              <p:nvPr>
                <p:ph idx="1"/>
              </p:nvPr>
            </p:nvSpPr>
            <p:spPr>
              <a:xfrm>
                <a:off x="251520" y="842789"/>
                <a:ext cx="8784976" cy="4818459"/>
              </a:xfrm>
              <a:blipFill>
                <a:blip r:embed="rId2"/>
                <a:stretch>
                  <a:fillRect l="-1388" t="-1264" r="-555"/>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0C913308-F349-4B6D-A68A-DD1791B4A57B}" type="slidenum">
              <a:rPr lang="zh-CN" altLang="en-US" smtClean="0"/>
              <a:pPr/>
              <a:t>31</a:t>
            </a:fld>
            <a:endParaRPr lang="zh-CN" altLang="en-US"/>
          </a:p>
        </p:txBody>
      </p:sp>
    </p:spTree>
    <p:extLst>
      <p:ext uri="{BB962C8B-B14F-4D97-AF65-F5344CB8AC3E}">
        <p14:creationId xmlns:p14="http://schemas.microsoft.com/office/powerpoint/2010/main" val="38092901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标题 1"/>
              <p:cNvSpPr>
                <a:spLocks noGrp="1"/>
              </p:cNvSpPr>
              <p:nvPr>
                <p:ph type="title"/>
              </p:nvPr>
            </p:nvSpPr>
            <p:spPr/>
            <p:txBody>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m:t>
                      </m:r>
                      <m:r>
                        <a:rPr lang="en-US" altLang="zh-CN" b="0" i="1" smtClean="0">
                          <a:latin typeface="Cambria Math" panose="02040503050406030204" pitchFamily="18" charset="0"/>
                        </a:rPr>
                        <m:t>𝑃</m:t>
                      </m:r>
                      <m:r>
                        <a:rPr lang="zh-CN" altLang="en-US" i="1">
                          <a:latin typeface="Cambria Math" panose="02040503050406030204" pitchFamily="18" charset="0"/>
                        </a:rPr>
                        <m:t>的计算</m:t>
                      </m:r>
                    </m:oMath>
                  </m:oMathPara>
                </a14:m>
                <a:endParaRPr lang="zh-CN" altLang="en-US"/>
              </a:p>
            </p:txBody>
          </p:sp>
        </mc:Choice>
        <mc:Fallback xmlns="">
          <p:sp>
            <p:nvSpPr>
              <p:cNvPr id="2" name="标题 1"/>
              <p:cNvSpPr>
                <a:spLocks noGrp="1" noRot="1" noChangeAspect="1" noMove="1" noResize="1" noEditPoints="1" noAdjustHandles="1" noChangeArrowheads="1" noChangeShapeType="1" noTextEdit="1"/>
              </p:cNvSpPr>
              <p:nvPr>
                <p:ph type="title"/>
              </p:nvPr>
            </p:nvSpPr>
            <p:spPr>
              <a:blipFill rotWithShape="0">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令</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𝑠𝑤</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𝑗</m:t>
                        </m:r>
                        <m:r>
                          <a:rPr lang="en-US" altLang="zh-CN" b="0" i="1" smtClean="0">
                            <a:latin typeface="Cambria Math" panose="02040503050406030204" pitchFamily="18" charset="0"/>
                          </a:rPr>
                          <m:t>=</m:t>
                        </m:r>
                        <m:r>
                          <a:rPr lang="en-US" altLang="zh-CN" b="0" i="1" smtClean="0">
                            <a:latin typeface="Cambria Math" panose="02040503050406030204" pitchFamily="18" charset="0"/>
                          </a:rPr>
                          <m:t>𝑙</m:t>
                        </m:r>
                      </m:sub>
                      <m:sup>
                        <m:r>
                          <a:rPr lang="en-US" altLang="zh-CN" b="0" i="1" smtClean="0">
                            <a:latin typeface="Cambria Math" panose="02040503050406030204" pitchFamily="18" charset="0"/>
                          </a:rPr>
                          <m:t>𝑖</m:t>
                        </m:r>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𝑗</m:t>
                            </m:r>
                          </m:sub>
                        </m:sSub>
                      </m:e>
                    </m:nary>
                  </m:oMath>
                </a14:m>
                <a:r>
                  <a:rPr lang="zh-CN" altLang="en-US" dirty="0"/>
                  <a:t>，</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𝑙</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=0</m:t>
                    </m:r>
                  </m:oMath>
                </a14:m>
                <a:r>
                  <a:rPr lang="zh-CN" altLang="en-US" dirty="0"/>
                  <a:t>，</a:t>
                </a:r>
                <a:r>
                  <a:rPr lang="en-US" altLang="zh-CN" dirty="0"/>
                  <a:t>s</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𝑙</m:t>
                        </m:r>
                        <m:r>
                          <a:rPr lang="en-US" altLang="zh-CN" i="1">
                            <a:latin typeface="Cambria Math" panose="02040503050406030204" pitchFamily="18" charset="0"/>
                          </a:rPr>
                          <m:t>−1</m:t>
                        </m:r>
                      </m:sub>
                    </m:sSub>
                    <m:r>
                      <a:rPr lang="en-US" altLang="zh-CN" i="1">
                        <a:latin typeface="Cambria Math" panose="02040503050406030204" pitchFamily="18" charset="0"/>
                      </a:rPr>
                      <m:t>=0</m:t>
                    </m:r>
                  </m:oMath>
                </a14:m>
                <a:endParaRPr lang="en-US" altLang="zh-CN" dirty="0"/>
              </a:p>
              <a:p>
                <a:r>
                  <a:rPr lang="zh-CN" altLang="en-US" dirty="0"/>
                  <a:t>则</a:t>
                </a:r>
                <a:endParaRPr lang="en-US" altLang="zh-CN" i="1" dirty="0">
                  <a:latin typeface="Cambria Math" panose="02040503050406030204" pitchFamily="18" charset="0"/>
                </a:endParaRPr>
              </a:p>
              <a:p>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sw</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m:rPr>
                            <m:sty m:val="p"/>
                          </m:rPr>
                          <a:rPr lang="en-US" altLang="zh-CN" i="1">
                            <a:latin typeface="Cambria Math" panose="02040503050406030204" pitchFamily="18" charset="0"/>
                          </a:rPr>
                          <m:t>sw</m:t>
                        </m:r>
                      </m:e>
                      <m:sub>
                        <m:r>
                          <a:rPr lang="en-US" altLang="zh-CN" b="0" i="1" smtClean="0">
                            <a:latin typeface="Cambria Math" panose="02040503050406030204" pitchFamily="18" charset="0"/>
                          </a:rPr>
                          <m:t>𝑙</m:t>
                        </m:r>
                        <m:r>
                          <a:rPr lang="en-US" altLang="zh-CN" i="1">
                            <a:latin typeface="Cambria Math" panose="02040503050406030204" pitchFamily="18" charset="0"/>
                          </a:rPr>
                          <m:t>−1</m:t>
                        </m:r>
                      </m:sub>
                    </m:sSub>
                    <m:r>
                      <a:rPr lang="en-US" altLang="zh-CN" b="0" i="1" smtClean="0">
                        <a:latin typeface="Cambria Math" panose="02040503050406030204" pitchFamily="18" charset="0"/>
                      </a:rPr>
                      <m:t>=</m:t>
                    </m:r>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𝑗</m:t>
                        </m:r>
                        <m:r>
                          <a:rPr lang="en-US" altLang="zh-CN" b="0" i="1" smtClean="0">
                            <a:latin typeface="Cambria Math" panose="02040503050406030204" pitchFamily="18" charset="0"/>
                          </a:rPr>
                          <m:t>=</m:t>
                        </m:r>
                        <m:r>
                          <a:rPr lang="en-US" altLang="zh-CN" b="0" i="1" smtClean="0">
                            <a:latin typeface="Cambria Math" panose="02040503050406030204" pitchFamily="18" charset="0"/>
                          </a:rPr>
                          <m:t>𝑙</m:t>
                        </m:r>
                      </m:sub>
                      <m:sup>
                        <m:r>
                          <a:rPr lang="en-US" altLang="zh-CN" b="0" i="1" smtClean="0">
                            <a:latin typeface="Cambria Math" panose="02040503050406030204" pitchFamily="18" charset="0"/>
                          </a:rPr>
                          <m:t>𝑖</m:t>
                        </m:r>
                        <m:r>
                          <a:rPr lang="en-US" altLang="zh-CN" b="0" i="1" smtClean="0">
                            <a:latin typeface="Cambria Math" panose="02040503050406030204" pitchFamily="18" charset="0"/>
                          </a:rPr>
                          <m:t>−1</m:t>
                        </m:r>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𝑗</m:t>
                            </m:r>
                          </m:sub>
                        </m:sSub>
                      </m:e>
                    </m:nary>
                  </m:oMath>
                </a14:m>
                <a:endParaRPr lang="en-US" altLang="zh-CN" dirty="0"/>
              </a:p>
              <a:p>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sw</m:t>
                        </m:r>
                      </m:e>
                      <m:sub>
                        <m:r>
                          <a:rPr lang="en-US" altLang="zh-CN" b="0" i="1" smtClean="0">
                            <a:latin typeface="Cambria Math" panose="02040503050406030204" pitchFamily="18" charset="0"/>
                          </a:rPr>
                          <m:t>h</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sw</m:t>
                        </m:r>
                      </m:e>
                      <m:sub>
                        <m:r>
                          <a:rPr lang="en-US" altLang="zh-CN" b="0" i="1" smtClean="0">
                            <a:latin typeface="Cambria Math" panose="02040503050406030204" pitchFamily="18" charset="0"/>
                          </a:rPr>
                          <m:t>𝑖</m:t>
                        </m:r>
                      </m:sub>
                    </m:sSub>
                    <m:r>
                      <a:rPr lang="en-US" altLang="zh-CN" i="1">
                        <a:latin typeface="Cambria Math" panose="02040503050406030204" pitchFamily="18" charset="0"/>
                      </a:rPr>
                      <m:t>=</m:t>
                    </m:r>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𝑗</m:t>
                        </m:r>
                        <m:r>
                          <a:rPr lang="en-US" altLang="zh-CN" i="1">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h</m:t>
                        </m:r>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𝑗</m:t>
                            </m:r>
                          </m:sub>
                        </m:sSub>
                      </m:e>
                    </m:nary>
                  </m:oMath>
                </a14:m>
                <a:endParaRPr lang="en-US" altLang="zh-CN" dirty="0"/>
              </a:p>
              <a:p>
                <a14:m>
                  <m:oMath xmlns:m="http://schemas.openxmlformats.org/officeDocument/2006/math">
                    <m:r>
                      <a:rPr lang="en-US" altLang="zh-CN" i="1">
                        <a:latin typeface="Cambria Math"/>
                        <a:ea typeface="Cambria Math"/>
                      </a:rPr>
                      <m:t>∆</m:t>
                    </m:r>
                    <m:sSub>
                      <m:sSubPr>
                        <m:ctrlPr>
                          <a:rPr lang="en-US" altLang="zh-CN" i="1">
                            <a:latin typeface="Cambria Math" panose="02040503050406030204" pitchFamily="18" charset="0"/>
                            <a:ea typeface="Cambria Math"/>
                          </a:rPr>
                        </m:ctrlPr>
                      </m:sSubPr>
                      <m:e>
                        <m:r>
                          <a:rPr lang="en-US" altLang="zh-CN" i="1">
                            <a:latin typeface="Cambria Math"/>
                            <a:ea typeface="Cambria Math"/>
                          </a:rPr>
                          <m:t>𝑃</m:t>
                        </m:r>
                      </m:e>
                      <m:sub>
                        <m:r>
                          <a:rPr lang="en-US" altLang="zh-CN" i="1">
                            <a:latin typeface="Cambria Math"/>
                            <a:ea typeface="Cambria Math"/>
                          </a:rPr>
                          <m:t>𝑖</m:t>
                        </m:r>
                      </m:sub>
                    </m:sSub>
                    <m:r>
                      <a:rPr lang="en-US" altLang="zh-CN" i="1">
                        <a:latin typeface="Cambria Math"/>
                        <a:ea typeface="Cambria Math"/>
                      </a:rPr>
                      <m:t>=|</m:t>
                    </m:r>
                    <m:nary>
                      <m:naryPr>
                        <m:chr m:val="∑"/>
                        <m:ctrlPr>
                          <a:rPr lang="en-US" altLang="zh-CN" i="1">
                            <a:latin typeface="Cambria Math" panose="02040503050406030204" pitchFamily="18" charset="0"/>
                            <a:ea typeface="Cambria Math"/>
                          </a:rPr>
                        </m:ctrlPr>
                      </m:naryPr>
                      <m:sub>
                        <m:r>
                          <m:rPr>
                            <m:brk m:alnAt="23"/>
                          </m:rPr>
                          <a:rPr lang="en-US" altLang="zh-CN" i="1">
                            <a:latin typeface="Cambria Math"/>
                            <a:ea typeface="Cambria Math"/>
                          </a:rPr>
                          <m:t>𝑗</m:t>
                        </m:r>
                        <m:r>
                          <a:rPr lang="en-US" altLang="zh-CN" i="1">
                            <a:latin typeface="Cambria Math"/>
                            <a:ea typeface="Cambria Math"/>
                          </a:rPr>
                          <m:t>=</m:t>
                        </m:r>
                        <m:r>
                          <a:rPr lang="en-US" altLang="zh-CN" i="1">
                            <a:latin typeface="Cambria Math"/>
                            <a:ea typeface="Cambria Math"/>
                          </a:rPr>
                          <m:t>𝑖</m:t>
                        </m:r>
                        <m:r>
                          <a:rPr lang="en-US" altLang="zh-CN" i="1">
                            <a:latin typeface="Cambria Math"/>
                            <a:ea typeface="Cambria Math"/>
                          </a:rPr>
                          <m:t>+1</m:t>
                        </m:r>
                      </m:sub>
                      <m:sup>
                        <m:r>
                          <a:rPr lang="en-US" altLang="zh-CN" i="1">
                            <a:latin typeface="Cambria Math"/>
                            <a:ea typeface="Cambria Math"/>
                          </a:rPr>
                          <m:t>h</m:t>
                        </m:r>
                      </m:sup>
                      <m:e>
                        <m:sSub>
                          <m:sSubPr>
                            <m:ctrlPr>
                              <a:rPr lang="en-US" altLang="zh-CN" i="1">
                                <a:latin typeface="Cambria Math" panose="02040503050406030204" pitchFamily="18" charset="0"/>
                                <a:ea typeface="Cambria Math"/>
                              </a:rPr>
                            </m:ctrlPr>
                          </m:sSubPr>
                          <m:e>
                            <m:r>
                              <a:rPr lang="en-US" altLang="zh-CN" i="1">
                                <a:latin typeface="Cambria Math"/>
                                <a:ea typeface="Cambria Math"/>
                              </a:rPr>
                              <m:t>𝑤</m:t>
                            </m:r>
                          </m:e>
                          <m:sub>
                            <m:r>
                              <a:rPr lang="en-US" altLang="zh-CN" i="1">
                                <a:latin typeface="Cambria Math"/>
                                <a:ea typeface="Cambria Math"/>
                              </a:rPr>
                              <m:t>𝑗</m:t>
                            </m:r>
                          </m:sub>
                        </m:sSub>
                      </m:e>
                    </m:nary>
                    <m:r>
                      <a:rPr lang="en-US" altLang="zh-CN" i="1">
                        <a:latin typeface="Cambria Math"/>
                        <a:ea typeface="Cambria Math"/>
                      </a:rPr>
                      <m:t>−</m:t>
                    </m:r>
                    <m:nary>
                      <m:naryPr>
                        <m:chr m:val="∑"/>
                        <m:ctrlPr>
                          <a:rPr lang="en-US" altLang="zh-CN" i="1">
                            <a:latin typeface="Cambria Math" panose="02040503050406030204" pitchFamily="18" charset="0"/>
                            <a:ea typeface="Cambria Math"/>
                          </a:rPr>
                        </m:ctrlPr>
                      </m:naryPr>
                      <m:sub>
                        <m:r>
                          <m:rPr>
                            <m:brk m:alnAt="23"/>
                          </m:rPr>
                          <a:rPr lang="en-US" altLang="zh-CN" i="1">
                            <a:latin typeface="Cambria Math"/>
                            <a:ea typeface="Cambria Math"/>
                          </a:rPr>
                          <m:t>𝑗</m:t>
                        </m:r>
                        <m:r>
                          <a:rPr lang="en-US" altLang="zh-CN" i="1">
                            <a:latin typeface="Cambria Math"/>
                            <a:ea typeface="Cambria Math"/>
                          </a:rPr>
                          <m:t>=</m:t>
                        </m:r>
                        <m:r>
                          <a:rPr lang="en-US" altLang="zh-CN" i="1">
                            <a:latin typeface="Cambria Math"/>
                            <a:ea typeface="Cambria Math"/>
                          </a:rPr>
                          <m:t>𝑖</m:t>
                        </m:r>
                      </m:sub>
                      <m:sup>
                        <m:r>
                          <a:rPr lang="en-US" altLang="zh-CN" i="1">
                            <a:latin typeface="Cambria Math"/>
                            <a:ea typeface="Cambria Math"/>
                          </a:rPr>
                          <m:t>𝑖</m:t>
                        </m:r>
                        <m:r>
                          <a:rPr lang="en-US" altLang="zh-CN" i="1">
                            <a:latin typeface="Cambria Math"/>
                            <a:ea typeface="Cambria Math"/>
                          </a:rPr>
                          <m:t>−1</m:t>
                        </m:r>
                      </m:sup>
                      <m:e>
                        <m:sSub>
                          <m:sSubPr>
                            <m:ctrlPr>
                              <a:rPr lang="en-US" altLang="zh-CN" i="1">
                                <a:latin typeface="Cambria Math" panose="02040503050406030204" pitchFamily="18" charset="0"/>
                                <a:ea typeface="Cambria Math"/>
                              </a:rPr>
                            </m:ctrlPr>
                          </m:sSubPr>
                          <m:e>
                            <m:r>
                              <a:rPr lang="en-US" altLang="zh-CN" i="1">
                                <a:latin typeface="Cambria Math"/>
                                <a:ea typeface="Cambria Math"/>
                              </a:rPr>
                              <m:t>𝑤</m:t>
                            </m:r>
                          </m:e>
                          <m:sub>
                            <m:r>
                              <a:rPr lang="en-US" altLang="zh-CN" i="1">
                                <a:latin typeface="Cambria Math"/>
                                <a:ea typeface="Cambria Math"/>
                              </a:rPr>
                              <m:t>𝑗</m:t>
                            </m:r>
                          </m:sub>
                        </m:sSub>
                      </m:e>
                    </m:nary>
                    <m:r>
                      <a:rPr lang="en-US" altLang="zh-CN" i="1">
                        <a:latin typeface="Cambria Math"/>
                        <a:ea typeface="Cambria Math"/>
                      </a:rPr>
                      <m:t>|</m:t>
                    </m:r>
                  </m:oMath>
                </a14:m>
                <a:endParaRPr lang="en-US" altLang="zh-CN" dirty="0"/>
              </a:p>
              <a:p>
                <a:r>
                  <a:rPr lang="en-US" altLang="zh-CN" dirty="0"/>
                  <a:t>=</a:t>
                </a:r>
                <a14:m>
                  <m:oMath xmlns:m="http://schemas.openxmlformats.org/officeDocument/2006/math">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𝑠𝑤</m:t>
                            </m:r>
                          </m:e>
                          <m:sub>
                            <m:r>
                              <a:rPr lang="en-US" altLang="zh-CN" b="0" i="1" smtClean="0">
                                <a:latin typeface="Cambria Math" panose="02040503050406030204" pitchFamily="18" charset="0"/>
                              </a:rPr>
                              <m:t>h</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𝑠𝑤</m:t>
                            </m:r>
                          </m:e>
                          <m:sub>
                            <m:r>
                              <a:rPr lang="en-US" altLang="zh-CN" b="0" i="1" smtClean="0">
                                <a:latin typeface="Cambria Math" panose="02040503050406030204" pitchFamily="18" charset="0"/>
                              </a:rPr>
                              <m:t>𝑖</m:t>
                            </m:r>
                          </m:sub>
                        </m:sSub>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𝑠𝑤</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𝑠𝑤</m:t>
                        </m:r>
                      </m:e>
                      <m:sub>
                        <m:r>
                          <a:rPr lang="en-US" altLang="zh-CN" b="0" i="1" smtClean="0">
                            <a:latin typeface="Cambria Math" panose="02040503050406030204" pitchFamily="18" charset="0"/>
                          </a:rPr>
                          <m:t>𝑙</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oMath>
                </a14:m>
                <a:endParaRPr lang="en-US" altLang="zh-CN" dirty="0"/>
              </a:p>
              <a:p>
                <a:r>
                  <a:rPr lang="en-US" altLang="zh-CN" dirty="0"/>
                  <a:t>=</a:t>
                </a:r>
                <a14:m>
                  <m:oMath xmlns:m="http://schemas.openxmlformats.org/officeDocument/2006/math">
                    <m:r>
                      <a:rPr lang="en-US" altLang="zh-CN" i="1">
                        <a:latin typeface="Cambria Math" panose="02040503050406030204" pitchFamily="18" charset="0"/>
                      </a:rPr>
                      <m:t>|</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𝑠𝑤</m:t>
                            </m:r>
                          </m:e>
                          <m:sub>
                            <m:r>
                              <a:rPr lang="en-US" altLang="zh-CN" b="0" i="1" smtClean="0">
                                <a:latin typeface="Cambria Math" panose="02040503050406030204" pitchFamily="18" charset="0"/>
                              </a:rPr>
                              <m:t>h</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𝑠𝑤</m:t>
                            </m:r>
                          </m:e>
                          <m:sub>
                            <m:r>
                              <a:rPr lang="en-US" altLang="zh-CN" b="0" i="1" smtClean="0">
                                <a:latin typeface="Cambria Math" panose="02040503050406030204" pitchFamily="18" charset="0"/>
                              </a:rPr>
                              <m:t>𝑙</m:t>
                            </m:r>
                            <m:r>
                              <a:rPr lang="en-US" altLang="zh-CN" b="0" i="1" smtClean="0">
                                <a:latin typeface="Cambria Math" panose="02040503050406030204" pitchFamily="18" charset="0"/>
                              </a:rPr>
                              <m:t>−1</m:t>
                            </m:r>
                          </m:sub>
                        </m:sSub>
                      </m:e>
                    </m:d>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𝑠𝑤</m:t>
                        </m:r>
                      </m:e>
                      <m:sub>
                        <m:r>
                          <a:rPr lang="en-US" altLang="zh-CN" b="0" i="1" smtClean="0">
                            <a:latin typeface="Cambria Math" panose="02040503050406030204" pitchFamily="18" charset="0"/>
                          </a:rPr>
                          <m:t>𝑖</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𝑠𝑤</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Sub>
                    <m:r>
                      <a:rPr lang="en-US" altLang="zh-CN" i="1">
                        <a:latin typeface="Cambria Math" panose="02040503050406030204" pitchFamily="18" charset="0"/>
                      </a:rPr>
                      <m:t>)|</m:t>
                    </m:r>
                  </m:oMath>
                </a14:m>
                <a:endParaRPr lang="en-US" altLang="zh-CN" dirty="0"/>
              </a:p>
              <a:p>
                <a:endParaRPr lang="en-US" altLang="zh-CN" dirty="0"/>
              </a:p>
              <a:p>
                <a:endParaRPr lang="en-US" altLang="zh-CN"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3"/>
                <a:stretch>
                  <a:fillRect l="-1704" t="-1149"/>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0C913308-F349-4B6D-A68A-DD1791B4A57B}" type="slidenum">
              <a:rPr lang="zh-CN" altLang="en-US" smtClean="0"/>
              <a:pPr/>
              <a:t>32</a:t>
            </a:fld>
            <a:endParaRPr lang="zh-CN" altLang="en-US"/>
          </a:p>
        </p:txBody>
      </p:sp>
    </p:spTree>
    <p:extLst>
      <p:ext uri="{BB962C8B-B14F-4D97-AF65-F5344CB8AC3E}">
        <p14:creationId xmlns:p14="http://schemas.microsoft.com/office/powerpoint/2010/main" val="21177645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84"/>
            <a:ext cx="8229600" cy="720080"/>
          </a:xfrm>
        </p:spPr>
        <p:txBody>
          <a:bodyPr>
            <a:normAutofit/>
          </a:bodyPr>
          <a:lstStyle/>
          <a:p>
            <a:r>
              <a:rPr lang="zh-CN" altLang="en-US" sz="3600"/>
              <a:t>递归构造次优查找树</a:t>
            </a:r>
            <a:r>
              <a:rPr lang="en-US" altLang="zh-CN" sz="3600"/>
              <a:t>T</a:t>
            </a:r>
            <a:endParaRPr lang="zh-CN" altLang="en-US" sz="3600"/>
          </a:p>
        </p:txBody>
      </p:sp>
      <p:sp>
        <p:nvSpPr>
          <p:cNvPr id="3" name="内容占位符 2"/>
          <p:cNvSpPr>
            <a:spLocks noGrp="1"/>
          </p:cNvSpPr>
          <p:nvPr>
            <p:ph idx="1"/>
          </p:nvPr>
        </p:nvSpPr>
        <p:spPr>
          <a:xfrm>
            <a:off x="0" y="620688"/>
            <a:ext cx="9036496" cy="6237312"/>
          </a:xfrm>
        </p:spPr>
        <p:txBody>
          <a:bodyPr>
            <a:noAutofit/>
          </a:bodyPr>
          <a:lstStyle/>
          <a:p>
            <a:pPr marL="0" indent="0">
              <a:spcBef>
                <a:spcPts val="0"/>
              </a:spcBef>
              <a:buNone/>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Status </a:t>
            </a:r>
            <a:r>
              <a:rPr lang="en-US" altLang="zh-CN" sz="2400" b="1" dirty="0" err="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SecondOptimal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p>
          <a:p>
            <a:pPr marL="0" indent="0">
              <a:spcBef>
                <a:spcPts val="0"/>
              </a:spcBef>
              <a:buNone/>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BiTree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&amp;T,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R[], float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sw</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int low, int high) {</a:t>
            </a:r>
          </a:p>
          <a:p>
            <a:pPr marL="0" indent="0">
              <a:spcBef>
                <a:spcPts val="0"/>
              </a:spcBef>
              <a:buNone/>
            </a:pPr>
            <a:r>
              <a:rPr lang="en-US" altLang="zh-CN" sz="20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由有序表</a:t>
            </a:r>
            <a:r>
              <a:rPr lang="en-US" altLang="zh-CN" sz="2000" dirty="0">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2000" dirty="0" err="1">
                <a:latin typeface="Times New Roman" panose="02020603050405020304" pitchFamily="18" charset="0"/>
                <a:ea typeface="华文楷体" panose="02010600040101010101" pitchFamily="2" charset="-122"/>
                <a:cs typeface="Times New Roman" panose="02020603050405020304" pitchFamily="18" charset="0"/>
              </a:rPr>
              <a:t>low..high</a:t>
            </a:r>
            <a:r>
              <a:rPr lang="en-US" altLang="zh-CN" sz="20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及其累计权值表</a:t>
            </a:r>
            <a:r>
              <a:rPr lang="en-US" altLang="zh-CN" sz="2000" dirty="0" err="1">
                <a:latin typeface="Times New Roman" panose="02020603050405020304" pitchFamily="18" charset="0"/>
                <a:ea typeface="华文楷体" panose="02010600040101010101" pitchFamily="2" charset="-122"/>
                <a:cs typeface="Times New Roman" panose="02020603050405020304" pitchFamily="18" charset="0"/>
              </a:rPr>
              <a:t>sw</a:t>
            </a:r>
            <a:r>
              <a:rPr lang="en-US" altLang="zh-CN" sz="20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其中</a:t>
            </a:r>
            <a:r>
              <a:rPr lang="en-US" altLang="zh-CN" sz="2000" dirty="0" err="1">
                <a:latin typeface="Times New Roman" panose="02020603050405020304" pitchFamily="18" charset="0"/>
                <a:ea typeface="华文楷体" panose="02010600040101010101" pitchFamily="2" charset="-122"/>
                <a:cs typeface="Times New Roman" panose="02020603050405020304" pitchFamily="18" charset="0"/>
              </a:rPr>
              <a:t>sw</a:t>
            </a:r>
            <a:r>
              <a:rPr lang="en-US" altLang="zh-CN" sz="2000" dirty="0">
                <a:latin typeface="Times New Roman" panose="02020603050405020304" pitchFamily="18" charset="0"/>
                <a:ea typeface="华文楷体" panose="02010600040101010101" pitchFamily="2" charset="-122"/>
                <a:cs typeface="Times New Roman" panose="02020603050405020304" pitchFamily="18" charset="0"/>
              </a:rPr>
              <a:t>[0]==0)</a:t>
            </a:r>
            <a:endParaRPr lang="zh-CN" altLang="en-US" sz="2000" dirty="0">
              <a:latin typeface="Times New Roman" panose="02020603050405020304" pitchFamily="18" charset="0"/>
              <a:ea typeface="华文楷体" panose="02010600040101010101" pitchFamily="2" charset="-122"/>
              <a:cs typeface="Times New Roman" panose="02020603050405020304" pitchFamily="18" charset="0"/>
            </a:endParaRPr>
          </a:p>
          <a:p>
            <a:pPr marL="0" indent="0">
              <a:spcBef>
                <a:spcPts val="0"/>
              </a:spcBef>
              <a:buNone/>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int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i,j</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float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min,dw</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p>
          <a:p>
            <a:pPr marL="0" indent="0">
              <a:spcBef>
                <a:spcPts val="0"/>
              </a:spcBef>
              <a:buNone/>
            </a:pP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low;  min = (float) fabs(</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sw</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[high]-</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sw</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[low]);  </a:t>
            </a:r>
          </a:p>
          <a:p>
            <a:pPr marL="0" indent="0">
              <a:spcBef>
                <a:spcPts val="0"/>
              </a:spcBef>
              <a:buNone/>
            </a:pP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dw</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sw</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[high]+</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sw</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[low-1];</a:t>
            </a:r>
          </a:p>
          <a:p>
            <a:pPr marL="0" indent="0">
              <a:spcBef>
                <a:spcPts val="0"/>
              </a:spcBef>
              <a:buNone/>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for (j=low+1;  j&lt;=high;  ++j)           </a:t>
            </a:r>
            <a:r>
              <a:rPr lang="en-US" altLang="zh-CN" sz="20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选择最小的</a:t>
            </a:r>
            <a:r>
              <a:rPr lang="el-GR" altLang="zh-CN" sz="2000" dirty="0">
                <a:latin typeface="Times New Roman" panose="02020603050405020304" pitchFamily="18" charset="0"/>
                <a:ea typeface="华文楷体" panose="02010600040101010101" pitchFamily="2" charset="-122"/>
                <a:cs typeface="Times New Roman" panose="02020603050405020304" pitchFamily="18" charset="0"/>
              </a:rPr>
              <a:t>Δ</a:t>
            </a:r>
            <a:r>
              <a:rPr lang="en-US" altLang="zh-CN" sz="2000" dirty="0">
                <a:latin typeface="Times New Roman" panose="02020603050405020304" pitchFamily="18" charset="0"/>
                <a:ea typeface="华文楷体" panose="02010600040101010101" pitchFamily="2" charset="-122"/>
                <a:cs typeface="Times New Roman" panose="02020603050405020304" pitchFamily="18" charset="0"/>
              </a:rPr>
              <a:t>Pi</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值</a:t>
            </a:r>
          </a:p>
          <a:p>
            <a:pPr marL="0" indent="0">
              <a:spcBef>
                <a:spcPts val="0"/>
              </a:spcBef>
              <a:buNone/>
            </a:pP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if (fabs(</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dw-sw</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sw</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[j-1]) &lt; min) {</a:t>
            </a:r>
          </a:p>
          <a:p>
            <a:pPr marL="0" indent="0">
              <a:spcBef>
                <a:spcPts val="0"/>
              </a:spcBef>
              <a:buNone/>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j;  min = (float)fabs(</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dw-sw</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sw</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[j-1]);</a:t>
            </a:r>
          </a:p>
          <a:p>
            <a:pPr marL="0" indent="0">
              <a:spcBef>
                <a:spcPts val="0"/>
              </a:spcBef>
              <a:buNone/>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p>
          <a:p>
            <a:pPr marL="0" indent="0">
              <a:spcBef>
                <a:spcPts val="0"/>
              </a:spcBef>
              <a:buNone/>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if (!(T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BiTree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)malloc(</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sizeof</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BiTNode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return ERROR;</a:t>
            </a:r>
          </a:p>
          <a:p>
            <a:pPr marL="0" indent="0">
              <a:spcBef>
                <a:spcPts val="0"/>
              </a:spcBef>
              <a:buNone/>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T-&gt;data = R[</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生成结点</a:t>
            </a:r>
          </a:p>
          <a:p>
            <a:pPr marL="0" indent="0">
              <a:spcBef>
                <a:spcPts val="0"/>
              </a:spcBef>
              <a:buNone/>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==low) T-&gt;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lchild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NULL;           </a:t>
            </a:r>
            <a:r>
              <a:rPr lang="en-US" altLang="zh-CN" sz="20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左子树空</a:t>
            </a:r>
          </a:p>
          <a:p>
            <a:pPr marL="0" indent="0">
              <a:spcBef>
                <a:spcPts val="0"/>
              </a:spcBef>
              <a:buNone/>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else </a:t>
            </a:r>
            <a:r>
              <a:rPr lang="en-US" altLang="zh-CN" sz="2400" b="1" dirty="0" err="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SecondOptimal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(T-&gt;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lchild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R,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sw</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low, i-1);   </a:t>
            </a:r>
            <a:r>
              <a:rPr lang="en-US" altLang="zh-CN" sz="20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构造左子树</a:t>
            </a:r>
          </a:p>
          <a:p>
            <a:pPr marL="0" indent="0">
              <a:spcBef>
                <a:spcPts val="0"/>
              </a:spcBef>
              <a:buNone/>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==high) T-&gt;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rchild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NULL;    </a:t>
            </a:r>
            <a:r>
              <a:rPr lang="en-US" altLang="zh-CN" sz="20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右子树空</a:t>
            </a:r>
          </a:p>
          <a:p>
            <a:pPr marL="0" indent="0">
              <a:spcBef>
                <a:spcPts val="0"/>
              </a:spcBef>
              <a:buNone/>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else </a:t>
            </a:r>
            <a:r>
              <a:rPr lang="en-US" altLang="zh-CN" sz="2400" b="1" dirty="0" err="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SecondOptimal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(T-&gt;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rchild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R,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sw</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i+1, high);  </a:t>
            </a:r>
            <a:r>
              <a:rPr lang="en-US" altLang="zh-CN" sz="20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构造右子树</a:t>
            </a:r>
          </a:p>
          <a:p>
            <a:pPr marL="0" indent="0">
              <a:spcBef>
                <a:spcPts val="0"/>
              </a:spcBef>
              <a:buNone/>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return OK; }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SecondOptimal</a:t>
            </a:r>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33</a:t>
            </a:fld>
            <a:endParaRPr lang="zh-CN" altLang="en-US"/>
          </a:p>
        </p:txBody>
      </p:sp>
      <p:sp>
        <p:nvSpPr>
          <p:cNvPr id="5" name="流程图: 可选过程 4"/>
          <p:cNvSpPr/>
          <p:nvPr/>
        </p:nvSpPr>
        <p:spPr>
          <a:xfrm>
            <a:off x="8460432" y="0"/>
            <a:ext cx="683568" cy="332656"/>
          </a:xfrm>
          <a:prstGeom prst="flowChartAlternateProcess">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t>9.3</a:t>
            </a:r>
          </a:p>
        </p:txBody>
      </p:sp>
      <p:sp>
        <p:nvSpPr>
          <p:cNvPr id="6" name="文本框 5"/>
          <p:cNvSpPr txBox="1"/>
          <p:nvPr/>
        </p:nvSpPr>
        <p:spPr>
          <a:xfrm>
            <a:off x="7164288" y="1700808"/>
            <a:ext cx="1980029" cy="95410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zh-CN" altLang="en-US" sz="2800"/>
              <a:t>时间复杂度</a:t>
            </a:r>
            <a:endParaRPr lang="en-US" altLang="zh-CN" sz="2800"/>
          </a:p>
          <a:p>
            <a:pPr algn="ctr"/>
            <a:r>
              <a:rPr lang="en-US" altLang="zh-CN" sz="2800"/>
              <a:t>O(nlogn)</a:t>
            </a:r>
            <a:endParaRPr lang="zh-CN" altLang="en-US"/>
          </a:p>
        </p:txBody>
      </p:sp>
    </p:spTree>
    <p:extLst>
      <p:ext uri="{BB962C8B-B14F-4D97-AF65-F5344CB8AC3E}">
        <p14:creationId xmlns:p14="http://schemas.microsoft.com/office/powerpoint/2010/main" val="3803824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次优查找树构造示例</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9510" y="854362"/>
                <a:ext cx="8864977" cy="5832648"/>
              </a:xfrm>
            </p:spPr>
            <p:txBody>
              <a:bodyPr>
                <a:normAutofit/>
              </a:bodyPr>
              <a:lstStyle/>
              <a:p>
                <a:pPr marL="0" indent="0">
                  <a:buNone/>
                </a:pP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有序表</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(A,B,C,D,E)</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，对应的权重为</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(1,30,2,29,3)</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，则构成下左图</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lvl="1"/>
                <a14:m>
                  <m:oMath xmlns:m="http://schemas.openxmlformats.org/officeDocument/2006/math">
                    <m:r>
                      <a:rPr lang="zh-CN" altLang="en-US" sz="2400" i="1">
                        <a:latin typeface="Cambria Math" panose="02040503050406030204" pitchFamily="18" charset="0"/>
                      </a:rPr>
                      <m:t>∆</m:t>
                    </m:r>
                    <m:r>
                      <a:rPr lang="en-US" altLang="zh-CN" sz="2400" i="1">
                        <a:latin typeface="Cambria Math" panose="02040503050406030204" pitchFamily="18" charset="0"/>
                      </a:rPr>
                      <m:t>𝑃</m:t>
                    </m:r>
                    <m:r>
                      <a:rPr lang="en-US" altLang="zh-CN" sz="2400" b="0" i="1" smtClean="0">
                        <a:latin typeface="Cambria Math" panose="02040503050406030204" pitchFamily="18" charset="0"/>
                      </a:rPr>
                      <m:t>𝑐</m:t>
                    </m:r>
                    <m:r>
                      <a:rPr lang="en-US" altLang="zh-CN" sz="2400" b="0" i="1" smtClean="0">
                        <a:latin typeface="Cambria Math" panose="02040503050406030204" pitchFamily="18" charset="0"/>
                      </a:rPr>
                      <m:t>=1</m:t>
                    </m:r>
                  </m:oMath>
                </a14:m>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，选</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C</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为根结点</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lvl="1"/>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在</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(A,B)</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中， </a:t>
                </a:r>
                <a14:m>
                  <m:oMath xmlns:m="http://schemas.openxmlformats.org/officeDocument/2006/math">
                    <m:r>
                      <a:rPr lang="zh-CN" altLang="en-US" sz="2400" i="1">
                        <a:latin typeface="Cambria Math" panose="02040503050406030204" pitchFamily="18" charset="0"/>
                      </a:rPr>
                      <m:t>∆</m:t>
                    </m:r>
                    <m:r>
                      <a:rPr lang="en-US" altLang="zh-CN" sz="2400" i="1">
                        <a:latin typeface="Cambria Math" panose="02040503050406030204" pitchFamily="18" charset="0"/>
                      </a:rPr>
                      <m:t>𝑃</m:t>
                    </m:r>
                    <m:r>
                      <a:rPr lang="en-US" altLang="zh-CN" sz="2400" b="0" i="1" smtClean="0">
                        <a:latin typeface="Cambria Math" panose="02040503050406030204" pitchFamily="18" charset="0"/>
                      </a:rPr>
                      <m:t>𝑏</m:t>
                    </m:r>
                    <m:r>
                      <a:rPr lang="en-US" altLang="zh-CN" sz="2400" i="1">
                        <a:latin typeface="Cambria Math" panose="02040503050406030204" pitchFamily="18" charset="0"/>
                      </a:rPr>
                      <m:t>=</m:t>
                    </m:r>
                    <m:r>
                      <a:rPr lang="en-US" altLang="zh-CN" sz="2400" b="0" i="1" smtClean="0">
                        <a:latin typeface="Cambria Math" panose="02040503050406030204" pitchFamily="18" charset="0"/>
                      </a:rPr>
                      <m:t>1</m:t>
                    </m:r>
                  </m:oMath>
                </a14:m>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 </a:t>
                </a:r>
                <a14:m>
                  <m:oMath xmlns:m="http://schemas.openxmlformats.org/officeDocument/2006/math">
                    <m:r>
                      <a:rPr lang="zh-CN" altLang="en-US" sz="2400" i="1">
                        <a:latin typeface="Cambria Math" panose="02040503050406030204" pitchFamily="18" charset="0"/>
                      </a:rPr>
                      <m:t>∆</m:t>
                    </m:r>
                    <m:r>
                      <a:rPr lang="en-US" altLang="zh-CN" sz="2400" i="1">
                        <a:latin typeface="Cambria Math" panose="02040503050406030204" pitchFamily="18" charset="0"/>
                      </a:rPr>
                      <m:t>𝑃𝑏</m:t>
                    </m:r>
                    <m:r>
                      <a:rPr lang="en-US" altLang="zh-CN" sz="2400" i="1">
                        <a:latin typeface="Cambria Math" panose="02040503050406030204" pitchFamily="18" charset="0"/>
                      </a:rPr>
                      <m:t>=30</m:t>
                    </m:r>
                  </m:oMath>
                </a14:m>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，选</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B</a:t>
                </a:r>
              </a:p>
              <a:p>
                <a:pPr lvl="1"/>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在</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(D,E)</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中， </a:t>
                </a:r>
                <a14:m>
                  <m:oMath xmlns:m="http://schemas.openxmlformats.org/officeDocument/2006/math">
                    <m:r>
                      <a:rPr lang="zh-CN" altLang="en-US" sz="2400" i="1">
                        <a:latin typeface="Cambria Math" panose="02040503050406030204" pitchFamily="18" charset="0"/>
                      </a:rPr>
                      <m:t>∆</m:t>
                    </m:r>
                    <m:r>
                      <a:rPr lang="en-US" altLang="zh-CN" sz="2400" i="1">
                        <a:latin typeface="Cambria Math" panose="02040503050406030204" pitchFamily="18" charset="0"/>
                      </a:rPr>
                      <m:t>𝑃</m:t>
                    </m:r>
                    <m:r>
                      <a:rPr lang="en-US" altLang="zh-CN" sz="2400" b="0" i="1" smtClean="0">
                        <a:latin typeface="Cambria Math" panose="02040503050406030204" pitchFamily="18" charset="0"/>
                      </a:rPr>
                      <m:t>𝑑</m:t>
                    </m:r>
                    <m:r>
                      <a:rPr lang="en-US" altLang="zh-CN" sz="2400" i="1">
                        <a:latin typeface="Cambria Math" panose="02040503050406030204" pitchFamily="18" charset="0"/>
                      </a:rPr>
                      <m:t>=</m:t>
                    </m:r>
                    <m:r>
                      <a:rPr lang="en-US" altLang="zh-CN" sz="2400" b="0" i="1" smtClean="0">
                        <a:latin typeface="Cambria Math" panose="02040503050406030204" pitchFamily="18" charset="0"/>
                      </a:rPr>
                      <m:t>3</m:t>
                    </m:r>
                  </m:oMath>
                </a14:m>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 </a:t>
                </a:r>
                <a14:m>
                  <m:oMath xmlns:m="http://schemas.openxmlformats.org/officeDocument/2006/math">
                    <m:r>
                      <a:rPr lang="zh-CN" altLang="en-US" sz="2400" i="1">
                        <a:latin typeface="Cambria Math" panose="02040503050406030204" pitchFamily="18" charset="0"/>
                      </a:rPr>
                      <m:t>∆</m:t>
                    </m:r>
                    <m:r>
                      <a:rPr lang="en-US" altLang="zh-CN" sz="2400" i="1">
                        <a:latin typeface="Cambria Math" panose="02040503050406030204" pitchFamily="18" charset="0"/>
                      </a:rPr>
                      <m:t>𝑃</m:t>
                    </m:r>
                    <m:r>
                      <a:rPr lang="en-US" altLang="zh-CN" sz="2400" b="0" i="1" smtClean="0">
                        <a:latin typeface="Cambria Math" panose="02040503050406030204" pitchFamily="18" charset="0"/>
                      </a:rPr>
                      <m:t>𝑒</m:t>
                    </m:r>
                    <m:r>
                      <a:rPr lang="en-US" altLang="zh-CN" sz="2400" i="1">
                        <a:latin typeface="Cambria Math" panose="02040503050406030204" pitchFamily="18" charset="0"/>
                      </a:rPr>
                      <m:t>=</m:t>
                    </m:r>
                    <m:r>
                      <a:rPr lang="en-US" altLang="zh-CN" sz="2400" b="0" i="1" smtClean="0">
                        <a:latin typeface="Cambria Math" panose="02040503050406030204" pitchFamily="18" charset="0"/>
                      </a:rPr>
                      <m:t>29</m:t>
                    </m:r>
                  </m:oMath>
                </a14:m>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，选</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D</a:t>
                </a:r>
              </a:p>
              <a:p>
                <a:pPr lvl="1"/>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根的关键字的权重小于其相邻的关键字的权重</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调整后成下右图</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保持有序表顺序不变</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p>
              <a:p>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marL="0" indent="0">
                  <a:buNone/>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PH</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值为</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132</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PH</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值为</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105</a:t>
                </a:r>
              </a:p>
              <a:p>
                <a:endParaRPr lang="en-US" altLang="zh-CN" dirty="0"/>
              </a:p>
              <a:p>
                <a:endParaRPr lang="en-US" altLang="zh-CN"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9510" y="854362"/>
                <a:ext cx="8864977" cy="5832648"/>
              </a:xfrm>
              <a:blipFill>
                <a:blip r:embed="rId2"/>
                <a:stretch>
                  <a:fillRect l="-1031" t="-940"/>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0C913308-F349-4B6D-A68A-DD1791B4A57B}" type="slidenum">
              <a:rPr lang="zh-CN" altLang="en-US" smtClean="0"/>
              <a:pPr/>
              <a:t>34</a:t>
            </a:fld>
            <a:endParaRPr lang="zh-CN" altLang="en-US"/>
          </a:p>
        </p:txBody>
      </p:sp>
      <p:grpSp>
        <p:nvGrpSpPr>
          <p:cNvPr id="63" name="组合 62"/>
          <p:cNvGrpSpPr/>
          <p:nvPr/>
        </p:nvGrpSpPr>
        <p:grpSpPr>
          <a:xfrm>
            <a:off x="519745" y="4437112"/>
            <a:ext cx="3444828" cy="1728192"/>
            <a:chOff x="519745" y="4005064"/>
            <a:chExt cx="3444828" cy="1728192"/>
          </a:xfrm>
        </p:grpSpPr>
        <p:sp>
          <p:nvSpPr>
            <p:cNvPr id="6" name="Oval 3"/>
            <p:cNvSpPr>
              <a:spLocks noChangeArrowheads="1"/>
            </p:cNvSpPr>
            <p:nvPr/>
          </p:nvSpPr>
          <p:spPr bwMode="auto">
            <a:xfrm>
              <a:off x="1002856" y="4518121"/>
              <a:ext cx="379847" cy="378042"/>
            </a:xfrm>
            <a:prstGeom prst="ellipse">
              <a:avLst/>
            </a:prstGeom>
            <a:solidFill>
              <a:schemeClr val="accent4">
                <a:lumMod val="40000"/>
                <a:lumOff val="60000"/>
              </a:schemeClr>
            </a:solidFill>
            <a:ln w="38100">
              <a:solidFill>
                <a:schemeClr val="tx1"/>
              </a:solidFill>
              <a:round/>
              <a:headEnd/>
              <a:tailEnd/>
            </a:ln>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b="1">
                  <a:solidFill>
                    <a:srgbClr val="0000FF"/>
                  </a:solidFill>
                  <a:latin typeface="Times New Roman" pitchFamily="18" charset="0"/>
                </a:rPr>
                <a:t>B</a:t>
              </a:r>
              <a:endParaRPr kumimoji="1" lang="en-US" altLang="zh-CN">
                <a:solidFill>
                  <a:srgbClr val="0000FF"/>
                </a:solidFill>
                <a:latin typeface="Times New Roman" pitchFamily="18" charset="0"/>
              </a:endParaRPr>
            </a:p>
          </p:txBody>
        </p:sp>
        <p:sp>
          <p:nvSpPr>
            <p:cNvPr id="7" name="Oval 4"/>
            <p:cNvSpPr>
              <a:spLocks noChangeArrowheads="1"/>
            </p:cNvSpPr>
            <p:nvPr/>
          </p:nvSpPr>
          <p:spPr bwMode="auto">
            <a:xfrm>
              <a:off x="2987824" y="4599130"/>
              <a:ext cx="379847" cy="378042"/>
            </a:xfrm>
            <a:prstGeom prst="ellipse">
              <a:avLst/>
            </a:prstGeom>
            <a:solidFill>
              <a:schemeClr val="accent4">
                <a:lumMod val="40000"/>
                <a:lumOff val="60000"/>
              </a:schemeClr>
            </a:solidFill>
            <a:ln w="38100">
              <a:solidFill>
                <a:schemeClr val="tx1"/>
              </a:solidFill>
              <a:round/>
              <a:headEnd/>
              <a:tailEnd/>
            </a:ln>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b="1">
                  <a:solidFill>
                    <a:srgbClr val="0000FF"/>
                  </a:solidFill>
                  <a:latin typeface="Times New Roman" pitchFamily="18" charset="0"/>
                </a:rPr>
                <a:t>D</a:t>
              </a:r>
              <a:endParaRPr kumimoji="1" lang="en-US" altLang="zh-CN">
                <a:solidFill>
                  <a:srgbClr val="0000FF"/>
                </a:solidFill>
                <a:latin typeface="Times New Roman" pitchFamily="18" charset="0"/>
              </a:endParaRPr>
            </a:p>
          </p:txBody>
        </p:sp>
        <p:sp>
          <p:nvSpPr>
            <p:cNvPr id="21" name="Line 18"/>
            <p:cNvSpPr>
              <a:spLocks noChangeShapeType="1"/>
            </p:cNvSpPr>
            <p:nvPr/>
          </p:nvSpPr>
          <p:spPr bwMode="auto">
            <a:xfrm flipH="1">
              <a:off x="726320" y="4851158"/>
              <a:ext cx="389296" cy="4500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400">
                <a:solidFill>
                  <a:srgbClr val="0000FF"/>
                </a:solidFill>
              </a:endParaRPr>
            </a:p>
          </p:txBody>
        </p:sp>
        <p:sp>
          <p:nvSpPr>
            <p:cNvPr id="23" name="Oval 20"/>
            <p:cNvSpPr>
              <a:spLocks noChangeArrowheads="1"/>
            </p:cNvSpPr>
            <p:nvPr/>
          </p:nvSpPr>
          <p:spPr bwMode="auto">
            <a:xfrm>
              <a:off x="2006738" y="4005064"/>
              <a:ext cx="379847" cy="378042"/>
            </a:xfrm>
            <a:prstGeom prst="ellipse">
              <a:avLst/>
            </a:prstGeom>
            <a:solidFill>
              <a:schemeClr val="accent4">
                <a:lumMod val="40000"/>
                <a:lumOff val="60000"/>
              </a:schemeClr>
            </a:solidFill>
            <a:ln w="38100">
              <a:solidFill>
                <a:schemeClr val="tx1"/>
              </a:solidFill>
              <a:round/>
              <a:headEnd/>
              <a:tailEnd/>
            </a:ln>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b="1">
                  <a:solidFill>
                    <a:srgbClr val="0000FF"/>
                  </a:solidFill>
                  <a:latin typeface="Times New Roman" pitchFamily="18" charset="0"/>
                </a:rPr>
                <a:t>C</a:t>
              </a:r>
              <a:endParaRPr kumimoji="1" lang="en-US" altLang="zh-CN">
                <a:solidFill>
                  <a:srgbClr val="0000FF"/>
                </a:solidFill>
                <a:latin typeface="Times New Roman" pitchFamily="18" charset="0"/>
              </a:endParaRPr>
            </a:p>
          </p:txBody>
        </p:sp>
        <p:sp>
          <p:nvSpPr>
            <p:cNvPr id="28" name="Line 25"/>
            <p:cNvSpPr>
              <a:spLocks noChangeShapeType="1"/>
            </p:cNvSpPr>
            <p:nvPr/>
          </p:nvSpPr>
          <p:spPr bwMode="auto">
            <a:xfrm>
              <a:off x="3313406" y="4923166"/>
              <a:ext cx="379847" cy="43204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400">
                <a:solidFill>
                  <a:srgbClr val="0000FF"/>
                </a:solidFill>
              </a:endParaRPr>
            </a:p>
          </p:txBody>
        </p:sp>
        <p:sp>
          <p:nvSpPr>
            <p:cNvPr id="44" name="Line 41"/>
            <p:cNvSpPr>
              <a:spLocks noChangeShapeType="1"/>
            </p:cNvSpPr>
            <p:nvPr/>
          </p:nvSpPr>
          <p:spPr bwMode="auto">
            <a:xfrm flipH="1">
              <a:off x="1382703" y="4275094"/>
              <a:ext cx="624034" cy="43204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400">
                <a:solidFill>
                  <a:srgbClr val="0000FF"/>
                </a:solidFill>
              </a:endParaRPr>
            </a:p>
          </p:txBody>
        </p:sp>
        <p:sp>
          <p:nvSpPr>
            <p:cNvPr id="45" name="Line 42"/>
            <p:cNvSpPr>
              <a:spLocks noChangeShapeType="1"/>
            </p:cNvSpPr>
            <p:nvPr/>
          </p:nvSpPr>
          <p:spPr bwMode="auto">
            <a:xfrm>
              <a:off x="2386584" y="4275094"/>
              <a:ext cx="595370" cy="43204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400">
                <a:solidFill>
                  <a:srgbClr val="0000FF"/>
                </a:solidFill>
              </a:endParaRPr>
            </a:p>
          </p:txBody>
        </p:sp>
        <p:sp>
          <p:nvSpPr>
            <p:cNvPr id="46" name="Oval 43"/>
            <p:cNvSpPr>
              <a:spLocks noChangeArrowheads="1"/>
            </p:cNvSpPr>
            <p:nvPr/>
          </p:nvSpPr>
          <p:spPr bwMode="auto">
            <a:xfrm>
              <a:off x="519745" y="5283206"/>
              <a:ext cx="379847" cy="378042"/>
            </a:xfrm>
            <a:prstGeom prst="ellipse">
              <a:avLst/>
            </a:prstGeom>
            <a:solidFill>
              <a:schemeClr val="accent4">
                <a:lumMod val="40000"/>
                <a:lumOff val="60000"/>
              </a:schemeClr>
            </a:solidFill>
            <a:ln w="38100">
              <a:solidFill>
                <a:schemeClr val="tx1"/>
              </a:solidFill>
              <a:round/>
              <a:headEnd/>
              <a:tailEnd/>
            </a:ln>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b="1">
                  <a:solidFill>
                    <a:srgbClr val="0000FF"/>
                  </a:solidFill>
                  <a:latin typeface="Times New Roman" pitchFamily="18" charset="0"/>
                </a:rPr>
                <a:t>A</a:t>
              </a:r>
            </a:p>
          </p:txBody>
        </p:sp>
        <p:sp>
          <p:nvSpPr>
            <p:cNvPr id="48" name="Oval 45"/>
            <p:cNvSpPr>
              <a:spLocks noChangeArrowheads="1"/>
            </p:cNvSpPr>
            <p:nvPr/>
          </p:nvSpPr>
          <p:spPr bwMode="auto">
            <a:xfrm>
              <a:off x="3584726" y="5355214"/>
              <a:ext cx="379847" cy="378042"/>
            </a:xfrm>
            <a:prstGeom prst="ellipse">
              <a:avLst/>
            </a:prstGeom>
            <a:solidFill>
              <a:schemeClr val="accent4">
                <a:lumMod val="40000"/>
                <a:lumOff val="60000"/>
              </a:schemeClr>
            </a:solidFill>
            <a:ln w="38100">
              <a:solidFill>
                <a:schemeClr val="tx1"/>
              </a:solidFill>
              <a:round/>
              <a:headEnd/>
              <a:tailEnd/>
            </a:ln>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b="1">
                  <a:solidFill>
                    <a:srgbClr val="0000FF"/>
                  </a:solidFill>
                  <a:latin typeface="Times New Roman" pitchFamily="18" charset="0"/>
                </a:rPr>
                <a:t>E</a:t>
              </a:r>
              <a:endParaRPr kumimoji="1" lang="en-US" altLang="zh-CN">
                <a:solidFill>
                  <a:srgbClr val="0000FF"/>
                </a:solidFill>
                <a:latin typeface="Times New Roman" pitchFamily="18" charset="0"/>
              </a:endParaRPr>
            </a:p>
          </p:txBody>
        </p:sp>
      </p:grpSp>
      <p:grpSp>
        <p:nvGrpSpPr>
          <p:cNvPr id="62" name="组合 61"/>
          <p:cNvGrpSpPr/>
          <p:nvPr/>
        </p:nvGrpSpPr>
        <p:grpSpPr>
          <a:xfrm>
            <a:off x="4641339" y="4329100"/>
            <a:ext cx="3852732" cy="1836204"/>
            <a:chOff x="4641339" y="4041068"/>
            <a:chExt cx="3852732" cy="1836204"/>
          </a:xfrm>
        </p:grpSpPr>
        <p:sp>
          <p:nvSpPr>
            <p:cNvPr id="51" name="Oval 3"/>
            <p:cNvSpPr>
              <a:spLocks noChangeArrowheads="1"/>
            </p:cNvSpPr>
            <p:nvPr/>
          </p:nvSpPr>
          <p:spPr bwMode="auto">
            <a:xfrm>
              <a:off x="4641339" y="4743146"/>
              <a:ext cx="379847" cy="378042"/>
            </a:xfrm>
            <a:prstGeom prst="ellipse">
              <a:avLst/>
            </a:prstGeom>
            <a:solidFill>
              <a:schemeClr val="accent4">
                <a:lumMod val="40000"/>
                <a:lumOff val="60000"/>
              </a:schemeClr>
            </a:solidFill>
            <a:ln w="38100">
              <a:solidFill>
                <a:schemeClr val="tx1"/>
              </a:solidFill>
              <a:round/>
              <a:headEnd/>
              <a:tailEnd/>
            </a:ln>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rgbClr val="0000FF"/>
                  </a:solidFill>
                  <a:latin typeface="Times New Roman" pitchFamily="18" charset="0"/>
                </a:rPr>
                <a:t>A</a:t>
              </a:r>
              <a:endParaRPr kumimoji="1" lang="en-US" altLang="zh-CN" sz="2000">
                <a:solidFill>
                  <a:srgbClr val="0000FF"/>
                </a:solidFill>
                <a:latin typeface="Times New Roman" pitchFamily="18" charset="0"/>
              </a:endParaRPr>
            </a:p>
          </p:txBody>
        </p:sp>
        <p:sp>
          <p:nvSpPr>
            <p:cNvPr id="52" name="Oval 4"/>
            <p:cNvSpPr>
              <a:spLocks noChangeArrowheads="1"/>
            </p:cNvSpPr>
            <p:nvPr/>
          </p:nvSpPr>
          <p:spPr bwMode="auto">
            <a:xfrm>
              <a:off x="7517322" y="4743146"/>
              <a:ext cx="379847" cy="378042"/>
            </a:xfrm>
            <a:prstGeom prst="ellipse">
              <a:avLst/>
            </a:prstGeom>
            <a:solidFill>
              <a:schemeClr val="accent4">
                <a:lumMod val="40000"/>
                <a:lumOff val="60000"/>
              </a:schemeClr>
            </a:solidFill>
            <a:ln w="38100">
              <a:solidFill>
                <a:schemeClr val="tx1"/>
              </a:solidFill>
              <a:round/>
              <a:headEnd/>
              <a:tailEnd/>
            </a:ln>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rgbClr val="0000FF"/>
                  </a:solidFill>
                  <a:latin typeface="Times New Roman" pitchFamily="18" charset="0"/>
                </a:rPr>
                <a:t>D</a:t>
              </a:r>
              <a:endParaRPr kumimoji="1" lang="en-US" altLang="zh-CN" sz="2000">
                <a:solidFill>
                  <a:srgbClr val="0000FF"/>
                </a:solidFill>
                <a:latin typeface="Times New Roman" pitchFamily="18" charset="0"/>
              </a:endParaRPr>
            </a:p>
          </p:txBody>
        </p:sp>
        <p:sp>
          <p:nvSpPr>
            <p:cNvPr id="54" name="Oval 20"/>
            <p:cNvSpPr>
              <a:spLocks noChangeArrowheads="1"/>
            </p:cNvSpPr>
            <p:nvPr/>
          </p:nvSpPr>
          <p:spPr bwMode="auto">
            <a:xfrm>
              <a:off x="6052199" y="4041068"/>
              <a:ext cx="379847" cy="378042"/>
            </a:xfrm>
            <a:prstGeom prst="ellipse">
              <a:avLst/>
            </a:prstGeom>
            <a:solidFill>
              <a:schemeClr val="accent4">
                <a:lumMod val="40000"/>
                <a:lumOff val="60000"/>
              </a:schemeClr>
            </a:solidFill>
            <a:ln w="38100">
              <a:solidFill>
                <a:schemeClr val="tx1"/>
              </a:solidFill>
              <a:round/>
              <a:headEnd/>
              <a:tailEnd/>
            </a:ln>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rgbClr val="0000FF"/>
                  </a:solidFill>
                  <a:latin typeface="Times New Roman" pitchFamily="18" charset="0"/>
                </a:rPr>
                <a:t>B</a:t>
              </a:r>
              <a:endParaRPr kumimoji="1" lang="en-US" altLang="zh-CN" sz="2000">
                <a:solidFill>
                  <a:srgbClr val="0000FF"/>
                </a:solidFill>
                <a:latin typeface="Times New Roman" pitchFamily="18" charset="0"/>
              </a:endParaRPr>
            </a:p>
          </p:txBody>
        </p:sp>
        <p:sp>
          <p:nvSpPr>
            <p:cNvPr id="55" name="Line 25"/>
            <p:cNvSpPr>
              <a:spLocks noChangeShapeType="1"/>
            </p:cNvSpPr>
            <p:nvPr/>
          </p:nvSpPr>
          <p:spPr bwMode="auto">
            <a:xfrm>
              <a:off x="7842904" y="5067182"/>
              <a:ext cx="379847" cy="43204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600">
                <a:solidFill>
                  <a:srgbClr val="0000FF"/>
                </a:solidFill>
              </a:endParaRPr>
            </a:p>
          </p:txBody>
        </p:sp>
        <p:sp>
          <p:nvSpPr>
            <p:cNvPr id="56" name="Line 26"/>
            <p:cNvSpPr>
              <a:spLocks noChangeShapeType="1"/>
            </p:cNvSpPr>
            <p:nvPr/>
          </p:nvSpPr>
          <p:spPr bwMode="auto">
            <a:xfrm flipH="1">
              <a:off x="7083211" y="5067182"/>
              <a:ext cx="488374" cy="48605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600">
                <a:solidFill>
                  <a:srgbClr val="0000FF"/>
                </a:solidFill>
              </a:endParaRPr>
            </a:p>
          </p:txBody>
        </p:sp>
        <p:sp>
          <p:nvSpPr>
            <p:cNvPr id="57" name="Line 41"/>
            <p:cNvSpPr>
              <a:spLocks noChangeShapeType="1"/>
            </p:cNvSpPr>
            <p:nvPr/>
          </p:nvSpPr>
          <p:spPr bwMode="auto">
            <a:xfrm flipH="1">
              <a:off x="4966922" y="4311098"/>
              <a:ext cx="1085276" cy="54006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600">
                <a:solidFill>
                  <a:srgbClr val="0000FF"/>
                </a:solidFill>
              </a:endParaRPr>
            </a:p>
          </p:txBody>
        </p:sp>
        <p:sp>
          <p:nvSpPr>
            <p:cNvPr id="58" name="Line 42"/>
            <p:cNvSpPr>
              <a:spLocks noChangeShapeType="1"/>
            </p:cNvSpPr>
            <p:nvPr/>
          </p:nvSpPr>
          <p:spPr bwMode="auto">
            <a:xfrm>
              <a:off x="6432045" y="4311098"/>
              <a:ext cx="1085276" cy="54006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600">
                <a:solidFill>
                  <a:srgbClr val="0000FF"/>
                </a:solidFill>
              </a:endParaRPr>
            </a:p>
          </p:txBody>
        </p:sp>
        <p:sp>
          <p:nvSpPr>
            <p:cNvPr id="60" name="Oval 44"/>
            <p:cNvSpPr>
              <a:spLocks noChangeArrowheads="1"/>
            </p:cNvSpPr>
            <p:nvPr/>
          </p:nvSpPr>
          <p:spPr bwMode="auto">
            <a:xfrm>
              <a:off x="6811892" y="5499230"/>
              <a:ext cx="379847" cy="378042"/>
            </a:xfrm>
            <a:prstGeom prst="ellipse">
              <a:avLst/>
            </a:prstGeom>
            <a:solidFill>
              <a:schemeClr val="accent4">
                <a:lumMod val="40000"/>
                <a:lumOff val="60000"/>
              </a:schemeClr>
            </a:solidFill>
            <a:ln w="38100">
              <a:solidFill>
                <a:schemeClr val="tx1"/>
              </a:solidFill>
              <a:round/>
              <a:headEnd/>
              <a:tailEnd/>
            </a:ln>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rgbClr val="0000FF"/>
                  </a:solidFill>
                  <a:latin typeface="Times New Roman" pitchFamily="18" charset="0"/>
                </a:rPr>
                <a:t>C</a:t>
              </a:r>
              <a:endParaRPr kumimoji="1" lang="en-US" altLang="zh-CN" sz="2000">
                <a:solidFill>
                  <a:srgbClr val="0000FF"/>
                </a:solidFill>
                <a:latin typeface="Times New Roman" pitchFamily="18" charset="0"/>
              </a:endParaRPr>
            </a:p>
          </p:txBody>
        </p:sp>
        <p:sp>
          <p:nvSpPr>
            <p:cNvPr id="61" name="Oval 45"/>
            <p:cNvSpPr>
              <a:spLocks noChangeArrowheads="1"/>
            </p:cNvSpPr>
            <p:nvPr/>
          </p:nvSpPr>
          <p:spPr bwMode="auto">
            <a:xfrm>
              <a:off x="8114224" y="5499230"/>
              <a:ext cx="379847" cy="378042"/>
            </a:xfrm>
            <a:prstGeom prst="ellipse">
              <a:avLst/>
            </a:prstGeom>
            <a:solidFill>
              <a:schemeClr val="accent4">
                <a:lumMod val="40000"/>
                <a:lumOff val="60000"/>
              </a:schemeClr>
            </a:solidFill>
            <a:ln w="38100">
              <a:solidFill>
                <a:schemeClr val="tx1"/>
              </a:solidFill>
              <a:round/>
              <a:headEnd/>
              <a:tailEnd/>
            </a:ln>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rgbClr val="0000FF"/>
                  </a:solidFill>
                  <a:latin typeface="Times New Roman" pitchFamily="18" charset="0"/>
                </a:rPr>
                <a:t>E</a:t>
              </a:r>
              <a:endParaRPr kumimoji="1" lang="en-US" altLang="zh-CN" sz="2000">
                <a:solidFill>
                  <a:srgbClr val="0000FF"/>
                </a:solidFill>
                <a:latin typeface="Times New Roman" pitchFamily="18" charset="0"/>
              </a:endParaRPr>
            </a:p>
          </p:txBody>
        </p:sp>
      </p:grpSp>
    </p:spTree>
    <p:extLst>
      <p:ext uri="{BB962C8B-B14F-4D97-AF65-F5344CB8AC3E}">
        <p14:creationId xmlns:p14="http://schemas.microsoft.com/office/powerpoint/2010/main" val="50936258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504" y="44624"/>
            <a:ext cx="8229600" cy="720080"/>
          </a:xfrm>
        </p:spPr>
        <p:txBody>
          <a:bodyPr/>
          <a:lstStyle/>
          <a:p>
            <a:pPr algn="l"/>
            <a:r>
              <a:rPr lang="zh-CN" altLang="en-US" dirty="0">
                <a:latin typeface="华文行楷" panose="02010800040101010101" pitchFamily="2" charset="-122"/>
                <a:ea typeface="华文行楷" panose="02010800040101010101" pitchFamily="2" charset="-122"/>
              </a:rPr>
              <a:t>静态查找表的查找</a:t>
            </a:r>
          </a:p>
        </p:txBody>
      </p:sp>
      <p:sp>
        <p:nvSpPr>
          <p:cNvPr id="3" name="内容占位符 2"/>
          <p:cNvSpPr>
            <a:spLocks noGrp="1"/>
          </p:cNvSpPr>
          <p:nvPr>
            <p:ph idx="1"/>
          </p:nvPr>
        </p:nvSpPr>
        <p:spPr>
          <a:xfrm>
            <a:off x="179512" y="767116"/>
            <a:ext cx="8856984" cy="5832648"/>
          </a:xfrm>
        </p:spPr>
        <p:txBody>
          <a:bodyPr>
            <a:normAutofit/>
          </a:bodyPr>
          <a:lstStyle/>
          <a:p>
            <a:r>
              <a:rPr lang="zh-CN" altLang="en-US" sz="2400" dirty="0">
                <a:latin typeface="华文楷体" panose="02010600040101010101" pitchFamily="2" charset="-122"/>
                <a:ea typeface="华文楷体" panose="02010600040101010101" pitchFamily="2" charset="-122"/>
              </a:rPr>
              <a:t>静态查找表：可以用线性表</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顺序表或线性链表</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实现</a:t>
            </a:r>
            <a:endParaRPr lang="en-US" altLang="zh-CN" sz="2400" dirty="0">
              <a:latin typeface="华文楷体" panose="02010600040101010101" pitchFamily="2" charset="-122"/>
              <a:ea typeface="华文楷体" panose="02010600040101010101" pitchFamily="2" charset="-122"/>
            </a:endParaRPr>
          </a:p>
          <a:p>
            <a:r>
              <a:rPr lang="zh-CN" altLang="en-US" sz="2400" dirty="0">
                <a:latin typeface="华文楷体" panose="02010600040101010101" pitchFamily="2" charset="-122"/>
                <a:ea typeface="华文楷体" panose="02010600040101010101" pitchFamily="2" charset="-122"/>
              </a:rPr>
              <a:t>静态查找表的查找方法</a:t>
            </a:r>
            <a:endParaRPr lang="en-US" altLang="zh-CN" sz="2400" dirty="0">
              <a:latin typeface="华文楷体" panose="02010600040101010101" pitchFamily="2" charset="-122"/>
              <a:ea typeface="华文楷体" panose="02010600040101010101" pitchFamily="2" charset="-122"/>
            </a:endParaRPr>
          </a:p>
          <a:p>
            <a:pPr lvl="1"/>
            <a:r>
              <a:rPr lang="zh-CN" altLang="en-US" sz="2400" dirty="0">
                <a:latin typeface="华文楷体" panose="02010600040101010101" pitchFamily="2" charset="-122"/>
                <a:ea typeface="华文楷体" panose="02010600040101010101" pitchFamily="2" charset="-122"/>
              </a:rPr>
              <a:t>基于</a:t>
            </a:r>
            <a:r>
              <a:rPr lang="zh-CN" altLang="en-US" sz="2400" b="1" dirty="0">
                <a:solidFill>
                  <a:srgbClr val="0000FF"/>
                </a:solidFill>
                <a:latin typeface="华文楷体" panose="02010600040101010101" pitchFamily="2" charset="-122"/>
                <a:ea typeface="华文楷体" panose="02010600040101010101" pitchFamily="2" charset="-122"/>
              </a:rPr>
              <a:t>顺序表</a:t>
            </a:r>
            <a:r>
              <a:rPr lang="zh-CN" altLang="en-US" sz="2400" dirty="0">
                <a:latin typeface="华文楷体" panose="02010600040101010101" pitchFamily="2" charset="-122"/>
                <a:ea typeface="华文楷体" panose="02010600040101010101" pitchFamily="2" charset="-122"/>
              </a:rPr>
              <a:t>的查找：</a:t>
            </a:r>
            <a:r>
              <a:rPr lang="en-US" altLang="en-US" sz="2400" b="1" dirty="0" err="1">
                <a:solidFill>
                  <a:srgbClr val="0000FF"/>
                </a:solidFill>
                <a:latin typeface="华文楷体" panose="02010600040101010101" pitchFamily="2" charset="-122"/>
                <a:ea typeface="华文楷体" panose="02010600040101010101" pitchFamily="2" charset="-122"/>
              </a:rPr>
              <a:t>顺序查找</a:t>
            </a:r>
            <a:r>
              <a:rPr lang="en-US" altLang="en-US" sz="2400" b="1" dirty="0">
                <a:solidFill>
                  <a:srgbClr val="0000FF"/>
                </a:solidFill>
                <a:latin typeface="华文楷体" panose="02010600040101010101" pitchFamily="2" charset="-122"/>
                <a:ea typeface="华文楷体" panose="02010600040101010101" pitchFamily="2" charset="-122"/>
              </a:rPr>
              <a:t> </a:t>
            </a:r>
            <a:r>
              <a:rPr lang="en-US" altLang="zh-CN" sz="2400" b="1" dirty="0">
                <a:solidFill>
                  <a:srgbClr val="0000FF"/>
                </a:solidFill>
                <a:latin typeface="华文楷体" panose="02010600040101010101" pitchFamily="2" charset="-122"/>
                <a:ea typeface="华文楷体" panose="02010600040101010101" pitchFamily="2" charset="-122"/>
              </a:rPr>
              <a:t>(Sequential Search)</a:t>
            </a:r>
            <a:r>
              <a:rPr lang="zh-CN" altLang="en-US" sz="2400" dirty="0">
                <a:latin typeface="华文楷体" panose="02010600040101010101" pitchFamily="2" charset="-122"/>
                <a:ea typeface="华文楷体" panose="02010600040101010101" pitchFamily="2" charset="-122"/>
              </a:rPr>
              <a:t>，逐一比较</a:t>
            </a:r>
            <a:endParaRPr lang="en-US" altLang="zh-CN" sz="2400" dirty="0">
              <a:latin typeface="华文楷体" panose="02010600040101010101" pitchFamily="2" charset="-122"/>
              <a:ea typeface="华文楷体" panose="02010600040101010101" pitchFamily="2" charset="-122"/>
            </a:endParaRPr>
          </a:p>
          <a:p>
            <a:pPr lvl="1"/>
            <a:r>
              <a:rPr lang="zh-CN" altLang="en-US" sz="2400" dirty="0">
                <a:latin typeface="华文楷体" panose="02010600040101010101" pitchFamily="2" charset="-122"/>
                <a:ea typeface="华文楷体" panose="02010600040101010101" pitchFamily="2" charset="-122"/>
              </a:rPr>
              <a:t>基于</a:t>
            </a:r>
            <a:r>
              <a:rPr lang="zh-CN" altLang="en-US" sz="2400" b="1" dirty="0">
                <a:solidFill>
                  <a:srgbClr val="0000FF"/>
                </a:solidFill>
                <a:latin typeface="华文楷体" panose="02010600040101010101" pitchFamily="2" charset="-122"/>
                <a:ea typeface="华文楷体" panose="02010600040101010101" pitchFamily="2" charset="-122"/>
              </a:rPr>
              <a:t>有序表</a:t>
            </a:r>
            <a:r>
              <a:rPr lang="zh-CN" altLang="en-US" sz="2400" dirty="0">
                <a:latin typeface="华文楷体" panose="02010600040101010101" pitchFamily="2" charset="-122"/>
                <a:ea typeface="华文楷体" panose="02010600040101010101" pitchFamily="2" charset="-122"/>
              </a:rPr>
              <a:t>的查找</a:t>
            </a:r>
            <a:endParaRPr lang="en-US" altLang="zh-CN" sz="2400" dirty="0">
              <a:latin typeface="华文楷体" panose="02010600040101010101" pitchFamily="2" charset="-122"/>
              <a:ea typeface="华文楷体" panose="02010600040101010101" pitchFamily="2" charset="-122"/>
            </a:endParaRPr>
          </a:p>
          <a:p>
            <a:pPr lvl="2"/>
            <a:r>
              <a:rPr lang="zh-CN" altLang="en-US" b="1" dirty="0">
                <a:solidFill>
                  <a:srgbClr val="0000FF"/>
                </a:solidFill>
                <a:latin typeface="华文楷体" panose="02010600040101010101" pitchFamily="2" charset="-122"/>
                <a:ea typeface="华文楷体" panose="02010600040101010101" pitchFamily="2" charset="-122"/>
              </a:rPr>
              <a:t>折半查找</a:t>
            </a:r>
            <a:r>
              <a:rPr lang="en-US" altLang="zh-CN" b="1" dirty="0">
                <a:solidFill>
                  <a:srgbClr val="0000FF"/>
                </a:solidFill>
                <a:latin typeface="华文楷体" panose="02010600040101010101" pitchFamily="2" charset="-122"/>
                <a:ea typeface="华文楷体" panose="02010600040101010101" pitchFamily="2" charset="-122"/>
              </a:rPr>
              <a:t>/</a:t>
            </a:r>
            <a:r>
              <a:rPr lang="en-US" altLang="en-US" b="1" dirty="0" err="1">
                <a:solidFill>
                  <a:srgbClr val="0000FF"/>
                </a:solidFill>
                <a:latin typeface="华文楷体" panose="02010600040101010101" pitchFamily="2" charset="-122"/>
                <a:ea typeface="华文楷体" panose="02010600040101010101" pitchFamily="2" charset="-122"/>
              </a:rPr>
              <a:t>二分查找</a:t>
            </a:r>
            <a:r>
              <a:rPr lang="en-US" altLang="en-US" b="1" dirty="0">
                <a:solidFill>
                  <a:srgbClr val="0000FF"/>
                </a:solidFill>
                <a:latin typeface="华文楷体" panose="02010600040101010101" pitchFamily="2" charset="-122"/>
                <a:ea typeface="华文楷体" panose="02010600040101010101" pitchFamily="2" charset="-122"/>
              </a:rPr>
              <a:t> (Binary Search)</a:t>
            </a:r>
            <a:r>
              <a:rPr lang="zh-CN" altLang="en-US" dirty="0">
                <a:latin typeface="华文楷体" panose="02010600040101010101" pitchFamily="2" charset="-122"/>
                <a:ea typeface="华文楷体" panose="02010600040101010101" pitchFamily="2" charset="-122"/>
              </a:rPr>
              <a:t>：每次对查找表进行折半缩小</a:t>
            </a:r>
            <a:endParaRPr lang="en-US" altLang="zh-CN" dirty="0">
              <a:latin typeface="华文楷体" panose="02010600040101010101" pitchFamily="2" charset="-122"/>
              <a:ea typeface="华文楷体" panose="02010600040101010101" pitchFamily="2" charset="-122"/>
            </a:endParaRPr>
          </a:p>
          <a:p>
            <a:pPr lvl="2"/>
            <a:r>
              <a:rPr lang="en-US" altLang="en-US" b="1" dirty="0">
                <a:solidFill>
                  <a:srgbClr val="0000FF"/>
                </a:solidFill>
                <a:latin typeface="华文楷体" panose="02010600040101010101" pitchFamily="2" charset="-122"/>
                <a:ea typeface="华文楷体" panose="02010600040101010101" pitchFamily="2" charset="-122"/>
              </a:rPr>
              <a:t>Fibonacci </a:t>
            </a:r>
            <a:r>
              <a:rPr lang="en-US" altLang="en-US" b="1" dirty="0" err="1">
                <a:solidFill>
                  <a:srgbClr val="0000FF"/>
                </a:solidFill>
                <a:latin typeface="华文楷体" panose="02010600040101010101" pitchFamily="2" charset="-122"/>
                <a:ea typeface="华文楷体" panose="02010600040101010101" pitchFamily="2" charset="-122"/>
              </a:rPr>
              <a:t>查找</a:t>
            </a:r>
            <a:r>
              <a:rPr lang="zh-CN" altLang="en-US" dirty="0">
                <a:latin typeface="华文楷体" panose="02010600040101010101" pitchFamily="2" charset="-122"/>
                <a:ea typeface="华文楷体" panose="02010600040101010101" pitchFamily="2" charset="-122"/>
              </a:rPr>
              <a:t>：</a:t>
            </a:r>
            <a:r>
              <a:rPr lang="en-US" altLang="en-US" dirty="0" err="1">
                <a:latin typeface="华文楷体" panose="02010600040101010101" pitchFamily="2" charset="-122"/>
                <a:ea typeface="华文楷体" panose="02010600040101010101" pitchFamily="2" charset="-122"/>
              </a:rPr>
              <a:t>根据</a:t>
            </a:r>
            <a:r>
              <a:rPr lang="en-US" altLang="en-US" dirty="0">
                <a:latin typeface="华文楷体" panose="02010600040101010101" pitchFamily="2" charset="-122"/>
                <a:ea typeface="华文楷体" panose="02010600040101010101" pitchFamily="2" charset="-122"/>
              </a:rPr>
              <a:t> Fibonacci </a:t>
            </a:r>
            <a:r>
              <a:rPr lang="en-US" altLang="en-US" dirty="0" err="1">
                <a:latin typeface="华文楷体" panose="02010600040101010101" pitchFamily="2" charset="-122"/>
                <a:ea typeface="华文楷体" panose="02010600040101010101" pitchFamily="2" charset="-122"/>
              </a:rPr>
              <a:t>数列的特点对查找表进行分割</a:t>
            </a:r>
            <a:endParaRPr lang="en-US" altLang="en-US" dirty="0">
              <a:latin typeface="华文楷体" panose="02010600040101010101" pitchFamily="2" charset="-122"/>
              <a:ea typeface="华文楷体" panose="02010600040101010101" pitchFamily="2" charset="-122"/>
            </a:endParaRPr>
          </a:p>
          <a:p>
            <a:pPr lvl="2"/>
            <a:r>
              <a:rPr lang="zh-CN" altLang="en-US" b="1" dirty="0">
                <a:solidFill>
                  <a:srgbClr val="0000FF"/>
                </a:solidFill>
                <a:latin typeface="华文楷体" panose="02010600040101010101" pitchFamily="2" charset="-122"/>
                <a:ea typeface="华文楷体" panose="02010600040101010101" pitchFamily="2" charset="-122"/>
              </a:rPr>
              <a:t>静态树表查找</a:t>
            </a:r>
          </a:p>
          <a:p>
            <a:pPr lvl="1"/>
            <a:r>
              <a:rPr lang="zh-CN" altLang="en-US" sz="2400" dirty="0">
                <a:latin typeface="华文楷体" panose="02010600040101010101" pitchFamily="2" charset="-122"/>
                <a:ea typeface="华文楷体" panose="02010600040101010101" pitchFamily="2" charset="-122"/>
              </a:rPr>
              <a:t>基于</a:t>
            </a:r>
            <a:r>
              <a:rPr lang="zh-CN" altLang="en-US" sz="2400" b="1" dirty="0">
                <a:solidFill>
                  <a:srgbClr val="0000FF"/>
                </a:solidFill>
                <a:latin typeface="华文楷体" panose="02010600040101010101" pitchFamily="2" charset="-122"/>
                <a:ea typeface="华文楷体" panose="02010600040101010101" pitchFamily="2" charset="-122"/>
              </a:rPr>
              <a:t>索引顺序表</a:t>
            </a:r>
            <a:r>
              <a:rPr lang="zh-CN" altLang="en-US" sz="2400" dirty="0">
                <a:latin typeface="华文楷体" panose="02010600040101010101" pitchFamily="2" charset="-122"/>
                <a:ea typeface="华文楷体" panose="02010600040101010101" pitchFamily="2" charset="-122"/>
              </a:rPr>
              <a:t>的查找：</a:t>
            </a:r>
            <a:r>
              <a:rPr lang="zh-CN" altLang="en-US" sz="2400" b="1" dirty="0">
                <a:solidFill>
                  <a:srgbClr val="0000FF"/>
                </a:solidFill>
                <a:latin typeface="华文楷体" panose="02010600040101010101" pitchFamily="2" charset="-122"/>
                <a:ea typeface="华文楷体" panose="02010600040101010101" pitchFamily="2" charset="-122"/>
              </a:rPr>
              <a:t>索引顺序查找</a:t>
            </a:r>
            <a:r>
              <a:rPr lang="en-US" altLang="zh-CN" sz="2400" b="1" dirty="0">
                <a:solidFill>
                  <a:srgbClr val="0000FF"/>
                </a:solidFill>
                <a:latin typeface="华文楷体" panose="02010600040101010101" pitchFamily="2" charset="-122"/>
                <a:ea typeface="华文楷体" panose="02010600040101010101" pitchFamily="2" charset="-122"/>
              </a:rPr>
              <a:t>/</a:t>
            </a:r>
            <a:r>
              <a:rPr lang="en-US" altLang="en-US" sz="2400" b="1" dirty="0" err="1">
                <a:solidFill>
                  <a:srgbClr val="0000FF"/>
                </a:solidFill>
                <a:latin typeface="华文楷体" panose="02010600040101010101" pitchFamily="2" charset="-122"/>
                <a:ea typeface="华文楷体" panose="02010600040101010101" pitchFamily="2" charset="-122"/>
              </a:rPr>
              <a:t>分块查找</a:t>
            </a:r>
            <a:r>
              <a:rPr lang="en-US" altLang="en-US" sz="2400" b="1" dirty="0">
                <a:solidFill>
                  <a:srgbClr val="0000FF"/>
                </a:solidFill>
                <a:latin typeface="华文楷体" panose="02010600040101010101" pitchFamily="2" charset="-122"/>
                <a:ea typeface="华文楷体" panose="02010600040101010101" pitchFamily="2" charset="-122"/>
              </a:rPr>
              <a:t> (Blocking Search)</a:t>
            </a:r>
            <a:r>
              <a:rPr lang="zh-CN" altLang="en-US" sz="2400" dirty="0">
                <a:latin typeface="华文楷体" panose="02010600040101010101" pitchFamily="2" charset="-122"/>
                <a:ea typeface="华文楷体" panose="02010600040101010101" pitchFamily="2" charset="-122"/>
              </a:rPr>
              <a:t>，基于顺序表和其索引的查找</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35</a:t>
            </a:fld>
            <a:endParaRPr lang="zh-CN" altLang="en-US"/>
          </a:p>
        </p:txBody>
      </p:sp>
    </p:spTree>
    <p:extLst>
      <p:ext uri="{BB962C8B-B14F-4D97-AF65-F5344CB8AC3E}">
        <p14:creationId xmlns:p14="http://schemas.microsoft.com/office/powerpoint/2010/main" val="1415761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5496" y="72008"/>
            <a:ext cx="8229600" cy="720080"/>
          </a:xfrm>
        </p:spPr>
        <p:txBody>
          <a:bodyPr>
            <a:normAutofit/>
          </a:bodyPr>
          <a:lstStyle/>
          <a:p>
            <a:pPr algn="l"/>
            <a:r>
              <a:rPr lang="en-US" altLang="en-US" dirty="0">
                <a:latin typeface="华文琥珀" panose="02010800040101010101" pitchFamily="2" charset="-122"/>
                <a:ea typeface="华文琥珀" panose="02010800040101010101" pitchFamily="2" charset="-122"/>
              </a:rPr>
              <a:t>3 </a:t>
            </a:r>
            <a:r>
              <a:rPr lang="en-US" altLang="en-US" dirty="0" err="1">
                <a:latin typeface="华文琥珀" panose="02010800040101010101" pitchFamily="2" charset="-122"/>
                <a:ea typeface="华文琥珀" panose="02010800040101010101" pitchFamily="2" charset="-122"/>
              </a:rPr>
              <a:t>动态查找</a:t>
            </a:r>
            <a:r>
              <a:rPr lang="zh-CN" altLang="en-US" dirty="0">
                <a:latin typeface="华文琥珀" panose="02010800040101010101" pitchFamily="2" charset="-122"/>
                <a:ea typeface="华文琥珀" panose="02010800040101010101" pitchFamily="2" charset="-122"/>
              </a:rPr>
              <a:t>表的</a:t>
            </a:r>
            <a:r>
              <a:rPr lang="en-US" altLang="zh-CN" dirty="0">
                <a:latin typeface="华文琥珀" panose="02010800040101010101" pitchFamily="2" charset="-122"/>
                <a:ea typeface="华文琥珀" panose="02010800040101010101" pitchFamily="2" charset="-122"/>
              </a:rPr>
              <a:t>ADT</a:t>
            </a:r>
            <a:endParaRPr lang="en-US" dirty="0">
              <a:latin typeface="华文琥珀" panose="02010800040101010101" pitchFamily="2" charset="-122"/>
              <a:ea typeface="华文琥珀" panose="02010800040101010101" pitchFamily="2" charset="-122"/>
            </a:endParaRPr>
          </a:p>
        </p:txBody>
      </p:sp>
      <p:sp>
        <p:nvSpPr>
          <p:cNvPr id="3" name="内容占位符 2"/>
          <p:cNvSpPr>
            <a:spLocks noGrp="1"/>
          </p:cNvSpPr>
          <p:nvPr>
            <p:ph idx="1"/>
          </p:nvPr>
        </p:nvSpPr>
        <p:spPr>
          <a:xfrm>
            <a:off x="179512" y="980728"/>
            <a:ext cx="8363272" cy="5832648"/>
          </a:xfrm>
        </p:spPr>
        <p:txBody>
          <a:bodyPr>
            <a:normAutofit fontScale="92500"/>
          </a:bodyPr>
          <a:lstStyle/>
          <a:p>
            <a:pPr marL="0" indent="0">
              <a:buNone/>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ADT </a:t>
            </a:r>
            <a:r>
              <a:rPr lang="en-US" altLang="zh-CN" dirty="0" err="1">
                <a:latin typeface="Times New Roman" panose="02020603050405020304" pitchFamily="18" charset="0"/>
                <a:ea typeface="华文楷体" panose="02010600040101010101" pitchFamily="2" charset="-122"/>
                <a:cs typeface="Times New Roman" panose="02020603050405020304" pitchFamily="18" charset="0"/>
              </a:rPr>
              <a:t>DynamicSearchTable</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a:t>
            </a:r>
          </a:p>
          <a:p>
            <a:pPr marL="0" indent="357188">
              <a:buNone/>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3000" dirty="0">
                <a:latin typeface="Times New Roman" panose="02020603050405020304" pitchFamily="18" charset="0"/>
                <a:ea typeface="华文楷体" panose="02010600040101010101" pitchFamily="2" charset="-122"/>
                <a:cs typeface="Times New Roman" panose="02020603050405020304" pitchFamily="18" charset="0"/>
              </a:rPr>
              <a:t>数据对象</a:t>
            </a:r>
            <a:r>
              <a:rPr lang="en-US" altLang="zh-CN" sz="3000" dirty="0">
                <a:latin typeface="Times New Roman" panose="02020603050405020304" pitchFamily="18" charset="0"/>
                <a:ea typeface="华文楷体" panose="02010600040101010101" pitchFamily="2" charset="-122"/>
                <a:cs typeface="Times New Roman" panose="02020603050405020304" pitchFamily="18" charset="0"/>
              </a:rPr>
              <a:t>D</a:t>
            </a:r>
            <a:r>
              <a:rPr lang="zh-CN" altLang="en-US" sz="30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000" dirty="0">
                <a:latin typeface="Times New Roman" panose="02020603050405020304" pitchFamily="18" charset="0"/>
                <a:ea typeface="华文楷体" panose="02010600040101010101" pitchFamily="2" charset="-122"/>
                <a:cs typeface="Times New Roman" panose="02020603050405020304" pitchFamily="18" charset="0"/>
              </a:rPr>
              <a:t>D</a:t>
            </a:r>
            <a:r>
              <a:rPr lang="zh-CN" altLang="en-US" sz="3000" dirty="0">
                <a:latin typeface="Times New Roman" panose="02020603050405020304" pitchFamily="18" charset="0"/>
                <a:ea typeface="华文楷体" panose="02010600040101010101" pitchFamily="2" charset="-122"/>
                <a:cs typeface="Times New Roman" panose="02020603050405020304" pitchFamily="18" charset="0"/>
              </a:rPr>
              <a:t>是具有相同特性的数据元素的集合</a:t>
            </a:r>
            <a:endParaRPr lang="en-US" altLang="zh-CN" sz="3000" dirty="0">
              <a:latin typeface="Times New Roman" panose="02020603050405020304" pitchFamily="18" charset="0"/>
              <a:ea typeface="华文楷体" panose="02010600040101010101" pitchFamily="2" charset="-122"/>
              <a:cs typeface="Times New Roman" panose="02020603050405020304" pitchFamily="18" charset="0"/>
            </a:endParaRPr>
          </a:p>
          <a:p>
            <a:pPr marL="0" indent="357188">
              <a:buNone/>
            </a:pPr>
            <a:r>
              <a:rPr lang="zh-CN" altLang="en-US" sz="3000" dirty="0">
                <a:latin typeface="Times New Roman" panose="02020603050405020304" pitchFamily="18" charset="0"/>
                <a:ea typeface="华文楷体" panose="02010600040101010101" pitchFamily="2" charset="-122"/>
                <a:cs typeface="Times New Roman" panose="02020603050405020304" pitchFamily="18" charset="0"/>
              </a:rPr>
              <a:t> 数据关系</a:t>
            </a:r>
            <a:r>
              <a:rPr lang="en-US" altLang="zh-CN" sz="3000" dirty="0">
                <a:latin typeface="Times New Roman" panose="02020603050405020304" pitchFamily="18" charset="0"/>
                <a:ea typeface="华文楷体" panose="02010600040101010101" pitchFamily="2" charset="-122"/>
                <a:cs typeface="Times New Roman" panose="02020603050405020304" pitchFamily="18" charset="0"/>
              </a:rPr>
              <a:t>R</a:t>
            </a:r>
            <a:r>
              <a:rPr lang="zh-CN" altLang="en-US" sz="3000" dirty="0">
                <a:latin typeface="Times New Roman" panose="02020603050405020304" pitchFamily="18" charset="0"/>
                <a:ea typeface="华文楷体" panose="02010600040101010101" pitchFamily="2" charset="-122"/>
                <a:cs typeface="Times New Roman" panose="02020603050405020304" pitchFamily="18" charset="0"/>
              </a:rPr>
              <a:t>：数据元素同属一个集合</a:t>
            </a:r>
            <a:endParaRPr lang="en-US" altLang="zh-CN" sz="3000" dirty="0">
              <a:latin typeface="Times New Roman" panose="02020603050405020304" pitchFamily="18" charset="0"/>
              <a:ea typeface="华文楷体" panose="02010600040101010101" pitchFamily="2" charset="-122"/>
              <a:cs typeface="Times New Roman" panose="02020603050405020304" pitchFamily="18" charset="0"/>
            </a:endParaRPr>
          </a:p>
          <a:p>
            <a:pPr marL="0" indent="357188">
              <a:buNone/>
            </a:pPr>
            <a:r>
              <a:rPr lang="zh-CN" altLang="en-US" sz="3000" dirty="0">
                <a:latin typeface="Times New Roman" panose="02020603050405020304" pitchFamily="18" charset="0"/>
                <a:ea typeface="华文楷体" panose="02010600040101010101" pitchFamily="2" charset="-122"/>
                <a:cs typeface="Times New Roman" panose="02020603050405020304" pitchFamily="18" charset="0"/>
              </a:rPr>
              <a:t> 基本操作</a:t>
            </a:r>
            <a:r>
              <a:rPr lang="en-US" altLang="zh-CN" sz="3000" dirty="0">
                <a:latin typeface="Times New Roman" panose="02020603050405020304" pitchFamily="18" charset="0"/>
                <a:ea typeface="华文楷体" panose="02010600040101010101" pitchFamily="2" charset="-122"/>
                <a:cs typeface="Times New Roman" panose="02020603050405020304" pitchFamily="18" charset="0"/>
              </a:rPr>
              <a:t>P</a:t>
            </a:r>
            <a:r>
              <a:rPr lang="zh-CN" altLang="en-US" sz="30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3000" dirty="0">
              <a:latin typeface="Times New Roman" panose="02020603050405020304" pitchFamily="18" charset="0"/>
              <a:ea typeface="华文楷体" panose="02010600040101010101" pitchFamily="2" charset="-122"/>
              <a:cs typeface="Times New Roman" panose="02020603050405020304" pitchFamily="18" charset="0"/>
            </a:endParaRPr>
          </a:p>
          <a:p>
            <a:pPr marL="0" indent="1257300">
              <a:buNone/>
            </a:pPr>
            <a:r>
              <a:rPr lang="en-US" sz="3000" dirty="0">
                <a:latin typeface="Times New Roman" panose="02020603050405020304" pitchFamily="18" charset="0"/>
                <a:ea typeface="华文楷体" panose="02010600040101010101" pitchFamily="2" charset="-122"/>
                <a:cs typeface="Times New Roman" panose="02020603050405020304" pitchFamily="18" charset="0"/>
              </a:rPr>
              <a:t>    </a:t>
            </a:r>
            <a:r>
              <a:rPr lang="en-US" sz="3000" dirty="0" err="1">
                <a:latin typeface="Times New Roman" panose="02020603050405020304" pitchFamily="18" charset="0"/>
                <a:ea typeface="华文楷体" panose="02010600040101010101" pitchFamily="2" charset="-122"/>
                <a:cs typeface="Times New Roman" panose="02020603050405020304" pitchFamily="18" charset="0"/>
              </a:rPr>
              <a:t>InitDSTable</a:t>
            </a:r>
            <a:r>
              <a:rPr lang="en-US" sz="3000" dirty="0">
                <a:latin typeface="Times New Roman" panose="02020603050405020304" pitchFamily="18" charset="0"/>
                <a:ea typeface="华文楷体" panose="02010600040101010101" pitchFamily="2" charset="-122"/>
                <a:cs typeface="Times New Roman" panose="02020603050405020304" pitchFamily="18" charset="0"/>
              </a:rPr>
              <a:t>(&amp;DT);</a:t>
            </a:r>
          </a:p>
          <a:p>
            <a:pPr marL="0" indent="1257300">
              <a:buNone/>
            </a:pPr>
            <a:r>
              <a:rPr lang="en-US" sz="3000" dirty="0">
                <a:latin typeface="Times New Roman" panose="02020603050405020304" pitchFamily="18" charset="0"/>
                <a:ea typeface="华文楷体" panose="02010600040101010101" pitchFamily="2" charset="-122"/>
                <a:cs typeface="Times New Roman" panose="02020603050405020304" pitchFamily="18" charset="0"/>
              </a:rPr>
              <a:t>    </a:t>
            </a:r>
            <a:r>
              <a:rPr lang="en-US" sz="3000" dirty="0" err="1">
                <a:latin typeface="Times New Roman" panose="02020603050405020304" pitchFamily="18" charset="0"/>
                <a:ea typeface="华文楷体" panose="02010600040101010101" pitchFamily="2" charset="-122"/>
                <a:cs typeface="Times New Roman" panose="02020603050405020304" pitchFamily="18" charset="0"/>
              </a:rPr>
              <a:t>DestroyDSTable</a:t>
            </a:r>
            <a:r>
              <a:rPr lang="en-US" sz="3000" dirty="0">
                <a:latin typeface="Times New Roman" panose="02020603050405020304" pitchFamily="18" charset="0"/>
                <a:ea typeface="华文楷体" panose="02010600040101010101" pitchFamily="2" charset="-122"/>
                <a:cs typeface="Times New Roman" panose="02020603050405020304" pitchFamily="18" charset="0"/>
              </a:rPr>
              <a:t>(&amp;DT);</a:t>
            </a:r>
          </a:p>
          <a:p>
            <a:pPr marL="0" indent="1257300">
              <a:buNone/>
            </a:pPr>
            <a:r>
              <a:rPr lang="en-US" sz="3000" dirty="0">
                <a:latin typeface="Times New Roman" panose="02020603050405020304" pitchFamily="18" charset="0"/>
                <a:ea typeface="华文楷体" panose="02010600040101010101" pitchFamily="2" charset="-122"/>
                <a:cs typeface="Times New Roman" panose="02020603050405020304" pitchFamily="18" charset="0"/>
              </a:rPr>
              <a:t>    </a:t>
            </a:r>
            <a:r>
              <a:rPr lang="en-US" sz="3000" dirty="0" err="1">
                <a:latin typeface="Times New Roman" panose="02020603050405020304" pitchFamily="18" charset="0"/>
                <a:ea typeface="华文楷体" panose="02010600040101010101" pitchFamily="2" charset="-122"/>
                <a:cs typeface="Times New Roman" panose="02020603050405020304" pitchFamily="18" charset="0"/>
              </a:rPr>
              <a:t>SearchDSTable</a:t>
            </a:r>
            <a:r>
              <a:rPr lang="en-US" sz="3000" dirty="0">
                <a:latin typeface="Times New Roman" panose="02020603050405020304" pitchFamily="18" charset="0"/>
                <a:ea typeface="华文楷体" panose="02010600040101010101" pitchFamily="2" charset="-122"/>
                <a:cs typeface="Times New Roman" panose="02020603050405020304" pitchFamily="18" charset="0"/>
              </a:rPr>
              <a:t>(DT, key);</a:t>
            </a:r>
          </a:p>
          <a:p>
            <a:pPr marL="0" indent="1257300">
              <a:buNone/>
            </a:pPr>
            <a:r>
              <a:rPr lang="en-US" sz="3000" dirty="0">
                <a:latin typeface="Times New Roman" panose="02020603050405020304" pitchFamily="18" charset="0"/>
                <a:ea typeface="华文楷体" panose="02010600040101010101" pitchFamily="2" charset="-122"/>
                <a:cs typeface="Times New Roman" panose="02020603050405020304" pitchFamily="18" charset="0"/>
              </a:rPr>
              <a:t>    </a:t>
            </a:r>
            <a:r>
              <a:rPr lang="en-US" sz="3000" dirty="0" err="1">
                <a:latin typeface="Times New Roman" panose="02020603050405020304" pitchFamily="18" charset="0"/>
                <a:ea typeface="华文楷体" panose="02010600040101010101" pitchFamily="2" charset="-122"/>
                <a:cs typeface="Times New Roman" panose="02020603050405020304" pitchFamily="18" charset="0"/>
              </a:rPr>
              <a:t>InsertDSTable</a:t>
            </a:r>
            <a:r>
              <a:rPr lang="en-US" sz="3000" dirty="0">
                <a:latin typeface="Times New Roman" panose="02020603050405020304" pitchFamily="18" charset="0"/>
                <a:ea typeface="华文楷体" panose="02010600040101010101" pitchFamily="2" charset="-122"/>
                <a:cs typeface="Times New Roman" panose="02020603050405020304" pitchFamily="18" charset="0"/>
              </a:rPr>
              <a:t>(&amp;DT, e);</a:t>
            </a:r>
          </a:p>
          <a:p>
            <a:pPr marL="0" indent="1257300">
              <a:buNone/>
            </a:pPr>
            <a:r>
              <a:rPr lang="en-US" sz="3000" dirty="0">
                <a:latin typeface="Times New Roman" panose="02020603050405020304" pitchFamily="18" charset="0"/>
                <a:ea typeface="华文楷体" panose="02010600040101010101" pitchFamily="2" charset="-122"/>
                <a:cs typeface="Times New Roman" panose="02020603050405020304" pitchFamily="18" charset="0"/>
              </a:rPr>
              <a:t>    </a:t>
            </a:r>
            <a:r>
              <a:rPr lang="en-US" sz="3000" dirty="0" err="1">
                <a:latin typeface="Times New Roman" panose="02020603050405020304" pitchFamily="18" charset="0"/>
                <a:ea typeface="华文楷体" panose="02010600040101010101" pitchFamily="2" charset="-122"/>
                <a:cs typeface="Times New Roman" panose="02020603050405020304" pitchFamily="18" charset="0"/>
              </a:rPr>
              <a:t>DeleteDSTable</a:t>
            </a:r>
            <a:r>
              <a:rPr lang="en-US" sz="3000" dirty="0">
                <a:latin typeface="Times New Roman" panose="02020603050405020304" pitchFamily="18" charset="0"/>
                <a:ea typeface="华文楷体" panose="02010600040101010101" pitchFamily="2" charset="-122"/>
                <a:cs typeface="Times New Roman" panose="02020603050405020304" pitchFamily="18" charset="0"/>
              </a:rPr>
              <a:t>(&amp;DT, key);</a:t>
            </a:r>
          </a:p>
          <a:p>
            <a:pPr marL="0" indent="1257300">
              <a:buNone/>
            </a:pPr>
            <a:r>
              <a:rPr lang="en-US" sz="3000" dirty="0">
                <a:latin typeface="Times New Roman" panose="02020603050405020304" pitchFamily="18" charset="0"/>
                <a:ea typeface="华文楷体" panose="02010600040101010101" pitchFamily="2" charset="-122"/>
                <a:cs typeface="Times New Roman" panose="02020603050405020304" pitchFamily="18" charset="0"/>
              </a:rPr>
              <a:t>    </a:t>
            </a:r>
            <a:r>
              <a:rPr lang="en-US" sz="3000" dirty="0" err="1">
                <a:latin typeface="Times New Roman" panose="02020603050405020304" pitchFamily="18" charset="0"/>
                <a:ea typeface="华文楷体" panose="02010600040101010101" pitchFamily="2" charset="-122"/>
                <a:cs typeface="Times New Roman" panose="02020603050405020304" pitchFamily="18" charset="0"/>
              </a:rPr>
              <a:t>TraverseDSTable</a:t>
            </a:r>
            <a:r>
              <a:rPr lang="en-US" sz="3000" dirty="0">
                <a:latin typeface="Times New Roman" panose="02020603050405020304" pitchFamily="18" charset="0"/>
                <a:ea typeface="华文楷体" panose="02010600040101010101" pitchFamily="2" charset="-122"/>
                <a:cs typeface="Times New Roman" panose="02020603050405020304" pitchFamily="18" charset="0"/>
              </a:rPr>
              <a:t>(DT, Visit());</a:t>
            </a:r>
          </a:p>
          <a:p>
            <a:pPr marL="0" indent="0">
              <a:buNone/>
            </a:pPr>
            <a:r>
              <a:rPr lang="en-US" dirty="0">
                <a:latin typeface="Times New Roman" panose="02020603050405020304" pitchFamily="18" charset="0"/>
                <a:ea typeface="华文楷体" panose="02010600040101010101" pitchFamily="2" charset="-122"/>
                <a:cs typeface="Times New Roman" panose="02020603050405020304" pitchFamily="18" charset="0"/>
              </a:rPr>
              <a:t>}ADT </a:t>
            </a:r>
            <a:r>
              <a:rPr lang="en-US" dirty="0" err="1">
                <a:latin typeface="Times New Roman" panose="02020603050405020304" pitchFamily="18" charset="0"/>
                <a:ea typeface="华文楷体" panose="02010600040101010101" pitchFamily="2" charset="-122"/>
                <a:cs typeface="Times New Roman" panose="02020603050405020304" pitchFamily="18" charset="0"/>
              </a:rPr>
              <a:t>DynamicSearchTable</a:t>
            </a:r>
            <a:endParaRPr 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36</a:t>
            </a:fld>
            <a:endParaRPr lang="zh-CN" altLang="en-US"/>
          </a:p>
        </p:txBody>
      </p:sp>
    </p:spTree>
    <p:extLst>
      <p:ext uri="{BB962C8B-B14F-4D97-AF65-F5344CB8AC3E}">
        <p14:creationId xmlns:p14="http://schemas.microsoft.com/office/powerpoint/2010/main" val="102584728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504" y="44624"/>
            <a:ext cx="8640960" cy="677803"/>
          </a:xfrm>
        </p:spPr>
        <p:txBody>
          <a:bodyPr>
            <a:normAutofit fontScale="90000"/>
          </a:bodyPr>
          <a:lstStyle/>
          <a:p>
            <a:pPr algn="l"/>
            <a:r>
              <a:rPr lang="zh-CN" altLang="en-US" dirty="0">
                <a:latin typeface="华文新魏" panose="02010800040101010101" pitchFamily="2" charset="-122"/>
                <a:ea typeface="华文新魏" panose="02010800040101010101" pitchFamily="2" charset="-122"/>
              </a:rPr>
              <a:t>查找表的组织方式</a:t>
            </a:r>
          </a:p>
        </p:txBody>
      </p:sp>
      <p:sp>
        <p:nvSpPr>
          <p:cNvPr id="3" name="内容占位符 2"/>
          <p:cNvSpPr>
            <a:spLocks noGrp="1"/>
          </p:cNvSpPr>
          <p:nvPr>
            <p:ph idx="1"/>
          </p:nvPr>
        </p:nvSpPr>
        <p:spPr>
          <a:xfrm>
            <a:off x="179512" y="908720"/>
            <a:ext cx="8229600" cy="5832648"/>
          </a:xfrm>
        </p:spPr>
        <p:txBody>
          <a:bodyPr/>
          <a:lstStyle/>
          <a:p>
            <a:r>
              <a:rPr lang="zh-CN" altLang="en-US" sz="2400" dirty="0">
                <a:latin typeface="华文楷体" panose="02010600040101010101" pitchFamily="2" charset="-122"/>
                <a:ea typeface="华文楷体" panose="02010600040101010101" pitchFamily="2" charset="-122"/>
              </a:rPr>
              <a:t>若以顺序表的形式组织查找表，那么如需要对查找表进行插入、删除或排序操作，就必须移动大量的记录</a:t>
            </a:r>
            <a:endParaRPr lang="en-US" altLang="zh-CN" sz="2400" dirty="0">
              <a:latin typeface="华文楷体" panose="02010600040101010101" pitchFamily="2" charset="-122"/>
              <a:ea typeface="华文楷体" panose="02010600040101010101" pitchFamily="2" charset="-122"/>
            </a:endParaRPr>
          </a:p>
          <a:p>
            <a:pPr>
              <a:spcBef>
                <a:spcPts val="2400"/>
              </a:spcBef>
            </a:pPr>
            <a:r>
              <a:rPr lang="zh-CN" altLang="en-US" sz="2400" dirty="0">
                <a:latin typeface="华文楷体" panose="02010600040101010101" pitchFamily="2" charset="-122"/>
                <a:ea typeface="华文楷体" panose="02010600040101010101" pitchFamily="2" charset="-122"/>
              </a:rPr>
              <a:t>以</a:t>
            </a:r>
            <a:r>
              <a:rPr lang="zh-CN" altLang="en-US" sz="2400" b="1" dirty="0">
                <a:latin typeface="华文楷体" panose="02010600040101010101" pitchFamily="2" charset="-122"/>
                <a:ea typeface="华文楷体" panose="02010600040101010101" pitchFamily="2" charset="-122"/>
              </a:rPr>
              <a:t>树的形式</a:t>
            </a:r>
            <a:r>
              <a:rPr lang="zh-CN" altLang="en-US" sz="2400" dirty="0">
                <a:latin typeface="华文楷体" panose="02010600040101010101" pitchFamily="2" charset="-122"/>
                <a:ea typeface="华文楷体" panose="02010600040101010101" pitchFamily="2" charset="-122"/>
              </a:rPr>
              <a:t>组织查找表，可以对查找表进行动态、高效的查找</a:t>
            </a:r>
            <a:endParaRPr lang="en-US" altLang="zh-CN" sz="2400" dirty="0">
              <a:latin typeface="华文楷体" panose="02010600040101010101" pitchFamily="2" charset="-122"/>
              <a:ea typeface="华文楷体" panose="02010600040101010101" pitchFamily="2" charset="-122"/>
            </a:endParaRPr>
          </a:p>
          <a:p>
            <a:pPr marL="1257300" lvl="1" indent="-273050"/>
            <a:r>
              <a:rPr lang="zh-CN" altLang="en-US" sz="2400" dirty="0">
                <a:latin typeface="华文楷体" panose="02010600040101010101" pitchFamily="2" charset="-122"/>
                <a:ea typeface="华文楷体" panose="02010600040101010101" pitchFamily="2" charset="-122"/>
              </a:rPr>
              <a:t>二叉排序树</a:t>
            </a:r>
            <a:endParaRPr lang="en-US" altLang="zh-CN" sz="2400" dirty="0">
              <a:latin typeface="华文楷体" panose="02010600040101010101" pitchFamily="2" charset="-122"/>
              <a:ea typeface="华文楷体" panose="02010600040101010101" pitchFamily="2" charset="-122"/>
            </a:endParaRPr>
          </a:p>
          <a:p>
            <a:pPr marL="1257300" lvl="1" indent="-273050"/>
            <a:r>
              <a:rPr lang="zh-CN" altLang="en-US" sz="2400" dirty="0">
                <a:latin typeface="华文楷体" panose="02010600040101010101" pitchFamily="2" charset="-122"/>
                <a:ea typeface="华文楷体" panose="02010600040101010101" pitchFamily="2" charset="-122"/>
              </a:rPr>
              <a:t>平衡二叉树</a:t>
            </a:r>
            <a:endParaRPr lang="en-US" altLang="zh-CN" sz="2400" dirty="0">
              <a:latin typeface="华文楷体" panose="02010600040101010101" pitchFamily="2" charset="-122"/>
              <a:ea typeface="华文楷体" panose="02010600040101010101" pitchFamily="2" charset="-122"/>
            </a:endParaRPr>
          </a:p>
          <a:p>
            <a:pPr marL="1257300" lvl="1" indent="-273050"/>
            <a:r>
              <a:rPr lang="en-US" altLang="zh-CN" sz="2400" dirty="0">
                <a:latin typeface="华文楷体" panose="02010600040101010101" pitchFamily="2" charset="-122"/>
                <a:ea typeface="华文楷体" panose="02010600040101010101" pitchFamily="2" charset="-122"/>
              </a:rPr>
              <a:t>B</a:t>
            </a:r>
            <a:r>
              <a:rPr lang="zh-CN" altLang="en-US" sz="2400" dirty="0">
                <a:latin typeface="华文楷体" panose="02010600040101010101" pitchFamily="2" charset="-122"/>
                <a:ea typeface="华文楷体" panose="02010600040101010101" pitchFamily="2" charset="-122"/>
              </a:rPr>
              <a:t>树</a:t>
            </a:r>
            <a:endParaRPr lang="en-US" altLang="zh-CN" sz="2400" dirty="0">
              <a:latin typeface="华文楷体" panose="02010600040101010101" pitchFamily="2" charset="-122"/>
              <a:ea typeface="华文楷体" panose="02010600040101010101" pitchFamily="2" charset="-122"/>
            </a:endParaRPr>
          </a:p>
          <a:p>
            <a:pPr marL="1257300" lvl="1" indent="-273050"/>
            <a:r>
              <a:rPr lang="en-US" altLang="zh-CN" sz="2400" dirty="0">
                <a:latin typeface="华文楷体" panose="02010600040101010101" pitchFamily="2" charset="-122"/>
                <a:ea typeface="华文楷体" panose="02010600040101010101" pitchFamily="2" charset="-122"/>
              </a:rPr>
              <a:t>B+</a:t>
            </a:r>
            <a:r>
              <a:rPr lang="zh-CN" altLang="en-US" sz="2400" dirty="0">
                <a:latin typeface="华文楷体" panose="02010600040101010101" pitchFamily="2" charset="-122"/>
                <a:ea typeface="华文楷体" panose="02010600040101010101" pitchFamily="2" charset="-122"/>
              </a:rPr>
              <a:t>树</a:t>
            </a:r>
            <a:endParaRPr lang="en-US" altLang="zh-CN" sz="2400" dirty="0">
              <a:latin typeface="华文楷体" panose="02010600040101010101" pitchFamily="2" charset="-122"/>
              <a:ea typeface="华文楷体" panose="02010600040101010101" pitchFamily="2" charset="-122"/>
            </a:endParaRPr>
          </a:p>
          <a:p>
            <a:pPr marL="1257300" lvl="1" indent="-273050"/>
            <a:r>
              <a:rPr lang="zh-CN" altLang="en-US" sz="2400" dirty="0">
                <a:latin typeface="华文楷体" panose="02010600040101010101" pitchFamily="2" charset="-122"/>
                <a:ea typeface="华文楷体" panose="02010600040101010101" pitchFamily="2" charset="-122"/>
              </a:rPr>
              <a:t>键树</a:t>
            </a:r>
            <a:endParaRPr lang="en-US" altLang="zh-CN" sz="2400" dirty="0">
              <a:latin typeface="华文楷体" panose="02010600040101010101" pitchFamily="2" charset="-122"/>
              <a:ea typeface="华文楷体" panose="02010600040101010101" pitchFamily="2" charset="-122"/>
            </a:endParaRPr>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37</a:t>
            </a:fld>
            <a:endParaRPr lang="zh-CN" altLang="en-US"/>
          </a:p>
        </p:txBody>
      </p:sp>
    </p:spTree>
    <p:extLst>
      <p:ext uri="{BB962C8B-B14F-4D97-AF65-F5344CB8AC3E}">
        <p14:creationId xmlns:p14="http://schemas.microsoft.com/office/powerpoint/2010/main" val="140975350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930" name="Rectangle 2"/>
          <p:cNvSpPr>
            <a:spLocks noGrp="1" noChangeArrowheads="1"/>
          </p:cNvSpPr>
          <p:nvPr>
            <p:ph type="title"/>
          </p:nvPr>
        </p:nvSpPr>
        <p:spPr>
          <a:xfrm>
            <a:off x="0" y="-27384"/>
            <a:ext cx="8686800" cy="936104"/>
          </a:xfrm>
        </p:spPr>
        <p:txBody>
          <a:bodyPr>
            <a:normAutofit/>
          </a:bodyPr>
          <a:lstStyle/>
          <a:p>
            <a:pPr algn="l"/>
            <a:r>
              <a:rPr lang="en-US" altLang="en-US" dirty="0">
                <a:latin typeface="Times New Roman" panose="02020603050405020304" pitchFamily="18" charset="0"/>
                <a:ea typeface="隶书" panose="02010509060101010101" pitchFamily="49" charset="-122"/>
                <a:cs typeface="Times New Roman" panose="02020603050405020304" pitchFamily="18" charset="0"/>
              </a:rPr>
              <a:t>3.1 </a:t>
            </a:r>
            <a:r>
              <a:rPr lang="en-US" altLang="en-US" dirty="0" err="1">
                <a:latin typeface="Times New Roman" panose="02020603050405020304" pitchFamily="18" charset="0"/>
                <a:ea typeface="隶书" panose="02010509060101010101" pitchFamily="49" charset="-122"/>
                <a:cs typeface="Times New Roman" panose="02020603050405020304" pitchFamily="18" charset="0"/>
              </a:rPr>
              <a:t>二叉排序树</a:t>
            </a:r>
            <a:r>
              <a:rPr lang="en-US" altLang="en-US" dirty="0">
                <a:latin typeface="Times New Roman" panose="02020603050405020304" pitchFamily="18" charset="0"/>
                <a:ea typeface="隶书" panose="02010509060101010101" pitchFamily="49" charset="-122"/>
                <a:cs typeface="Times New Roman" panose="02020603050405020304" pitchFamily="18" charset="0"/>
              </a:rPr>
              <a:t>(Binary Sort Tree, BST)</a:t>
            </a:r>
          </a:p>
        </p:txBody>
      </p:sp>
      <p:sp>
        <p:nvSpPr>
          <p:cNvPr id="636931" name="Rectangle 3"/>
          <p:cNvSpPr>
            <a:spLocks noGrp="1" noChangeArrowheads="1"/>
          </p:cNvSpPr>
          <p:nvPr>
            <p:ph idx="1"/>
          </p:nvPr>
        </p:nvSpPr>
        <p:spPr>
          <a:xfrm>
            <a:off x="130130" y="908720"/>
            <a:ext cx="8229600" cy="2952328"/>
          </a:xfrm>
        </p:spPr>
        <p:txBody>
          <a:bodyPr>
            <a:normAutofit/>
          </a:bodyPr>
          <a:lstStyle/>
          <a:p>
            <a:pPr marL="0" indent="0">
              <a:buNone/>
            </a:pPr>
            <a:r>
              <a:rPr lang="en-US" altLang="en-US" sz="2400" b="1" dirty="0" err="1">
                <a:latin typeface="华文楷体" panose="02010600040101010101" pitchFamily="2" charset="-122"/>
                <a:ea typeface="华文楷体" panose="02010600040101010101" pitchFamily="2" charset="-122"/>
              </a:rPr>
              <a:t>二叉排序树或者是空树，或者是满足下列性质的二叉树</a:t>
            </a:r>
            <a:r>
              <a:rPr lang="zh-CN" altLang="en-US" sz="2400" b="1" dirty="0">
                <a:latin typeface="华文楷体" panose="02010600040101010101" pitchFamily="2" charset="-122"/>
                <a:ea typeface="华文楷体" panose="02010600040101010101" pitchFamily="2" charset="-122"/>
              </a:rPr>
              <a:t>：</a:t>
            </a:r>
            <a:endParaRPr lang="en-US" altLang="en-US" sz="2400" b="1" dirty="0">
              <a:latin typeface="华文楷体" panose="02010600040101010101" pitchFamily="2" charset="-122"/>
              <a:ea typeface="华文楷体" panose="02010600040101010101" pitchFamily="2" charset="-122"/>
            </a:endParaRPr>
          </a:p>
          <a:p>
            <a:pPr lvl="1"/>
            <a:r>
              <a:rPr lang="en-US" altLang="en-US" sz="2400" b="1" dirty="0" err="1">
                <a:latin typeface="华文楷体" panose="02010600040101010101" pitchFamily="2" charset="-122"/>
                <a:ea typeface="华文楷体" panose="02010600040101010101" pitchFamily="2" charset="-122"/>
              </a:rPr>
              <a:t>若左子树不为空，则左子树上所有结点的值</a:t>
            </a:r>
            <a:r>
              <a:rPr lang="en-US" altLang="en-US" sz="2400" b="1" dirty="0">
                <a:latin typeface="华文楷体" panose="02010600040101010101" pitchFamily="2" charset="-122"/>
                <a:ea typeface="华文楷体" panose="02010600040101010101" pitchFamily="2" charset="-122"/>
              </a:rPr>
              <a:t>(</a:t>
            </a:r>
            <a:r>
              <a:rPr lang="en-US" altLang="en-US" sz="2400" b="1" dirty="0" err="1">
                <a:latin typeface="华文楷体" panose="02010600040101010101" pitchFamily="2" charset="-122"/>
                <a:ea typeface="华文楷体" panose="02010600040101010101" pitchFamily="2" charset="-122"/>
              </a:rPr>
              <a:t>关键字</a:t>
            </a:r>
            <a:r>
              <a:rPr lang="en-US" altLang="en-US" sz="2400" b="1" dirty="0">
                <a:latin typeface="华文楷体" panose="02010600040101010101" pitchFamily="2" charset="-122"/>
                <a:ea typeface="华文楷体" panose="02010600040101010101" pitchFamily="2" charset="-122"/>
              </a:rPr>
              <a:t>)</a:t>
            </a:r>
            <a:r>
              <a:rPr lang="en-US" altLang="en-US" sz="2400" b="1" dirty="0" err="1">
                <a:latin typeface="华文楷体" panose="02010600040101010101" pitchFamily="2" charset="-122"/>
                <a:ea typeface="华文楷体" panose="02010600040101010101" pitchFamily="2" charset="-122"/>
              </a:rPr>
              <a:t>都</a:t>
            </a:r>
            <a:r>
              <a:rPr lang="en-US" altLang="en-US" sz="2400" b="1" dirty="0" err="1">
                <a:solidFill>
                  <a:schemeClr val="tx2"/>
                </a:solidFill>
                <a:latin typeface="华文楷体" panose="02010600040101010101" pitchFamily="2" charset="-122"/>
                <a:ea typeface="华文楷体" panose="02010600040101010101" pitchFamily="2" charset="-122"/>
              </a:rPr>
              <a:t>小于</a:t>
            </a:r>
            <a:r>
              <a:rPr lang="en-US" altLang="en-US" sz="2400" b="1" dirty="0" err="1">
                <a:latin typeface="华文楷体" panose="02010600040101010101" pitchFamily="2" charset="-122"/>
                <a:ea typeface="华文楷体" panose="02010600040101010101" pitchFamily="2" charset="-122"/>
              </a:rPr>
              <a:t>根结点的值</a:t>
            </a:r>
            <a:r>
              <a:rPr lang="en-US" altLang="en-US" sz="2400" b="1" dirty="0">
                <a:latin typeface="华文楷体" panose="02010600040101010101" pitchFamily="2" charset="-122"/>
                <a:ea typeface="华文楷体" panose="02010600040101010101" pitchFamily="2" charset="-122"/>
              </a:rPr>
              <a:t>；</a:t>
            </a:r>
          </a:p>
          <a:p>
            <a:pPr lvl="1"/>
            <a:r>
              <a:rPr lang="en-US" altLang="en-US" sz="2400" b="1" dirty="0" err="1">
                <a:latin typeface="华文楷体" panose="02010600040101010101" pitchFamily="2" charset="-122"/>
                <a:ea typeface="华文楷体" panose="02010600040101010101" pitchFamily="2" charset="-122"/>
              </a:rPr>
              <a:t>若右子树不为空，则右子树上所有结点的值</a:t>
            </a:r>
            <a:r>
              <a:rPr lang="en-US" altLang="en-US" sz="2400" b="1" dirty="0">
                <a:latin typeface="华文楷体" panose="02010600040101010101" pitchFamily="2" charset="-122"/>
                <a:ea typeface="华文楷体" panose="02010600040101010101" pitchFamily="2" charset="-122"/>
              </a:rPr>
              <a:t>(</a:t>
            </a:r>
            <a:r>
              <a:rPr lang="en-US" altLang="en-US" sz="2400" b="1" dirty="0" err="1">
                <a:latin typeface="华文楷体" panose="02010600040101010101" pitchFamily="2" charset="-122"/>
                <a:ea typeface="华文楷体" panose="02010600040101010101" pitchFamily="2" charset="-122"/>
              </a:rPr>
              <a:t>关键字</a:t>
            </a:r>
            <a:r>
              <a:rPr lang="en-US" altLang="en-US" sz="2400" b="1" dirty="0">
                <a:latin typeface="华文楷体" panose="02010600040101010101" pitchFamily="2" charset="-122"/>
                <a:ea typeface="华文楷体" panose="02010600040101010101" pitchFamily="2" charset="-122"/>
              </a:rPr>
              <a:t>)</a:t>
            </a:r>
            <a:r>
              <a:rPr lang="en-US" altLang="en-US" sz="2400" b="1" dirty="0" err="1">
                <a:latin typeface="华文楷体" panose="02010600040101010101" pitchFamily="2" charset="-122"/>
                <a:ea typeface="华文楷体" panose="02010600040101010101" pitchFamily="2" charset="-122"/>
              </a:rPr>
              <a:t>都</a:t>
            </a:r>
            <a:r>
              <a:rPr lang="en-US" altLang="en-US" sz="2400" b="1" dirty="0" err="1">
                <a:solidFill>
                  <a:schemeClr val="tx2"/>
                </a:solidFill>
                <a:latin typeface="华文楷体" panose="02010600040101010101" pitchFamily="2" charset="-122"/>
                <a:ea typeface="华文楷体" panose="02010600040101010101" pitchFamily="2" charset="-122"/>
              </a:rPr>
              <a:t>大于</a:t>
            </a:r>
            <a:r>
              <a:rPr lang="en-US" altLang="en-US" sz="2400" b="1" dirty="0" err="1">
                <a:latin typeface="华文楷体" panose="02010600040101010101" pitchFamily="2" charset="-122"/>
                <a:ea typeface="华文楷体" panose="02010600040101010101" pitchFamily="2" charset="-122"/>
              </a:rPr>
              <a:t>根结点的值</a:t>
            </a:r>
            <a:r>
              <a:rPr lang="en-US" altLang="en-US" sz="2400" b="1" dirty="0">
                <a:latin typeface="华文楷体" panose="02010600040101010101" pitchFamily="2" charset="-122"/>
                <a:ea typeface="华文楷体" panose="02010600040101010101" pitchFamily="2" charset="-122"/>
              </a:rPr>
              <a:t>；</a:t>
            </a:r>
          </a:p>
          <a:p>
            <a:pPr lvl="1"/>
            <a:r>
              <a:rPr lang="zh-CN" altLang="en-US" sz="2400" b="1" dirty="0">
                <a:latin typeface="华文楷体" panose="02010600040101010101" pitchFamily="2" charset="-122"/>
                <a:ea typeface="华文楷体" panose="02010600040101010101" pitchFamily="2" charset="-122"/>
              </a:rPr>
              <a:t>左、右子树都分别是二叉排序树</a:t>
            </a:r>
            <a:endParaRPr lang="en-US" altLang="zh-CN" sz="2400" b="1" dirty="0">
              <a:latin typeface="华文楷体" panose="02010600040101010101" pitchFamily="2" charset="-122"/>
              <a:ea typeface="华文楷体" panose="02010600040101010101" pitchFamily="2" charset="-122"/>
            </a:endParaRPr>
          </a:p>
          <a:p>
            <a:pPr lvl="1"/>
            <a:r>
              <a:rPr lang="zh-CN" altLang="en-US" sz="2400" b="1" dirty="0">
                <a:latin typeface="华文楷体" panose="02010600040101010101" pitchFamily="2" charset="-122"/>
                <a:ea typeface="华文楷体" panose="02010600040101010101" pitchFamily="2" charset="-122"/>
              </a:rPr>
              <a:t>每个结点的</a:t>
            </a:r>
            <a:r>
              <a:rPr lang="en-US" altLang="zh-CN" sz="2400" b="1" dirty="0">
                <a:latin typeface="华文楷体" panose="02010600040101010101" pitchFamily="2" charset="-122"/>
                <a:ea typeface="华文楷体" panose="02010600040101010101" pitchFamily="2" charset="-122"/>
              </a:rPr>
              <a:t>Key</a:t>
            </a:r>
            <a:r>
              <a:rPr lang="zh-CN" altLang="en-US" sz="2400" b="1" dirty="0">
                <a:latin typeface="华文楷体" panose="02010600040101010101" pitchFamily="2" charset="-122"/>
                <a:ea typeface="华文楷体" panose="02010600040101010101" pitchFamily="2" charset="-122"/>
              </a:rPr>
              <a:t>互不相同</a:t>
            </a:r>
            <a:endParaRPr lang="en-US" altLang="zh-CN" sz="2400" b="1" dirty="0">
              <a:latin typeface="华文楷体" panose="02010600040101010101" pitchFamily="2" charset="-122"/>
              <a:ea typeface="华文楷体" panose="02010600040101010101" pitchFamily="2" charset="-122"/>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38</a:t>
            </a:fld>
            <a:endParaRPr lang="zh-CN" altLang="en-US"/>
          </a:p>
        </p:txBody>
      </p:sp>
      <p:sp>
        <p:nvSpPr>
          <p:cNvPr id="3" name="TextBox 2"/>
          <p:cNvSpPr txBox="1"/>
          <p:nvPr/>
        </p:nvSpPr>
        <p:spPr>
          <a:xfrm>
            <a:off x="397598" y="4264223"/>
            <a:ext cx="7962132" cy="1200329"/>
          </a:xfrm>
          <a:prstGeom prst="rect">
            <a:avLst/>
          </a:prstGeom>
          <a:noFill/>
        </p:spPr>
        <p:txBody>
          <a:bodyPr wrap="square" rtlCol="0">
            <a:spAutoFit/>
          </a:bodyPr>
          <a:lstStyle/>
          <a:p>
            <a:pPr marL="342900" indent="-342900">
              <a:buFont typeface="Wingdings" panose="05000000000000000000" pitchFamily="2" charset="2"/>
              <a:buChar char="ü"/>
            </a:pPr>
            <a:r>
              <a:rPr lang="zh-CN" altLang="en-US" sz="2400" b="1" dirty="0">
                <a:solidFill>
                  <a:schemeClr val="accent6">
                    <a:lumMod val="75000"/>
                  </a:schemeClr>
                </a:solidFill>
                <a:latin typeface="华文楷体" panose="02010600040101010101" pitchFamily="2" charset="-122"/>
                <a:ea typeface="华文楷体" panose="02010600040101010101" pitchFamily="2" charset="-122"/>
              </a:rPr>
              <a:t>顺序性：任一节点均大于</a:t>
            </a:r>
            <a:r>
              <a:rPr lang="en-US" altLang="zh-CN" sz="2400" b="1" dirty="0">
                <a:solidFill>
                  <a:schemeClr val="accent6">
                    <a:lumMod val="75000"/>
                  </a:schemeClr>
                </a:solidFill>
                <a:latin typeface="华文楷体" panose="02010600040101010101" pitchFamily="2" charset="-122"/>
                <a:ea typeface="华文楷体" panose="02010600040101010101" pitchFamily="2" charset="-122"/>
              </a:rPr>
              <a:t>/</a:t>
            </a:r>
            <a:r>
              <a:rPr lang="zh-CN" altLang="en-US" sz="2400" b="1" dirty="0">
                <a:solidFill>
                  <a:schemeClr val="accent6">
                    <a:lumMod val="75000"/>
                  </a:schemeClr>
                </a:solidFill>
                <a:latin typeface="华文楷体" panose="02010600040101010101" pitchFamily="2" charset="-122"/>
                <a:ea typeface="华文楷体" panose="02010600040101010101" pitchFamily="2" charset="-122"/>
              </a:rPr>
              <a:t>小于其左</a:t>
            </a:r>
            <a:r>
              <a:rPr lang="en-US" altLang="zh-CN" sz="2400" b="1" dirty="0">
                <a:solidFill>
                  <a:schemeClr val="accent6">
                    <a:lumMod val="75000"/>
                  </a:schemeClr>
                </a:solidFill>
                <a:latin typeface="华文楷体" panose="02010600040101010101" pitchFamily="2" charset="-122"/>
                <a:ea typeface="华文楷体" panose="02010600040101010101" pitchFamily="2" charset="-122"/>
              </a:rPr>
              <a:t>/</a:t>
            </a:r>
            <a:r>
              <a:rPr lang="zh-CN" altLang="en-US" sz="2400" b="1" dirty="0">
                <a:solidFill>
                  <a:schemeClr val="accent6">
                    <a:lumMod val="75000"/>
                  </a:schemeClr>
                </a:solidFill>
                <a:latin typeface="华文楷体" panose="02010600040101010101" pitchFamily="2" charset="-122"/>
                <a:ea typeface="华文楷体" panose="02010600040101010101" pitchFamily="2" charset="-122"/>
              </a:rPr>
              <a:t>右后代</a:t>
            </a:r>
            <a:endParaRPr lang="en-US" altLang="zh-CN" sz="2400" b="1" dirty="0">
              <a:solidFill>
                <a:schemeClr val="accent6">
                  <a:lumMod val="75000"/>
                </a:schemeClr>
              </a:solidFill>
              <a:latin typeface="华文楷体" panose="02010600040101010101" pitchFamily="2" charset="-122"/>
              <a:ea typeface="华文楷体" panose="02010600040101010101" pitchFamily="2" charset="-122"/>
            </a:endParaRPr>
          </a:p>
          <a:p>
            <a:r>
              <a:rPr lang="zh-CN" altLang="en-US" sz="2400" b="1" i="1" dirty="0">
                <a:solidFill>
                  <a:srgbClr val="FF0000"/>
                </a:solidFill>
                <a:latin typeface="华文楷体" panose="02010600040101010101" pitchFamily="2" charset="-122"/>
                <a:ea typeface="华文楷体" panose="02010600040101010101" pitchFamily="2" charset="-122"/>
              </a:rPr>
              <a:t>？</a:t>
            </a:r>
            <a:r>
              <a:rPr lang="zh-CN" altLang="en-US" sz="2400" b="1" dirty="0">
                <a:latin typeface="华文楷体" panose="02010600040101010101" pitchFamily="2" charset="-122"/>
                <a:ea typeface="华文楷体" panose="02010600040101010101" pitchFamily="2" charset="-122"/>
              </a:rPr>
              <a:t>任一节点均不小于</a:t>
            </a:r>
            <a:r>
              <a:rPr lang="en-US" altLang="zh-CN" sz="2400" b="1" dirty="0">
                <a:latin typeface="华文楷体" panose="02010600040101010101" pitchFamily="2" charset="-122"/>
                <a:ea typeface="华文楷体" panose="02010600040101010101" pitchFamily="2" charset="-122"/>
              </a:rPr>
              <a:t>/</a:t>
            </a:r>
            <a:r>
              <a:rPr lang="zh-CN" altLang="en-US" sz="2400" b="1" dirty="0">
                <a:latin typeface="华文楷体" panose="02010600040101010101" pitchFamily="2" charset="-122"/>
                <a:ea typeface="华文楷体" panose="02010600040101010101" pitchFamily="2" charset="-122"/>
              </a:rPr>
              <a:t>不大于其左</a:t>
            </a:r>
            <a:r>
              <a:rPr lang="en-US" altLang="zh-CN" sz="2400" b="1" dirty="0">
                <a:latin typeface="华文楷体" panose="02010600040101010101" pitchFamily="2" charset="-122"/>
                <a:ea typeface="华文楷体" panose="02010600040101010101" pitchFamily="2" charset="-122"/>
              </a:rPr>
              <a:t>/</a:t>
            </a:r>
            <a:r>
              <a:rPr lang="zh-CN" altLang="en-US" sz="2400" b="1" dirty="0">
                <a:latin typeface="华文楷体" panose="02010600040101010101" pitchFamily="2" charset="-122"/>
                <a:ea typeface="华文楷体" panose="02010600040101010101" pitchFamily="2" charset="-122"/>
              </a:rPr>
              <a:t>右后代</a:t>
            </a:r>
            <a:endParaRPr lang="en-US" altLang="zh-CN" sz="2400" b="1" dirty="0">
              <a:latin typeface="华文楷体" panose="02010600040101010101" pitchFamily="2" charset="-122"/>
              <a:ea typeface="华文楷体" panose="02010600040101010101" pitchFamily="2" charset="-122"/>
            </a:endParaRPr>
          </a:p>
          <a:p>
            <a:r>
              <a:rPr lang="zh-CN" altLang="en-US" sz="2400" b="1" i="1" dirty="0">
                <a:solidFill>
                  <a:srgbClr val="FF0000"/>
                </a:solidFill>
                <a:latin typeface="华文楷体" panose="02010600040101010101" pitchFamily="2" charset="-122"/>
                <a:ea typeface="华文楷体" panose="02010600040101010101" pitchFamily="2" charset="-122"/>
              </a:rPr>
              <a:t>？</a:t>
            </a:r>
            <a:r>
              <a:rPr lang="zh-CN" altLang="en-US" sz="2400" b="1" dirty="0">
                <a:latin typeface="华文楷体" panose="02010600040101010101" pitchFamily="2" charset="-122"/>
                <a:ea typeface="华文楷体" panose="02010600040101010101" pitchFamily="2" charset="-122"/>
              </a:rPr>
              <a:t>任一节点均大于</a:t>
            </a:r>
            <a:r>
              <a:rPr lang="en-US" altLang="zh-CN" sz="2400" b="1" dirty="0">
                <a:latin typeface="华文楷体" panose="02010600040101010101" pitchFamily="2" charset="-122"/>
                <a:ea typeface="华文楷体" panose="02010600040101010101" pitchFamily="2" charset="-122"/>
              </a:rPr>
              <a:t>/</a:t>
            </a:r>
            <a:r>
              <a:rPr lang="zh-CN" altLang="en-US" sz="2400" b="1" dirty="0">
                <a:latin typeface="华文楷体" panose="02010600040101010101" pitchFamily="2" charset="-122"/>
                <a:ea typeface="华文楷体" panose="02010600040101010101" pitchFamily="2" charset="-122"/>
              </a:rPr>
              <a:t>小于其左</a:t>
            </a:r>
            <a:r>
              <a:rPr lang="en-US" altLang="zh-CN" sz="2400" b="1" dirty="0">
                <a:latin typeface="华文楷体" panose="02010600040101010101" pitchFamily="2" charset="-122"/>
                <a:ea typeface="华文楷体" panose="02010600040101010101" pitchFamily="2" charset="-122"/>
              </a:rPr>
              <a:t>/</a:t>
            </a:r>
            <a:r>
              <a:rPr lang="zh-CN" altLang="en-US" sz="2400" b="1" dirty="0">
                <a:latin typeface="华文楷体" panose="02010600040101010101" pitchFamily="2" charset="-122"/>
                <a:ea typeface="华文楷体" panose="02010600040101010101" pitchFamily="2" charset="-122"/>
              </a:rPr>
              <a:t>右孩子？</a:t>
            </a:r>
            <a:endParaRPr lang="en-US" altLang="zh-CN" sz="2400" b="1"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859640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pPr/>
              <a:t>39</a:t>
            </a:fld>
            <a:endParaRPr lang="zh-CN" altLang="en-US"/>
          </a:p>
        </p:txBody>
      </p:sp>
      <p:grpSp>
        <p:nvGrpSpPr>
          <p:cNvPr id="6" name="Group 4"/>
          <p:cNvGrpSpPr>
            <a:grpSpLocks/>
          </p:cNvGrpSpPr>
          <p:nvPr/>
        </p:nvGrpSpPr>
        <p:grpSpPr bwMode="auto">
          <a:xfrm>
            <a:off x="1033961" y="833807"/>
            <a:ext cx="6324600" cy="3429000"/>
            <a:chOff x="1008" y="672"/>
            <a:chExt cx="3984" cy="2160"/>
          </a:xfrm>
        </p:grpSpPr>
        <p:sp>
          <p:nvSpPr>
            <p:cNvPr id="7" name="Oval 5"/>
            <p:cNvSpPr>
              <a:spLocks noChangeArrowheads="1"/>
            </p:cNvSpPr>
            <p:nvPr/>
          </p:nvSpPr>
          <p:spPr bwMode="auto">
            <a:xfrm>
              <a:off x="2640" y="672"/>
              <a:ext cx="432" cy="336"/>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50</a:t>
              </a:r>
              <a:endParaRPr kumimoji="1" lang="en-US" altLang="zh-CN" sz="2000" dirty="0">
                <a:latin typeface="Times New Roman" pitchFamily="18" charset="0"/>
              </a:endParaRPr>
            </a:p>
          </p:txBody>
        </p:sp>
        <p:sp>
          <p:nvSpPr>
            <p:cNvPr id="8" name="Oval 6"/>
            <p:cNvSpPr>
              <a:spLocks noChangeArrowheads="1"/>
            </p:cNvSpPr>
            <p:nvPr/>
          </p:nvSpPr>
          <p:spPr bwMode="auto">
            <a:xfrm>
              <a:off x="1728" y="1008"/>
              <a:ext cx="432" cy="336"/>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30</a:t>
              </a:r>
              <a:endParaRPr kumimoji="1" lang="en-US" altLang="zh-CN" sz="2000" dirty="0">
                <a:latin typeface="Times New Roman" pitchFamily="18" charset="0"/>
              </a:endParaRPr>
            </a:p>
          </p:txBody>
        </p:sp>
        <p:sp>
          <p:nvSpPr>
            <p:cNvPr id="9" name="Oval 7"/>
            <p:cNvSpPr>
              <a:spLocks noChangeArrowheads="1"/>
            </p:cNvSpPr>
            <p:nvPr/>
          </p:nvSpPr>
          <p:spPr bwMode="auto">
            <a:xfrm>
              <a:off x="3552" y="1008"/>
              <a:ext cx="432" cy="336"/>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80</a:t>
              </a:r>
              <a:endParaRPr kumimoji="1" lang="en-US" altLang="zh-CN" sz="2000" dirty="0">
                <a:latin typeface="Times New Roman" pitchFamily="18" charset="0"/>
              </a:endParaRPr>
            </a:p>
          </p:txBody>
        </p:sp>
        <p:sp>
          <p:nvSpPr>
            <p:cNvPr id="10" name="Oval 8"/>
            <p:cNvSpPr>
              <a:spLocks noChangeArrowheads="1"/>
            </p:cNvSpPr>
            <p:nvPr/>
          </p:nvSpPr>
          <p:spPr bwMode="auto">
            <a:xfrm>
              <a:off x="1008" y="1440"/>
              <a:ext cx="432" cy="336"/>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20</a:t>
              </a:r>
              <a:endParaRPr kumimoji="1" lang="en-US" altLang="zh-CN" sz="2000" dirty="0">
                <a:latin typeface="Times New Roman" pitchFamily="18" charset="0"/>
              </a:endParaRPr>
            </a:p>
          </p:txBody>
        </p:sp>
        <p:sp>
          <p:nvSpPr>
            <p:cNvPr id="11" name="Oval 9"/>
            <p:cNvSpPr>
              <a:spLocks noChangeArrowheads="1"/>
            </p:cNvSpPr>
            <p:nvPr/>
          </p:nvSpPr>
          <p:spPr bwMode="auto">
            <a:xfrm>
              <a:off x="4272" y="1440"/>
              <a:ext cx="432" cy="336"/>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90</a:t>
              </a:r>
              <a:endParaRPr kumimoji="1" lang="en-US" altLang="zh-CN" sz="2000" dirty="0">
                <a:latin typeface="Times New Roman" pitchFamily="18" charset="0"/>
              </a:endParaRPr>
            </a:p>
          </p:txBody>
        </p:sp>
        <p:sp>
          <p:nvSpPr>
            <p:cNvPr id="12" name="Oval 10"/>
            <p:cNvSpPr>
              <a:spLocks noChangeArrowheads="1"/>
            </p:cNvSpPr>
            <p:nvPr/>
          </p:nvSpPr>
          <p:spPr bwMode="auto">
            <a:xfrm>
              <a:off x="3744" y="1968"/>
              <a:ext cx="432" cy="336"/>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85</a:t>
              </a:r>
              <a:endParaRPr kumimoji="1" lang="en-US" altLang="zh-CN" sz="2000" dirty="0">
                <a:latin typeface="Times New Roman" pitchFamily="18" charset="0"/>
              </a:endParaRPr>
            </a:p>
          </p:txBody>
        </p:sp>
        <p:sp>
          <p:nvSpPr>
            <p:cNvPr id="13" name="Oval 11"/>
            <p:cNvSpPr>
              <a:spLocks noChangeArrowheads="1"/>
            </p:cNvSpPr>
            <p:nvPr/>
          </p:nvSpPr>
          <p:spPr bwMode="auto">
            <a:xfrm>
              <a:off x="2448" y="1440"/>
              <a:ext cx="432" cy="336"/>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40</a:t>
              </a:r>
              <a:endParaRPr kumimoji="1" lang="en-US" altLang="zh-CN" sz="2000" dirty="0">
                <a:latin typeface="Times New Roman" pitchFamily="18" charset="0"/>
              </a:endParaRPr>
            </a:p>
          </p:txBody>
        </p:sp>
        <p:sp>
          <p:nvSpPr>
            <p:cNvPr id="14" name="Oval 12"/>
            <p:cNvSpPr>
              <a:spLocks noChangeArrowheads="1"/>
            </p:cNvSpPr>
            <p:nvPr/>
          </p:nvSpPr>
          <p:spPr bwMode="auto">
            <a:xfrm>
              <a:off x="1872" y="1968"/>
              <a:ext cx="432" cy="336"/>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35</a:t>
              </a:r>
              <a:endParaRPr kumimoji="1" lang="en-US" altLang="zh-CN" sz="2000" dirty="0">
                <a:latin typeface="Times New Roman" pitchFamily="18" charset="0"/>
              </a:endParaRPr>
            </a:p>
          </p:txBody>
        </p:sp>
        <p:sp>
          <p:nvSpPr>
            <p:cNvPr id="15" name="Oval 13"/>
            <p:cNvSpPr>
              <a:spLocks noChangeArrowheads="1"/>
            </p:cNvSpPr>
            <p:nvPr/>
          </p:nvSpPr>
          <p:spPr bwMode="auto">
            <a:xfrm>
              <a:off x="4560" y="2496"/>
              <a:ext cx="432" cy="336"/>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88</a:t>
              </a:r>
              <a:endParaRPr kumimoji="1" lang="en-US" altLang="zh-CN" sz="2000" dirty="0">
                <a:latin typeface="Times New Roman" pitchFamily="18" charset="0"/>
              </a:endParaRPr>
            </a:p>
          </p:txBody>
        </p:sp>
        <p:sp>
          <p:nvSpPr>
            <p:cNvPr id="16" name="Line 14"/>
            <p:cNvSpPr>
              <a:spLocks noChangeShapeType="1"/>
            </p:cNvSpPr>
            <p:nvPr/>
          </p:nvSpPr>
          <p:spPr bwMode="auto">
            <a:xfrm flipH="1">
              <a:off x="2142" y="864"/>
              <a:ext cx="498" cy="24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Line 15"/>
            <p:cNvSpPr>
              <a:spLocks noChangeShapeType="1"/>
            </p:cNvSpPr>
            <p:nvPr/>
          </p:nvSpPr>
          <p:spPr bwMode="auto">
            <a:xfrm flipH="1">
              <a:off x="1392" y="1296"/>
              <a:ext cx="336" cy="192"/>
            </a:xfrm>
            <a:prstGeom prst="line">
              <a:avLst/>
            </a:prstGeom>
            <a:noFill/>
            <a:ln w="38100">
              <a:solidFill>
                <a:srgbClr val="66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Line 16"/>
            <p:cNvSpPr>
              <a:spLocks noChangeShapeType="1"/>
            </p:cNvSpPr>
            <p:nvPr/>
          </p:nvSpPr>
          <p:spPr bwMode="auto">
            <a:xfrm>
              <a:off x="3072" y="864"/>
              <a:ext cx="498" cy="24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Line 17"/>
            <p:cNvSpPr>
              <a:spLocks noChangeShapeType="1"/>
            </p:cNvSpPr>
            <p:nvPr/>
          </p:nvSpPr>
          <p:spPr bwMode="auto">
            <a:xfrm>
              <a:off x="2142" y="1296"/>
              <a:ext cx="354" cy="192"/>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Line 18"/>
            <p:cNvSpPr>
              <a:spLocks noChangeShapeType="1"/>
            </p:cNvSpPr>
            <p:nvPr/>
          </p:nvSpPr>
          <p:spPr bwMode="auto">
            <a:xfrm flipH="1">
              <a:off x="2193" y="1728"/>
              <a:ext cx="303" cy="259"/>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Line 19"/>
            <p:cNvSpPr>
              <a:spLocks noChangeShapeType="1"/>
            </p:cNvSpPr>
            <p:nvPr/>
          </p:nvSpPr>
          <p:spPr bwMode="auto">
            <a:xfrm>
              <a:off x="3936" y="1296"/>
              <a:ext cx="384" cy="192"/>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Line 20"/>
            <p:cNvSpPr>
              <a:spLocks noChangeShapeType="1"/>
            </p:cNvSpPr>
            <p:nvPr/>
          </p:nvSpPr>
          <p:spPr bwMode="auto">
            <a:xfrm flipH="1">
              <a:off x="4032" y="1728"/>
              <a:ext cx="288" cy="24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Line 21"/>
            <p:cNvSpPr>
              <a:spLocks noChangeShapeType="1"/>
            </p:cNvSpPr>
            <p:nvPr/>
          </p:nvSpPr>
          <p:spPr bwMode="auto">
            <a:xfrm>
              <a:off x="4128" y="2256"/>
              <a:ext cx="480" cy="288"/>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Oval 22"/>
            <p:cNvSpPr>
              <a:spLocks noChangeArrowheads="1"/>
            </p:cNvSpPr>
            <p:nvPr/>
          </p:nvSpPr>
          <p:spPr bwMode="auto">
            <a:xfrm>
              <a:off x="1248" y="2496"/>
              <a:ext cx="432" cy="336"/>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32</a:t>
              </a:r>
              <a:endParaRPr kumimoji="1" lang="en-US" altLang="zh-CN" sz="2000" dirty="0">
                <a:latin typeface="Times New Roman" pitchFamily="18" charset="0"/>
              </a:endParaRPr>
            </a:p>
          </p:txBody>
        </p:sp>
        <p:sp>
          <p:nvSpPr>
            <p:cNvPr id="25" name="Line 23"/>
            <p:cNvSpPr>
              <a:spLocks noChangeShapeType="1"/>
            </p:cNvSpPr>
            <p:nvPr/>
          </p:nvSpPr>
          <p:spPr bwMode="auto">
            <a:xfrm flipH="1">
              <a:off x="1536" y="2250"/>
              <a:ext cx="385" cy="246"/>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6" name="Freeform 26"/>
          <p:cNvSpPr>
            <a:spLocks/>
          </p:cNvSpPr>
          <p:nvPr/>
        </p:nvSpPr>
        <p:spPr bwMode="auto">
          <a:xfrm>
            <a:off x="3939208" y="44624"/>
            <a:ext cx="1066800" cy="762000"/>
          </a:xfrm>
          <a:custGeom>
            <a:avLst/>
            <a:gdLst>
              <a:gd name="T0" fmla="*/ 672 w 672"/>
              <a:gd name="T1" fmla="*/ 0 h 480"/>
              <a:gd name="T2" fmla="*/ 192 w 672"/>
              <a:gd name="T3" fmla="*/ 240 h 480"/>
              <a:gd name="T4" fmla="*/ 480 w 672"/>
              <a:gd name="T5" fmla="*/ 240 h 480"/>
              <a:gd name="T6" fmla="*/ 0 w 672"/>
              <a:gd name="T7" fmla="*/ 480 h 480"/>
            </a:gdLst>
            <a:ahLst/>
            <a:cxnLst>
              <a:cxn ang="0">
                <a:pos x="T0" y="T1"/>
              </a:cxn>
              <a:cxn ang="0">
                <a:pos x="T2" y="T3"/>
              </a:cxn>
              <a:cxn ang="0">
                <a:pos x="T4" y="T5"/>
              </a:cxn>
              <a:cxn ang="0">
                <a:pos x="T6" y="T7"/>
              </a:cxn>
            </a:cxnLst>
            <a:rect l="0" t="0" r="r" b="b"/>
            <a:pathLst>
              <a:path w="672" h="480">
                <a:moveTo>
                  <a:pt x="672" y="0"/>
                </a:moveTo>
                <a:cubicBezTo>
                  <a:pt x="448" y="100"/>
                  <a:pt x="224" y="200"/>
                  <a:pt x="192" y="240"/>
                </a:cubicBezTo>
                <a:cubicBezTo>
                  <a:pt x="160" y="280"/>
                  <a:pt x="512" y="200"/>
                  <a:pt x="480" y="240"/>
                </a:cubicBezTo>
                <a:cubicBezTo>
                  <a:pt x="448" y="280"/>
                  <a:pt x="224" y="380"/>
                  <a:pt x="0" y="480"/>
                </a:cubicBezTo>
              </a:path>
            </a:pathLst>
          </a:custGeom>
          <a:noFill/>
          <a:ln w="31750">
            <a:solidFill>
              <a:srgbClr val="FF00FF"/>
            </a:solidFill>
            <a:round/>
            <a:headEn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 name="标题 1"/>
          <p:cNvSpPr>
            <a:spLocks noGrp="1"/>
          </p:cNvSpPr>
          <p:nvPr>
            <p:ph type="title"/>
          </p:nvPr>
        </p:nvSpPr>
        <p:spPr>
          <a:xfrm>
            <a:off x="179512" y="67489"/>
            <a:ext cx="8229600" cy="639018"/>
          </a:xfrm>
        </p:spPr>
        <p:txBody>
          <a:bodyPr>
            <a:normAutofit/>
          </a:bodyPr>
          <a:lstStyle/>
          <a:p>
            <a:pPr algn="l"/>
            <a:r>
              <a:rPr lang="en-US" altLang="zh-CN" sz="3200" dirty="0">
                <a:latin typeface="华文新魏" panose="02010800040101010101" pitchFamily="2" charset="-122"/>
                <a:ea typeface="华文新魏" panose="02010800040101010101" pitchFamily="2" charset="-122"/>
              </a:rPr>
              <a:t>BST</a:t>
            </a:r>
            <a:r>
              <a:rPr lang="zh-CN" altLang="en-US" sz="3200" dirty="0">
                <a:latin typeface="华文新魏" panose="02010800040101010101" pitchFamily="2" charset="-122"/>
                <a:ea typeface="华文新魏" panose="02010800040101010101" pitchFamily="2" charset="-122"/>
              </a:rPr>
              <a:t>树的顺序性</a:t>
            </a:r>
          </a:p>
        </p:txBody>
      </p:sp>
      <p:grpSp>
        <p:nvGrpSpPr>
          <p:cNvPr id="59" name="组合 58"/>
          <p:cNvGrpSpPr/>
          <p:nvPr/>
        </p:nvGrpSpPr>
        <p:grpSpPr>
          <a:xfrm>
            <a:off x="2100808" y="4653136"/>
            <a:ext cx="4271392" cy="399503"/>
            <a:chOff x="2100808" y="4653136"/>
            <a:chExt cx="4271392" cy="399503"/>
          </a:xfrm>
        </p:grpSpPr>
        <p:sp>
          <p:nvSpPr>
            <p:cNvPr id="5" name="文本框 4"/>
            <p:cNvSpPr txBox="1"/>
            <p:nvPr/>
          </p:nvSpPr>
          <p:spPr>
            <a:xfrm>
              <a:off x="2100808" y="4653136"/>
              <a:ext cx="432048" cy="369332"/>
            </a:xfrm>
            <a:prstGeom prst="rect">
              <a:avLst/>
            </a:prstGeom>
            <a:noFill/>
          </p:spPr>
          <p:txBody>
            <a:bodyPr wrap="square" rtlCol="0">
              <a:spAutoFit/>
            </a:bodyPr>
            <a:lstStyle/>
            <a:p>
              <a:r>
                <a:rPr lang="en-US" altLang="zh-CN" dirty="0"/>
                <a:t>20</a:t>
              </a:r>
              <a:endParaRPr lang="zh-CN" altLang="en-US" dirty="0"/>
            </a:p>
          </p:txBody>
        </p:sp>
        <p:sp>
          <p:nvSpPr>
            <p:cNvPr id="49" name="文本框 48"/>
            <p:cNvSpPr txBox="1"/>
            <p:nvPr/>
          </p:nvSpPr>
          <p:spPr>
            <a:xfrm>
              <a:off x="2554092" y="4655272"/>
              <a:ext cx="432048" cy="369332"/>
            </a:xfrm>
            <a:prstGeom prst="rect">
              <a:avLst/>
            </a:prstGeom>
            <a:noFill/>
          </p:spPr>
          <p:txBody>
            <a:bodyPr wrap="square" rtlCol="0">
              <a:spAutoFit/>
            </a:bodyPr>
            <a:lstStyle/>
            <a:p>
              <a:r>
                <a:rPr lang="en-US" altLang="zh-CN" dirty="0"/>
                <a:t>30</a:t>
              </a:r>
              <a:endParaRPr lang="zh-CN" altLang="en-US" dirty="0"/>
            </a:p>
          </p:txBody>
        </p:sp>
        <p:sp>
          <p:nvSpPr>
            <p:cNvPr id="50" name="文本框 49"/>
            <p:cNvSpPr txBox="1"/>
            <p:nvPr/>
          </p:nvSpPr>
          <p:spPr>
            <a:xfrm>
              <a:off x="3025502" y="4671610"/>
              <a:ext cx="432048" cy="369332"/>
            </a:xfrm>
            <a:prstGeom prst="rect">
              <a:avLst/>
            </a:prstGeom>
            <a:noFill/>
          </p:spPr>
          <p:txBody>
            <a:bodyPr wrap="square" rtlCol="0">
              <a:spAutoFit/>
            </a:bodyPr>
            <a:lstStyle/>
            <a:p>
              <a:r>
                <a:rPr lang="en-US" altLang="zh-CN" dirty="0"/>
                <a:t>32</a:t>
              </a:r>
              <a:endParaRPr lang="zh-CN" altLang="en-US" dirty="0"/>
            </a:p>
          </p:txBody>
        </p:sp>
        <p:sp>
          <p:nvSpPr>
            <p:cNvPr id="51" name="文本框 50"/>
            <p:cNvSpPr txBox="1"/>
            <p:nvPr/>
          </p:nvSpPr>
          <p:spPr>
            <a:xfrm>
              <a:off x="3463078" y="4653136"/>
              <a:ext cx="432048" cy="369332"/>
            </a:xfrm>
            <a:prstGeom prst="rect">
              <a:avLst/>
            </a:prstGeom>
            <a:noFill/>
          </p:spPr>
          <p:txBody>
            <a:bodyPr wrap="square" rtlCol="0">
              <a:spAutoFit/>
            </a:bodyPr>
            <a:lstStyle/>
            <a:p>
              <a:r>
                <a:rPr lang="en-US" altLang="zh-CN" dirty="0"/>
                <a:t>35</a:t>
              </a:r>
              <a:endParaRPr lang="zh-CN" altLang="en-US" dirty="0"/>
            </a:p>
          </p:txBody>
        </p:sp>
        <p:sp>
          <p:nvSpPr>
            <p:cNvPr id="52" name="文本框 51"/>
            <p:cNvSpPr txBox="1"/>
            <p:nvPr/>
          </p:nvSpPr>
          <p:spPr>
            <a:xfrm>
              <a:off x="3844652" y="4660515"/>
              <a:ext cx="432048" cy="369332"/>
            </a:xfrm>
            <a:prstGeom prst="rect">
              <a:avLst/>
            </a:prstGeom>
            <a:noFill/>
          </p:spPr>
          <p:txBody>
            <a:bodyPr wrap="square" rtlCol="0">
              <a:spAutoFit/>
            </a:bodyPr>
            <a:lstStyle/>
            <a:p>
              <a:r>
                <a:rPr lang="en-US" altLang="zh-CN" dirty="0"/>
                <a:t>40</a:t>
              </a:r>
              <a:endParaRPr lang="zh-CN" altLang="en-US" dirty="0"/>
            </a:p>
          </p:txBody>
        </p:sp>
        <p:sp>
          <p:nvSpPr>
            <p:cNvPr id="53" name="文本框 52"/>
            <p:cNvSpPr txBox="1"/>
            <p:nvPr/>
          </p:nvSpPr>
          <p:spPr>
            <a:xfrm>
              <a:off x="4196261" y="4674023"/>
              <a:ext cx="432048" cy="369332"/>
            </a:xfrm>
            <a:prstGeom prst="rect">
              <a:avLst/>
            </a:prstGeom>
            <a:noFill/>
          </p:spPr>
          <p:txBody>
            <a:bodyPr wrap="square" rtlCol="0">
              <a:spAutoFit/>
            </a:bodyPr>
            <a:lstStyle/>
            <a:p>
              <a:r>
                <a:rPr lang="en-US" altLang="zh-CN" dirty="0"/>
                <a:t>50</a:t>
              </a:r>
              <a:endParaRPr lang="zh-CN" altLang="en-US" dirty="0"/>
            </a:p>
          </p:txBody>
        </p:sp>
        <p:sp>
          <p:nvSpPr>
            <p:cNvPr id="54" name="文本框 53"/>
            <p:cNvSpPr txBox="1"/>
            <p:nvPr/>
          </p:nvSpPr>
          <p:spPr>
            <a:xfrm>
              <a:off x="4628899" y="4678665"/>
              <a:ext cx="432048" cy="369332"/>
            </a:xfrm>
            <a:prstGeom prst="rect">
              <a:avLst/>
            </a:prstGeom>
            <a:noFill/>
          </p:spPr>
          <p:txBody>
            <a:bodyPr wrap="square" rtlCol="0">
              <a:spAutoFit/>
            </a:bodyPr>
            <a:lstStyle/>
            <a:p>
              <a:r>
                <a:rPr lang="en-US" altLang="zh-CN" dirty="0"/>
                <a:t>80</a:t>
              </a:r>
              <a:endParaRPr lang="zh-CN" altLang="en-US" dirty="0"/>
            </a:p>
          </p:txBody>
        </p:sp>
        <p:sp>
          <p:nvSpPr>
            <p:cNvPr id="55" name="文本框 54"/>
            <p:cNvSpPr txBox="1"/>
            <p:nvPr/>
          </p:nvSpPr>
          <p:spPr>
            <a:xfrm>
              <a:off x="5040224" y="4683307"/>
              <a:ext cx="432048" cy="369332"/>
            </a:xfrm>
            <a:prstGeom prst="rect">
              <a:avLst/>
            </a:prstGeom>
            <a:noFill/>
          </p:spPr>
          <p:txBody>
            <a:bodyPr wrap="square" rtlCol="0">
              <a:spAutoFit/>
            </a:bodyPr>
            <a:lstStyle/>
            <a:p>
              <a:r>
                <a:rPr lang="en-US" altLang="zh-CN" dirty="0"/>
                <a:t>85</a:t>
              </a:r>
              <a:endParaRPr lang="zh-CN" altLang="en-US" dirty="0"/>
            </a:p>
          </p:txBody>
        </p:sp>
        <p:sp>
          <p:nvSpPr>
            <p:cNvPr id="56" name="文本框 55"/>
            <p:cNvSpPr txBox="1"/>
            <p:nvPr/>
          </p:nvSpPr>
          <p:spPr>
            <a:xfrm>
              <a:off x="5496199" y="4683307"/>
              <a:ext cx="432048" cy="369332"/>
            </a:xfrm>
            <a:prstGeom prst="rect">
              <a:avLst/>
            </a:prstGeom>
            <a:noFill/>
          </p:spPr>
          <p:txBody>
            <a:bodyPr wrap="square" rtlCol="0">
              <a:spAutoFit/>
            </a:bodyPr>
            <a:lstStyle/>
            <a:p>
              <a:r>
                <a:rPr lang="en-US" altLang="zh-CN" dirty="0"/>
                <a:t>88</a:t>
              </a:r>
              <a:endParaRPr lang="zh-CN" altLang="en-US" dirty="0"/>
            </a:p>
          </p:txBody>
        </p:sp>
        <p:sp>
          <p:nvSpPr>
            <p:cNvPr id="57" name="文本框 56"/>
            <p:cNvSpPr txBox="1"/>
            <p:nvPr/>
          </p:nvSpPr>
          <p:spPr>
            <a:xfrm>
              <a:off x="5940152" y="4674023"/>
              <a:ext cx="432048" cy="369332"/>
            </a:xfrm>
            <a:prstGeom prst="rect">
              <a:avLst/>
            </a:prstGeom>
            <a:noFill/>
          </p:spPr>
          <p:txBody>
            <a:bodyPr wrap="square" rtlCol="0">
              <a:spAutoFit/>
            </a:bodyPr>
            <a:lstStyle/>
            <a:p>
              <a:r>
                <a:rPr lang="en-US" altLang="zh-CN" dirty="0"/>
                <a:t>90</a:t>
              </a:r>
              <a:endParaRPr lang="zh-CN" altLang="en-US" dirty="0"/>
            </a:p>
          </p:txBody>
        </p:sp>
      </p:grpSp>
      <p:sp>
        <p:nvSpPr>
          <p:cNvPr id="58" name="TextBox 2"/>
          <p:cNvSpPr txBox="1"/>
          <p:nvPr/>
        </p:nvSpPr>
        <p:spPr>
          <a:xfrm>
            <a:off x="491542" y="5387978"/>
            <a:ext cx="7962132" cy="830997"/>
          </a:xfrm>
          <a:prstGeom prst="rect">
            <a:avLst/>
          </a:prstGeom>
          <a:noFill/>
        </p:spPr>
        <p:txBody>
          <a:bodyPr wrap="square" rtlCol="0">
            <a:spAutoFit/>
          </a:bodyPr>
          <a:lstStyle/>
          <a:p>
            <a:pPr marL="342900" indent="-342900">
              <a:buFont typeface="Wingdings" panose="05000000000000000000" pitchFamily="2" charset="2"/>
              <a:buChar char="ü"/>
            </a:pPr>
            <a:r>
              <a:rPr lang="zh-CN" altLang="en-US" sz="2400" b="1" dirty="0">
                <a:solidFill>
                  <a:schemeClr val="accent6">
                    <a:lumMod val="75000"/>
                  </a:schemeClr>
                </a:solidFill>
                <a:latin typeface="华文楷体" panose="02010600040101010101" pitchFamily="2" charset="-122"/>
                <a:ea typeface="华文楷体" panose="02010600040101010101" pitchFamily="2" charset="-122"/>
              </a:rPr>
              <a:t>单调性：</a:t>
            </a:r>
            <a:r>
              <a:rPr lang="en-US" altLang="zh-CN" sz="2400" b="1" dirty="0">
                <a:solidFill>
                  <a:schemeClr val="accent6">
                    <a:lumMod val="75000"/>
                  </a:schemeClr>
                </a:solidFill>
                <a:latin typeface="华文楷体" panose="02010600040101010101" pitchFamily="2" charset="-122"/>
                <a:ea typeface="华文楷体" panose="02010600040101010101" pitchFamily="2" charset="-122"/>
              </a:rPr>
              <a:t>BST</a:t>
            </a:r>
            <a:r>
              <a:rPr lang="zh-CN" altLang="en-US" sz="2400" b="1" dirty="0">
                <a:solidFill>
                  <a:schemeClr val="accent6">
                    <a:lumMod val="75000"/>
                  </a:schemeClr>
                </a:solidFill>
                <a:latin typeface="华文楷体" panose="02010600040101010101" pitchFamily="2" charset="-122"/>
                <a:ea typeface="华文楷体" panose="02010600040101010101" pitchFamily="2" charset="-122"/>
              </a:rPr>
              <a:t>的中序遍历序列必然是单调非降</a:t>
            </a:r>
            <a:endParaRPr lang="en-US" altLang="zh-CN" sz="2400" b="1" dirty="0">
              <a:solidFill>
                <a:schemeClr val="accent6">
                  <a:lumMod val="75000"/>
                </a:schemeClr>
              </a:solidFill>
              <a:latin typeface="华文楷体" panose="02010600040101010101" pitchFamily="2" charset="-122"/>
              <a:ea typeface="华文楷体" panose="02010600040101010101" pitchFamily="2" charset="-122"/>
            </a:endParaRPr>
          </a:p>
          <a:p>
            <a:pPr marL="342900" indent="-342900">
              <a:buFont typeface="Wingdings" panose="05000000000000000000" pitchFamily="2" charset="2"/>
              <a:buChar char="ü"/>
            </a:pPr>
            <a:r>
              <a:rPr lang="zh-CN" altLang="en-US" sz="2400" b="1" dirty="0">
                <a:solidFill>
                  <a:schemeClr val="accent6">
                    <a:lumMod val="75000"/>
                  </a:schemeClr>
                </a:solidFill>
                <a:latin typeface="华文楷体" panose="02010600040101010101" pitchFamily="2" charset="-122"/>
                <a:ea typeface="华文楷体" panose="02010600040101010101" pitchFamily="2" charset="-122"/>
              </a:rPr>
              <a:t>这一性质也是</a:t>
            </a:r>
            <a:r>
              <a:rPr lang="en-US" altLang="zh-CN" sz="2400" b="1" dirty="0">
                <a:solidFill>
                  <a:schemeClr val="accent6">
                    <a:lumMod val="75000"/>
                  </a:schemeClr>
                </a:solidFill>
                <a:latin typeface="华文楷体" panose="02010600040101010101" pitchFamily="2" charset="-122"/>
                <a:ea typeface="华文楷体" panose="02010600040101010101" pitchFamily="2" charset="-122"/>
              </a:rPr>
              <a:t>BST</a:t>
            </a:r>
            <a:r>
              <a:rPr lang="zh-CN" altLang="en-US" sz="2400" b="1" dirty="0">
                <a:solidFill>
                  <a:schemeClr val="accent6">
                    <a:lumMod val="75000"/>
                  </a:schemeClr>
                </a:solidFill>
                <a:latin typeface="华文楷体" panose="02010600040101010101" pitchFamily="2" charset="-122"/>
                <a:ea typeface="华文楷体" panose="02010600040101010101" pitchFamily="2" charset="-122"/>
              </a:rPr>
              <a:t>树的充要条件</a:t>
            </a:r>
            <a:endParaRPr lang="en-US" altLang="zh-CN" sz="2400" b="1" dirty="0">
              <a:solidFill>
                <a:schemeClr val="accent6">
                  <a:lumMod val="75000"/>
                </a:schemeClr>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72302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up)">
                                      <p:cBhvr>
                                        <p:cTn id="7" dur="500"/>
                                        <p:tgtEl>
                                          <p:spTgt spid="26"/>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5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500" y="38621"/>
            <a:ext cx="8229600" cy="631304"/>
          </a:xfrm>
        </p:spPr>
        <p:txBody>
          <a:bodyPr>
            <a:normAutofit/>
          </a:bodyPr>
          <a:lstStyle/>
          <a:p>
            <a:pPr algn="l"/>
            <a:r>
              <a:rPr lang="zh-CN" altLang="en-US" sz="3200" dirty="0">
                <a:latin typeface="华文新魏" panose="02010800040101010101" pitchFamily="2" charset="-122"/>
                <a:ea typeface="华文新魏" panose="02010800040101010101" pitchFamily="2" charset="-122"/>
              </a:rPr>
              <a:t>二叉排序树查找举例</a:t>
            </a:r>
            <a:endParaRPr lang="en-US" sz="3200" dirty="0">
              <a:latin typeface="华文新魏" panose="02010800040101010101" pitchFamily="2" charset="-122"/>
              <a:ea typeface="华文新魏" panose="02010800040101010101" pitchFamily="2" charset="-122"/>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40</a:t>
            </a:fld>
            <a:endParaRPr lang="zh-CN" altLang="en-US"/>
          </a:p>
        </p:txBody>
      </p:sp>
      <p:grpSp>
        <p:nvGrpSpPr>
          <p:cNvPr id="6" name="Group 4"/>
          <p:cNvGrpSpPr>
            <a:grpSpLocks/>
          </p:cNvGrpSpPr>
          <p:nvPr/>
        </p:nvGrpSpPr>
        <p:grpSpPr bwMode="auto">
          <a:xfrm>
            <a:off x="1835696" y="1093068"/>
            <a:ext cx="6324600" cy="3429000"/>
            <a:chOff x="1008" y="672"/>
            <a:chExt cx="3984" cy="2160"/>
          </a:xfrm>
        </p:grpSpPr>
        <p:sp>
          <p:nvSpPr>
            <p:cNvPr id="7" name="Oval 5"/>
            <p:cNvSpPr>
              <a:spLocks noChangeArrowheads="1"/>
            </p:cNvSpPr>
            <p:nvPr/>
          </p:nvSpPr>
          <p:spPr bwMode="auto">
            <a:xfrm>
              <a:off x="2640" y="672"/>
              <a:ext cx="432" cy="336"/>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50</a:t>
              </a:r>
              <a:endParaRPr kumimoji="1" lang="en-US" altLang="zh-CN" sz="2000" dirty="0">
                <a:latin typeface="Times New Roman" pitchFamily="18" charset="0"/>
              </a:endParaRPr>
            </a:p>
          </p:txBody>
        </p:sp>
        <p:sp>
          <p:nvSpPr>
            <p:cNvPr id="8" name="Oval 6"/>
            <p:cNvSpPr>
              <a:spLocks noChangeArrowheads="1"/>
            </p:cNvSpPr>
            <p:nvPr/>
          </p:nvSpPr>
          <p:spPr bwMode="auto">
            <a:xfrm>
              <a:off x="1728" y="1008"/>
              <a:ext cx="432" cy="336"/>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30</a:t>
              </a:r>
              <a:endParaRPr kumimoji="1" lang="en-US" altLang="zh-CN" sz="2000" dirty="0">
                <a:latin typeface="Times New Roman" pitchFamily="18" charset="0"/>
              </a:endParaRPr>
            </a:p>
          </p:txBody>
        </p:sp>
        <p:sp>
          <p:nvSpPr>
            <p:cNvPr id="9" name="Oval 7"/>
            <p:cNvSpPr>
              <a:spLocks noChangeArrowheads="1"/>
            </p:cNvSpPr>
            <p:nvPr/>
          </p:nvSpPr>
          <p:spPr bwMode="auto">
            <a:xfrm>
              <a:off x="3552" y="1008"/>
              <a:ext cx="432" cy="336"/>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80</a:t>
              </a:r>
              <a:endParaRPr kumimoji="1" lang="en-US" altLang="zh-CN" sz="2000" dirty="0">
                <a:latin typeface="Times New Roman" pitchFamily="18" charset="0"/>
              </a:endParaRPr>
            </a:p>
          </p:txBody>
        </p:sp>
        <p:sp>
          <p:nvSpPr>
            <p:cNvPr id="10" name="Oval 8"/>
            <p:cNvSpPr>
              <a:spLocks noChangeArrowheads="1"/>
            </p:cNvSpPr>
            <p:nvPr/>
          </p:nvSpPr>
          <p:spPr bwMode="auto">
            <a:xfrm>
              <a:off x="1008" y="1440"/>
              <a:ext cx="432" cy="336"/>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20</a:t>
              </a:r>
              <a:endParaRPr kumimoji="1" lang="en-US" altLang="zh-CN" sz="2000" dirty="0">
                <a:latin typeface="Times New Roman" pitchFamily="18" charset="0"/>
              </a:endParaRPr>
            </a:p>
          </p:txBody>
        </p:sp>
        <p:sp>
          <p:nvSpPr>
            <p:cNvPr id="11" name="Oval 9"/>
            <p:cNvSpPr>
              <a:spLocks noChangeArrowheads="1"/>
            </p:cNvSpPr>
            <p:nvPr/>
          </p:nvSpPr>
          <p:spPr bwMode="auto">
            <a:xfrm>
              <a:off x="4272" y="1440"/>
              <a:ext cx="432" cy="336"/>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90</a:t>
              </a:r>
              <a:endParaRPr kumimoji="1" lang="en-US" altLang="zh-CN" sz="2000" dirty="0">
                <a:latin typeface="Times New Roman" pitchFamily="18" charset="0"/>
              </a:endParaRPr>
            </a:p>
          </p:txBody>
        </p:sp>
        <p:sp>
          <p:nvSpPr>
            <p:cNvPr id="12" name="Oval 10"/>
            <p:cNvSpPr>
              <a:spLocks noChangeArrowheads="1"/>
            </p:cNvSpPr>
            <p:nvPr/>
          </p:nvSpPr>
          <p:spPr bwMode="auto">
            <a:xfrm>
              <a:off x="3744" y="1968"/>
              <a:ext cx="432" cy="336"/>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85</a:t>
              </a:r>
              <a:endParaRPr kumimoji="1" lang="en-US" altLang="zh-CN" sz="2000" dirty="0">
                <a:latin typeface="Times New Roman" pitchFamily="18" charset="0"/>
              </a:endParaRPr>
            </a:p>
          </p:txBody>
        </p:sp>
        <p:sp>
          <p:nvSpPr>
            <p:cNvPr id="13" name="Oval 11"/>
            <p:cNvSpPr>
              <a:spLocks noChangeArrowheads="1"/>
            </p:cNvSpPr>
            <p:nvPr/>
          </p:nvSpPr>
          <p:spPr bwMode="auto">
            <a:xfrm>
              <a:off x="2448" y="1440"/>
              <a:ext cx="432" cy="336"/>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40</a:t>
              </a:r>
              <a:endParaRPr kumimoji="1" lang="en-US" altLang="zh-CN" sz="2000" dirty="0">
                <a:latin typeface="Times New Roman" pitchFamily="18" charset="0"/>
              </a:endParaRPr>
            </a:p>
          </p:txBody>
        </p:sp>
        <p:sp>
          <p:nvSpPr>
            <p:cNvPr id="14" name="Oval 12"/>
            <p:cNvSpPr>
              <a:spLocks noChangeArrowheads="1"/>
            </p:cNvSpPr>
            <p:nvPr/>
          </p:nvSpPr>
          <p:spPr bwMode="auto">
            <a:xfrm>
              <a:off x="1872" y="1968"/>
              <a:ext cx="432" cy="336"/>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35</a:t>
              </a:r>
              <a:endParaRPr kumimoji="1" lang="en-US" altLang="zh-CN" sz="2000" dirty="0">
                <a:latin typeface="Times New Roman" pitchFamily="18" charset="0"/>
              </a:endParaRPr>
            </a:p>
          </p:txBody>
        </p:sp>
        <p:sp>
          <p:nvSpPr>
            <p:cNvPr id="15" name="Oval 13"/>
            <p:cNvSpPr>
              <a:spLocks noChangeArrowheads="1"/>
            </p:cNvSpPr>
            <p:nvPr/>
          </p:nvSpPr>
          <p:spPr bwMode="auto">
            <a:xfrm>
              <a:off x="4560" y="2496"/>
              <a:ext cx="432" cy="336"/>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88</a:t>
              </a:r>
              <a:endParaRPr kumimoji="1" lang="en-US" altLang="zh-CN" sz="2000" dirty="0">
                <a:latin typeface="Times New Roman" pitchFamily="18" charset="0"/>
              </a:endParaRPr>
            </a:p>
          </p:txBody>
        </p:sp>
        <p:sp>
          <p:nvSpPr>
            <p:cNvPr id="16" name="Line 14"/>
            <p:cNvSpPr>
              <a:spLocks noChangeShapeType="1"/>
            </p:cNvSpPr>
            <p:nvPr/>
          </p:nvSpPr>
          <p:spPr bwMode="auto">
            <a:xfrm flipH="1">
              <a:off x="2112" y="864"/>
              <a:ext cx="528" cy="24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Line 15"/>
            <p:cNvSpPr>
              <a:spLocks noChangeShapeType="1"/>
            </p:cNvSpPr>
            <p:nvPr/>
          </p:nvSpPr>
          <p:spPr bwMode="auto">
            <a:xfrm flipH="1">
              <a:off x="1392" y="1296"/>
              <a:ext cx="336" cy="192"/>
            </a:xfrm>
            <a:prstGeom prst="line">
              <a:avLst/>
            </a:prstGeom>
            <a:noFill/>
            <a:ln w="38100">
              <a:solidFill>
                <a:srgbClr val="66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Line 16"/>
            <p:cNvSpPr>
              <a:spLocks noChangeShapeType="1"/>
            </p:cNvSpPr>
            <p:nvPr/>
          </p:nvSpPr>
          <p:spPr bwMode="auto">
            <a:xfrm>
              <a:off x="3072" y="864"/>
              <a:ext cx="480" cy="24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Line 17"/>
            <p:cNvSpPr>
              <a:spLocks noChangeShapeType="1"/>
            </p:cNvSpPr>
            <p:nvPr/>
          </p:nvSpPr>
          <p:spPr bwMode="auto">
            <a:xfrm>
              <a:off x="2112" y="1248"/>
              <a:ext cx="384" cy="24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Line 18"/>
            <p:cNvSpPr>
              <a:spLocks noChangeShapeType="1"/>
            </p:cNvSpPr>
            <p:nvPr/>
          </p:nvSpPr>
          <p:spPr bwMode="auto">
            <a:xfrm flipH="1">
              <a:off x="2160" y="1728"/>
              <a:ext cx="336" cy="24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Line 19"/>
            <p:cNvSpPr>
              <a:spLocks noChangeShapeType="1"/>
            </p:cNvSpPr>
            <p:nvPr/>
          </p:nvSpPr>
          <p:spPr bwMode="auto">
            <a:xfrm>
              <a:off x="3936" y="1296"/>
              <a:ext cx="384" cy="192"/>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Line 20"/>
            <p:cNvSpPr>
              <a:spLocks noChangeShapeType="1"/>
            </p:cNvSpPr>
            <p:nvPr/>
          </p:nvSpPr>
          <p:spPr bwMode="auto">
            <a:xfrm flipH="1">
              <a:off x="4032" y="1728"/>
              <a:ext cx="384" cy="24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Line 21"/>
            <p:cNvSpPr>
              <a:spLocks noChangeShapeType="1"/>
            </p:cNvSpPr>
            <p:nvPr/>
          </p:nvSpPr>
          <p:spPr bwMode="auto">
            <a:xfrm>
              <a:off x="4128" y="2256"/>
              <a:ext cx="480" cy="288"/>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Oval 22"/>
            <p:cNvSpPr>
              <a:spLocks noChangeArrowheads="1"/>
            </p:cNvSpPr>
            <p:nvPr/>
          </p:nvSpPr>
          <p:spPr bwMode="auto">
            <a:xfrm>
              <a:off x="1248" y="2496"/>
              <a:ext cx="432" cy="336"/>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32</a:t>
              </a:r>
              <a:endParaRPr kumimoji="1" lang="en-US" altLang="zh-CN" sz="2000" dirty="0">
                <a:latin typeface="Times New Roman" pitchFamily="18" charset="0"/>
              </a:endParaRPr>
            </a:p>
          </p:txBody>
        </p:sp>
        <p:sp>
          <p:nvSpPr>
            <p:cNvPr id="25" name="Line 23"/>
            <p:cNvSpPr>
              <a:spLocks noChangeShapeType="1"/>
            </p:cNvSpPr>
            <p:nvPr/>
          </p:nvSpPr>
          <p:spPr bwMode="auto">
            <a:xfrm flipH="1">
              <a:off x="1536" y="2208"/>
              <a:ext cx="384" cy="288"/>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6" name="Freeform 26"/>
          <p:cNvSpPr>
            <a:spLocks/>
          </p:cNvSpPr>
          <p:nvPr/>
        </p:nvSpPr>
        <p:spPr bwMode="auto">
          <a:xfrm>
            <a:off x="4711700" y="332656"/>
            <a:ext cx="1066800" cy="762000"/>
          </a:xfrm>
          <a:custGeom>
            <a:avLst/>
            <a:gdLst>
              <a:gd name="T0" fmla="*/ 672 w 672"/>
              <a:gd name="T1" fmla="*/ 0 h 480"/>
              <a:gd name="T2" fmla="*/ 192 w 672"/>
              <a:gd name="T3" fmla="*/ 240 h 480"/>
              <a:gd name="T4" fmla="*/ 480 w 672"/>
              <a:gd name="T5" fmla="*/ 240 h 480"/>
              <a:gd name="T6" fmla="*/ 0 w 672"/>
              <a:gd name="T7" fmla="*/ 480 h 480"/>
            </a:gdLst>
            <a:ahLst/>
            <a:cxnLst>
              <a:cxn ang="0">
                <a:pos x="T0" y="T1"/>
              </a:cxn>
              <a:cxn ang="0">
                <a:pos x="T2" y="T3"/>
              </a:cxn>
              <a:cxn ang="0">
                <a:pos x="T4" y="T5"/>
              </a:cxn>
              <a:cxn ang="0">
                <a:pos x="T6" y="T7"/>
              </a:cxn>
            </a:cxnLst>
            <a:rect l="0" t="0" r="r" b="b"/>
            <a:pathLst>
              <a:path w="672" h="480">
                <a:moveTo>
                  <a:pt x="672" y="0"/>
                </a:moveTo>
                <a:cubicBezTo>
                  <a:pt x="448" y="100"/>
                  <a:pt x="224" y="200"/>
                  <a:pt x="192" y="240"/>
                </a:cubicBezTo>
                <a:cubicBezTo>
                  <a:pt x="160" y="280"/>
                  <a:pt x="512" y="200"/>
                  <a:pt x="480" y="240"/>
                </a:cubicBezTo>
                <a:cubicBezTo>
                  <a:pt x="448" y="280"/>
                  <a:pt x="224" y="380"/>
                  <a:pt x="0" y="480"/>
                </a:cubicBezTo>
              </a:path>
            </a:pathLst>
          </a:custGeom>
          <a:noFill/>
          <a:ln w="31750">
            <a:solidFill>
              <a:srgbClr val="FF00FF"/>
            </a:solidFill>
            <a:round/>
            <a:headEn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 name="Text Box 27"/>
          <p:cNvSpPr txBox="1">
            <a:spLocks noChangeArrowheads="1"/>
          </p:cNvSpPr>
          <p:nvPr/>
        </p:nvSpPr>
        <p:spPr bwMode="auto">
          <a:xfrm>
            <a:off x="1481911" y="5949950"/>
            <a:ext cx="224452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3200" b="1" dirty="0">
                <a:solidFill>
                  <a:srgbClr val="CC3300"/>
                </a:solidFill>
                <a:latin typeface="华文楷体" panose="02010600040101010101" pitchFamily="2" charset="-122"/>
                <a:ea typeface="华文楷体" panose="02010600040101010101" pitchFamily="2" charset="-122"/>
              </a:rPr>
              <a:t>查找关键字</a:t>
            </a:r>
            <a:endParaRPr kumimoji="1" lang="zh-CN" altLang="en-US" sz="3200" dirty="0">
              <a:latin typeface="华文楷体" panose="02010600040101010101" pitchFamily="2" charset="-122"/>
              <a:ea typeface="华文楷体" panose="02010600040101010101" pitchFamily="2" charset="-122"/>
            </a:endParaRPr>
          </a:p>
        </p:txBody>
      </p:sp>
      <p:sp useBgFill="1">
        <p:nvSpPr>
          <p:cNvPr id="30" name="Oval 30"/>
          <p:cNvSpPr>
            <a:spLocks noChangeArrowheads="1"/>
          </p:cNvSpPr>
          <p:nvPr/>
        </p:nvSpPr>
        <p:spPr bwMode="auto">
          <a:xfrm>
            <a:off x="4411187" y="1099599"/>
            <a:ext cx="685800" cy="533400"/>
          </a:xfrm>
          <a:prstGeom prst="ellipse">
            <a:avLst/>
          </a:prstGeom>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50</a:t>
            </a:r>
            <a:endParaRPr kumimoji="1" lang="en-US" altLang="zh-CN" sz="2000" dirty="0">
              <a:latin typeface="Times New Roman" pitchFamily="18" charset="0"/>
            </a:endParaRPr>
          </a:p>
        </p:txBody>
      </p:sp>
      <p:sp>
        <p:nvSpPr>
          <p:cNvPr id="31" name="Text Box 31"/>
          <p:cNvSpPr txBox="1">
            <a:spLocks noChangeArrowheads="1"/>
          </p:cNvSpPr>
          <p:nvPr/>
        </p:nvSpPr>
        <p:spPr bwMode="auto">
          <a:xfrm>
            <a:off x="3948282" y="6008856"/>
            <a:ext cx="7232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dirty="0">
                <a:solidFill>
                  <a:srgbClr val="3333FF"/>
                </a:solidFill>
                <a:latin typeface="Times New Roman" pitchFamily="18" charset="0"/>
              </a:rPr>
              <a:t>35 ,</a:t>
            </a:r>
            <a:endParaRPr kumimoji="1" lang="en-US" altLang="zh-CN" sz="2800" dirty="0">
              <a:latin typeface="Times New Roman" pitchFamily="18" charset="0"/>
            </a:endParaRPr>
          </a:p>
        </p:txBody>
      </p:sp>
      <p:sp>
        <p:nvSpPr>
          <p:cNvPr id="32" name="Oval 32"/>
          <p:cNvSpPr>
            <a:spLocks noChangeArrowheads="1"/>
          </p:cNvSpPr>
          <p:nvPr/>
        </p:nvSpPr>
        <p:spPr bwMode="auto">
          <a:xfrm>
            <a:off x="4432643" y="1093327"/>
            <a:ext cx="685800" cy="533400"/>
          </a:xfrm>
          <a:prstGeom prst="ellipse">
            <a:avLst/>
          </a:prstGeom>
          <a:solidFill>
            <a:srgbClr val="CCFFFF"/>
          </a:solidFill>
          <a:ln w="19050" cap="sq">
            <a:solidFill>
              <a:schemeClr val="accent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50</a:t>
            </a:r>
            <a:endParaRPr kumimoji="1" lang="en-US" altLang="zh-CN" sz="2000" dirty="0">
              <a:latin typeface="Times New Roman" pitchFamily="18" charset="0"/>
            </a:endParaRPr>
          </a:p>
        </p:txBody>
      </p:sp>
      <p:sp>
        <p:nvSpPr>
          <p:cNvPr id="33" name="Line 33"/>
          <p:cNvSpPr>
            <a:spLocks noChangeShapeType="1"/>
          </p:cNvSpPr>
          <p:nvPr/>
        </p:nvSpPr>
        <p:spPr bwMode="auto">
          <a:xfrm flipH="1">
            <a:off x="3644900" y="1551856"/>
            <a:ext cx="838200" cy="381000"/>
          </a:xfrm>
          <a:prstGeom prst="line">
            <a:avLst/>
          </a:prstGeom>
          <a:noFill/>
          <a:ln w="381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 name="Line 34"/>
          <p:cNvSpPr>
            <a:spLocks noChangeShapeType="1"/>
          </p:cNvSpPr>
          <p:nvPr/>
        </p:nvSpPr>
        <p:spPr bwMode="auto">
          <a:xfrm>
            <a:off x="3492500" y="2085256"/>
            <a:ext cx="609600" cy="381000"/>
          </a:xfrm>
          <a:prstGeom prst="line">
            <a:avLst/>
          </a:prstGeom>
          <a:noFill/>
          <a:ln w="381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 name="Line 35"/>
          <p:cNvSpPr>
            <a:spLocks noChangeShapeType="1"/>
          </p:cNvSpPr>
          <p:nvPr/>
        </p:nvSpPr>
        <p:spPr bwMode="auto">
          <a:xfrm flipH="1">
            <a:off x="3721100" y="2847256"/>
            <a:ext cx="533400" cy="381000"/>
          </a:xfrm>
          <a:prstGeom prst="line">
            <a:avLst/>
          </a:prstGeom>
          <a:noFill/>
          <a:ln w="381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 name="Oval 36"/>
          <p:cNvSpPr>
            <a:spLocks noChangeArrowheads="1"/>
          </p:cNvSpPr>
          <p:nvPr/>
        </p:nvSpPr>
        <p:spPr bwMode="auto">
          <a:xfrm>
            <a:off x="2959100" y="1628056"/>
            <a:ext cx="685800" cy="533400"/>
          </a:xfrm>
          <a:prstGeom prst="ellipse">
            <a:avLst/>
          </a:prstGeom>
          <a:solidFill>
            <a:srgbClr val="CCFFFF"/>
          </a:solidFill>
          <a:ln w="25400" cap="sq">
            <a:solidFill>
              <a:schemeClr val="accent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dirty="0">
                <a:solidFill>
                  <a:srgbClr val="990033"/>
                </a:solidFill>
                <a:latin typeface="Times New Roman" pitchFamily="18" charset="0"/>
              </a:rPr>
              <a:t>30</a:t>
            </a:r>
            <a:endParaRPr kumimoji="1" lang="en-US" altLang="zh-CN" sz="2400" dirty="0">
              <a:latin typeface="Times New Roman" pitchFamily="18" charset="0"/>
            </a:endParaRPr>
          </a:p>
        </p:txBody>
      </p:sp>
      <p:sp>
        <p:nvSpPr>
          <p:cNvPr id="37" name="Oval 37"/>
          <p:cNvSpPr>
            <a:spLocks noChangeArrowheads="1"/>
          </p:cNvSpPr>
          <p:nvPr/>
        </p:nvSpPr>
        <p:spPr bwMode="auto">
          <a:xfrm>
            <a:off x="4108855" y="2305919"/>
            <a:ext cx="685800" cy="533400"/>
          </a:xfrm>
          <a:prstGeom prst="ellipse">
            <a:avLst/>
          </a:prstGeom>
          <a:solidFill>
            <a:srgbClr val="CCFFFF"/>
          </a:solidFill>
          <a:ln w="25400" cap="sq">
            <a:solidFill>
              <a:schemeClr val="accent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40</a:t>
            </a:r>
            <a:endParaRPr kumimoji="1" lang="en-US" altLang="zh-CN" sz="2000" dirty="0">
              <a:latin typeface="Times New Roman" pitchFamily="18" charset="0"/>
            </a:endParaRPr>
          </a:p>
        </p:txBody>
      </p:sp>
      <p:sp>
        <p:nvSpPr>
          <p:cNvPr id="38" name="Oval 38"/>
          <p:cNvSpPr>
            <a:spLocks noChangeArrowheads="1"/>
          </p:cNvSpPr>
          <p:nvPr/>
        </p:nvSpPr>
        <p:spPr bwMode="auto">
          <a:xfrm>
            <a:off x="3187700" y="3136181"/>
            <a:ext cx="685800" cy="533400"/>
          </a:xfrm>
          <a:prstGeom prst="ellipse">
            <a:avLst/>
          </a:prstGeom>
          <a:solidFill>
            <a:srgbClr val="CCFFFF"/>
          </a:solidFill>
          <a:ln w="25400" cap="sq">
            <a:solidFill>
              <a:schemeClr val="accent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dirty="0">
                <a:solidFill>
                  <a:srgbClr val="3333FF"/>
                </a:solidFill>
                <a:latin typeface="Times New Roman" pitchFamily="18" charset="0"/>
              </a:rPr>
              <a:t>35</a:t>
            </a:r>
            <a:endParaRPr kumimoji="1" lang="en-US" altLang="zh-CN" sz="2000" dirty="0">
              <a:latin typeface="Times New Roman" pitchFamily="18" charset="0"/>
            </a:endParaRPr>
          </a:p>
        </p:txBody>
      </p:sp>
      <p:sp useBgFill="1">
        <p:nvSpPr>
          <p:cNvPr id="39" name="Oval 39"/>
          <p:cNvSpPr>
            <a:spLocks noChangeArrowheads="1"/>
          </p:cNvSpPr>
          <p:nvPr/>
        </p:nvSpPr>
        <p:spPr bwMode="auto">
          <a:xfrm>
            <a:off x="4425404" y="1096334"/>
            <a:ext cx="685800" cy="533400"/>
          </a:xfrm>
          <a:prstGeom prst="ellipse">
            <a:avLst/>
          </a:prstGeom>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50</a:t>
            </a:r>
            <a:endParaRPr kumimoji="1" lang="en-US" altLang="zh-CN" sz="2000" dirty="0">
              <a:latin typeface="Times New Roman" pitchFamily="18" charset="0"/>
            </a:endParaRPr>
          </a:p>
        </p:txBody>
      </p:sp>
      <p:sp>
        <p:nvSpPr>
          <p:cNvPr id="40" name="Text Box 40"/>
          <p:cNvSpPr txBox="1">
            <a:spLocks noChangeArrowheads="1"/>
          </p:cNvSpPr>
          <p:nvPr/>
        </p:nvSpPr>
        <p:spPr bwMode="auto">
          <a:xfrm>
            <a:off x="4925273" y="5993258"/>
            <a:ext cx="7232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dirty="0">
                <a:solidFill>
                  <a:srgbClr val="006600"/>
                </a:solidFill>
                <a:latin typeface="Times New Roman" pitchFamily="18" charset="0"/>
              </a:rPr>
              <a:t>90 ,</a:t>
            </a:r>
            <a:endParaRPr kumimoji="1" lang="en-US" altLang="zh-CN" sz="2800" dirty="0">
              <a:latin typeface="Times New Roman" pitchFamily="18" charset="0"/>
            </a:endParaRPr>
          </a:p>
        </p:txBody>
      </p:sp>
      <p:sp>
        <p:nvSpPr>
          <p:cNvPr id="41" name="Line 41"/>
          <p:cNvSpPr>
            <a:spLocks noChangeShapeType="1"/>
          </p:cNvSpPr>
          <p:nvPr/>
        </p:nvSpPr>
        <p:spPr bwMode="auto">
          <a:xfrm>
            <a:off x="5092700" y="1247056"/>
            <a:ext cx="914400" cy="457200"/>
          </a:xfrm>
          <a:prstGeom prst="line">
            <a:avLst/>
          </a:prstGeom>
          <a:noFill/>
          <a:ln w="38100">
            <a:solidFill>
              <a:srgbClr val="0066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 name="Line 42"/>
          <p:cNvSpPr>
            <a:spLocks noChangeShapeType="1"/>
          </p:cNvSpPr>
          <p:nvPr/>
        </p:nvSpPr>
        <p:spPr bwMode="auto">
          <a:xfrm>
            <a:off x="6540500" y="1932856"/>
            <a:ext cx="685800" cy="381000"/>
          </a:xfrm>
          <a:prstGeom prst="line">
            <a:avLst/>
          </a:prstGeom>
          <a:noFill/>
          <a:ln w="38100">
            <a:solidFill>
              <a:srgbClr val="0066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 name="Oval 43"/>
          <p:cNvSpPr>
            <a:spLocks noChangeArrowheads="1"/>
          </p:cNvSpPr>
          <p:nvPr/>
        </p:nvSpPr>
        <p:spPr bwMode="auto">
          <a:xfrm>
            <a:off x="4419772" y="1090506"/>
            <a:ext cx="685800" cy="533400"/>
          </a:xfrm>
          <a:prstGeom prst="ellipse">
            <a:avLst/>
          </a:prstGeom>
          <a:solidFill>
            <a:srgbClr val="CCFFCC"/>
          </a:solidFill>
          <a:ln w="25400" cap="sq">
            <a:solidFill>
              <a:srgbClr val="0066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A50021"/>
                </a:solidFill>
                <a:latin typeface="Times New Roman" pitchFamily="18" charset="0"/>
              </a:rPr>
              <a:t>50</a:t>
            </a:r>
            <a:endParaRPr kumimoji="1" lang="en-US" altLang="zh-CN" sz="2000" dirty="0">
              <a:latin typeface="Times New Roman" pitchFamily="18" charset="0"/>
            </a:endParaRPr>
          </a:p>
        </p:txBody>
      </p:sp>
      <p:sp>
        <p:nvSpPr>
          <p:cNvPr id="44" name="Oval 44"/>
          <p:cNvSpPr>
            <a:spLocks noChangeArrowheads="1"/>
          </p:cNvSpPr>
          <p:nvPr/>
        </p:nvSpPr>
        <p:spPr bwMode="auto">
          <a:xfrm>
            <a:off x="5854700" y="1628056"/>
            <a:ext cx="685800" cy="533400"/>
          </a:xfrm>
          <a:prstGeom prst="ellipse">
            <a:avLst/>
          </a:prstGeom>
          <a:solidFill>
            <a:srgbClr val="CCFFCC"/>
          </a:solidFill>
          <a:ln w="25400" cap="sq">
            <a:solidFill>
              <a:srgbClr val="0066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A50021"/>
                </a:solidFill>
                <a:latin typeface="Times New Roman" pitchFamily="18" charset="0"/>
              </a:rPr>
              <a:t>80</a:t>
            </a:r>
            <a:endParaRPr kumimoji="1" lang="en-US" altLang="zh-CN" sz="2000" dirty="0">
              <a:latin typeface="Times New Roman" pitchFamily="18" charset="0"/>
            </a:endParaRPr>
          </a:p>
        </p:txBody>
      </p:sp>
      <p:sp>
        <p:nvSpPr>
          <p:cNvPr id="45" name="Oval 45"/>
          <p:cNvSpPr>
            <a:spLocks noChangeArrowheads="1"/>
          </p:cNvSpPr>
          <p:nvPr/>
        </p:nvSpPr>
        <p:spPr bwMode="auto">
          <a:xfrm>
            <a:off x="6997700" y="2313856"/>
            <a:ext cx="685800" cy="533400"/>
          </a:xfrm>
          <a:prstGeom prst="ellipse">
            <a:avLst/>
          </a:prstGeom>
          <a:solidFill>
            <a:srgbClr val="CCFFCC"/>
          </a:solidFill>
          <a:ln w="25400" cap="sq">
            <a:solidFill>
              <a:srgbClr val="0066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dirty="0">
                <a:solidFill>
                  <a:srgbClr val="006600"/>
                </a:solidFill>
                <a:latin typeface="Times New Roman" pitchFamily="18" charset="0"/>
              </a:rPr>
              <a:t>90</a:t>
            </a:r>
            <a:endParaRPr kumimoji="1" lang="en-US" altLang="zh-CN" sz="2000" dirty="0">
              <a:latin typeface="Times New Roman" pitchFamily="18" charset="0"/>
            </a:endParaRPr>
          </a:p>
        </p:txBody>
      </p:sp>
      <p:sp>
        <p:nvSpPr>
          <p:cNvPr id="46" name="Text Box 46"/>
          <p:cNvSpPr txBox="1">
            <a:spLocks noChangeArrowheads="1"/>
          </p:cNvSpPr>
          <p:nvPr/>
        </p:nvSpPr>
        <p:spPr bwMode="auto">
          <a:xfrm>
            <a:off x="5791864" y="5999784"/>
            <a:ext cx="63350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dirty="0">
                <a:solidFill>
                  <a:srgbClr val="FF00FF"/>
                </a:solidFill>
                <a:latin typeface="Times New Roman" pitchFamily="18" charset="0"/>
              </a:rPr>
              <a:t>95 </a:t>
            </a:r>
            <a:endParaRPr kumimoji="1" lang="en-US" altLang="zh-CN" sz="2800" dirty="0">
              <a:latin typeface="Times New Roman" pitchFamily="18" charset="0"/>
            </a:endParaRPr>
          </a:p>
        </p:txBody>
      </p:sp>
      <p:sp>
        <p:nvSpPr>
          <p:cNvPr id="47" name="Line 47"/>
          <p:cNvSpPr>
            <a:spLocks noChangeShapeType="1"/>
          </p:cNvSpPr>
          <p:nvPr/>
        </p:nvSpPr>
        <p:spPr bwMode="auto">
          <a:xfrm>
            <a:off x="7683500" y="2542456"/>
            <a:ext cx="685800" cy="381000"/>
          </a:xfrm>
          <a:prstGeom prst="line">
            <a:avLst/>
          </a:prstGeom>
          <a:noFill/>
          <a:ln w="38100">
            <a:solidFill>
              <a:srgbClr val="FF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48" name="组合 47">
            <a:extLst>
              <a:ext uri="{FF2B5EF4-FFF2-40B4-BE49-F238E27FC236}">
                <a16:creationId xmlns="" xmlns:a16="http://schemas.microsoft.com/office/drawing/2014/main" id="{8C2F2DB1-36D8-4A7E-A9BA-CBCBC321985A}"/>
              </a:ext>
            </a:extLst>
          </p:cNvPr>
          <p:cNvGrpSpPr/>
          <p:nvPr/>
        </p:nvGrpSpPr>
        <p:grpSpPr>
          <a:xfrm>
            <a:off x="2953178" y="4812581"/>
            <a:ext cx="4271392" cy="399503"/>
            <a:chOff x="2100808" y="4653136"/>
            <a:chExt cx="4271392" cy="399503"/>
          </a:xfrm>
        </p:grpSpPr>
        <p:sp>
          <p:nvSpPr>
            <p:cNvPr id="49" name="文本框 48">
              <a:extLst>
                <a:ext uri="{FF2B5EF4-FFF2-40B4-BE49-F238E27FC236}">
                  <a16:creationId xmlns="" xmlns:a16="http://schemas.microsoft.com/office/drawing/2014/main" id="{B2763B5B-C6DC-4BA2-BB5C-EAF3687234B4}"/>
                </a:ext>
              </a:extLst>
            </p:cNvPr>
            <p:cNvSpPr txBox="1"/>
            <p:nvPr/>
          </p:nvSpPr>
          <p:spPr>
            <a:xfrm>
              <a:off x="2100808" y="4653136"/>
              <a:ext cx="432048" cy="369332"/>
            </a:xfrm>
            <a:prstGeom prst="rect">
              <a:avLst/>
            </a:prstGeom>
            <a:noFill/>
          </p:spPr>
          <p:txBody>
            <a:bodyPr wrap="square" rtlCol="0">
              <a:spAutoFit/>
            </a:bodyPr>
            <a:lstStyle/>
            <a:p>
              <a:r>
                <a:rPr lang="en-US" altLang="zh-CN" dirty="0"/>
                <a:t>20</a:t>
              </a:r>
              <a:endParaRPr lang="zh-CN" altLang="en-US" dirty="0"/>
            </a:p>
          </p:txBody>
        </p:sp>
        <p:sp>
          <p:nvSpPr>
            <p:cNvPr id="50" name="文本框 49">
              <a:extLst>
                <a:ext uri="{FF2B5EF4-FFF2-40B4-BE49-F238E27FC236}">
                  <a16:creationId xmlns="" xmlns:a16="http://schemas.microsoft.com/office/drawing/2014/main" id="{06224445-92A1-406A-9F38-5A118A8B44C1}"/>
                </a:ext>
              </a:extLst>
            </p:cNvPr>
            <p:cNvSpPr txBox="1"/>
            <p:nvPr/>
          </p:nvSpPr>
          <p:spPr>
            <a:xfrm>
              <a:off x="2554092" y="4655272"/>
              <a:ext cx="432048" cy="369332"/>
            </a:xfrm>
            <a:prstGeom prst="rect">
              <a:avLst/>
            </a:prstGeom>
            <a:noFill/>
          </p:spPr>
          <p:txBody>
            <a:bodyPr wrap="square" rtlCol="0">
              <a:spAutoFit/>
            </a:bodyPr>
            <a:lstStyle/>
            <a:p>
              <a:r>
                <a:rPr lang="en-US" altLang="zh-CN" dirty="0"/>
                <a:t>30</a:t>
              </a:r>
              <a:endParaRPr lang="zh-CN" altLang="en-US" dirty="0"/>
            </a:p>
          </p:txBody>
        </p:sp>
        <p:sp>
          <p:nvSpPr>
            <p:cNvPr id="51" name="文本框 50">
              <a:extLst>
                <a:ext uri="{FF2B5EF4-FFF2-40B4-BE49-F238E27FC236}">
                  <a16:creationId xmlns="" xmlns:a16="http://schemas.microsoft.com/office/drawing/2014/main" id="{3126A9A5-2EA9-4E88-85F2-D1E8B78AC453}"/>
                </a:ext>
              </a:extLst>
            </p:cNvPr>
            <p:cNvSpPr txBox="1"/>
            <p:nvPr/>
          </p:nvSpPr>
          <p:spPr>
            <a:xfrm>
              <a:off x="3025502" y="4671610"/>
              <a:ext cx="432048" cy="369332"/>
            </a:xfrm>
            <a:prstGeom prst="rect">
              <a:avLst/>
            </a:prstGeom>
            <a:noFill/>
          </p:spPr>
          <p:txBody>
            <a:bodyPr wrap="square" rtlCol="0">
              <a:spAutoFit/>
            </a:bodyPr>
            <a:lstStyle/>
            <a:p>
              <a:r>
                <a:rPr lang="en-US" altLang="zh-CN" dirty="0"/>
                <a:t>32</a:t>
              </a:r>
              <a:endParaRPr lang="zh-CN" altLang="en-US" dirty="0"/>
            </a:p>
          </p:txBody>
        </p:sp>
        <p:sp>
          <p:nvSpPr>
            <p:cNvPr id="52" name="文本框 51">
              <a:extLst>
                <a:ext uri="{FF2B5EF4-FFF2-40B4-BE49-F238E27FC236}">
                  <a16:creationId xmlns="" xmlns:a16="http://schemas.microsoft.com/office/drawing/2014/main" id="{95EFBB54-A7B2-43F0-B262-F0AC6D01B99E}"/>
                </a:ext>
              </a:extLst>
            </p:cNvPr>
            <p:cNvSpPr txBox="1"/>
            <p:nvPr/>
          </p:nvSpPr>
          <p:spPr>
            <a:xfrm>
              <a:off x="3463078" y="4653136"/>
              <a:ext cx="432048" cy="369332"/>
            </a:xfrm>
            <a:prstGeom prst="rect">
              <a:avLst/>
            </a:prstGeom>
            <a:noFill/>
          </p:spPr>
          <p:txBody>
            <a:bodyPr wrap="square" rtlCol="0">
              <a:spAutoFit/>
            </a:bodyPr>
            <a:lstStyle/>
            <a:p>
              <a:r>
                <a:rPr lang="en-US" altLang="zh-CN" dirty="0"/>
                <a:t>35</a:t>
              </a:r>
              <a:endParaRPr lang="zh-CN" altLang="en-US" dirty="0"/>
            </a:p>
          </p:txBody>
        </p:sp>
        <p:sp>
          <p:nvSpPr>
            <p:cNvPr id="53" name="文本框 52">
              <a:extLst>
                <a:ext uri="{FF2B5EF4-FFF2-40B4-BE49-F238E27FC236}">
                  <a16:creationId xmlns="" xmlns:a16="http://schemas.microsoft.com/office/drawing/2014/main" id="{46C5908C-C04D-40E0-BD0E-53515100C9B9}"/>
                </a:ext>
              </a:extLst>
            </p:cNvPr>
            <p:cNvSpPr txBox="1"/>
            <p:nvPr/>
          </p:nvSpPr>
          <p:spPr>
            <a:xfrm>
              <a:off x="3844652" y="4660515"/>
              <a:ext cx="432048" cy="369332"/>
            </a:xfrm>
            <a:prstGeom prst="rect">
              <a:avLst/>
            </a:prstGeom>
            <a:noFill/>
          </p:spPr>
          <p:txBody>
            <a:bodyPr wrap="square" rtlCol="0">
              <a:spAutoFit/>
            </a:bodyPr>
            <a:lstStyle/>
            <a:p>
              <a:r>
                <a:rPr lang="en-US" altLang="zh-CN" dirty="0"/>
                <a:t>40</a:t>
              </a:r>
              <a:endParaRPr lang="zh-CN" altLang="en-US" dirty="0"/>
            </a:p>
          </p:txBody>
        </p:sp>
        <p:sp>
          <p:nvSpPr>
            <p:cNvPr id="54" name="文本框 53">
              <a:extLst>
                <a:ext uri="{FF2B5EF4-FFF2-40B4-BE49-F238E27FC236}">
                  <a16:creationId xmlns="" xmlns:a16="http://schemas.microsoft.com/office/drawing/2014/main" id="{A9C16EDA-A0B4-4EC8-8AE9-91D53589F194}"/>
                </a:ext>
              </a:extLst>
            </p:cNvPr>
            <p:cNvSpPr txBox="1"/>
            <p:nvPr/>
          </p:nvSpPr>
          <p:spPr>
            <a:xfrm>
              <a:off x="4196261" y="4674023"/>
              <a:ext cx="432048" cy="369332"/>
            </a:xfrm>
            <a:prstGeom prst="rect">
              <a:avLst/>
            </a:prstGeom>
            <a:noFill/>
          </p:spPr>
          <p:txBody>
            <a:bodyPr wrap="square" rtlCol="0">
              <a:spAutoFit/>
            </a:bodyPr>
            <a:lstStyle/>
            <a:p>
              <a:r>
                <a:rPr lang="en-US" altLang="zh-CN" dirty="0"/>
                <a:t>50</a:t>
              </a:r>
              <a:endParaRPr lang="zh-CN" altLang="en-US" dirty="0"/>
            </a:p>
          </p:txBody>
        </p:sp>
        <p:sp>
          <p:nvSpPr>
            <p:cNvPr id="55" name="文本框 54">
              <a:extLst>
                <a:ext uri="{FF2B5EF4-FFF2-40B4-BE49-F238E27FC236}">
                  <a16:creationId xmlns="" xmlns:a16="http://schemas.microsoft.com/office/drawing/2014/main" id="{6D8E4320-0EC9-4555-966D-56B4CC19F8F2}"/>
                </a:ext>
              </a:extLst>
            </p:cNvPr>
            <p:cNvSpPr txBox="1"/>
            <p:nvPr/>
          </p:nvSpPr>
          <p:spPr>
            <a:xfrm>
              <a:off x="4628899" y="4678665"/>
              <a:ext cx="432048" cy="369332"/>
            </a:xfrm>
            <a:prstGeom prst="rect">
              <a:avLst/>
            </a:prstGeom>
            <a:noFill/>
          </p:spPr>
          <p:txBody>
            <a:bodyPr wrap="square" rtlCol="0">
              <a:spAutoFit/>
            </a:bodyPr>
            <a:lstStyle/>
            <a:p>
              <a:r>
                <a:rPr lang="en-US" altLang="zh-CN" dirty="0"/>
                <a:t>80</a:t>
              </a:r>
              <a:endParaRPr lang="zh-CN" altLang="en-US" dirty="0"/>
            </a:p>
          </p:txBody>
        </p:sp>
        <p:sp>
          <p:nvSpPr>
            <p:cNvPr id="56" name="文本框 55">
              <a:extLst>
                <a:ext uri="{FF2B5EF4-FFF2-40B4-BE49-F238E27FC236}">
                  <a16:creationId xmlns="" xmlns:a16="http://schemas.microsoft.com/office/drawing/2014/main" id="{67736719-2749-4A88-AE7F-9079FF9DA61B}"/>
                </a:ext>
              </a:extLst>
            </p:cNvPr>
            <p:cNvSpPr txBox="1"/>
            <p:nvPr/>
          </p:nvSpPr>
          <p:spPr>
            <a:xfrm>
              <a:off x="5040224" y="4683307"/>
              <a:ext cx="432048" cy="369332"/>
            </a:xfrm>
            <a:prstGeom prst="rect">
              <a:avLst/>
            </a:prstGeom>
            <a:noFill/>
          </p:spPr>
          <p:txBody>
            <a:bodyPr wrap="square" rtlCol="0">
              <a:spAutoFit/>
            </a:bodyPr>
            <a:lstStyle/>
            <a:p>
              <a:r>
                <a:rPr lang="en-US" altLang="zh-CN" dirty="0"/>
                <a:t>85</a:t>
              </a:r>
              <a:endParaRPr lang="zh-CN" altLang="en-US" dirty="0"/>
            </a:p>
          </p:txBody>
        </p:sp>
        <p:sp>
          <p:nvSpPr>
            <p:cNvPr id="57" name="文本框 56">
              <a:extLst>
                <a:ext uri="{FF2B5EF4-FFF2-40B4-BE49-F238E27FC236}">
                  <a16:creationId xmlns="" xmlns:a16="http://schemas.microsoft.com/office/drawing/2014/main" id="{7795A579-C65C-430E-8EBF-D3C8F72A235C}"/>
                </a:ext>
              </a:extLst>
            </p:cNvPr>
            <p:cNvSpPr txBox="1"/>
            <p:nvPr/>
          </p:nvSpPr>
          <p:spPr>
            <a:xfrm>
              <a:off x="5496199" y="4683307"/>
              <a:ext cx="432048" cy="369332"/>
            </a:xfrm>
            <a:prstGeom prst="rect">
              <a:avLst/>
            </a:prstGeom>
            <a:noFill/>
          </p:spPr>
          <p:txBody>
            <a:bodyPr wrap="square" rtlCol="0">
              <a:spAutoFit/>
            </a:bodyPr>
            <a:lstStyle/>
            <a:p>
              <a:r>
                <a:rPr lang="en-US" altLang="zh-CN" dirty="0"/>
                <a:t>88</a:t>
              </a:r>
              <a:endParaRPr lang="zh-CN" altLang="en-US" dirty="0"/>
            </a:p>
          </p:txBody>
        </p:sp>
        <p:sp>
          <p:nvSpPr>
            <p:cNvPr id="58" name="文本框 57">
              <a:extLst>
                <a:ext uri="{FF2B5EF4-FFF2-40B4-BE49-F238E27FC236}">
                  <a16:creationId xmlns="" xmlns:a16="http://schemas.microsoft.com/office/drawing/2014/main" id="{756AE9B0-FDAF-4F0F-876D-87B1D9915BBB}"/>
                </a:ext>
              </a:extLst>
            </p:cNvPr>
            <p:cNvSpPr txBox="1"/>
            <p:nvPr/>
          </p:nvSpPr>
          <p:spPr>
            <a:xfrm>
              <a:off x="5940152" y="4674023"/>
              <a:ext cx="432048" cy="369332"/>
            </a:xfrm>
            <a:prstGeom prst="rect">
              <a:avLst/>
            </a:prstGeom>
            <a:noFill/>
          </p:spPr>
          <p:txBody>
            <a:bodyPr wrap="square" rtlCol="0">
              <a:spAutoFit/>
            </a:bodyPr>
            <a:lstStyle/>
            <a:p>
              <a:r>
                <a:rPr lang="en-US" altLang="zh-CN" dirty="0"/>
                <a:t>90</a:t>
              </a:r>
              <a:endParaRPr lang="zh-CN" altLang="en-US" dirty="0"/>
            </a:p>
          </p:txBody>
        </p:sp>
      </p:grpSp>
      <p:cxnSp>
        <p:nvCxnSpPr>
          <p:cNvPr id="5" name="直接箭头连接符 4">
            <a:extLst>
              <a:ext uri="{FF2B5EF4-FFF2-40B4-BE49-F238E27FC236}">
                <a16:creationId xmlns="" xmlns:a16="http://schemas.microsoft.com/office/drawing/2014/main" id="{95028621-CCFF-4D20-B586-7D6017FA57E1}"/>
              </a:ext>
            </a:extLst>
          </p:cNvPr>
          <p:cNvCxnSpPr>
            <a:cxnSpLocks/>
            <a:endCxn id="54" idx="0"/>
          </p:cNvCxnSpPr>
          <p:nvPr/>
        </p:nvCxnSpPr>
        <p:spPr>
          <a:xfrm>
            <a:off x="5264655" y="4522068"/>
            <a:ext cx="0" cy="31140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84" name="连接符: 曲线 83">
            <a:extLst>
              <a:ext uri="{FF2B5EF4-FFF2-40B4-BE49-F238E27FC236}">
                <a16:creationId xmlns="" xmlns:a16="http://schemas.microsoft.com/office/drawing/2014/main" id="{C9DD94D9-AE3C-4133-8DF2-1F9A6A770890}"/>
              </a:ext>
            </a:extLst>
          </p:cNvPr>
          <p:cNvCxnSpPr>
            <a:cxnSpLocks/>
            <a:stCxn id="54" idx="2"/>
            <a:endCxn id="50" idx="2"/>
          </p:cNvCxnSpPr>
          <p:nvPr/>
        </p:nvCxnSpPr>
        <p:spPr>
          <a:xfrm rot="5400000" flipH="1">
            <a:off x="4434195" y="4372341"/>
            <a:ext cx="18751" cy="1642169"/>
          </a:xfrm>
          <a:prstGeom prst="curvedConnector3">
            <a:avLst>
              <a:gd name="adj1" fmla="val -195521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89" name="连接符: 曲线 88">
            <a:extLst>
              <a:ext uri="{FF2B5EF4-FFF2-40B4-BE49-F238E27FC236}">
                <a16:creationId xmlns="" xmlns:a16="http://schemas.microsoft.com/office/drawing/2014/main" id="{D8F3EA0B-263D-4BBF-8882-BB7B9015B32D}"/>
              </a:ext>
            </a:extLst>
          </p:cNvPr>
          <p:cNvCxnSpPr>
            <a:stCxn id="50" idx="0"/>
            <a:endCxn id="53" idx="0"/>
          </p:cNvCxnSpPr>
          <p:nvPr/>
        </p:nvCxnSpPr>
        <p:spPr>
          <a:xfrm rot="16200000" flipH="1">
            <a:off x="4265144" y="4172058"/>
            <a:ext cx="5243" cy="1290560"/>
          </a:xfrm>
          <a:prstGeom prst="curvedConnector3">
            <a:avLst>
              <a:gd name="adj1" fmla="val -4360099"/>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91" name="连接符: 曲线 90">
            <a:extLst>
              <a:ext uri="{FF2B5EF4-FFF2-40B4-BE49-F238E27FC236}">
                <a16:creationId xmlns="" xmlns:a16="http://schemas.microsoft.com/office/drawing/2014/main" id="{F00E632F-158B-44C9-B547-5C77EEF9711F}"/>
              </a:ext>
            </a:extLst>
          </p:cNvPr>
          <p:cNvCxnSpPr>
            <a:stCxn id="53" idx="2"/>
            <a:endCxn id="52" idx="2"/>
          </p:cNvCxnSpPr>
          <p:nvPr/>
        </p:nvCxnSpPr>
        <p:spPr>
          <a:xfrm rot="5400000" flipH="1">
            <a:off x="4718569" y="4994816"/>
            <a:ext cx="7379" cy="381574"/>
          </a:xfrm>
          <a:prstGeom prst="curvedConnector3">
            <a:avLst>
              <a:gd name="adj1" fmla="val -3097981"/>
            </a:avLst>
          </a:prstGeom>
          <a:ln w="127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216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up)">
                                      <p:cBhvr>
                                        <p:cTn id="7" dur="500"/>
                                        <p:tgtEl>
                                          <p:spTgt spid="26"/>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wipe(left)">
                                      <p:cBhvr>
                                        <p:cTn id="16" dur="500"/>
                                        <p:tgtEl>
                                          <p:spTgt spid="2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wipe(left)">
                                      <p:cBhvr>
                                        <p:cTn id="21" dur="500"/>
                                        <p:tgtEl>
                                          <p:spTgt spid="31"/>
                                        </p:tgtEl>
                                      </p:cBhvr>
                                    </p:animEffect>
                                  </p:childTnLst>
                                </p:cTn>
                              </p:par>
                            </p:childTnLst>
                          </p:cTn>
                        </p:par>
                        <p:par>
                          <p:cTn id="22" fill="hold">
                            <p:stCondLst>
                              <p:cond delay="500"/>
                            </p:stCondLst>
                            <p:childTnLst>
                              <p:par>
                                <p:cTn id="23" presetID="22" presetClass="entr" presetSubtype="1" fill="hold" grpId="0" nodeType="after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wipe(up)">
                                      <p:cBhvr>
                                        <p:cTn id="25" dur="500"/>
                                        <p:tgtEl>
                                          <p:spTgt spid="3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wipe(up)">
                                      <p:cBhvr>
                                        <p:cTn id="30" dur="500"/>
                                        <p:tgtEl>
                                          <p:spTgt spid="3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wipe(up)">
                                      <p:cBhvr>
                                        <p:cTn id="35" dur="500"/>
                                        <p:tgtEl>
                                          <p:spTgt spid="33"/>
                                        </p:tgtEl>
                                      </p:cBhvr>
                                    </p:animEffect>
                                  </p:childTnLst>
                                </p:cTn>
                              </p:par>
                            </p:childTnLst>
                          </p:cTn>
                        </p:par>
                        <p:par>
                          <p:cTn id="36" fill="hold">
                            <p:stCondLst>
                              <p:cond delay="500"/>
                            </p:stCondLst>
                            <p:childTnLst>
                              <p:par>
                                <p:cTn id="37" presetID="22" presetClass="entr" presetSubtype="1" fill="hold" grpId="0" nodeType="afterEffect">
                                  <p:stCondLst>
                                    <p:cond delay="0"/>
                                  </p:stCondLst>
                                  <p:childTnLst>
                                    <p:set>
                                      <p:cBhvr>
                                        <p:cTn id="38" dur="1" fill="hold">
                                          <p:stCondLst>
                                            <p:cond delay="0"/>
                                          </p:stCondLst>
                                        </p:cTn>
                                        <p:tgtEl>
                                          <p:spTgt spid="36"/>
                                        </p:tgtEl>
                                        <p:attrNameLst>
                                          <p:attrName>style.visibility</p:attrName>
                                        </p:attrNameLst>
                                      </p:cBhvr>
                                      <p:to>
                                        <p:strVal val="visible"/>
                                      </p:to>
                                    </p:set>
                                    <p:animEffect transition="in" filter="wipe(up)">
                                      <p:cBhvr>
                                        <p:cTn id="39" dur="500"/>
                                        <p:tgtEl>
                                          <p:spTgt spid="36"/>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34"/>
                                        </p:tgtEl>
                                        <p:attrNameLst>
                                          <p:attrName>style.visibility</p:attrName>
                                        </p:attrNameLst>
                                      </p:cBhvr>
                                      <p:to>
                                        <p:strVal val="visible"/>
                                      </p:to>
                                    </p:set>
                                    <p:animEffect transition="in" filter="wipe(up)">
                                      <p:cBhvr>
                                        <p:cTn id="44" dur="500"/>
                                        <p:tgtEl>
                                          <p:spTgt spid="34"/>
                                        </p:tgtEl>
                                      </p:cBhvr>
                                    </p:animEffect>
                                  </p:childTnLst>
                                </p:cTn>
                              </p:par>
                            </p:childTnLst>
                          </p:cTn>
                        </p:par>
                        <p:par>
                          <p:cTn id="45" fill="hold">
                            <p:stCondLst>
                              <p:cond delay="500"/>
                            </p:stCondLst>
                            <p:childTnLst>
                              <p:par>
                                <p:cTn id="46" presetID="22" presetClass="entr" presetSubtype="1" fill="hold" grpId="0" nodeType="afterEffect">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wipe(up)">
                                      <p:cBhvr>
                                        <p:cTn id="48" dur="500"/>
                                        <p:tgtEl>
                                          <p:spTgt spid="37"/>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35"/>
                                        </p:tgtEl>
                                        <p:attrNameLst>
                                          <p:attrName>style.visibility</p:attrName>
                                        </p:attrNameLst>
                                      </p:cBhvr>
                                      <p:to>
                                        <p:strVal val="visible"/>
                                      </p:to>
                                    </p:set>
                                    <p:animEffect transition="in" filter="wipe(up)">
                                      <p:cBhvr>
                                        <p:cTn id="53" dur="500"/>
                                        <p:tgtEl>
                                          <p:spTgt spid="35"/>
                                        </p:tgtEl>
                                      </p:cBhvr>
                                    </p:animEffect>
                                  </p:childTnLst>
                                </p:cTn>
                              </p:par>
                            </p:childTnLst>
                          </p:cTn>
                        </p:par>
                        <p:par>
                          <p:cTn id="54" fill="hold">
                            <p:stCondLst>
                              <p:cond delay="500"/>
                            </p:stCondLst>
                            <p:childTnLst>
                              <p:par>
                                <p:cTn id="55" presetID="22" presetClass="entr" presetSubtype="1" fill="hold" grpId="0" nodeType="after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wipe(up)">
                                      <p:cBhvr>
                                        <p:cTn id="57" dur="500"/>
                                        <p:tgtEl>
                                          <p:spTgt spid="3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40"/>
                                        </p:tgtEl>
                                        <p:attrNameLst>
                                          <p:attrName>style.visibility</p:attrName>
                                        </p:attrNameLst>
                                      </p:cBhvr>
                                      <p:to>
                                        <p:strVal val="visible"/>
                                      </p:to>
                                    </p:set>
                                    <p:animEffect transition="in" filter="wipe(left)">
                                      <p:cBhvr>
                                        <p:cTn id="62" dur="500"/>
                                        <p:tgtEl>
                                          <p:spTgt spid="40"/>
                                        </p:tgtEl>
                                      </p:cBhvr>
                                    </p:animEffect>
                                  </p:childTnLst>
                                  <p:subTnLst>
                                    <p:cmd type="evt" cmd="onstopaudio">
                                      <p:cBhvr>
                                        <p:cTn display="0" masterRel="sameClick">
                                          <p:stCondLst>
                                            <p:cond evt="begin" delay="0">
                                              <p:tn val="60"/>
                                            </p:cond>
                                          </p:stCondLst>
                                        </p:cTn>
                                        <p:tgtEl>
                                          <p:sldTgt/>
                                        </p:tgtEl>
                                      </p:cBhvr>
                                    </p:cmd>
                                  </p:subTnLst>
                                </p:cTn>
                              </p:par>
                            </p:childTnLst>
                          </p:cTn>
                        </p:par>
                        <p:par>
                          <p:cTn id="63" fill="hold">
                            <p:stCondLst>
                              <p:cond delay="500"/>
                            </p:stCondLst>
                            <p:childTnLst>
                              <p:par>
                                <p:cTn id="64" presetID="22" presetClass="entr" presetSubtype="1" fill="hold" grpId="0" nodeType="afterEffect">
                                  <p:stCondLst>
                                    <p:cond delay="0"/>
                                  </p:stCondLst>
                                  <p:childTnLst>
                                    <p:set>
                                      <p:cBhvr>
                                        <p:cTn id="65" dur="1" fill="hold">
                                          <p:stCondLst>
                                            <p:cond delay="0"/>
                                          </p:stCondLst>
                                        </p:cTn>
                                        <p:tgtEl>
                                          <p:spTgt spid="39"/>
                                        </p:tgtEl>
                                        <p:attrNameLst>
                                          <p:attrName>style.visibility</p:attrName>
                                        </p:attrNameLst>
                                      </p:cBhvr>
                                      <p:to>
                                        <p:strVal val="visible"/>
                                      </p:to>
                                    </p:set>
                                    <p:animEffect transition="in" filter="wipe(up)">
                                      <p:cBhvr>
                                        <p:cTn id="66" dur="500"/>
                                        <p:tgtEl>
                                          <p:spTgt spid="39"/>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1" fill="hold" grpId="0" nodeType="clickEffect">
                                  <p:stCondLst>
                                    <p:cond delay="0"/>
                                  </p:stCondLst>
                                  <p:childTnLst>
                                    <p:set>
                                      <p:cBhvr>
                                        <p:cTn id="70" dur="1" fill="hold">
                                          <p:stCondLst>
                                            <p:cond delay="0"/>
                                          </p:stCondLst>
                                        </p:cTn>
                                        <p:tgtEl>
                                          <p:spTgt spid="43"/>
                                        </p:tgtEl>
                                        <p:attrNameLst>
                                          <p:attrName>style.visibility</p:attrName>
                                        </p:attrNameLst>
                                      </p:cBhvr>
                                      <p:to>
                                        <p:strVal val="visible"/>
                                      </p:to>
                                    </p:set>
                                    <p:animEffect transition="in" filter="wipe(up)">
                                      <p:cBhvr>
                                        <p:cTn id="71" dur="500"/>
                                        <p:tgtEl>
                                          <p:spTgt spid="43"/>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1" fill="hold" grpId="0" nodeType="clickEffect">
                                  <p:stCondLst>
                                    <p:cond delay="0"/>
                                  </p:stCondLst>
                                  <p:childTnLst>
                                    <p:set>
                                      <p:cBhvr>
                                        <p:cTn id="75" dur="1" fill="hold">
                                          <p:stCondLst>
                                            <p:cond delay="0"/>
                                          </p:stCondLst>
                                        </p:cTn>
                                        <p:tgtEl>
                                          <p:spTgt spid="41"/>
                                        </p:tgtEl>
                                        <p:attrNameLst>
                                          <p:attrName>style.visibility</p:attrName>
                                        </p:attrNameLst>
                                      </p:cBhvr>
                                      <p:to>
                                        <p:strVal val="visible"/>
                                      </p:to>
                                    </p:set>
                                    <p:animEffect transition="in" filter="wipe(up)">
                                      <p:cBhvr>
                                        <p:cTn id="76" dur="500"/>
                                        <p:tgtEl>
                                          <p:spTgt spid="41"/>
                                        </p:tgtEl>
                                      </p:cBhvr>
                                    </p:animEffect>
                                  </p:childTnLst>
                                </p:cTn>
                              </p:par>
                            </p:childTnLst>
                          </p:cTn>
                        </p:par>
                        <p:par>
                          <p:cTn id="77" fill="hold">
                            <p:stCondLst>
                              <p:cond delay="500"/>
                            </p:stCondLst>
                            <p:childTnLst>
                              <p:par>
                                <p:cTn id="78" presetID="22" presetClass="entr" presetSubtype="1" fill="hold" grpId="0" nodeType="afterEffect">
                                  <p:stCondLst>
                                    <p:cond delay="0"/>
                                  </p:stCondLst>
                                  <p:childTnLst>
                                    <p:set>
                                      <p:cBhvr>
                                        <p:cTn id="79" dur="1" fill="hold">
                                          <p:stCondLst>
                                            <p:cond delay="0"/>
                                          </p:stCondLst>
                                        </p:cTn>
                                        <p:tgtEl>
                                          <p:spTgt spid="44"/>
                                        </p:tgtEl>
                                        <p:attrNameLst>
                                          <p:attrName>style.visibility</p:attrName>
                                        </p:attrNameLst>
                                      </p:cBhvr>
                                      <p:to>
                                        <p:strVal val="visible"/>
                                      </p:to>
                                    </p:set>
                                    <p:animEffect transition="in" filter="wipe(up)">
                                      <p:cBhvr>
                                        <p:cTn id="80" dur="500"/>
                                        <p:tgtEl>
                                          <p:spTgt spid="44"/>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1" fill="hold" grpId="0" nodeType="clickEffect">
                                  <p:stCondLst>
                                    <p:cond delay="0"/>
                                  </p:stCondLst>
                                  <p:childTnLst>
                                    <p:set>
                                      <p:cBhvr>
                                        <p:cTn id="84" dur="1" fill="hold">
                                          <p:stCondLst>
                                            <p:cond delay="0"/>
                                          </p:stCondLst>
                                        </p:cTn>
                                        <p:tgtEl>
                                          <p:spTgt spid="42"/>
                                        </p:tgtEl>
                                        <p:attrNameLst>
                                          <p:attrName>style.visibility</p:attrName>
                                        </p:attrNameLst>
                                      </p:cBhvr>
                                      <p:to>
                                        <p:strVal val="visible"/>
                                      </p:to>
                                    </p:set>
                                    <p:animEffect transition="in" filter="wipe(up)">
                                      <p:cBhvr>
                                        <p:cTn id="85" dur="500"/>
                                        <p:tgtEl>
                                          <p:spTgt spid="42"/>
                                        </p:tgtEl>
                                      </p:cBhvr>
                                    </p:animEffect>
                                  </p:childTnLst>
                                </p:cTn>
                              </p:par>
                            </p:childTnLst>
                          </p:cTn>
                        </p:par>
                        <p:par>
                          <p:cTn id="86" fill="hold">
                            <p:stCondLst>
                              <p:cond delay="500"/>
                            </p:stCondLst>
                            <p:childTnLst>
                              <p:par>
                                <p:cTn id="87" presetID="22" presetClass="entr" presetSubtype="1" fill="hold" grpId="0" nodeType="afterEffect">
                                  <p:stCondLst>
                                    <p:cond delay="0"/>
                                  </p:stCondLst>
                                  <p:childTnLst>
                                    <p:set>
                                      <p:cBhvr>
                                        <p:cTn id="88" dur="1" fill="hold">
                                          <p:stCondLst>
                                            <p:cond delay="0"/>
                                          </p:stCondLst>
                                        </p:cTn>
                                        <p:tgtEl>
                                          <p:spTgt spid="45"/>
                                        </p:tgtEl>
                                        <p:attrNameLst>
                                          <p:attrName>style.visibility</p:attrName>
                                        </p:attrNameLst>
                                      </p:cBhvr>
                                      <p:to>
                                        <p:strVal val="visible"/>
                                      </p:to>
                                    </p:set>
                                    <p:animEffect transition="in" filter="wipe(up)">
                                      <p:cBhvr>
                                        <p:cTn id="89" dur="500"/>
                                        <p:tgtEl>
                                          <p:spTgt spid="45"/>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46"/>
                                        </p:tgtEl>
                                        <p:attrNameLst>
                                          <p:attrName>style.visibility</p:attrName>
                                        </p:attrNameLst>
                                      </p:cBhvr>
                                      <p:to>
                                        <p:strVal val="visible"/>
                                      </p:to>
                                    </p:set>
                                    <p:animEffect transition="in" filter="wipe(left)">
                                      <p:cBhvr>
                                        <p:cTn id="94" dur="500"/>
                                        <p:tgtEl>
                                          <p:spTgt spid="46"/>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1" fill="hold" grpId="0" nodeType="clickEffect">
                                  <p:stCondLst>
                                    <p:cond delay="0"/>
                                  </p:stCondLst>
                                  <p:childTnLst>
                                    <p:set>
                                      <p:cBhvr>
                                        <p:cTn id="98" dur="1" fill="hold">
                                          <p:stCondLst>
                                            <p:cond delay="0"/>
                                          </p:stCondLst>
                                        </p:cTn>
                                        <p:tgtEl>
                                          <p:spTgt spid="47"/>
                                        </p:tgtEl>
                                        <p:attrNameLst>
                                          <p:attrName>style.visibility</p:attrName>
                                        </p:attrNameLst>
                                      </p:cBhvr>
                                      <p:to>
                                        <p:strVal val="visible"/>
                                      </p:to>
                                    </p:set>
                                    <p:animEffect transition="in" filter="wipe(up)">
                                      <p:cBhvr>
                                        <p:cTn id="99" dur="500"/>
                                        <p:tgtEl>
                                          <p:spTgt spid="47"/>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clickEffect">
                                  <p:stCondLst>
                                    <p:cond delay="0"/>
                                  </p:stCondLst>
                                  <p:childTnLst>
                                    <p:set>
                                      <p:cBhvr>
                                        <p:cTn id="103" dur="1" fill="hold">
                                          <p:stCondLst>
                                            <p:cond delay="0"/>
                                          </p:stCondLst>
                                        </p:cTn>
                                        <p:tgtEl>
                                          <p:spTgt spid="48"/>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nodeType="clickEffect">
                                  <p:stCondLst>
                                    <p:cond delay="0"/>
                                  </p:stCondLst>
                                  <p:childTnLst>
                                    <p:set>
                                      <p:cBhvr>
                                        <p:cTn id="107" dur="1" fill="hold">
                                          <p:stCondLst>
                                            <p:cond delay="0"/>
                                          </p:stCondLst>
                                        </p:cTn>
                                        <p:tgtEl>
                                          <p:spTgt spid="5"/>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nodeType="clickEffect">
                                  <p:stCondLst>
                                    <p:cond delay="0"/>
                                  </p:stCondLst>
                                  <p:childTnLst>
                                    <p:set>
                                      <p:cBhvr>
                                        <p:cTn id="111" dur="1" fill="hold">
                                          <p:stCondLst>
                                            <p:cond delay="0"/>
                                          </p:stCondLst>
                                        </p:cTn>
                                        <p:tgtEl>
                                          <p:spTgt spid="84"/>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nodeType="clickEffect">
                                  <p:stCondLst>
                                    <p:cond delay="0"/>
                                  </p:stCondLst>
                                  <p:childTnLst>
                                    <p:set>
                                      <p:cBhvr>
                                        <p:cTn id="115" dur="1" fill="hold">
                                          <p:stCondLst>
                                            <p:cond delay="0"/>
                                          </p:stCondLst>
                                        </p:cTn>
                                        <p:tgtEl>
                                          <p:spTgt spid="89"/>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nodeType="clickEffect">
                                  <p:stCondLst>
                                    <p:cond delay="0"/>
                                  </p:stCondLst>
                                  <p:childTnLst>
                                    <p:set>
                                      <p:cBhvr>
                                        <p:cTn id="119"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utoUpdateAnimBg="0"/>
      <p:bldP spid="30" grpId="0" animBg="1" autoUpdateAnimBg="0"/>
      <p:bldP spid="31" grpId="0" autoUpdateAnimBg="0"/>
      <p:bldP spid="32" grpId="0" animBg="1" autoUpdateAnimBg="0"/>
      <p:bldP spid="33" grpId="0" animBg="1"/>
      <p:bldP spid="34" grpId="0" animBg="1"/>
      <p:bldP spid="35" grpId="0" animBg="1"/>
      <p:bldP spid="36" grpId="0" animBg="1" autoUpdateAnimBg="0"/>
      <p:bldP spid="37" grpId="0" animBg="1" autoUpdateAnimBg="0"/>
      <p:bldP spid="38" grpId="0" animBg="1" autoUpdateAnimBg="0"/>
      <p:bldP spid="39" grpId="0" animBg="1" autoUpdateAnimBg="0"/>
      <p:bldP spid="40" grpId="0" autoUpdateAnimBg="0"/>
      <p:bldP spid="41" grpId="0" animBg="1"/>
      <p:bldP spid="42" grpId="0" animBg="1"/>
      <p:bldP spid="43" grpId="0" animBg="1" autoUpdateAnimBg="0"/>
      <p:bldP spid="44" grpId="0" animBg="1" autoUpdateAnimBg="0"/>
      <p:bldP spid="45" grpId="0" animBg="1" autoUpdateAnimBg="0"/>
      <p:bldP spid="46" grpId="0" autoUpdateAnimBg="0"/>
      <p:bldP spid="4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19097" y="44624"/>
            <a:ext cx="8229600" cy="936104"/>
          </a:xfrm>
        </p:spPr>
        <p:txBody>
          <a:bodyPr>
            <a:normAutofit/>
          </a:bodyPr>
          <a:lstStyle/>
          <a:p>
            <a:pPr algn="l"/>
            <a:r>
              <a:rPr lang="en-US" altLang="en-US" sz="3200" dirty="0">
                <a:latin typeface="华文新魏" panose="02010800040101010101" pitchFamily="2" charset="-122"/>
                <a:ea typeface="华文新魏" panose="02010800040101010101" pitchFamily="2" charset="-122"/>
              </a:rPr>
              <a:t>BST</a:t>
            </a:r>
            <a:r>
              <a:rPr lang="zh-CN" altLang="en-US" sz="3200" dirty="0">
                <a:latin typeface="华文新魏" panose="02010800040101010101" pitchFamily="2" charset="-122"/>
                <a:ea typeface="华文新魏" panose="02010800040101010101" pitchFamily="2" charset="-122"/>
              </a:rPr>
              <a:t>的</a:t>
            </a:r>
            <a:r>
              <a:rPr lang="en-US" altLang="en-US" sz="3200" dirty="0" err="1">
                <a:latin typeface="华文新魏" panose="02010800040101010101" pitchFamily="2" charset="-122"/>
                <a:ea typeface="华文新魏" panose="02010800040101010101" pitchFamily="2" charset="-122"/>
              </a:rPr>
              <a:t>查找</a:t>
            </a:r>
            <a:r>
              <a:rPr lang="zh-CN" altLang="en-US" sz="3200" dirty="0">
                <a:latin typeface="华文新魏" panose="02010800040101010101" pitchFamily="2" charset="-122"/>
                <a:ea typeface="华文新魏" panose="02010800040101010101" pitchFamily="2" charset="-122"/>
              </a:rPr>
              <a:t>算法</a:t>
            </a:r>
            <a:r>
              <a:rPr lang="en-US" altLang="zh-CN" sz="3200" dirty="0">
                <a:latin typeface="华文新魏" panose="02010800040101010101" pitchFamily="2" charset="-122"/>
                <a:ea typeface="华文新魏" panose="02010800040101010101" pitchFamily="2" charset="-122"/>
              </a:rPr>
              <a:t>-I</a:t>
            </a:r>
            <a:endParaRPr lang="en-US" sz="3200" dirty="0">
              <a:latin typeface="华文新魏" panose="02010800040101010101" pitchFamily="2" charset="-122"/>
              <a:ea typeface="华文新魏" panose="02010800040101010101" pitchFamily="2" charset="-122"/>
            </a:endParaRPr>
          </a:p>
        </p:txBody>
      </p:sp>
      <p:sp>
        <p:nvSpPr>
          <p:cNvPr id="640002" name="Rectangle 2"/>
          <p:cNvSpPr>
            <a:spLocks noGrp="1" noChangeArrowheads="1"/>
          </p:cNvSpPr>
          <p:nvPr>
            <p:ph idx="1"/>
          </p:nvPr>
        </p:nvSpPr>
        <p:spPr>
          <a:xfrm>
            <a:off x="169169" y="943561"/>
            <a:ext cx="8795319" cy="3925599"/>
          </a:xfrm>
        </p:spPr>
        <p:txBody>
          <a:bodyPr>
            <a:normAutofit/>
          </a:bodyPr>
          <a:lstStyle/>
          <a:p>
            <a:pPr marL="0" indent="0">
              <a:lnSpc>
                <a:spcPct val="110000"/>
              </a:lnSpc>
              <a:buNone/>
              <a:defRPr/>
            </a:pPr>
            <a:r>
              <a:rPr lang="en-US" sz="2800" dirty="0" err="1">
                <a:latin typeface="Times New Roman" panose="02020603050405020304" pitchFamily="18" charset="0"/>
                <a:ea typeface="华文楷体" panose="02010600040101010101" pitchFamily="2" charset="-122"/>
                <a:cs typeface="Times New Roman" panose="02020603050405020304" pitchFamily="18" charset="0"/>
              </a:rPr>
              <a:t>BiTree</a:t>
            </a:r>
            <a:r>
              <a:rPr lang="en-US"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sz="2800" b="1" dirty="0" err="1">
                <a:latin typeface="Times New Roman" panose="02020603050405020304" pitchFamily="18" charset="0"/>
                <a:ea typeface="华文楷体" panose="02010600040101010101" pitchFamily="2" charset="-122"/>
                <a:cs typeface="Times New Roman" panose="02020603050405020304" pitchFamily="18" charset="0"/>
              </a:rPr>
              <a:t>SearchBST</a:t>
            </a:r>
            <a:r>
              <a:rPr lang="en-US" sz="2800" b="1" dirty="0">
                <a:latin typeface="Times New Roman" panose="02020603050405020304" pitchFamily="18" charset="0"/>
                <a:ea typeface="华文楷体" panose="02010600040101010101" pitchFamily="2" charset="-122"/>
                <a:cs typeface="Times New Roman" panose="02020603050405020304" pitchFamily="18" charset="0"/>
              </a:rPr>
              <a:t> (</a:t>
            </a:r>
            <a:r>
              <a:rPr lang="en-US" sz="2800" b="1" dirty="0" err="1">
                <a:solidFill>
                  <a:schemeClr val="accent6">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BiTree</a:t>
            </a:r>
            <a:r>
              <a:rPr lang="en-US" sz="2800" b="1" dirty="0">
                <a:latin typeface="Times New Roman" panose="02020603050405020304" pitchFamily="18" charset="0"/>
                <a:ea typeface="华文楷体" panose="02010600040101010101" pitchFamily="2" charset="-122"/>
                <a:cs typeface="Times New Roman" panose="02020603050405020304" pitchFamily="18" charset="0"/>
              </a:rPr>
              <a:t> T, </a:t>
            </a:r>
            <a:r>
              <a:rPr lang="en-US" sz="2800" b="1" dirty="0" err="1">
                <a:latin typeface="Times New Roman" panose="02020603050405020304" pitchFamily="18" charset="0"/>
                <a:ea typeface="华文楷体" panose="02010600040101010101" pitchFamily="2" charset="-122"/>
                <a:cs typeface="Times New Roman" panose="02020603050405020304" pitchFamily="18" charset="0"/>
              </a:rPr>
              <a:t>KeyType</a:t>
            </a:r>
            <a:r>
              <a:rPr lang="en-US" sz="2800" b="1" dirty="0">
                <a:latin typeface="Times New Roman" panose="02020603050405020304" pitchFamily="18" charset="0"/>
                <a:ea typeface="华文楷体" panose="02010600040101010101" pitchFamily="2" charset="-122"/>
                <a:cs typeface="Times New Roman" panose="02020603050405020304" pitchFamily="18" charset="0"/>
              </a:rPr>
              <a:t> key) </a:t>
            </a:r>
            <a:r>
              <a:rPr lang="en-US" sz="2800" dirty="0">
                <a:latin typeface="Times New Roman" panose="02020603050405020304" pitchFamily="18" charset="0"/>
                <a:ea typeface="华文楷体" panose="02010600040101010101" pitchFamily="2" charset="-122"/>
                <a:cs typeface="Times New Roman" panose="02020603050405020304" pitchFamily="18" charset="0"/>
              </a:rPr>
              <a:t>{</a:t>
            </a:r>
          </a:p>
          <a:p>
            <a:pPr marL="0" indent="0">
              <a:lnSpc>
                <a:spcPct val="110000"/>
              </a:lnSpc>
              <a:buNone/>
              <a:defRPr/>
            </a:pPr>
            <a:r>
              <a:rPr lang="en-US" sz="20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在根指针</a:t>
            </a:r>
            <a:r>
              <a:rPr lang="en-US" sz="2000" dirty="0">
                <a:latin typeface="Times New Roman" panose="02020603050405020304" pitchFamily="18" charset="0"/>
                <a:ea typeface="华文楷体" panose="02010600040101010101" pitchFamily="2" charset="-122"/>
                <a:cs typeface="Times New Roman" panose="02020603050405020304" pitchFamily="18" charset="0"/>
              </a:rPr>
              <a:t>T</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所指二叉排序树中递归地查找其关键字等于</a:t>
            </a:r>
            <a:r>
              <a:rPr lang="en-US" sz="2000" dirty="0">
                <a:latin typeface="Times New Roman" panose="02020603050405020304" pitchFamily="18" charset="0"/>
                <a:ea typeface="华文楷体" panose="02010600040101010101" pitchFamily="2" charset="-122"/>
                <a:cs typeface="Times New Roman" panose="02020603050405020304" pitchFamily="18" charset="0"/>
              </a:rPr>
              <a:t>key</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的数据元素，</a:t>
            </a:r>
            <a:endParaRPr lang="en-US" altLang="zh-CN" sz="2000" dirty="0">
              <a:latin typeface="Times New Roman" panose="02020603050405020304" pitchFamily="18" charset="0"/>
              <a:ea typeface="华文楷体" panose="02010600040101010101" pitchFamily="2" charset="-122"/>
              <a:cs typeface="Times New Roman" panose="02020603050405020304" pitchFamily="18" charset="0"/>
            </a:endParaRPr>
          </a:p>
          <a:p>
            <a:pPr marL="0" indent="0">
              <a:lnSpc>
                <a:spcPct val="110000"/>
              </a:lnSpc>
              <a:buNone/>
              <a:defRPr/>
            </a:pPr>
            <a:r>
              <a:rPr lang="en-US" altLang="zh-CN" sz="20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若查找成功，则</a:t>
            </a:r>
            <a:r>
              <a:rPr lang="zh-CN" altLang="en-US" sz="2000"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返回指向该数据元素结点的指针；</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否则</a:t>
            </a:r>
            <a:r>
              <a:rPr lang="zh-CN" altLang="en-US" sz="2000"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返回空指针</a:t>
            </a:r>
            <a:endParaRPr lang="en-US" altLang="zh-CN" sz="2000"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endParaRPr>
          </a:p>
          <a:p>
            <a:pPr marL="0" indent="360363">
              <a:lnSpc>
                <a:spcPct val="110000"/>
              </a:lnSpc>
              <a:buNone/>
              <a:defRPr/>
            </a:pPr>
            <a:r>
              <a:rPr lang="en-US" sz="2400" dirty="0">
                <a:latin typeface="Times New Roman" panose="02020603050405020304" pitchFamily="18" charset="0"/>
                <a:ea typeface="华文楷体" panose="02010600040101010101" pitchFamily="2" charset="-122"/>
                <a:cs typeface="Times New Roman" panose="02020603050405020304" pitchFamily="18" charset="0"/>
              </a:rPr>
              <a:t>if (!T || EQ(key, T-&gt;</a:t>
            </a:r>
            <a:r>
              <a:rPr lang="en-US" sz="2400" dirty="0" err="1">
                <a:latin typeface="Times New Roman" panose="02020603050405020304" pitchFamily="18" charset="0"/>
                <a:ea typeface="华文楷体" panose="02010600040101010101" pitchFamily="2" charset="-122"/>
                <a:cs typeface="Times New Roman" panose="02020603050405020304" pitchFamily="18" charset="0"/>
              </a:rPr>
              <a:t>data.key</a:t>
            </a:r>
            <a:r>
              <a:rPr lang="en-US" sz="2400" dirty="0">
                <a:latin typeface="Times New Roman" panose="02020603050405020304" pitchFamily="18" charset="0"/>
                <a:ea typeface="华文楷体" panose="02010600040101010101" pitchFamily="2" charset="-122"/>
                <a:cs typeface="Times New Roman" panose="02020603050405020304" pitchFamily="18" charset="0"/>
              </a:rPr>
              <a:t>)) return T; </a:t>
            </a:r>
            <a:r>
              <a:rPr lang="en-US" sz="20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查找结束 </a:t>
            </a:r>
            <a:endParaRPr lang="en-US" altLang="zh-CN" sz="2000" dirty="0">
              <a:latin typeface="Times New Roman" panose="02020603050405020304" pitchFamily="18" charset="0"/>
              <a:ea typeface="华文楷体" panose="02010600040101010101" pitchFamily="2" charset="-122"/>
              <a:cs typeface="Times New Roman" panose="02020603050405020304" pitchFamily="18" charset="0"/>
            </a:endParaRPr>
          </a:p>
          <a:p>
            <a:pPr marL="0" indent="360363">
              <a:lnSpc>
                <a:spcPct val="110000"/>
              </a:lnSpc>
              <a:buNone/>
              <a:defRPr/>
            </a:pPr>
            <a:r>
              <a:rPr lang="en-US" sz="2400" dirty="0">
                <a:latin typeface="Times New Roman" panose="02020603050405020304" pitchFamily="18" charset="0"/>
                <a:ea typeface="华文楷体" panose="02010600040101010101" pitchFamily="2" charset="-122"/>
                <a:cs typeface="Times New Roman" panose="02020603050405020304" pitchFamily="18" charset="0"/>
              </a:rPr>
              <a:t>else if (LT(key, T-&gt;</a:t>
            </a:r>
            <a:r>
              <a:rPr lang="en-US" sz="2400" dirty="0" err="1">
                <a:latin typeface="Times New Roman" panose="02020603050405020304" pitchFamily="18" charset="0"/>
                <a:ea typeface="华文楷体" panose="02010600040101010101" pitchFamily="2" charset="-122"/>
                <a:cs typeface="Times New Roman" panose="02020603050405020304" pitchFamily="18" charset="0"/>
              </a:rPr>
              <a:t>data.key</a:t>
            </a:r>
            <a:r>
              <a:rPr lang="en-US" sz="2400" dirty="0">
                <a:latin typeface="Times New Roman" panose="02020603050405020304" pitchFamily="18" charset="0"/>
                <a:ea typeface="华文楷体" panose="02010600040101010101" pitchFamily="2" charset="-122"/>
                <a:cs typeface="Times New Roman" panose="02020603050405020304" pitchFamily="18" charset="0"/>
              </a:rPr>
              <a:t>)) </a:t>
            </a:r>
          </a:p>
          <a:p>
            <a:pPr marL="0" indent="1254125">
              <a:lnSpc>
                <a:spcPct val="110000"/>
              </a:lnSpc>
              <a:buNone/>
              <a:defRPr/>
            </a:pPr>
            <a:r>
              <a:rPr lang="en-US" sz="2400" dirty="0">
                <a:latin typeface="Times New Roman" panose="02020603050405020304" pitchFamily="18" charset="0"/>
                <a:ea typeface="华文楷体" panose="02010600040101010101" pitchFamily="2" charset="-122"/>
                <a:cs typeface="Times New Roman" panose="02020603050405020304" pitchFamily="18" charset="0"/>
              </a:rPr>
              <a:t>    return </a:t>
            </a:r>
            <a:r>
              <a:rPr lang="en-US" sz="2400" b="1" dirty="0" err="1">
                <a:latin typeface="Times New Roman" panose="02020603050405020304" pitchFamily="18" charset="0"/>
                <a:ea typeface="华文楷体" panose="02010600040101010101" pitchFamily="2" charset="-122"/>
                <a:cs typeface="Times New Roman" panose="02020603050405020304" pitchFamily="18" charset="0"/>
              </a:rPr>
              <a:t>SearchBST</a:t>
            </a:r>
            <a:r>
              <a:rPr lang="en-US" sz="2400" b="1" dirty="0">
                <a:latin typeface="Times New Roman" panose="02020603050405020304" pitchFamily="18" charset="0"/>
                <a:ea typeface="华文楷体" panose="02010600040101010101" pitchFamily="2" charset="-122"/>
                <a:cs typeface="Times New Roman" panose="02020603050405020304" pitchFamily="18" charset="0"/>
              </a:rPr>
              <a:t>(T-&gt;</a:t>
            </a:r>
            <a:r>
              <a:rPr lang="en-US" sz="2400" b="1" dirty="0" err="1">
                <a:latin typeface="Times New Roman" panose="02020603050405020304" pitchFamily="18" charset="0"/>
                <a:ea typeface="华文楷体" panose="02010600040101010101" pitchFamily="2" charset="-122"/>
                <a:cs typeface="Times New Roman" panose="02020603050405020304" pitchFamily="18" charset="0"/>
              </a:rPr>
              <a:t>lchild</a:t>
            </a:r>
            <a:r>
              <a:rPr lang="en-US" sz="2400" b="1" dirty="0">
                <a:latin typeface="Times New Roman" panose="02020603050405020304" pitchFamily="18" charset="0"/>
                <a:ea typeface="华文楷体" panose="02010600040101010101" pitchFamily="2" charset="-122"/>
                <a:cs typeface="Times New Roman" panose="02020603050405020304" pitchFamily="18" charset="0"/>
              </a:rPr>
              <a:t>, key)</a:t>
            </a:r>
            <a:r>
              <a:rPr lang="en-US"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sz="20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在左子树中查找 </a:t>
            </a:r>
            <a:endParaRPr lang="en-US" altLang="zh-CN" sz="2000" dirty="0">
              <a:latin typeface="Times New Roman" panose="02020603050405020304" pitchFamily="18" charset="0"/>
              <a:ea typeface="华文楷体" panose="02010600040101010101" pitchFamily="2" charset="-122"/>
              <a:cs typeface="Times New Roman" panose="02020603050405020304" pitchFamily="18" charset="0"/>
            </a:endParaRPr>
          </a:p>
          <a:p>
            <a:pPr marL="0" indent="895350">
              <a:lnSpc>
                <a:spcPct val="110000"/>
              </a:lnSpc>
              <a:buNone/>
              <a:defRPr/>
            </a:pPr>
            <a:r>
              <a:rPr lang="en-US" sz="2400" dirty="0">
                <a:latin typeface="Times New Roman" panose="02020603050405020304" pitchFamily="18" charset="0"/>
                <a:ea typeface="华文楷体" panose="02010600040101010101" pitchFamily="2" charset="-122"/>
                <a:cs typeface="Times New Roman" panose="02020603050405020304" pitchFamily="18" charset="0"/>
              </a:rPr>
              <a:t>else return </a:t>
            </a:r>
            <a:r>
              <a:rPr lang="en-US" sz="2400" b="1" dirty="0" err="1">
                <a:latin typeface="Times New Roman" panose="02020603050405020304" pitchFamily="18" charset="0"/>
                <a:ea typeface="华文楷体" panose="02010600040101010101" pitchFamily="2" charset="-122"/>
                <a:cs typeface="Times New Roman" panose="02020603050405020304" pitchFamily="18" charset="0"/>
              </a:rPr>
              <a:t>SearchBST</a:t>
            </a:r>
            <a:r>
              <a:rPr lang="en-US" sz="2400" b="1" dirty="0">
                <a:latin typeface="Times New Roman" panose="02020603050405020304" pitchFamily="18" charset="0"/>
                <a:ea typeface="华文楷体" panose="02010600040101010101" pitchFamily="2" charset="-122"/>
                <a:cs typeface="Times New Roman" panose="02020603050405020304" pitchFamily="18" charset="0"/>
              </a:rPr>
              <a:t>(T-&gt;</a:t>
            </a:r>
            <a:r>
              <a:rPr lang="en-US" sz="2400" b="1" dirty="0" err="1">
                <a:latin typeface="Times New Roman" panose="02020603050405020304" pitchFamily="18" charset="0"/>
                <a:ea typeface="华文楷体" panose="02010600040101010101" pitchFamily="2" charset="-122"/>
                <a:cs typeface="Times New Roman" panose="02020603050405020304" pitchFamily="18" charset="0"/>
              </a:rPr>
              <a:t>rchild</a:t>
            </a:r>
            <a:r>
              <a:rPr lang="en-US" sz="2400" b="1" dirty="0">
                <a:latin typeface="Times New Roman" panose="02020603050405020304" pitchFamily="18" charset="0"/>
                <a:ea typeface="华文楷体" panose="02010600040101010101" pitchFamily="2" charset="-122"/>
                <a:cs typeface="Times New Roman" panose="02020603050405020304" pitchFamily="18" charset="0"/>
              </a:rPr>
              <a:t>, key)</a:t>
            </a:r>
            <a:r>
              <a:rPr lang="en-US"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sz="20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在右子树中查找</a:t>
            </a:r>
            <a:endParaRPr lang="en-US" altLang="zh-CN" sz="2000" dirty="0">
              <a:latin typeface="Times New Roman" panose="02020603050405020304" pitchFamily="18" charset="0"/>
              <a:ea typeface="华文楷体" panose="02010600040101010101" pitchFamily="2" charset="-122"/>
              <a:cs typeface="Times New Roman" panose="02020603050405020304" pitchFamily="18" charset="0"/>
            </a:endParaRPr>
          </a:p>
          <a:p>
            <a:pPr marL="0" indent="0">
              <a:lnSpc>
                <a:spcPct val="110000"/>
              </a:lnSpc>
              <a:buNone/>
              <a:defRPr/>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t>
            </a:r>
            <a:r>
              <a:rPr lang="en-US" sz="2000" dirty="0" err="1">
                <a:latin typeface="Times New Roman" panose="02020603050405020304" pitchFamily="18" charset="0"/>
                <a:ea typeface="华文楷体" panose="02010600040101010101" pitchFamily="2" charset="-122"/>
                <a:cs typeface="Times New Roman" panose="02020603050405020304" pitchFamily="18" charset="0"/>
              </a:rPr>
              <a:t>SearchBST</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运行时间正比于返回节点相应的深度，最大不超过树高</a:t>
            </a:r>
            <a:r>
              <a:rPr lang="en-US" altLang="zh-CN" sz="2000" dirty="0">
                <a:latin typeface="Times New Roman" panose="02020603050405020304" pitchFamily="18" charset="0"/>
                <a:ea typeface="华文楷体" panose="02010600040101010101" pitchFamily="2" charset="-122"/>
                <a:cs typeface="Times New Roman" panose="02020603050405020304" pitchFamily="18" charset="0"/>
              </a:rPr>
              <a:t>O(</a:t>
            </a:r>
            <a:r>
              <a:rPr lang="en-US" altLang="zh-CN" sz="2000" i="1" dirty="0">
                <a:latin typeface="Times New Roman" panose="02020603050405020304" pitchFamily="18" charset="0"/>
                <a:ea typeface="华文楷体" panose="02010600040101010101" pitchFamily="2" charset="-122"/>
                <a:cs typeface="Times New Roman" panose="02020603050405020304" pitchFamily="18" charset="0"/>
              </a:rPr>
              <a:t>h</a:t>
            </a:r>
            <a:r>
              <a:rPr lang="en-US" altLang="zh-CN" sz="20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en-US" sz="20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t>41</a:t>
            </a:fld>
            <a:endParaRPr lang="zh-CN" altLang="en-US"/>
          </a:p>
        </p:txBody>
      </p:sp>
      <p:sp>
        <p:nvSpPr>
          <p:cNvPr id="5" name="流程图: 可选过程 4"/>
          <p:cNvSpPr/>
          <p:nvPr/>
        </p:nvSpPr>
        <p:spPr>
          <a:xfrm>
            <a:off x="8316416" y="0"/>
            <a:ext cx="827584" cy="332656"/>
          </a:xfrm>
          <a:prstGeom prst="flowChartAlternateProcess">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t>9.5(a)</a:t>
            </a:r>
          </a:p>
        </p:txBody>
      </p:sp>
      <p:sp>
        <p:nvSpPr>
          <p:cNvPr id="6" name="TextBox 5"/>
          <p:cNvSpPr txBox="1"/>
          <p:nvPr/>
        </p:nvSpPr>
        <p:spPr>
          <a:xfrm>
            <a:off x="3756349" y="166328"/>
            <a:ext cx="1620957" cy="523220"/>
          </a:xfrm>
          <a:prstGeom prst="rect">
            <a:avLst/>
          </a:prstGeom>
          <a:noFill/>
        </p:spPr>
        <p:txBody>
          <a:bodyPr wrap="none" rtlCol="0">
            <a:spAutoFit/>
          </a:bodyPr>
          <a:lstStyle/>
          <a:p>
            <a:r>
              <a:rPr lang="zh-CN" altLang="en-US" sz="2800" b="1" dirty="0">
                <a:solidFill>
                  <a:srgbClr val="0000FF"/>
                </a:solidFill>
                <a:latin typeface="隶书" panose="02010509060101010101" pitchFamily="49" charset="-122"/>
                <a:ea typeface="隶书" panose="02010509060101010101" pitchFamily="49" charset="-122"/>
              </a:rPr>
              <a:t>递归算法</a:t>
            </a:r>
            <a:endParaRPr lang="en-US" sz="2800" b="1" dirty="0">
              <a:solidFill>
                <a:srgbClr val="0000FF"/>
              </a:solidFill>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47829587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500" y="38621"/>
            <a:ext cx="8229600" cy="631304"/>
          </a:xfrm>
        </p:spPr>
        <p:txBody>
          <a:bodyPr>
            <a:normAutofit/>
          </a:bodyPr>
          <a:lstStyle/>
          <a:p>
            <a:pPr algn="l"/>
            <a:r>
              <a:rPr lang="zh-CN" altLang="en-US" sz="3200" dirty="0">
                <a:latin typeface="华文新魏" panose="02010800040101010101" pitchFamily="2" charset="-122"/>
                <a:ea typeface="华文新魏" panose="02010800040101010101" pitchFamily="2" charset="-122"/>
              </a:rPr>
              <a:t>二叉排序树查找举例</a:t>
            </a:r>
            <a:endParaRPr lang="en-US" sz="3200" dirty="0">
              <a:latin typeface="华文新魏" panose="02010800040101010101" pitchFamily="2" charset="-122"/>
              <a:ea typeface="华文新魏" panose="02010800040101010101" pitchFamily="2" charset="-122"/>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42</a:t>
            </a:fld>
            <a:endParaRPr lang="zh-CN" altLang="en-US"/>
          </a:p>
        </p:txBody>
      </p:sp>
      <p:grpSp>
        <p:nvGrpSpPr>
          <p:cNvPr id="6" name="Group 4"/>
          <p:cNvGrpSpPr>
            <a:grpSpLocks/>
          </p:cNvGrpSpPr>
          <p:nvPr/>
        </p:nvGrpSpPr>
        <p:grpSpPr bwMode="auto">
          <a:xfrm>
            <a:off x="1835696" y="1093068"/>
            <a:ext cx="6324600" cy="3429000"/>
            <a:chOff x="1008" y="672"/>
            <a:chExt cx="3984" cy="2160"/>
          </a:xfrm>
        </p:grpSpPr>
        <p:sp>
          <p:nvSpPr>
            <p:cNvPr id="7" name="Oval 5"/>
            <p:cNvSpPr>
              <a:spLocks noChangeArrowheads="1"/>
            </p:cNvSpPr>
            <p:nvPr/>
          </p:nvSpPr>
          <p:spPr bwMode="auto">
            <a:xfrm>
              <a:off x="2640" y="672"/>
              <a:ext cx="432" cy="336"/>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50</a:t>
              </a:r>
              <a:endParaRPr kumimoji="1" lang="en-US" altLang="zh-CN" sz="2000" dirty="0">
                <a:latin typeface="Times New Roman" pitchFamily="18" charset="0"/>
              </a:endParaRPr>
            </a:p>
          </p:txBody>
        </p:sp>
        <p:sp>
          <p:nvSpPr>
            <p:cNvPr id="8" name="Oval 6"/>
            <p:cNvSpPr>
              <a:spLocks noChangeArrowheads="1"/>
            </p:cNvSpPr>
            <p:nvPr/>
          </p:nvSpPr>
          <p:spPr bwMode="auto">
            <a:xfrm>
              <a:off x="1728" y="1008"/>
              <a:ext cx="432" cy="336"/>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30</a:t>
              </a:r>
              <a:endParaRPr kumimoji="1" lang="en-US" altLang="zh-CN" sz="2000" dirty="0">
                <a:latin typeface="Times New Roman" pitchFamily="18" charset="0"/>
              </a:endParaRPr>
            </a:p>
          </p:txBody>
        </p:sp>
        <p:sp>
          <p:nvSpPr>
            <p:cNvPr id="9" name="Oval 7"/>
            <p:cNvSpPr>
              <a:spLocks noChangeArrowheads="1"/>
            </p:cNvSpPr>
            <p:nvPr/>
          </p:nvSpPr>
          <p:spPr bwMode="auto">
            <a:xfrm>
              <a:off x="3552" y="1008"/>
              <a:ext cx="432" cy="336"/>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80</a:t>
              </a:r>
              <a:endParaRPr kumimoji="1" lang="en-US" altLang="zh-CN" sz="2000" dirty="0">
                <a:latin typeface="Times New Roman" pitchFamily="18" charset="0"/>
              </a:endParaRPr>
            </a:p>
          </p:txBody>
        </p:sp>
        <p:sp>
          <p:nvSpPr>
            <p:cNvPr id="10" name="Oval 8"/>
            <p:cNvSpPr>
              <a:spLocks noChangeArrowheads="1"/>
            </p:cNvSpPr>
            <p:nvPr/>
          </p:nvSpPr>
          <p:spPr bwMode="auto">
            <a:xfrm>
              <a:off x="1008" y="1440"/>
              <a:ext cx="432" cy="336"/>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20</a:t>
              </a:r>
              <a:endParaRPr kumimoji="1" lang="en-US" altLang="zh-CN" sz="2000" dirty="0">
                <a:latin typeface="Times New Roman" pitchFamily="18" charset="0"/>
              </a:endParaRPr>
            </a:p>
          </p:txBody>
        </p:sp>
        <p:sp>
          <p:nvSpPr>
            <p:cNvPr id="11" name="Oval 9"/>
            <p:cNvSpPr>
              <a:spLocks noChangeArrowheads="1"/>
            </p:cNvSpPr>
            <p:nvPr/>
          </p:nvSpPr>
          <p:spPr bwMode="auto">
            <a:xfrm>
              <a:off x="4272" y="1440"/>
              <a:ext cx="432" cy="336"/>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90</a:t>
              </a:r>
              <a:endParaRPr kumimoji="1" lang="en-US" altLang="zh-CN" sz="2000" dirty="0">
                <a:latin typeface="Times New Roman" pitchFamily="18" charset="0"/>
              </a:endParaRPr>
            </a:p>
          </p:txBody>
        </p:sp>
        <p:sp>
          <p:nvSpPr>
            <p:cNvPr id="12" name="Oval 10"/>
            <p:cNvSpPr>
              <a:spLocks noChangeArrowheads="1"/>
            </p:cNvSpPr>
            <p:nvPr/>
          </p:nvSpPr>
          <p:spPr bwMode="auto">
            <a:xfrm>
              <a:off x="3744" y="1968"/>
              <a:ext cx="432" cy="336"/>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85</a:t>
              </a:r>
              <a:endParaRPr kumimoji="1" lang="en-US" altLang="zh-CN" sz="2000" dirty="0">
                <a:latin typeface="Times New Roman" pitchFamily="18" charset="0"/>
              </a:endParaRPr>
            </a:p>
          </p:txBody>
        </p:sp>
        <p:sp>
          <p:nvSpPr>
            <p:cNvPr id="13" name="Oval 11"/>
            <p:cNvSpPr>
              <a:spLocks noChangeArrowheads="1"/>
            </p:cNvSpPr>
            <p:nvPr/>
          </p:nvSpPr>
          <p:spPr bwMode="auto">
            <a:xfrm>
              <a:off x="2448" y="1440"/>
              <a:ext cx="432" cy="336"/>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40</a:t>
              </a:r>
              <a:endParaRPr kumimoji="1" lang="en-US" altLang="zh-CN" sz="2000" dirty="0">
                <a:latin typeface="Times New Roman" pitchFamily="18" charset="0"/>
              </a:endParaRPr>
            </a:p>
          </p:txBody>
        </p:sp>
        <p:sp>
          <p:nvSpPr>
            <p:cNvPr id="14" name="Oval 12"/>
            <p:cNvSpPr>
              <a:spLocks noChangeArrowheads="1"/>
            </p:cNvSpPr>
            <p:nvPr/>
          </p:nvSpPr>
          <p:spPr bwMode="auto">
            <a:xfrm>
              <a:off x="1872" y="1968"/>
              <a:ext cx="432" cy="336"/>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35</a:t>
              </a:r>
              <a:endParaRPr kumimoji="1" lang="en-US" altLang="zh-CN" sz="2000" dirty="0">
                <a:latin typeface="Times New Roman" pitchFamily="18" charset="0"/>
              </a:endParaRPr>
            </a:p>
          </p:txBody>
        </p:sp>
        <p:sp>
          <p:nvSpPr>
            <p:cNvPr id="15" name="Oval 13"/>
            <p:cNvSpPr>
              <a:spLocks noChangeArrowheads="1"/>
            </p:cNvSpPr>
            <p:nvPr/>
          </p:nvSpPr>
          <p:spPr bwMode="auto">
            <a:xfrm>
              <a:off x="4560" y="2496"/>
              <a:ext cx="432" cy="336"/>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88</a:t>
              </a:r>
              <a:endParaRPr kumimoji="1" lang="en-US" altLang="zh-CN" sz="2000" dirty="0">
                <a:latin typeface="Times New Roman" pitchFamily="18" charset="0"/>
              </a:endParaRPr>
            </a:p>
          </p:txBody>
        </p:sp>
        <p:sp>
          <p:nvSpPr>
            <p:cNvPr id="16" name="Line 14"/>
            <p:cNvSpPr>
              <a:spLocks noChangeShapeType="1"/>
            </p:cNvSpPr>
            <p:nvPr/>
          </p:nvSpPr>
          <p:spPr bwMode="auto">
            <a:xfrm flipH="1">
              <a:off x="2112" y="864"/>
              <a:ext cx="528" cy="24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Line 15"/>
            <p:cNvSpPr>
              <a:spLocks noChangeShapeType="1"/>
            </p:cNvSpPr>
            <p:nvPr/>
          </p:nvSpPr>
          <p:spPr bwMode="auto">
            <a:xfrm flipH="1">
              <a:off x="1392" y="1296"/>
              <a:ext cx="336" cy="192"/>
            </a:xfrm>
            <a:prstGeom prst="line">
              <a:avLst/>
            </a:prstGeom>
            <a:noFill/>
            <a:ln w="38100">
              <a:solidFill>
                <a:srgbClr val="66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Line 16"/>
            <p:cNvSpPr>
              <a:spLocks noChangeShapeType="1"/>
            </p:cNvSpPr>
            <p:nvPr/>
          </p:nvSpPr>
          <p:spPr bwMode="auto">
            <a:xfrm>
              <a:off x="3072" y="864"/>
              <a:ext cx="480" cy="24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Line 17"/>
            <p:cNvSpPr>
              <a:spLocks noChangeShapeType="1"/>
            </p:cNvSpPr>
            <p:nvPr/>
          </p:nvSpPr>
          <p:spPr bwMode="auto">
            <a:xfrm>
              <a:off x="2112" y="1248"/>
              <a:ext cx="384" cy="24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Line 18"/>
            <p:cNvSpPr>
              <a:spLocks noChangeShapeType="1"/>
            </p:cNvSpPr>
            <p:nvPr/>
          </p:nvSpPr>
          <p:spPr bwMode="auto">
            <a:xfrm flipH="1">
              <a:off x="2160" y="1728"/>
              <a:ext cx="336" cy="24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Line 19"/>
            <p:cNvSpPr>
              <a:spLocks noChangeShapeType="1"/>
            </p:cNvSpPr>
            <p:nvPr/>
          </p:nvSpPr>
          <p:spPr bwMode="auto">
            <a:xfrm>
              <a:off x="3936" y="1296"/>
              <a:ext cx="384" cy="192"/>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Line 20"/>
            <p:cNvSpPr>
              <a:spLocks noChangeShapeType="1"/>
            </p:cNvSpPr>
            <p:nvPr/>
          </p:nvSpPr>
          <p:spPr bwMode="auto">
            <a:xfrm flipH="1">
              <a:off x="4032" y="1728"/>
              <a:ext cx="384" cy="240"/>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Line 21"/>
            <p:cNvSpPr>
              <a:spLocks noChangeShapeType="1"/>
            </p:cNvSpPr>
            <p:nvPr/>
          </p:nvSpPr>
          <p:spPr bwMode="auto">
            <a:xfrm>
              <a:off x="4128" y="2256"/>
              <a:ext cx="480" cy="288"/>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Oval 22"/>
            <p:cNvSpPr>
              <a:spLocks noChangeArrowheads="1"/>
            </p:cNvSpPr>
            <p:nvPr/>
          </p:nvSpPr>
          <p:spPr bwMode="auto">
            <a:xfrm>
              <a:off x="1248" y="2496"/>
              <a:ext cx="432" cy="336"/>
            </a:xfrm>
            <a:prstGeom prst="ellipse">
              <a:avLst/>
            </a:prstGeom>
            <a:noFill/>
            <a:ln w="254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32</a:t>
              </a:r>
              <a:endParaRPr kumimoji="1" lang="en-US" altLang="zh-CN" sz="2000" dirty="0">
                <a:latin typeface="Times New Roman" pitchFamily="18" charset="0"/>
              </a:endParaRPr>
            </a:p>
          </p:txBody>
        </p:sp>
        <p:sp>
          <p:nvSpPr>
            <p:cNvPr id="25" name="Line 23"/>
            <p:cNvSpPr>
              <a:spLocks noChangeShapeType="1"/>
            </p:cNvSpPr>
            <p:nvPr/>
          </p:nvSpPr>
          <p:spPr bwMode="auto">
            <a:xfrm flipH="1">
              <a:off x="1536" y="2208"/>
              <a:ext cx="384" cy="288"/>
            </a:xfrm>
            <a:prstGeom prst="line">
              <a:avLst/>
            </a:prstGeom>
            <a:noFill/>
            <a:ln w="38100">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6" name="Freeform 26"/>
          <p:cNvSpPr>
            <a:spLocks/>
          </p:cNvSpPr>
          <p:nvPr/>
        </p:nvSpPr>
        <p:spPr bwMode="auto">
          <a:xfrm>
            <a:off x="4711700" y="332656"/>
            <a:ext cx="1066800" cy="762000"/>
          </a:xfrm>
          <a:custGeom>
            <a:avLst/>
            <a:gdLst>
              <a:gd name="T0" fmla="*/ 672 w 672"/>
              <a:gd name="T1" fmla="*/ 0 h 480"/>
              <a:gd name="T2" fmla="*/ 192 w 672"/>
              <a:gd name="T3" fmla="*/ 240 h 480"/>
              <a:gd name="T4" fmla="*/ 480 w 672"/>
              <a:gd name="T5" fmla="*/ 240 h 480"/>
              <a:gd name="T6" fmla="*/ 0 w 672"/>
              <a:gd name="T7" fmla="*/ 480 h 480"/>
            </a:gdLst>
            <a:ahLst/>
            <a:cxnLst>
              <a:cxn ang="0">
                <a:pos x="T0" y="T1"/>
              </a:cxn>
              <a:cxn ang="0">
                <a:pos x="T2" y="T3"/>
              </a:cxn>
              <a:cxn ang="0">
                <a:pos x="T4" y="T5"/>
              </a:cxn>
              <a:cxn ang="0">
                <a:pos x="T6" y="T7"/>
              </a:cxn>
            </a:cxnLst>
            <a:rect l="0" t="0" r="r" b="b"/>
            <a:pathLst>
              <a:path w="672" h="480">
                <a:moveTo>
                  <a:pt x="672" y="0"/>
                </a:moveTo>
                <a:cubicBezTo>
                  <a:pt x="448" y="100"/>
                  <a:pt x="224" y="200"/>
                  <a:pt x="192" y="240"/>
                </a:cubicBezTo>
                <a:cubicBezTo>
                  <a:pt x="160" y="280"/>
                  <a:pt x="512" y="200"/>
                  <a:pt x="480" y="240"/>
                </a:cubicBezTo>
                <a:cubicBezTo>
                  <a:pt x="448" y="280"/>
                  <a:pt x="224" y="380"/>
                  <a:pt x="0" y="480"/>
                </a:cubicBezTo>
              </a:path>
            </a:pathLst>
          </a:custGeom>
          <a:noFill/>
          <a:ln w="31750">
            <a:solidFill>
              <a:srgbClr val="FF00FF"/>
            </a:solidFill>
            <a:round/>
            <a:headEn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 name="Text Box 27"/>
          <p:cNvSpPr txBox="1">
            <a:spLocks noChangeArrowheads="1"/>
          </p:cNvSpPr>
          <p:nvPr/>
        </p:nvSpPr>
        <p:spPr bwMode="auto">
          <a:xfrm>
            <a:off x="1481911" y="5949950"/>
            <a:ext cx="224452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3200" b="1" dirty="0">
                <a:solidFill>
                  <a:srgbClr val="CC3300"/>
                </a:solidFill>
                <a:latin typeface="华文楷体" panose="02010600040101010101" pitchFamily="2" charset="-122"/>
                <a:ea typeface="华文楷体" panose="02010600040101010101" pitchFamily="2" charset="-122"/>
              </a:rPr>
              <a:t>查找关键字</a:t>
            </a:r>
            <a:endParaRPr kumimoji="1" lang="zh-CN" altLang="en-US" sz="3200" dirty="0">
              <a:latin typeface="华文楷体" panose="02010600040101010101" pitchFamily="2" charset="-122"/>
              <a:ea typeface="华文楷体" panose="02010600040101010101" pitchFamily="2" charset="-122"/>
            </a:endParaRPr>
          </a:p>
        </p:txBody>
      </p:sp>
      <p:sp useBgFill="1">
        <p:nvSpPr>
          <p:cNvPr id="30" name="Oval 30"/>
          <p:cNvSpPr>
            <a:spLocks noChangeArrowheads="1"/>
          </p:cNvSpPr>
          <p:nvPr/>
        </p:nvSpPr>
        <p:spPr bwMode="auto">
          <a:xfrm>
            <a:off x="4411187" y="1099599"/>
            <a:ext cx="685800" cy="533400"/>
          </a:xfrm>
          <a:prstGeom prst="ellipse">
            <a:avLst/>
          </a:prstGeom>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50</a:t>
            </a:r>
            <a:endParaRPr kumimoji="1" lang="en-US" altLang="zh-CN" sz="2000" dirty="0">
              <a:latin typeface="Times New Roman" pitchFamily="18" charset="0"/>
            </a:endParaRPr>
          </a:p>
        </p:txBody>
      </p:sp>
      <p:sp>
        <p:nvSpPr>
          <p:cNvPr id="31" name="Text Box 31"/>
          <p:cNvSpPr txBox="1">
            <a:spLocks noChangeArrowheads="1"/>
          </p:cNvSpPr>
          <p:nvPr/>
        </p:nvSpPr>
        <p:spPr bwMode="auto">
          <a:xfrm>
            <a:off x="3948282" y="6008856"/>
            <a:ext cx="7232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dirty="0" smtClean="0">
                <a:solidFill>
                  <a:srgbClr val="3333FF"/>
                </a:solidFill>
                <a:latin typeface="Times New Roman" pitchFamily="18" charset="0"/>
              </a:rPr>
              <a:t>36 </a:t>
            </a:r>
            <a:r>
              <a:rPr kumimoji="1" lang="en-US" altLang="zh-CN" sz="2800" b="1" dirty="0">
                <a:solidFill>
                  <a:srgbClr val="3333FF"/>
                </a:solidFill>
                <a:latin typeface="Times New Roman" pitchFamily="18" charset="0"/>
              </a:rPr>
              <a:t>,</a:t>
            </a:r>
            <a:endParaRPr kumimoji="1" lang="en-US" altLang="zh-CN" sz="2800" dirty="0">
              <a:latin typeface="Times New Roman" pitchFamily="18" charset="0"/>
            </a:endParaRPr>
          </a:p>
        </p:txBody>
      </p:sp>
      <p:sp>
        <p:nvSpPr>
          <p:cNvPr id="32" name="Oval 32"/>
          <p:cNvSpPr>
            <a:spLocks noChangeArrowheads="1"/>
          </p:cNvSpPr>
          <p:nvPr/>
        </p:nvSpPr>
        <p:spPr bwMode="auto">
          <a:xfrm>
            <a:off x="4432643" y="1093327"/>
            <a:ext cx="685800" cy="533400"/>
          </a:xfrm>
          <a:prstGeom prst="ellipse">
            <a:avLst/>
          </a:prstGeom>
          <a:solidFill>
            <a:srgbClr val="CCFFFF"/>
          </a:solidFill>
          <a:ln w="19050" cap="sq">
            <a:solidFill>
              <a:schemeClr val="accent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50</a:t>
            </a:r>
            <a:endParaRPr kumimoji="1" lang="en-US" altLang="zh-CN" sz="2000" dirty="0">
              <a:latin typeface="Times New Roman" pitchFamily="18" charset="0"/>
            </a:endParaRPr>
          </a:p>
        </p:txBody>
      </p:sp>
      <p:sp>
        <p:nvSpPr>
          <p:cNvPr id="33" name="Line 33"/>
          <p:cNvSpPr>
            <a:spLocks noChangeShapeType="1"/>
          </p:cNvSpPr>
          <p:nvPr/>
        </p:nvSpPr>
        <p:spPr bwMode="auto">
          <a:xfrm flipH="1">
            <a:off x="3644900" y="1551856"/>
            <a:ext cx="838200" cy="381000"/>
          </a:xfrm>
          <a:prstGeom prst="line">
            <a:avLst/>
          </a:prstGeom>
          <a:noFill/>
          <a:ln w="381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 name="Line 34"/>
          <p:cNvSpPr>
            <a:spLocks noChangeShapeType="1"/>
          </p:cNvSpPr>
          <p:nvPr/>
        </p:nvSpPr>
        <p:spPr bwMode="auto">
          <a:xfrm>
            <a:off x="3492500" y="2085256"/>
            <a:ext cx="609600" cy="381000"/>
          </a:xfrm>
          <a:prstGeom prst="line">
            <a:avLst/>
          </a:prstGeom>
          <a:noFill/>
          <a:ln w="381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 name="Line 35"/>
          <p:cNvSpPr>
            <a:spLocks noChangeShapeType="1"/>
          </p:cNvSpPr>
          <p:nvPr/>
        </p:nvSpPr>
        <p:spPr bwMode="auto">
          <a:xfrm flipH="1">
            <a:off x="3721100" y="2847256"/>
            <a:ext cx="533400" cy="381000"/>
          </a:xfrm>
          <a:prstGeom prst="line">
            <a:avLst/>
          </a:prstGeom>
          <a:noFill/>
          <a:ln w="381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 name="Oval 36"/>
          <p:cNvSpPr>
            <a:spLocks noChangeArrowheads="1"/>
          </p:cNvSpPr>
          <p:nvPr/>
        </p:nvSpPr>
        <p:spPr bwMode="auto">
          <a:xfrm>
            <a:off x="2959100" y="1628056"/>
            <a:ext cx="685800" cy="533400"/>
          </a:xfrm>
          <a:prstGeom prst="ellipse">
            <a:avLst/>
          </a:prstGeom>
          <a:solidFill>
            <a:srgbClr val="CCFFFF"/>
          </a:solidFill>
          <a:ln w="25400" cap="sq">
            <a:solidFill>
              <a:schemeClr val="accent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dirty="0">
                <a:solidFill>
                  <a:srgbClr val="990033"/>
                </a:solidFill>
                <a:latin typeface="Times New Roman" pitchFamily="18" charset="0"/>
              </a:rPr>
              <a:t>30</a:t>
            </a:r>
            <a:endParaRPr kumimoji="1" lang="en-US" altLang="zh-CN" sz="2400" dirty="0">
              <a:latin typeface="Times New Roman" pitchFamily="18" charset="0"/>
            </a:endParaRPr>
          </a:p>
        </p:txBody>
      </p:sp>
      <p:sp>
        <p:nvSpPr>
          <p:cNvPr id="37" name="Oval 37"/>
          <p:cNvSpPr>
            <a:spLocks noChangeArrowheads="1"/>
          </p:cNvSpPr>
          <p:nvPr/>
        </p:nvSpPr>
        <p:spPr bwMode="auto">
          <a:xfrm>
            <a:off x="4108855" y="2305919"/>
            <a:ext cx="685800" cy="533400"/>
          </a:xfrm>
          <a:prstGeom prst="ellipse">
            <a:avLst/>
          </a:prstGeom>
          <a:solidFill>
            <a:srgbClr val="CCFFFF"/>
          </a:solidFill>
          <a:ln w="25400" cap="sq">
            <a:solidFill>
              <a:schemeClr val="accent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40</a:t>
            </a:r>
            <a:endParaRPr kumimoji="1" lang="en-US" altLang="zh-CN" sz="2000" dirty="0">
              <a:latin typeface="Times New Roman" pitchFamily="18" charset="0"/>
            </a:endParaRPr>
          </a:p>
        </p:txBody>
      </p:sp>
      <p:sp>
        <p:nvSpPr>
          <p:cNvPr id="38" name="Oval 38"/>
          <p:cNvSpPr>
            <a:spLocks noChangeArrowheads="1"/>
          </p:cNvSpPr>
          <p:nvPr/>
        </p:nvSpPr>
        <p:spPr bwMode="auto">
          <a:xfrm>
            <a:off x="3187700" y="3136181"/>
            <a:ext cx="685800" cy="533400"/>
          </a:xfrm>
          <a:prstGeom prst="ellipse">
            <a:avLst/>
          </a:prstGeom>
          <a:solidFill>
            <a:srgbClr val="CCFFFF"/>
          </a:solidFill>
          <a:ln w="25400" cap="sq">
            <a:solidFill>
              <a:schemeClr val="accent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dirty="0">
                <a:solidFill>
                  <a:srgbClr val="3333FF"/>
                </a:solidFill>
                <a:latin typeface="Times New Roman" pitchFamily="18" charset="0"/>
              </a:rPr>
              <a:t>35</a:t>
            </a:r>
            <a:endParaRPr kumimoji="1" lang="en-US" altLang="zh-CN" sz="2000" dirty="0">
              <a:latin typeface="Times New Roman" pitchFamily="18" charset="0"/>
            </a:endParaRPr>
          </a:p>
        </p:txBody>
      </p:sp>
      <p:sp useBgFill="1">
        <p:nvSpPr>
          <p:cNvPr id="39" name="Oval 39"/>
          <p:cNvSpPr>
            <a:spLocks noChangeArrowheads="1"/>
          </p:cNvSpPr>
          <p:nvPr/>
        </p:nvSpPr>
        <p:spPr bwMode="auto">
          <a:xfrm>
            <a:off x="4425404" y="1096334"/>
            <a:ext cx="685800" cy="533400"/>
          </a:xfrm>
          <a:prstGeom prst="ellipse">
            <a:avLst/>
          </a:prstGeom>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990033"/>
                </a:solidFill>
                <a:latin typeface="Times New Roman" pitchFamily="18" charset="0"/>
              </a:rPr>
              <a:t>50</a:t>
            </a:r>
            <a:endParaRPr kumimoji="1" lang="en-US" altLang="zh-CN" sz="2000" dirty="0">
              <a:latin typeface="Times New Roman" pitchFamily="18" charset="0"/>
            </a:endParaRPr>
          </a:p>
        </p:txBody>
      </p:sp>
      <p:sp>
        <p:nvSpPr>
          <p:cNvPr id="41" name="Line 41"/>
          <p:cNvSpPr>
            <a:spLocks noChangeShapeType="1"/>
          </p:cNvSpPr>
          <p:nvPr/>
        </p:nvSpPr>
        <p:spPr bwMode="auto">
          <a:xfrm>
            <a:off x="5092700" y="1247056"/>
            <a:ext cx="914400" cy="457200"/>
          </a:xfrm>
          <a:prstGeom prst="line">
            <a:avLst/>
          </a:prstGeom>
          <a:noFill/>
          <a:ln w="38100">
            <a:solidFill>
              <a:srgbClr val="0066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 name="Line 42"/>
          <p:cNvSpPr>
            <a:spLocks noChangeShapeType="1"/>
          </p:cNvSpPr>
          <p:nvPr/>
        </p:nvSpPr>
        <p:spPr bwMode="auto">
          <a:xfrm>
            <a:off x="6540500" y="1932856"/>
            <a:ext cx="685800" cy="381000"/>
          </a:xfrm>
          <a:prstGeom prst="line">
            <a:avLst/>
          </a:prstGeom>
          <a:noFill/>
          <a:ln w="38100">
            <a:solidFill>
              <a:srgbClr val="0066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 name="Oval 43"/>
          <p:cNvSpPr>
            <a:spLocks noChangeArrowheads="1"/>
          </p:cNvSpPr>
          <p:nvPr/>
        </p:nvSpPr>
        <p:spPr bwMode="auto">
          <a:xfrm>
            <a:off x="4419772" y="1090506"/>
            <a:ext cx="685800" cy="533400"/>
          </a:xfrm>
          <a:prstGeom prst="ellipse">
            <a:avLst/>
          </a:prstGeom>
          <a:solidFill>
            <a:srgbClr val="CCFFCC"/>
          </a:solidFill>
          <a:ln w="25400" cap="sq">
            <a:solidFill>
              <a:srgbClr val="0066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A50021"/>
                </a:solidFill>
                <a:latin typeface="Times New Roman" pitchFamily="18" charset="0"/>
              </a:rPr>
              <a:t>50</a:t>
            </a:r>
            <a:endParaRPr kumimoji="1" lang="en-US" altLang="zh-CN" sz="2000" dirty="0">
              <a:latin typeface="Times New Roman" pitchFamily="18" charset="0"/>
            </a:endParaRPr>
          </a:p>
        </p:txBody>
      </p:sp>
      <p:sp>
        <p:nvSpPr>
          <p:cNvPr id="44" name="Oval 44"/>
          <p:cNvSpPr>
            <a:spLocks noChangeArrowheads="1"/>
          </p:cNvSpPr>
          <p:nvPr/>
        </p:nvSpPr>
        <p:spPr bwMode="auto">
          <a:xfrm>
            <a:off x="5854700" y="1628056"/>
            <a:ext cx="685800" cy="533400"/>
          </a:xfrm>
          <a:prstGeom prst="ellipse">
            <a:avLst/>
          </a:prstGeom>
          <a:solidFill>
            <a:srgbClr val="CCFFCC"/>
          </a:solidFill>
          <a:ln w="25400" cap="sq">
            <a:solidFill>
              <a:srgbClr val="0066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dirty="0">
                <a:solidFill>
                  <a:srgbClr val="A50021"/>
                </a:solidFill>
                <a:latin typeface="Times New Roman" pitchFamily="18" charset="0"/>
              </a:rPr>
              <a:t>80</a:t>
            </a:r>
            <a:endParaRPr kumimoji="1" lang="en-US" altLang="zh-CN" sz="2000" dirty="0">
              <a:latin typeface="Times New Roman" pitchFamily="18" charset="0"/>
            </a:endParaRPr>
          </a:p>
        </p:txBody>
      </p:sp>
      <p:sp>
        <p:nvSpPr>
          <p:cNvPr id="45" name="Oval 45"/>
          <p:cNvSpPr>
            <a:spLocks noChangeArrowheads="1"/>
          </p:cNvSpPr>
          <p:nvPr/>
        </p:nvSpPr>
        <p:spPr bwMode="auto">
          <a:xfrm>
            <a:off x="6997700" y="2313856"/>
            <a:ext cx="685800" cy="533400"/>
          </a:xfrm>
          <a:prstGeom prst="ellipse">
            <a:avLst/>
          </a:prstGeom>
          <a:solidFill>
            <a:srgbClr val="CCFFCC"/>
          </a:solidFill>
          <a:ln w="25400" cap="sq">
            <a:solidFill>
              <a:srgbClr val="0066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dirty="0">
                <a:solidFill>
                  <a:srgbClr val="006600"/>
                </a:solidFill>
                <a:latin typeface="Times New Roman" pitchFamily="18" charset="0"/>
              </a:rPr>
              <a:t>90</a:t>
            </a:r>
            <a:endParaRPr kumimoji="1" lang="en-US" altLang="zh-CN" sz="2000" dirty="0">
              <a:latin typeface="Times New Roman" pitchFamily="18" charset="0"/>
            </a:endParaRPr>
          </a:p>
        </p:txBody>
      </p:sp>
      <p:sp>
        <p:nvSpPr>
          <p:cNvPr id="46" name="Text Box 46"/>
          <p:cNvSpPr txBox="1">
            <a:spLocks noChangeArrowheads="1"/>
          </p:cNvSpPr>
          <p:nvPr/>
        </p:nvSpPr>
        <p:spPr bwMode="auto">
          <a:xfrm>
            <a:off x="4975004" y="6008856"/>
            <a:ext cx="63350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dirty="0">
                <a:solidFill>
                  <a:srgbClr val="FF00FF"/>
                </a:solidFill>
                <a:latin typeface="Times New Roman" pitchFamily="18" charset="0"/>
              </a:rPr>
              <a:t>95 </a:t>
            </a:r>
            <a:endParaRPr kumimoji="1" lang="en-US" altLang="zh-CN" sz="2800" dirty="0">
              <a:latin typeface="Times New Roman" pitchFamily="18" charset="0"/>
            </a:endParaRPr>
          </a:p>
        </p:txBody>
      </p:sp>
      <p:sp>
        <p:nvSpPr>
          <p:cNvPr id="47" name="Line 47"/>
          <p:cNvSpPr>
            <a:spLocks noChangeShapeType="1"/>
          </p:cNvSpPr>
          <p:nvPr/>
        </p:nvSpPr>
        <p:spPr bwMode="auto">
          <a:xfrm>
            <a:off x="7683500" y="2542456"/>
            <a:ext cx="685800" cy="381000"/>
          </a:xfrm>
          <a:prstGeom prst="line">
            <a:avLst/>
          </a:prstGeom>
          <a:noFill/>
          <a:ln w="38100">
            <a:solidFill>
              <a:srgbClr val="FF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48" name="组合 47">
            <a:extLst>
              <a:ext uri="{FF2B5EF4-FFF2-40B4-BE49-F238E27FC236}">
                <a16:creationId xmlns="" xmlns:a16="http://schemas.microsoft.com/office/drawing/2014/main" id="{8C2F2DB1-36D8-4A7E-A9BA-CBCBC321985A}"/>
              </a:ext>
            </a:extLst>
          </p:cNvPr>
          <p:cNvGrpSpPr/>
          <p:nvPr/>
        </p:nvGrpSpPr>
        <p:grpSpPr>
          <a:xfrm>
            <a:off x="2864396" y="5123304"/>
            <a:ext cx="4271392" cy="399503"/>
            <a:chOff x="2100808" y="4653136"/>
            <a:chExt cx="4271392" cy="399503"/>
          </a:xfrm>
        </p:grpSpPr>
        <p:sp>
          <p:nvSpPr>
            <p:cNvPr id="49" name="文本框 48">
              <a:extLst>
                <a:ext uri="{FF2B5EF4-FFF2-40B4-BE49-F238E27FC236}">
                  <a16:creationId xmlns="" xmlns:a16="http://schemas.microsoft.com/office/drawing/2014/main" id="{B2763B5B-C6DC-4BA2-BB5C-EAF3687234B4}"/>
                </a:ext>
              </a:extLst>
            </p:cNvPr>
            <p:cNvSpPr txBox="1"/>
            <p:nvPr/>
          </p:nvSpPr>
          <p:spPr>
            <a:xfrm>
              <a:off x="2100808" y="4653136"/>
              <a:ext cx="432048" cy="369332"/>
            </a:xfrm>
            <a:prstGeom prst="rect">
              <a:avLst/>
            </a:prstGeom>
            <a:noFill/>
          </p:spPr>
          <p:txBody>
            <a:bodyPr wrap="square" rtlCol="0">
              <a:spAutoFit/>
            </a:bodyPr>
            <a:lstStyle/>
            <a:p>
              <a:r>
                <a:rPr lang="en-US" altLang="zh-CN" dirty="0"/>
                <a:t>20</a:t>
              </a:r>
              <a:endParaRPr lang="zh-CN" altLang="en-US" dirty="0"/>
            </a:p>
          </p:txBody>
        </p:sp>
        <p:sp>
          <p:nvSpPr>
            <p:cNvPr id="50" name="文本框 49">
              <a:extLst>
                <a:ext uri="{FF2B5EF4-FFF2-40B4-BE49-F238E27FC236}">
                  <a16:creationId xmlns="" xmlns:a16="http://schemas.microsoft.com/office/drawing/2014/main" id="{06224445-92A1-406A-9F38-5A118A8B44C1}"/>
                </a:ext>
              </a:extLst>
            </p:cNvPr>
            <p:cNvSpPr txBox="1"/>
            <p:nvPr/>
          </p:nvSpPr>
          <p:spPr>
            <a:xfrm>
              <a:off x="2554092" y="4655272"/>
              <a:ext cx="432048" cy="369332"/>
            </a:xfrm>
            <a:prstGeom prst="rect">
              <a:avLst/>
            </a:prstGeom>
            <a:noFill/>
          </p:spPr>
          <p:txBody>
            <a:bodyPr wrap="square" rtlCol="0">
              <a:spAutoFit/>
            </a:bodyPr>
            <a:lstStyle/>
            <a:p>
              <a:r>
                <a:rPr lang="en-US" altLang="zh-CN" dirty="0"/>
                <a:t>30</a:t>
              </a:r>
              <a:endParaRPr lang="zh-CN" altLang="en-US" dirty="0"/>
            </a:p>
          </p:txBody>
        </p:sp>
        <p:sp>
          <p:nvSpPr>
            <p:cNvPr id="51" name="文本框 50">
              <a:extLst>
                <a:ext uri="{FF2B5EF4-FFF2-40B4-BE49-F238E27FC236}">
                  <a16:creationId xmlns="" xmlns:a16="http://schemas.microsoft.com/office/drawing/2014/main" id="{3126A9A5-2EA9-4E88-85F2-D1E8B78AC453}"/>
                </a:ext>
              </a:extLst>
            </p:cNvPr>
            <p:cNvSpPr txBox="1"/>
            <p:nvPr/>
          </p:nvSpPr>
          <p:spPr>
            <a:xfrm>
              <a:off x="3025502" y="4671610"/>
              <a:ext cx="432048" cy="369332"/>
            </a:xfrm>
            <a:prstGeom prst="rect">
              <a:avLst/>
            </a:prstGeom>
            <a:noFill/>
          </p:spPr>
          <p:txBody>
            <a:bodyPr wrap="square" rtlCol="0">
              <a:spAutoFit/>
            </a:bodyPr>
            <a:lstStyle/>
            <a:p>
              <a:r>
                <a:rPr lang="en-US" altLang="zh-CN" dirty="0"/>
                <a:t>32</a:t>
              </a:r>
              <a:endParaRPr lang="zh-CN" altLang="en-US" dirty="0"/>
            </a:p>
          </p:txBody>
        </p:sp>
        <p:sp>
          <p:nvSpPr>
            <p:cNvPr id="52" name="文本框 51">
              <a:extLst>
                <a:ext uri="{FF2B5EF4-FFF2-40B4-BE49-F238E27FC236}">
                  <a16:creationId xmlns="" xmlns:a16="http://schemas.microsoft.com/office/drawing/2014/main" id="{95EFBB54-A7B2-43F0-B262-F0AC6D01B99E}"/>
                </a:ext>
              </a:extLst>
            </p:cNvPr>
            <p:cNvSpPr txBox="1"/>
            <p:nvPr/>
          </p:nvSpPr>
          <p:spPr>
            <a:xfrm>
              <a:off x="3463078" y="4653136"/>
              <a:ext cx="432048" cy="369332"/>
            </a:xfrm>
            <a:prstGeom prst="rect">
              <a:avLst/>
            </a:prstGeom>
            <a:noFill/>
          </p:spPr>
          <p:txBody>
            <a:bodyPr wrap="square" rtlCol="0">
              <a:spAutoFit/>
            </a:bodyPr>
            <a:lstStyle/>
            <a:p>
              <a:r>
                <a:rPr lang="en-US" altLang="zh-CN" dirty="0"/>
                <a:t>35</a:t>
              </a:r>
              <a:endParaRPr lang="zh-CN" altLang="en-US" dirty="0"/>
            </a:p>
          </p:txBody>
        </p:sp>
        <p:sp>
          <p:nvSpPr>
            <p:cNvPr id="53" name="文本框 52">
              <a:extLst>
                <a:ext uri="{FF2B5EF4-FFF2-40B4-BE49-F238E27FC236}">
                  <a16:creationId xmlns="" xmlns:a16="http://schemas.microsoft.com/office/drawing/2014/main" id="{46C5908C-C04D-40E0-BD0E-53515100C9B9}"/>
                </a:ext>
              </a:extLst>
            </p:cNvPr>
            <p:cNvSpPr txBox="1"/>
            <p:nvPr/>
          </p:nvSpPr>
          <p:spPr>
            <a:xfrm>
              <a:off x="3844652" y="4660515"/>
              <a:ext cx="432048" cy="369332"/>
            </a:xfrm>
            <a:prstGeom prst="rect">
              <a:avLst/>
            </a:prstGeom>
            <a:noFill/>
          </p:spPr>
          <p:txBody>
            <a:bodyPr wrap="square" rtlCol="0">
              <a:spAutoFit/>
            </a:bodyPr>
            <a:lstStyle/>
            <a:p>
              <a:r>
                <a:rPr lang="en-US" altLang="zh-CN" dirty="0"/>
                <a:t>40</a:t>
              </a:r>
              <a:endParaRPr lang="zh-CN" altLang="en-US" dirty="0"/>
            </a:p>
          </p:txBody>
        </p:sp>
        <p:sp>
          <p:nvSpPr>
            <p:cNvPr id="54" name="文本框 53">
              <a:extLst>
                <a:ext uri="{FF2B5EF4-FFF2-40B4-BE49-F238E27FC236}">
                  <a16:creationId xmlns="" xmlns:a16="http://schemas.microsoft.com/office/drawing/2014/main" id="{A9C16EDA-A0B4-4EC8-8AE9-91D53589F194}"/>
                </a:ext>
              </a:extLst>
            </p:cNvPr>
            <p:cNvSpPr txBox="1"/>
            <p:nvPr/>
          </p:nvSpPr>
          <p:spPr>
            <a:xfrm>
              <a:off x="4196261" y="4674023"/>
              <a:ext cx="432048" cy="369332"/>
            </a:xfrm>
            <a:prstGeom prst="rect">
              <a:avLst/>
            </a:prstGeom>
            <a:noFill/>
          </p:spPr>
          <p:txBody>
            <a:bodyPr wrap="square" rtlCol="0">
              <a:spAutoFit/>
            </a:bodyPr>
            <a:lstStyle/>
            <a:p>
              <a:r>
                <a:rPr lang="en-US" altLang="zh-CN" dirty="0"/>
                <a:t>50</a:t>
              </a:r>
              <a:endParaRPr lang="zh-CN" altLang="en-US" dirty="0"/>
            </a:p>
          </p:txBody>
        </p:sp>
        <p:sp>
          <p:nvSpPr>
            <p:cNvPr id="55" name="文本框 54">
              <a:extLst>
                <a:ext uri="{FF2B5EF4-FFF2-40B4-BE49-F238E27FC236}">
                  <a16:creationId xmlns="" xmlns:a16="http://schemas.microsoft.com/office/drawing/2014/main" id="{6D8E4320-0EC9-4555-966D-56B4CC19F8F2}"/>
                </a:ext>
              </a:extLst>
            </p:cNvPr>
            <p:cNvSpPr txBox="1"/>
            <p:nvPr/>
          </p:nvSpPr>
          <p:spPr>
            <a:xfrm>
              <a:off x="4628899" y="4678665"/>
              <a:ext cx="432048" cy="369332"/>
            </a:xfrm>
            <a:prstGeom prst="rect">
              <a:avLst/>
            </a:prstGeom>
            <a:noFill/>
          </p:spPr>
          <p:txBody>
            <a:bodyPr wrap="square" rtlCol="0">
              <a:spAutoFit/>
            </a:bodyPr>
            <a:lstStyle/>
            <a:p>
              <a:r>
                <a:rPr lang="en-US" altLang="zh-CN" dirty="0"/>
                <a:t>80</a:t>
              </a:r>
              <a:endParaRPr lang="zh-CN" altLang="en-US" dirty="0"/>
            </a:p>
          </p:txBody>
        </p:sp>
        <p:sp>
          <p:nvSpPr>
            <p:cNvPr id="56" name="文本框 55">
              <a:extLst>
                <a:ext uri="{FF2B5EF4-FFF2-40B4-BE49-F238E27FC236}">
                  <a16:creationId xmlns="" xmlns:a16="http://schemas.microsoft.com/office/drawing/2014/main" id="{67736719-2749-4A88-AE7F-9079FF9DA61B}"/>
                </a:ext>
              </a:extLst>
            </p:cNvPr>
            <p:cNvSpPr txBox="1"/>
            <p:nvPr/>
          </p:nvSpPr>
          <p:spPr>
            <a:xfrm>
              <a:off x="5040224" y="4683307"/>
              <a:ext cx="432048" cy="369332"/>
            </a:xfrm>
            <a:prstGeom prst="rect">
              <a:avLst/>
            </a:prstGeom>
            <a:noFill/>
          </p:spPr>
          <p:txBody>
            <a:bodyPr wrap="square" rtlCol="0">
              <a:spAutoFit/>
            </a:bodyPr>
            <a:lstStyle/>
            <a:p>
              <a:r>
                <a:rPr lang="en-US" altLang="zh-CN" dirty="0"/>
                <a:t>85</a:t>
              </a:r>
              <a:endParaRPr lang="zh-CN" altLang="en-US" dirty="0"/>
            </a:p>
          </p:txBody>
        </p:sp>
        <p:sp>
          <p:nvSpPr>
            <p:cNvPr id="57" name="文本框 56">
              <a:extLst>
                <a:ext uri="{FF2B5EF4-FFF2-40B4-BE49-F238E27FC236}">
                  <a16:creationId xmlns="" xmlns:a16="http://schemas.microsoft.com/office/drawing/2014/main" id="{7795A579-C65C-430E-8EBF-D3C8F72A235C}"/>
                </a:ext>
              </a:extLst>
            </p:cNvPr>
            <p:cNvSpPr txBox="1"/>
            <p:nvPr/>
          </p:nvSpPr>
          <p:spPr>
            <a:xfrm>
              <a:off x="5496199" y="4683307"/>
              <a:ext cx="432048" cy="369332"/>
            </a:xfrm>
            <a:prstGeom prst="rect">
              <a:avLst/>
            </a:prstGeom>
            <a:noFill/>
          </p:spPr>
          <p:txBody>
            <a:bodyPr wrap="square" rtlCol="0">
              <a:spAutoFit/>
            </a:bodyPr>
            <a:lstStyle/>
            <a:p>
              <a:r>
                <a:rPr lang="en-US" altLang="zh-CN" dirty="0"/>
                <a:t>88</a:t>
              </a:r>
              <a:endParaRPr lang="zh-CN" altLang="en-US" dirty="0"/>
            </a:p>
          </p:txBody>
        </p:sp>
        <p:sp>
          <p:nvSpPr>
            <p:cNvPr id="58" name="文本框 57">
              <a:extLst>
                <a:ext uri="{FF2B5EF4-FFF2-40B4-BE49-F238E27FC236}">
                  <a16:creationId xmlns="" xmlns:a16="http://schemas.microsoft.com/office/drawing/2014/main" id="{756AE9B0-FDAF-4F0F-876D-87B1D9915BBB}"/>
                </a:ext>
              </a:extLst>
            </p:cNvPr>
            <p:cNvSpPr txBox="1"/>
            <p:nvPr/>
          </p:nvSpPr>
          <p:spPr>
            <a:xfrm>
              <a:off x="5940152" y="4674023"/>
              <a:ext cx="432048" cy="369332"/>
            </a:xfrm>
            <a:prstGeom prst="rect">
              <a:avLst/>
            </a:prstGeom>
            <a:noFill/>
          </p:spPr>
          <p:txBody>
            <a:bodyPr wrap="square" rtlCol="0">
              <a:spAutoFit/>
            </a:bodyPr>
            <a:lstStyle/>
            <a:p>
              <a:r>
                <a:rPr lang="en-US" altLang="zh-CN" dirty="0"/>
                <a:t>90</a:t>
              </a:r>
              <a:endParaRPr lang="zh-CN" altLang="en-US" dirty="0"/>
            </a:p>
          </p:txBody>
        </p:sp>
      </p:grpSp>
      <p:sp>
        <p:nvSpPr>
          <p:cNvPr id="59" name="Line 47"/>
          <p:cNvSpPr>
            <a:spLocks noChangeShapeType="1"/>
          </p:cNvSpPr>
          <p:nvPr/>
        </p:nvSpPr>
        <p:spPr bwMode="auto">
          <a:xfrm>
            <a:off x="3843714" y="3568042"/>
            <a:ext cx="685800" cy="381000"/>
          </a:xfrm>
          <a:prstGeom prst="line">
            <a:avLst/>
          </a:prstGeom>
          <a:noFill/>
          <a:ln w="38100">
            <a:solidFill>
              <a:srgbClr val="FF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377239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up)">
                                      <p:cBhvr>
                                        <p:cTn id="7" dur="500"/>
                                        <p:tgtEl>
                                          <p:spTgt spid="26"/>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par>
                          <p:cTn id="12" fill="hold">
                            <p:stCondLst>
                              <p:cond delay="1000"/>
                            </p:stCondLst>
                            <p:childTnLst>
                              <p:par>
                                <p:cTn id="13" presetID="1" presetClass="entr" presetSubtype="0" fill="hold" nodeType="afterEffect">
                                  <p:stCondLst>
                                    <p:cond delay="250"/>
                                  </p:stCondLst>
                                  <p:childTnLst>
                                    <p:set>
                                      <p:cBhvr>
                                        <p:cTn id="14" dur="1" fill="hold">
                                          <p:stCondLst>
                                            <p:cond delay="0"/>
                                          </p:stCondLst>
                                        </p:cTn>
                                        <p:tgtEl>
                                          <p:spTgt spid="48"/>
                                        </p:tgtEl>
                                        <p:attrNameLst>
                                          <p:attrName>style.visibility</p:attrName>
                                        </p:attrNameLst>
                                      </p:cBhvr>
                                      <p:to>
                                        <p:strVal val="visible"/>
                                      </p:to>
                                    </p:set>
                                  </p:childTnLst>
                                </p:cTn>
                              </p:par>
                            </p:childTnLst>
                          </p:cTn>
                        </p:par>
                        <p:par>
                          <p:cTn id="15" fill="hold">
                            <p:stCondLst>
                              <p:cond delay="1250"/>
                            </p:stCondLst>
                            <p:childTnLst>
                              <p:par>
                                <p:cTn id="16" presetID="22" presetClass="entr" presetSubtype="8" fill="hold" grpId="0" nodeType="afterEffect">
                                  <p:stCondLst>
                                    <p:cond delay="250"/>
                                  </p:stCondLst>
                                  <p:childTnLst>
                                    <p:set>
                                      <p:cBhvr>
                                        <p:cTn id="17" dur="1" fill="hold">
                                          <p:stCondLst>
                                            <p:cond delay="0"/>
                                          </p:stCondLst>
                                        </p:cTn>
                                        <p:tgtEl>
                                          <p:spTgt spid="27"/>
                                        </p:tgtEl>
                                        <p:attrNameLst>
                                          <p:attrName>style.visibility</p:attrName>
                                        </p:attrNameLst>
                                      </p:cBhvr>
                                      <p:to>
                                        <p:strVal val="visible"/>
                                      </p:to>
                                    </p:set>
                                    <p:animEffect transition="in" filter="wipe(left)">
                                      <p:cBhvr>
                                        <p:cTn id="18" dur="500"/>
                                        <p:tgtEl>
                                          <p:spTgt spid="27"/>
                                        </p:tgtEl>
                                      </p:cBhvr>
                                    </p:animEffect>
                                  </p:childTnLst>
                                </p:cTn>
                              </p:par>
                            </p:childTnLst>
                          </p:cTn>
                        </p:par>
                        <p:par>
                          <p:cTn id="19" fill="hold">
                            <p:stCondLst>
                              <p:cond delay="2000"/>
                            </p:stCondLst>
                            <p:childTnLst>
                              <p:par>
                                <p:cTn id="20" presetID="22" presetClass="entr" presetSubtype="8" fill="hold" grpId="0" nodeType="afterEffect">
                                  <p:stCondLst>
                                    <p:cond delay="250"/>
                                  </p:stCondLst>
                                  <p:childTnLst>
                                    <p:set>
                                      <p:cBhvr>
                                        <p:cTn id="21" dur="1" fill="hold">
                                          <p:stCondLst>
                                            <p:cond delay="0"/>
                                          </p:stCondLst>
                                        </p:cTn>
                                        <p:tgtEl>
                                          <p:spTgt spid="31"/>
                                        </p:tgtEl>
                                        <p:attrNameLst>
                                          <p:attrName>style.visibility</p:attrName>
                                        </p:attrNameLst>
                                      </p:cBhvr>
                                      <p:to>
                                        <p:strVal val="visible"/>
                                      </p:to>
                                    </p:set>
                                    <p:animEffect transition="in" filter="wipe(left)">
                                      <p:cBhvr>
                                        <p:cTn id="22" dur="500"/>
                                        <p:tgtEl>
                                          <p:spTgt spid="31"/>
                                        </p:tgtEl>
                                      </p:cBhvr>
                                    </p:animEffect>
                                  </p:childTnLst>
                                </p:cTn>
                              </p:par>
                            </p:childTnLst>
                          </p:cTn>
                        </p:par>
                        <p:par>
                          <p:cTn id="23" fill="hold">
                            <p:stCondLst>
                              <p:cond delay="2750"/>
                            </p:stCondLst>
                            <p:childTnLst>
                              <p:par>
                                <p:cTn id="24" presetID="22" presetClass="entr" presetSubtype="1" fill="hold" grpId="0" nodeType="after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wipe(up)">
                                      <p:cBhvr>
                                        <p:cTn id="26" dur="500"/>
                                        <p:tgtEl>
                                          <p:spTgt spid="3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wipe(up)">
                                      <p:cBhvr>
                                        <p:cTn id="31" dur="500"/>
                                        <p:tgtEl>
                                          <p:spTgt spid="3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wipe(up)">
                                      <p:cBhvr>
                                        <p:cTn id="36" dur="500"/>
                                        <p:tgtEl>
                                          <p:spTgt spid="33"/>
                                        </p:tgtEl>
                                      </p:cBhvr>
                                    </p:animEffect>
                                  </p:childTnLst>
                                </p:cTn>
                              </p:par>
                            </p:childTnLst>
                          </p:cTn>
                        </p:par>
                        <p:par>
                          <p:cTn id="37" fill="hold">
                            <p:stCondLst>
                              <p:cond delay="500"/>
                            </p:stCondLst>
                            <p:childTnLst>
                              <p:par>
                                <p:cTn id="38" presetID="22" presetClass="entr" presetSubtype="1" fill="hold" grpId="0" nodeType="after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wipe(up)">
                                      <p:cBhvr>
                                        <p:cTn id="40" dur="500"/>
                                        <p:tgtEl>
                                          <p:spTgt spid="36"/>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wipe(up)">
                                      <p:cBhvr>
                                        <p:cTn id="45" dur="500"/>
                                        <p:tgtEl>
                                          <p:spTgt spid="34"/>
                                        </p:tgtEl>
                                      </p:cBhvr>
                                    </p:animEffect>
                                  </p:childTnLst>
                                </p:cTn>
                              </p:par>
                            </p:childTnLst>
                          </p:cTn>
                        </p:par>
                        <p:par>
                          <p:cTn id="46" fill="hold">
                            <p:stCondLst>
                              <p:cond delay="500"/>
                            </p:stCondLst>
                            <p:childTnLst>
                              <p:par>
                                <p:cTn id="47" presetID="22" presetClass="entr" presetSubtype="1" fill="hold" grpId="0" nodeType="afterEffect">
                                  <p:stCondLst>
                                    <p:cond delay="0"/>
                                  </p:stCondLst>
                                  <p:childTnLst>
                                    <p:set>
                                      <p:cBhvr>
                                        <p:cTn id="48" dur="1" fill="hold">
                                          <p:stCondLst>
                                            <p:cond delay="0"/>
                                          </p:stCondLst>
                                        </p:cTn>
                                        <p:tgtEl>
                                          <p:spTgt spid="37"/>
                                        </p:tgtEl>
                                        <p:attrNameLst>
                                          <p:attrName>style.visibility</p:attrName>
                                        </p:attrNameLst>
                                      </p:cBhvr>
                                      <p:to>
                                        <p:strVal val="visible"/>
                                      </p:to>
                                    </p:set>
                                    <p:animEffect transition="in" filter="wipe(up)">
                                      <p:cBhvr>
                                        <p:cTn id="49" dur="500"/>
                                        <p:tgtEl>
                                          <p:spTgt spid="37"/>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grpId="0" nodeType="clickEffect">
                                  <p:stCondLst>
                                    <p:cond delay="0"/>
                                  </p:stCondLst>
                                  <p:childTnLst>
                                    <p:set>
                                      <p:cBhvr>
                                        <p:cTn id="53" dur="1" fill="hold">
                                          <p:stCondLst>
                                            <p:cond delay="0"/>
                                          </p:stCondLst>
                                        </p:cTn>
                                        <p:tgtEl>
                                          <p:spTgt spid="35"/>
                                        </p:tgtEl>
                                        <p:attrNameLst>
                                          <p:attrName>style.visibility</p:attrName>
                                        </p:attrNameLst>
                                      </p:cBhvr>
                                      <p:to>
                                        <p:strVal val="visible"/>
                                      </p:to>
                                    </p:set>
                                    <p:animEffect transition="in" filter="wipe(up)">
                                      <p:cBhvr>
                                        <p:cTn id="54" dur="500"/>
                                        <p:tgtEl>
                                          <p:spTgt spid="35"/>
                                        </p:tgtEl>
                                      </p:cBhvr>
                                    </p:animEffect>
                                  </p:childTnLst>
                                </p:cTn>
                              </p:par>
                            </p:childTnLst>
                          </p:cTn>
                        </p:par>
                        <p:par>
                          <p:cTn id="55" fill="hold">
                            <p:stCondLst>
                              <p:cond delay="500"/>
                            </p:stCondLst>
                            <p:childTnLst>
                              <p:par>
                                <p:cTn id="56" presetID="22" presetClass="entr" presetSubtype="1" fill="hold" grpId="0" nodeType="after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wipe(up)">
                                      <p:cBhvr>
                                        <p:cTn id="58" dur="500"/>
                                        <p:tgtEl>
                                          <p:spTgt spid="38"/>
                                        </p:tgtEl>
                                      </p:cBhvr>
                                    </p:animEffect>
                                  </p:childTnLst>
                                </p:cTn>
                              </p:par>
                            </p:childTnLst>
                          </p:cTn>
                        </p:par>
                        <p:par>
                          <p:cTn id="59" fill="hold">
                            <p:stCondLst>
                              <p:cond delay="1000"/>
                            </p:stCondLst>
                            <p:childTnLst>
                              <p:par>
                                <p:cTn id="60" presetID="22" presetClass="entr" presetSubtype="1" fill="hold" grpId="0" nodeType="afterEffect">
                                  <p:stCondLst>
                                    <p:cond delay="0"/>
                                  </p:stCondLst>
                                  <p:childTnLst>
                                    <p:set>
                                      <p:cBhvr>
                                        <p:cTn id="61" dur="1" fill="hold">
                                          <p:stCondLst>
                                            <p:cond delay="0"/>
                                          </p:stCondLst>
                                        </p:cTn>
                                        <p:tgtEl>
                                          <p:spTgt spid="39"/>
                                        </p:tgtEl>
                                        <p:attrNameLst>
                                          <p:attrName>style.visibility</p:attrName>
                                        </p:attrNameLst>
                                      </p:cBhvr>
                                      <p:to>
                                        <p:strVal val="visible"/>
                                      </p:to>
                                    </p:set>
                                    <p:animEffect transition="in" filter="wipe(up)">
                                      <p:cBhvr>
                                        <p:cTn id="62" dur="500"/>
                                        <p:tgtEl>
                                          <p:spTgt spid="3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59"/>
                                        </p:tgtEl>
                                        <p:attrNameLst>
                                          <p:attrName>style.visibility</p:attrName>
                                        </p:attrNameLst>
                                      </p:cBhvr>
                                      <p:to>
                                        <p:strVal val="visible"/>
                                      </p:to>
                                    </p:set>
                                    <p:animEffect transition="in" filter="wipe(up)">
                                      <p:cBhvr>
                                        <p:cTn id="67" dur="500"/>
                                        <p:tgtEl>
                                          <p:spTgt spid="59"/>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46"/>
                                        </p:tgtEl>
                                        <p:attrNameLst>
                                          <p:attrName>style.visibility</p:attrName>
                                        </p:attrNameLst>
                                      </p:cBhvr>
                                      <p:to>
                                        <p:strVal val="visible"/>
                                      </p:to>
                                    </p:set>
                                    <p:animEffect transition="in" filter="wipe(left)">
                                      <p:cBhvr>
                                        <p:cTn id="72" dur="500"/>
                                        <p:tgtEl>
                                          <p:spTgt spid="46"/>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grpId="0" nodeType="clickEffect">
                                  <p:stCondLst>
                                    <p:cond delay="0"/>
                                  </p:stCondLst>
                                  <p:childTnLst>
                                    <p:set>
                                      <p:cBhvr>
                                        <p:cTn id="76" dur="1" fill="hold">
                                          <p:stCondLst>
                                            <p:cond delay="0"/>
                                          </p:stCondLst>
                                        </p:cTn>
                                        <p:tgtEl>
                                          <p:spTgt spid="43"/>
                                        </p:tgtEl>
                                        <p:attrNameLst>
                                          <p:attrName>style.visibility</p:attrName>
                                        </p:attrNameLst>
                                      </p:cBhvr>
                                      <p:to>
                                        <p:strVal val="visible"/>
                                      </p:to>
                                    </p:set>
                                    <p:animEffect transition="in" filter="wipe(up)">
                                      <p:cBhvr>
                                        <p:cTn id="77" dur="500"/>
                                        <p:tgtEl>
                                          <p:spTgt spid="43"/>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grpId="0" nodeType="clickEffect">
                                  <p:stCondLst>
                                    <p:cond delay="0"/>
                                  </p:stCondLst>
                                  <p:childTnLst>
                                    <p:set>
                                      <p:cBhvr>
                                        <p:cTn id="81" dur="1" fill="hold">
                                          <p:stCondLst>
                                            <p:cond delay="0"/>
                                          </p:stCondLst>
                                        </p:cTn>
                                        <p:tgtEl>
                                          <p:spTgt spid="41"/>
                                        </p:tgtEl>
                                        <p:attrNameLst>
                                          <p:attrName>style.visibility</p:attrName>
                                        </p:attrNameLst>
                                      </p:cBhvr>
                                      <p:to>
                                        <p:strVal val="visible"/>
                                      </p:to>
                                    </p:set>
                                    <p:animEffect transition="in" filter="wipe(up)">
                                      <p:cBhvr>
                                        <p:cTn id="82" dur="500"/>
                                        <p:tgtEl>
                                          <p:spTgt spid="41"/>
                                        </p:tgtEl>
                                      </p:cBhvr>
                                    </p:animEffect>
                                  </p:childTnLst>
                                </p:cTn>
                              </p:par>
                            </p:childTnLst>
                          </p:cTn>
                        </p:par>
                        <p:par>
                          <p:cTn id="83" fill="hold">
                            <p:stCondLst>
                              <p:cond delay="500"/>
                            </p:stCondLst>
                            <p:childTnLst>
                              <p:par>
                                <p:cTn id="84" presetID="22" presetClass="entr" presetSubtype="1" fill="hold" grpId="0" nodeType="afterEffect">
                                  <p:stCondLst>
                                    <p:cond delay="0"/>
                                  </p:stCondLst>
                                  <p:childTnLst>
                                    <p:set>
                                      <p:cBhvr>
                                        <p:cTn id="85" dur="1" fill="hold">
                                          <p:stCondLst>
                                            <p:cond delay="0"/>
                                          </p:stCondLst>
                                        </p:cTn>
                                        <p:tgtEl>
                                          <p:spTgt spid="44"/>
                                        </p:tgtEl>
                                        <p:attrNameLst>
                                          <p:attrName>style.visibility</p:attrName>
                                        </p:attrNameLst>
                                      </p:cBhvr>
                                      <p:to>
                                        <p:strVal val="visible"/>
                                      </p:to>
                                    </p:set>
                                    <p:animEffect transition="in" filter="wipe(up)">
                                      <p:cBhvr>
                                        <p:cTn id="86" dur="500"/>
                                        <p:tgtEl>
                                          <p:spTgt spid="44"/>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1" fill="hold" grpId="0" nodeType="clickEffect">
                                  <p:stCondLst>
                                    <p:cond delay="0"/>
                                  </p:stCondLst>
                                  <p:childTnLst>
                                    <p:set>
                                      <p:cBhvr>
                                        <p:cTn id="90" dur="1" fill="hold">
                                          <p:stCondLst>
                                            <p:cond delay="0"/>
                                          </p:stCondLst>
                                        </p:cTn>
                                        <p:tgtEl>
                                          <p:spTgt spid="42"/>
                                        </p:tgtEl>
                                        <p:attrNameLst>
                                          <p:attrName>style.visibility</p:attrName>
                                        </p:attrNameLst>
                                      </p:cBhvr>
                                      <p:to>
                                        <p:strVal val="visible"/>
                                      </p:to>
                                    </p:set>
                                    <p:animEffect transition="in" filter="wipe(up)">
                                      <p:cBhvr>
                                        <p:cTn id="91" dur="500"/>
                                        <p:tgtEl>
                                          <p:spTgt spid="42"/>
                                        </p:tgtEl>
                                      </p:cBhvr>
                                    </p:animEffect>
                                  </p:childTnLst>
                                </p:cTn>
                              </p:par>
                            </p:childTnLst>
                          </p:cTn>
                        </p:par>
                        <p:par>
                          <p:cTn id="92" fill="hold">
                            <p:stCondLst>
                              <p:cond delay="500"/>
                            </p:stCondLst>
                            <p:childTnLst>
                              <p:par>
                                <p:cTn id="93" presetID="22" presetClass="entr" presetSubtype="1" fill="hold" grpId="0" nodeType="afterEffect">
                                  <p:stCondLst>
                                    <p:cond delay="0"/>
                                  </p:stCondLst>
                                  <p:childTnLst>
                                    <p:set>
                                      <p:cBhvr>
                                        <p:cTn id="94" dur="1" fill="hold">
                                          <p:stCondLst>
                                            <p:cond delay="0"/>
                                          </p:stCondLst>
                                        </p:cTn>
                                        <p:tgtEl>
                                          <p:spTgt spid="45"/>
                                        </p:tgtEl>
                                        <p:attrNameLst>
                                          <p:attrName>style.visibility</p:attrName>
                                        </p:attrNameLst>
                                      </p:cBhvr>
                                      <p:to>
                                        <p:strVal val="visible"/>
                                      </p:to>
                                    </p:set>
                                    <p:animEffect transition="in" filter="wipe(up)">
                                      <p:cBhvr>
                                        <p:cTn id="95" dur="500"/>
                                        <p:tgtEl>
                                          <p:spTgt spid="45"/>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1" fill="hold" grpId="0" nodeType="clickEffect">
                                  <p:stCondLst>
                                    <p:cond delay="0"/>
                                  </p:stCondLst>
                                  <p:childTnLst>
                                    <p:set>
                                      <p:cBhvr>
                                        <p:cTn id="99" dur="1" fill="hold">
                                          <p:stCondLst>
                                            <p:cond delay="0"/>
                                          </p:stCondLst>
                                        </p:cTn>
                                        <p:tgtEl>
                                          <p:spTgt spid="47"/>
                                        </p:tgtEl>
                                        <p:attrNameLst>
                                          <p:attrName>style.visibility</p:attrName>
                                        </p:attrNameLst>
                                      </p:cBhvr>
                                      <p:to>
                                        <p:strVal val="visible"/>
                                      </p:to>
                                    </p:set>
                                    <p:animEffect transition="in" filter="wipe(up)">
                                      <p:cBhvr>
                                        <p:cTn id="100"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utoUpdateAnimBg="0"/>
      <p:bldP spid="30" grpId="0" animBg="1" autoUpdateAnimBg="0"/>
      <p:bldP spid="31" grpId="0" autoUpdateAnimBg="0"/>
      <p:bldP spid="32" grpId="0" animBg="1" autoUpdateAnimBg="0"/>
      <p:bldP spid="33" grpId="0" animBg="1"/>
      <p:bldP spid="34" grpId="0" animBg="1"/>
      <p:bldP spid="35" grpId="0" animBg="1"/>
      <p:bldP spid="36" grpId="0" animBg="1" autoUpdateAnimBg="0"/>
      <p:bldP spid="37" grpId="0" animBg="1" autoUpdateAnimBg="0"/>
      <p:bldP spid="38" grpId="0" animBg="1" autoUpdateAnimBg="0"/>
      <p:bldP spid="39" grpId="0" animBg="1" autoUpdateAnimBg="0"/>
      <p:bldP spid="41" grpId="0" animBg="1"/>
      <p:bldP spid="42" grpId="0" animBg="1"/>
      <p:bldP spid="43" grpId="0" animBg="1" autoUpdateAnimBg="0"/>
      <p:bldP spid="44" grpId="0" animBg="1" autoUpdateAnimBg="0"/>
      <p:bldP spid="45" grpId="0" animBg="1" autoUpdateAnimBg="0"/>
      <p:bldP spid="46" grpId="0" autoUpdateAnimBg="0"/>
      <p:bldP spid="47" grpId="0" animBg="1"/>
      <p:bldP spid="59"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107504" y="116632"/>
            <a:ext cx="8229600" cy="668377"/>
          </a:xfrm>
        </p:spPr>
        <p:txBody>
          <a:bodyPr>
            <a:normAutofit/>
          </a:bodyPr>
          <a:lstStyle/>
          <a:p>
            <a:pPr algn="l"/>
            <a:r>
              <a:rPr lang="en-US" altLang="en-US" sz="3200" dirty="0" err="1">
                <a:latin typeface="华文新魏" panose="02010800040101010101" pitchFamily="2" charset="-122"/>
                <a:ea typeface="华文新魏" panose="02010800040101010101" pitchFamily="2" charset="-122"/>
              </a:rPr>
              <a:t>BST</a:t>
            </a:r>
            <a:r>
              <a:rPr lang="en-US" altLang="en-US" sz="3200" dirty="0" err="1" smtClean="0">
                <a:latin typeface="华文新魏" panose="02010800040101010101" pitchFamily="2" charset="-122"/>
                <a:ea typeface="华文新魏" panose="02010800040101010101" pitchFamily="2" charset="-122"/>
              </a:rPr>
              <a:t>的</a:t>
            </a:r>
            <a:r>
              <a:rPr lang="zh-CN" altLang="en-US" sz="3200" dirty="0" smtClean="0">
                <a:latin typeface="华文新魏" panose="02010800040101010101" pitchFamily="2" charset="-122"/>
                <a:ea typeface="华文新魏" panose="02010800040101010101" pitchFamily="2" charset="-122"/>
              </a:rPr>
              <a:t>插入</a:t>
            </a:r>
            <a:endParaRPr lang="en-US" altLang="en-US" sz="3200" dirty="0">
              <a:latin typeface="华文新魏" panose="02010800040101010101" pitchFamily="2" charset="-122"/>
              <a:ea typeface="华文新魏" panose="02010800040101010101" pitchFamily="2" charset="-122"/>
            </a:endParaRPr>
          </a:p>
        </p:txBody>
      </p:sp>
      <p:sp>
        <p:nvSpPr>
          <p:cNvPr id="3" name="内容占位符 2"/>
          <p:cNvSpPr>
            <a:spLocks noGrp="1"/>
          </p:cNvSpPr>
          <p:nvPr>
            <p:ph idx="1"/>
          </p:nvPr>
        </p:nvSpPr>
        <p:spPr>
          <a:xfrm>
            <a:off x="124011" y="866292"/>
            <a:ext cx="8229600" cy="5832648"/>
          </a:xfrm>
        </p:spPr>
        <p:txBody>
          <a:bodyPr>
            <a:normAutofit/>
          </a:bodyPr>
          <a:lstStyle/>
          <a:p>
            <a:r>
              <a:rPr lang="en-US" altLang="zh-CN" sz="2400" dirty="0">
                <a:latin typeface="华文楷体" panose="02010600040101010101" pitchFamily="2" charset="-122"/>
                <a:ea typeface="华文楷体" panose="02010600040101010101" pitchFamily="2" charset="-122"/>
              </a:rPr>
              <a:t>BST</a:t>
            </a:r>
            <a:r>
              <a:rPr lang="zh-CN" altLang="en-US" sz="2400" dirty="0">
                <a:latin typeface="华文楷体" panose="02010600040101010101" pitchFamily="2" charset="-122"/>
                <a:ea typeface="华文楷体" panose="02010600040101010101" pitchFamily="2" charset="-122"/>
              </a:rPr>
              <a:t>是在查找过程中，当树中不存在关键字等于给定值的结点时再进行插入</a:t>
            </a:r>
            <a:endParaRPr lang="en-US" altLang="zh-CN" sz="2400" dirty="0">
              <a:latin typeface="华文楷体" panose="02010600040101010101" pitchFamily="2" charset="-122"/>
              <a:ea typeface="华文楷体" panose="02010600040101010101" pitchFamily="2" charset="-122"/>
            </a:endParaRPr>
          </a:p>
          <a:p>
            <a:pPr lvl="1"/>
            <a:r>
              <a:rPr lang="zh-CN" altLang="en-US" sz="2400" dirty="0">
                <a:latin typeface="华文楷体" panose="02010600040101010101" pitchFamily="2" charset="-122"/>
                <a:ea typeface="华文楷体" panose="02010600040101010101" pitchFamily="2" charset="-122"/>
              </a:rPr>
              <a:t>新插入的结点一定是</a:t>
            </a:r>
            <a:r>
              <a:rPr lang="en-US" altLang="zh-CN" sz="2400" dirty="0">
                <a:latin typeface="华文楷体" panose="02010600040101010101" pitchFamily="2" charset="-122"/>
                <a:ea typeface="华文楷体" panose="02010600040101010101" pitchFamily="2" charset="-122"/>
              </a:rPr>
              <a:t>BST</a:t>
            </a:r>
            <a:r>
              <a:rPr lang="zh-CN" altLang="en-US" sz="2400" dirty="0">
                <a:latin typeface="华文楷体" panose="02010600040101010101" pitchFamily="2" charset="-122"/>
                <a:ea typeface="华文楷体" panose="02010600040101010101" pitchFamily="2" charset="-122"/>
              </a:rPr>
              <a:t>的一个新的叶子结点，并且是查找不成功时查找路径上访问的最后一个结点的左孩子或右孩子</a:t>
            </a:r>
            <a:endParaRPr lang="en-US" altLang="zh-CN" sz="2400" dirty="0">
              <a:latin typeface="华文楷体" panose="02010600040101010101" pitchFamily="2" charset="-122"/>
              <a:ea typeface="华文楷体" panose="02010600040101010101" pitchFamily="2" charset="-122"/>
            </a:endParaRPr>
          </a:p>
          <a:p>
            <a:endParaRPr lang="en-US" altLang="zh-CN" sz="2400" dirty="0">
              <a:latin typeface="华文楷体" panose="02010600040101010101" pitchFamily="2" charset="-122"/>
              <a:ea typeface="华文楷体" panose="02010600040101010101" pitchFamily="2" charset="-122"/>
            </a:endParaRPr>
          </a:p>
          <a:p>
            <a:r>
              <a:rPr lang="zh-CN" altLang="en-US" sz="2400" dirty="0">
                <a:latin typeface="华文楷体" panose="02010600040101010101" pitchFamily="2" charset="-122"/>
                <a:ea typeface="华文楷体" panose="02010600040101010101" pitchFamily="2" charset="-122"/>
              </a:rPr>
              <a:t>因此：</a:t>
            </a:r>
            <a:endParaRPr lang="en-US" altLang="zh-CN" sz="2400" dirty="0">
              <a:latin typeface="华文楷体" panose="02010600040101010101" pitchFamily="2" charset="-122"/>
              <a:ea typeface="华文楷体" panose="02010600040101010101" pitchFamily="2" charset="-122"/>
            </a:endParaRPr>
          </a:p>
          <a:p>
            <a:pPr lvl="1"/>
            <a:r>
              <a:rPr lang="zh-CN" altLang="en-US" sz="2400" dirty="0">
                <a:latin typeface="华文楷体" panose="02010600040101010101" pitchFamily="2" charset="-122"/>
                <a:ea typeface="华文楷体" panose="02010600040101010101" pitchFamily="2" charset="-122"/>
              </a:rPr>
              <a:t>需要一个</a:t>
            </a:r>
            <a:r>
              <a:rPr lang="en-US" altLang="zh-CN" sz="2400" dirty="0">
                <a:latin typeface="华文楷体" panose="02010600040101010101" pitchFamily="2" charset="-122"/>
                <a:ea typeface="华文楷体" panose="02010600040101010101" pitchFamily="2" charset="-122"/>
              </a:rPr>
              <a:t>BST</a:t>
            </a:r>
            <a:r>
              <a:rPr lang="zh-CN" altLang="en-US" sz="2400" dirty="0">
                <a:latin typeface="华文楷体" panose="02010600040101010101" pitchFamily="2" charset="-122"/>
                <a:ea typeface="华文楷体" panose="02010600040101010101" pitchFamily="2" charset="-122"/>
              </a:rPr>
              <a:t>的查找算法，它在没有找到指定值时，返回：</a:t>
            </a:r>
            <a:r>
              <a:rPr lang="zh-CN" altLang="en-US" sz="2400" dirty="0">
                <a:solidFill>
                  <a:srgbClr val="0000FF"/>
                </a:solidFill>
                <a:latin typeface="华文楷体" panose="02010600040101010101" pitchFamily="2" charset="-122"/>
                <a:ea typeface="华文楷体" panose="02010600040101010101" pitchFamily="2" charset="-122"/>
              </a:rPr>
              <a:t>查找路径上访问的最后一个结点</a:t>
            </a:r>
            <a:endParaRPr lang="en-US" altLang="zh-CN" sz="2400" dirty="0">
              <a:solidFill>
                <a:srgbClr val="0000FF"/>
              </a:solidFill>
              <a:latin typeface="华文楷体" panose="02010600040101010101" pitchFamily="2" charset="-122"/>
              <a:ea typeface="华文楷体" panose="02010600040101010101" pitchFamily="2" charset="-122"/>
            </a:endParaRPr>
          </a:p>
          <a:p>
            <a:pPr lvl="1"/>
            <a:r>
              <a:rPr lang="zh-CN" altLang="en-US" sz="2400" dirty="0">
                <a:latin typeface="华文楷体" panose="02010600040101010101" pitchFamily="2" charset="-122"/>
                <a:ea typeface="华文楷体" panose="02010600040101010101" pitchFamily="2" charset="-122"/>
              </a:rPr>
              <a:t>基于上述查找算法，形成</a:t>
            </a:r>
            <a:r>
              <a:rPr lang="en-US" altLang="zh-CN" sz="2400" dirty="0">
                <a:latin typeface="华文楷体" panose="02010600040101010101" pitchFamily="2" charset="-122"/>
                <a:ea typeface="华文楷体" panose="02010600040101010101" pitchFamily="2" charset="-122"/>
              </a:rPr>
              <a:t>BST</a:t>
            </a:r>
            <a:r>
              <a:rPr lang="zh-CN" altLang="en-US" sz="2400" dirty="0">
                <a:latin typeface="华文楷体" panose="02010600040101010101" pitchFamily="2" charset="-122"/>
                <a:ea typeface="华文楷体" panose="02010600040101010101" pitchFamily="2" charset="-122"/>
              </a:rPr>
              <a:t>的构造算法</a:t>
            </a:r>
            <a:endParaRPr lang="en-US" sz="2400" dirty="0">
              <a:latin typeface="华文楷体" panose="02010600040101010101" pitchFamily="2" charset="-122"/>
              <a:ea typeface="华文楷体" panose="02010600040101010101" pitchFamily="2" charset="-122"/>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43</a:t>
            </a:fld>
            <a:endParaRPr lang="zh-CN" altLang="en-US"/>
          </a:p>
        </p:txBody>
      </p:sp>
    </p:spTree>
    <p:extLst>
      <p:ext uri="{BB962C8B-B14F-4D97-AF65-F5344CB8AC3E}">
        <p14:creationId xmlns:p14="http://schemas.microsoft.com/office/powerpoint/2010/main" val="131714923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xfrm>
            <a:off x="86816" y="14591"/>
            <a:ext cx="8229600" cy="936104"/>
          </a:xfrm>
        </p:spPr>
        <p:txBody>
          <a:bodyPr>
            <a:normAutofit/>
          </a:bodyPr>
          <a:lstStyle/>
          <a:p>
            <a:pPr algn="l"/>
            <a:r>
              <a:rPr lang="en-US" altLang="zh-CN" sz="3200" dirty="0">
                <a:latin typeface="华文新魏" panose="02010800040101010101" pitchFamily="2" charset="-122"/>
                <a:ea typeface="华文新魏" panose="02010800040101010101" pitchFamily="2" charset="-122"/>
              </a:rPr>
              <a:t>BST</a:t>
            </a:r>
            <a:r>
              <a:rPr lang="zh-CN" altLang="en-US" sz="3200" dirty="0">
                <a:latin typeface="华文新魏" panose="02010800040101010101" pitchFamily="2" charset="-122"/>
                <a:ea typeface="华文新魏" panose="02010800040101010101" pitchFamily="2" charset="-122"/>
              </a:rPr>
              <a:t>的查找算法</a:t>
            </a:r>
            <a:r>
              <a:rPr lang="en-US" altLang="zh-CN" sz="3200" dirty="0">
                <a:latin typeface="华文新魏" panose="02010800040101010101" pitchFamily="2" charset="-122"/>
                <a:ea typeface="华文新魏" panose="02010800040101010101" pitchFamily="2" charset="-122"/>
              </a:rPr>
              <a:t>-II</a:t>
            </a:r>
            <a:endParaRPr lang="en-US" sz="3200" dirty="0">
              <a:latin typeface="华文新魏" panose="02010800040101010101" pitchFamily="2" charset="-122"/>
              <a:ea typeface="华文新魏" panose="02010800040101010101" pitchFamily="2" charset="-122"/>
            </a:endParaRPr>
          </a:p>
        </p:txBody>
      </p:sp>
      <p:sp>
        <p:nvSpPr>
          <p:cNvPr id="641026" name="Rectangle 2"/>
          <p:cNvSpPr>
            <a:spLocks noGrp="1" noChangeArrowheads="1"/>
          </p:cNvSpPr>
          <p:nvPr>
            <p:ph idx="1"/>
          </p:nvPr>
        </p:nvSpPr>
        <p:spPr>
          <a:xfrm>
            <a:off x="179512" y="908720"/>
            <a:ext cx="8964488" cy="5832648"/>
          </a:xfrm>
        </p:spPr>
        <p:txBody>
          <a:bodyPr>
            <a:noAutofit/>
          </a:bodyPr>
          <a:lstStyle/>
          <a:p>
            <a:pPr marL="0" indent="0">
              <a:lnSpc>
                <a:spcPct val="110000"/>
              </a:lnSpc>
              <a:spcBef>
                <a:spcPct val="10000"/>
              </a:spcBef>
              <a:buNone/>
              <a:defRPr/>
            </a:pPr>
            <a:r>
              <a:rPr lang="en-US" sz="2400" dirty="0">
                <a:latin typeface="Times New Roman" panose="02020603050405020304" pitchFamily="18" charset="0"/>
                <a:ea typeface="华文楷体" panose="02010600040101010101" pitchFamily="2" charset="-122"/>
                <a:cs typeface="Times New Roman" panose="02020603050405020304" pitchFamily="18" charset="0"/>
              </a:rPr>
              <a:t>Status </a:t>
            </a:r>
            <a:r>
              <a:rPr lang="en-US" sz="2400" b="1" dirty="0" err="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SearchBST</a:t>
            </a:r>
            <a:r>
              <a:rPr 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sz="2400" dirty="0" err="1">
                <a:latin typeface="Times New Roman" panose="02020603050405020304" pitchFamily="18" charset="0"/>
                <a:ea typeface="华文楷体" panose="02010600040101010101" pitchFamily="2" charset="-122"/>
                <a:cs typeface="Times New Roman" panose="02020603050405020304" pitchFamily="18" charset="0"/>
              </a:rPr>
              <a:t>BiTree</a:t>
            </a:r>
            <a:r>
              <a:rPr lang="en-US" sz="2400" dirty="0">
                <a:latin typeface="Times New Roman" panose="02020603050405020304" pitchFamily="18" charset="0"/>
                <a:ea typeface="华文楷体" panose="02010600040101010101" pitchFamily="2" charset="-122"/>
                <a:cs typeface="Times New Roman" panose="02020603050405020304" pitchFamily="18" charset="0"/>
              </a:rPr>
              <a:t> T, </a:t>
            </a:r>
            <a:r>
              <a:rPr lang="en-US" sz="2400" dirty="0" err="1">
                <a:latin typeface="Times New Roman" panose="02020603050405020304" pitchFamily="18" charset="0"/>
                <a:ea typeface="华文楷体" panose="02010600040101010101" pitchFamily="2" charset="-122"/>
                <a:cs typeface="Times New Roman" panose="02020603050405020304" pitchFamily="18" charset="0"/>
              </a:rPr>
              <a:t>KeyType</a:t>
            </a:r>
            <a:r>
              <a:rPr lang="en-US" sz="2400" dirty="0">
                <a:latin typeface="Times New Roman" panose="02020603050405020304" pitchFamily="18" charset="0"/>
                <a:ea typeface="华文楷体" panose="02010600040101010101" pitchFamily="2" charset="-122"/>
                <a:cs typeface="Times New Roman" panose="02020603050405020304" pitchFamily="18" charset="0"/>
              </a:rPr>
              <a:t> key, </a:t>
            </a:r>
            <a:r>
              <a:rPr lang="en-US" sz="2400" dirty="0" err="1">
                <a:latin typeface="Times New Roman" panose="02020603050405020304" pitchFamily="18" charset="0"/>
                <a:ea typeface="华文楷体" panose="02010600040101010101" pitchFamily="2" charset="-122"/>
                <a:cs typeface="Times New Roman" panose="02020603050405020304" pitchFamily="18" charset="0"/>
              </a:rPr>
              <a:t>BiTree</a:t>
            </a:r>
            <a:r>
              <a:rPr lang="en-US" sz="2400" dirty="0">
                <a:latin typeface="Times New Roman" panose="02020603050405020304" pitchFamily="18" charset="0"/>
                <a:ea typeface="华文楷体" panose="02010600040101010101" pitchFamily="2" charset="-122"/>
                <a:cs typeface="Times New Roman" panose="02020603050405020304" pitchFamily="18" charset="0"/>
              </a:rPr>
              <a:t> f, </a:t>
            </a:r>
            <a:r>
              <a:rPr lang="en-US" sz="2400" dirty="0" err="1">
                <a:solidFill>
                  <a:srgbClr val="6600CC"/>
                </a:solidFill>
                <a:latin typeface="Times New Roman" panose="02020603050405020304" pitchFamily="18" charset="0"/>
                <a:ea typeface="华文楷体" panose="02010600040101010101" pitchFamily="2" charset="-122"/>
                <a:cs typeface="Times New Roman" panose="02020603050405020304" pitchFamily="18" charset="0"/>
              </a:rPr>
              <a:t>BiTree</a:t>
            </a:r>
            <a:r>
              <a:rPr lang="en-US" sz="2400" dirty="0">
                <a:solidFill>
                  <a:srgbClr val="6600CC"/>
                </a:solidFill>
                <a:latin typeface="Times New Roman" panose="02020603050405020304" pitchFamily="18" charset="0"/>
                <a:ea typeface="华文楷体" panose="02010600040101010101" pitchFamily="2" charset="-122"/>
                <a:cs typeface="Times New Roman" panose="02020603050405020304" pitchFamily="18" charset="0"/>
              </a:rPr>
              <a:t> &amp;p</a:t>
            </a:r>
            <a:r>
              <a:rPr lang="en-US" sz="2400" dirty="0">
                <a:latin typeface="Times New Roman" panose="02020603050405020304" pitchFamily="18" charset="0"/>
                <a:ea typeface="华文楷体" panose="02010600040101010101" pitchFamily="2" charset="-122"/>
                <a:cs typeface="Times New Roman" panose="02020603050405020304" pitchFamily="18" charset="0"/>
              </a:rPr>
              <a:t>){ </a:t>
            </a:r>
          </a:p>
          <a:p>
            <a:pPr marL="0" indent="0">
              <a:lnSpc>
                <a:spcPct val="110000"/>
              </a:lnSpc>
              <a:spcBef>
                <a:spcPct val="10000"/>
              </a:spcBef>
              <a:buNone/>
              <a:defRPr/>
            </a:pPr>
            <a:r>
              <a:rPr lang="en-US" altLang="zh-CN" sz="20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若查找成功，则指针</a:t>
            </a:r>
            <a:r>
              <a:rPr lang="en-US" sz="2000"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p</a:t>
            </a:r>
            <a:r>
              <a:rPr lang="zh-CN" altLang="en-US" sz="2000"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指向该数据元素结点</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，并返回</a:t>
            </a:r>
            <a:r>
              <a:rPr lang="en-US" sz="2000" dirty="0">
                <a:latin typeface="Times New Roman" panose="02020603050405020304" pitchFamily="18" charset="0"/>
                <a:ea typeface="华文楷体" panose="02010600040101010101" pitchFamily="2" charset="-122"/>
                <a:cs typeface="Times New Roman" panose="02020603050405020304" pitchFamily="18" charset="0"/>
              </a:rPr>
              <a:t>TRUE</a:t>
            </a:r>
          </a:p>
          <a:p>
            <a:pPr marL="0" indent="0">
              <a:lnSpc>
                <a:spcPct val="110000"/>
              </a:lnSpc>
              <a:spcBef>
                <a:spcPct val="10000"/>
              </a:spcBef>
              <a:buNone/>
              <a:defRPr/>
            </a:pPr>
            <a:r>
              <a:rPr lang="en-US" sz="20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否则指针</a:t>
            </a:r>
            <a:r>
              <a:rPr lang="en-US" sz="2000"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p</a:t>
            </a:r>
            <a:r>
              <a:rPr lang="zh-CN" altLang="en-US" sz="2000"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指向查找路径上访问的最后一个结点</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并返回</a:t>
            </a:r>
            <a:r>
              <a:rPr lang="en-US" sz="2000" dirty="0">
                <a:latin typeface="Times New Roman" panose="02020603050405020304" pitchFamily="18" charset="0"/>
                <a:ea typeface="华文楷体" panose="02010600040101010101" pitchFamily="2" charset="-122"/>
                <a:cs typeface="Times New Roman" panose="02020603050405020304" pitchFamily="18" charset="0"/>
              </a:rPr>
              <a:t>FALSE</a:t>
            </a:r>
          </a:p>
          <a:p>
            <a:pPr marL="0" indent="0">
              <a:lnSpc>
                <a:spcPct val="110000"/>
              </a:lnSpc>
              <a:spcBef>
                <a:spcPct val="10000"/>
              </a:spcBef>
              <a:buNone/>
              <a:defRPr/>
            </a:pPr>
            <a:r>
              <a:rPr lang="en-US" sz="20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指针</a:t>
            </a:r>
            <a:r>
              <a:rPr lang="en-US" sz="2000"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f</a:t>
            </a:r>
            <a:r>
              <a:rPr lang="zh-CN" altLang="en-US" sz="2000"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指向</a:t>
            </a:r>
            <a:r>
              <a:rPr lang="en-US" sz="2000"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T</a:t>
            </a:r>
            <a:r>
              <a:rPr lang="zh-CN" altLang="en-US" sz="2000"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的双亲</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，其初始调用值为</a:t>
            </a:r>
            <a:r>
              <a:rPr lang="en-US" sz="2000" dirty="0">
                <a:latin typeface="Times New Roman" panose="02020603050405020304" pitchFamily="18" charset="0"/>
                <a:ea typeface="华文楷体" panose="02010600040101010101" pitchFamily="2" charset="-122"/>
                <a:cs typeface="Times New Roman" panose="02020603050405020304" pitchFamily="18" charset="0"/>
              </a:rPr>
              <a:t>NULL</a:t>
            </a:r>
          </a:p>
          <a:p>
            <a:pPr marL="0" indent="268288">
              <a:lnSpc>
                <a:spcPct val="110000"/>
              </a:lnSpc>
              <a:spcBef>
                <a:spcPct val="10000"/>
              </a:spcBef>
              <a:buNone/>
              <a:defRPr/>
            </a:pPr>
            <a:r>
              <a:rPr lang="en-US" sz="2400" dirty="0">
                <a:latin typeface="Times New Roman" panose="02020603050405020304" pitchFamily="18" charset="0"/>
                <a:ea typeface="华文楷体" panose="02010600040101010101" pitchFamily="2" charset="-122"/>
                <a:cs typeface="Times New Roman" panose="02020603050405020304" pitchFamily="18" charset="0"/>
              </a:rPr>
              <a:t>if (!T) { p = f; return FALSE; } </a:t>
            </a:r>
            <a:r>
              <a:rPr lang="en-US" sz="20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查找不成功 </a:t>
            </a:r>
            <a:endParaRPr lang="en-US" altLang="zh-CN" sz="2000" dirty="0">
              <a:latin typeface="Times New Roman" panose="02020603050405020304" pitchFamily="18" charset="0"/>
              <a:ea typeface="华文楷体" panose="02010600040101010101" pitchFamily="2" charset="-122"/>
              <a:cs typeface="Times New Roman" panose="02020603050405020304" pitchFamily="18" charset="0"/>
            </a:endParaRPr>
          </a:p>
          <a:p>
            <a:pPr marL="0" indent="268288">
              <a:lnSpc>
                <a:spcPct val="110000"/>
              </a:lnSpc>
              <a:spcBef>
                <a:spcPct val="10000"/>
              </a:spcBef>
              <a:buNone/>
              <a:defRPr/>
            </a:pPr>
            <a:r>
              <a:rPr lang="en-US" sz="2400" dirty="0">
                <a:latin typeface="Times New Roman" panose="02020603050405020304" pitchFamily="18" charset="0"/>
                <a:ea typeface="华文楷体" panose="02010600040101010101" pitchFamily="2" charset="-122"/>
                <a:cs typeface="Times New Roman" panose="02020603050405020304" pitchFamily="18" charset="0"/>
              </a:rPr>
              <a:t>else if (EQ(key, T-&gt;</a:t>
            </a:r>
            <a:r>
              <a:rPr lang="en-US" sz="2400" dirty="0" err="1">
                <a:latin typeface="Times New Roman" panose="02020603050405020304" pitchFamily="18" charset="0"/>
                <a:ea typeface="华文楷体" panose="02010600040101010101" pitchFamily="2" charset="-122"/>
                <a:cs typeface="Times New Roman" panose="02020603050405020304" pitchFamily="18" charset="0"/>
              </a:rPr>
              <a:t>data.key</a:t>
            </a:r>
            <a:r>
              <a:rPr lang="en-US" sz="2400" dirty="0">
                <a:latin typeface="Times New Roman" panose="02020603050405020304" pitchFamily="18" charset="0"/>
                <a:ea typeface="华文楷体" panose="02010600040101010101" pitchFamily="2" charset="-122"/>
                <a:cs typeface="Times New Roman" panose="02020603050405020304" pitchFamily="18" charset="0"/>
              </a:rPr>
              <a:t>)) {p = T; return TRUE; } </a:t>
            </a:r>
            <a:r>
              <a:rPr lang="en-US" sz="20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查找成功 </a:t>
            </a:r>
            <a:endParaRPr lang="en-US" altLang="zh-CN" sz="2000" dirty="0">
              <a:latin typeface="Times New Roman" panose="02020603050405020304" pitchFamily="18" charset="0"/>
              <a:ea typeface="华文楷体" panose="02010600040101010101" pitchFamily="2" charset="-122"/>
              <a:cs typeface="Times New Roman" panose="02020603050405020304" pitchFamily="18" charset="0"/>
            </a:endParaRPr>
          </a:p>
          <a:p>
            <a:pPr marL="0" indent="808038">
              <a:lnSpc>
                <a:spcPct val="110000"/>
              </a:lnSpc>
              <a:spcBef>
                <a:spcPct val="10000"/>
              </a:spcBef>
              <a:buNone/>
              <a:defRPr/>
            </a:pPr>
            <a:r>
              <a:rPr lang="en-US" sz="2400" dirty="0">
                <a:latin typeface="Times New Roman" panose="02020603050405020304" pitchFamily="18" charset="0"/>
                <a:ea typeface="华文楷体" panose="02010600040101010101" pitchFamily="2" charset="-122"/>
                <a:cs typeface="Times New Roman" panose="02020603050405020304" pitchFamily="18" charset="0"/>
              </a:rPr>
              <a:t>else if (LT(key, T-&gt;</a:t>
            </a:r>
            <a:r>
              <a:rPr lang="en-US" sz="2400" dirty="0" err="1">
                <a:latin typeface="Times New Roman" panose="02020603050405020304" pitchFamily="18" charset="0"/>
                <a:ea typeface="华文楷体" panose="02010600040101010101" pitchFamily="2" charset="-122"/>
                <a:cs typeface="Times New Roman" panose="02020603050405020304" pitchFamily="18" charset="0"/>
              </a:rPr>
              <a:t>data.key</a:t>
            </a:r>
            <a:r>
              <a:rPr lang="en-US" sz="2400" dirty="0">
                <a:latin typeface="Times New Roman" panose="02020603050405020304" pitchFamily="18" charset="0"/>
                <a:ea typeface="华文楷体" panose="02010600040101010101" pitchFamily="2" charset="-122"/>
                <a:cs typeface="Times New Roman" panose="02020603050405020304" pitchFamily="18" charset="0"/>
              </a:rPr>
              <a:t>)) </a:t>
            </a:r>
          </a:p>
          <a:p>
            <a:pPr marL="0" indent="1614488">
              <a:lnSpc>
                <a:spcPct val="110000"/>
              </a:lnSpc>
              <a:spcBef>
                <a:spcPct val="10000"/>
              </a:spcBef>
              <a:buNone/>
              <a:defRPr/>
            </a:pPr>
            <a:r>
              <a:rPr lang="en-US" sz="2400" dirty="0">
                <a:latin typeface="Times New Roman" panose="02020603050405020304" pitchFamily="18" charset="0"/>
                <a:ea typeface="华文楷体" panose="02010600040101010101" pitchFamily="2" charset="-122"/>
                <a:cs typeface="Times New Roman" panose="02020603050405020304" pitchFamily="18" charset="0"/>
              </a:rPr>
              <a:t>	return </a:t>
            </a:r>
            <a:r>
              <a:rPr lang="en-US" sz="2400" b="1" dirty="0" err="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SearchBST</a:t>
            </a:r>
            <a:r>
              <a:rPr lang="en-US" sz="2400" dirty="0">
                <a:latin typeface="Times New Roman" panose="02020603050405020304" pitchFamily="18" charset="0"/>
                <a:ea typeface="华文楷体" panose="02010600040101010101" pitchFamily="2" charset="-122"/>
                <a:cs typeface="Times New Roman" panose="02020603050405020304" pitchFamily="18" charset="0"/>
              </a:rPr>
              <a:t>(T-&gt;</a:t>
            </a:r>
            <a:r>
              <a:rPr lang="en-US" sz="2400" dirty="0" err="1">
                <a:latin typeface="Times New Roman" panose="02020603050405020304" pitchFamily="18" charset="0"/>
                <a:ea typeface="华文楷体" panose="02010600040101010101" pitchFamily="2" charset="-122"/>
                <a:cs typeface="Times New Roman" panose="02020603050405020304" pitchFamily="18" charset="0"/>
              </a:rPr>
              <a:t>lchild</a:t>
            </a:r>
            <a:r>
              <a:rPr lang="en-US" sz="2400" dirty="0">
                <a:latin typeface="Times New Roman" panose="02020603050405020304" pitchFamily="18" charset="0"/>
                <a:ea typeface="华文楷体" panose="02010600040101010101" pitchFamily="2" charset="-122"/>
                <a:cs typeface="Times New Roman" panose="02020603050405020304" pitchFamily="18" charset="0"/>
              </a:rPr>
              <a:t>, key, T, p); </a:t>
            </a:r>
            <a:r>
              <a:rPr lang="en-US" sz="20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在左子树中查找 </a:t>
            </a:r>
            <a:endParaRPr lang="en-US" altLang="zh-CN" sz="2000" dirty="0">
              <a:latin typeface="Times New Roman" panose="02020603050405020304" pitchFamily="18" charset="0"/>
              <a:ea typeface="华文楷体" panose="02010600040101010101" pitchFamily="2" charset="-122"/>
              <a:cs typeface="Times New Roman" panose="02020603050405020304" pitchFamily="18" charset="0"/>
            </a:endParaRPr>
          </a:p>
          <a:p>
            <a:pPr marL="0" indent="1343025">
              <a:lnSpc>
                <a:spcPct val="110000"/>
              </a:lnSpc>
              <a:spcBef>
                <a:spcPct val="10000"/>
              </a:spcBef>
              <a:buNone/>
              <a:defRPr/>
            </a:pPr>
            <a:r>
              <a:rPr lang="en-US" sz="2400" dirty="0" smtClean="0">
                <a:latin typeface="Times New Roman" panose="02020603050405020304" pitchFamily="18" charset="0"/>
                <a:ea typeface="华文楷体" panose="02010600040101010101" pitchFamily="2" charset="-122"/>
                <a:cs typeface="Times New Roman" panose="02020603050405020304" pitchFamily="18" charset="0"/>
              </a:rPr>
              <a:t>else</a:t>
            </a:r>
            <a:endParaRPr lang="en-US" sz="2400" dirty="0">
              <a:latin typeface="Times New Roman" panose="02020603050405020304" pitchFamily="18" charset="0"/>
              <a:ea typeface="华文楷体" panose="02010600040101010101" pitchFamily="2" charset="-122"/>
              <a:cs typeface="Times New Roman" panose="02020603050405020304" pitchFamily="18" charset="0"/>
            </a:endParaRPr>
          </a:p>
          <a:p>
            <a:pPr marL="0" indent="1795463">
              <a:lnSpc>
                <a:spcPct val="110000"/>
              </a:lnSpc>
              <a:spcBef>
                <a:spcPct val="10000"/>
              </a:spcBef>
              <a:buNone/>
              <a:defRPr/>
            </a:pPr>
            <a:r>
              <a:rPr lang="en-US" sz="2400" dirty="0">
                <a:latin typeface="Times New Roman" panose="02020603050405020304" pitchFamily="18" charset="0"/>
                <a:ea typeface="华文楷体" panose="02010600040101010101" pitchFamily="2" charset="-122"/>
                <a:cs typeface="Times New Roman" panose="02020603050405020304" pitchFamily="18" charset="0"/>
              </a:rPr>
              <a:t>return </a:t>
            </a:r>
            <a:r>
              <a:rPr lang="en-US" sz="2400" b="1" dirty="0" err="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SearchBST</a:t>
            </a:r>
            <a:r>
              <a:rPr lang="en-US" sz="2400" dirty="0">
                <a:latin typeface="Times New Roman" panose="02020603050405020304" pitchFamily="18" charset="0"/>
                <a:ea typeface="华文楷体" panose="02010600040101010101" pitchFamily="2" charset="-122"/>
                <a:cs typeface="Times New Roman" panose="02020603050405020304" pitchFamily="18" charset="0"/>
              </a:rPr>
              <a:t>(T-&gt;</a:t>
            </a:r>
            <a:r>
              <a:rPr lang="en-US" sz="2400" dirty="0" err="1">
                <a:latin typeface="Times New Roman" panose="02020603050405020304" pitchFamily="18" charset="0"/>
                <a:ea typeface="华文楷体" panose="02010600040101010101" pitchFamily="2" charset="-122"/>
                <a:cs typeface="Times New Roman" panose="02020603050405020304" pitchFamily="18" charset="0"/>
              </a:rPr>
              <a:t>rchild</a:t>
            </a:r>
            <a:r>
              <a:rPr lang="en-US" sz="2400" dirty="0">
                <a:latin typeface="Times New Roman" panose="02020603050405020304" pitchFamily="18" charset="0"/>
                <a:ea typeface="华文楷体" panose="02010600040101010101" pitchFamily="2" charset="-122"/>
                <a:cs typeface="Times New Roman" panose="02020603050405020304" pitchFamily="18" charset="0"/>
              </a:rPr>
              <a:t>, key, T, p); </a:t>
            </a:r>
            <a:r>
              <a:rPr lang="en-US" sz="20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在右子树中查找 </a:t>
            </a:r>
            <a:endParaRPr lang="en-US" altLang="zh-CN" sz="2000" dirty="0">
              <a:latin typeface="Times New Roman" panose="02020603050405020304" pitchFamily="18" charset="0"/>
              <a:ea typeface="华文楷体" panose="02010600040101010101" pitchFamily="2" charset="-122"/>
              <a:cs typeface="Times New Roman" panose="02020603050405020304" pitchFamily="18" charset="0"/>
            </a:endParaRPr>
          </a:p>
          <a:p>
            <a:pPr marL="0" indent="0">
              <a:lnSpc>
                <a:spcPct val="110000"/>
              </a:lnSpc>
              <a:spcBef>
                <a:spcPct val="10000"/>
              </a:spcBef>
              <a:buNone/>
              <a:defRPr/>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sz="2400" dirty="0" err="1">
                <a:latin typeface="Times New Roman" panose="02020603050405020304" pitchFamily="18" charset="0"/>
                <a:ea typeface="华文楷体" panose="02010600040101010101" pitchFamily="2" charset="-122"/>
                <a:cs typeface="Times New Roman" panose="02020603050405020304" pitchFamily="18" charset="0"/>
              </a:rPr>
              <a:t>SearchBST</a:t>
            </a:r>
            <a:endParaRPr lang="en-US"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t>44</a:t>
            </a:fld>
            <a:endParaRPr lang="zh-CN" altLang="en-US"/>
          </a:p>
        </p:txBody>
      </p:sp>
      <p:sp>
        <p:nvSpPr>
          <p:cNvPr id="4" name="流程图: 可选过程 3"/>
          <p:cNvSpPr/>
          <p:nvPr/>
        </p:nvSpPr>
        <p:spPr>
          <a:xfrm>
            <a:off x="8316416" y="0"/>
            <a:ext cx="827584" cy="332656"/>
          </a:xfrm>
          <a:prstGeom prst="flowChartAlternateProcess">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t>9.5(b)</a:t>
            </a:r>
          </a:p>
        </p:txBody>
      </p:sp>
      <p:sp>
        <p:nvSpPr>
          <p:cNvPr id="3" name="椭圆 2"/>
          <p:cNvSpPr/>
          <p:nvPr/>
        </p:nvSpPr>
        <p:spPr>
          <a:xfrm>
            <a:off x="6804248" y="908720"/>
            <a:ext cx="1296144" cy="457217"/>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5652120" y="908720"/>
            <a:ext cx="1008112" cy="4320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251520" y="950695"/>
            <a:ext cx="792088" cy="339052"/>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6093970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35496" y="-27384"/>
            <a:ext cx="8651304" cy="648072"/>
          </a:xfrm>
        </p:spPr>
        <p:txBody>
          <a:bodyPr>
            <a:normAutofit/>
          </a:bodyPr>
          <a:lstStyle/>
          <a:p>
            <a:pPr algn="l"/>
            <a:r>
              <a:rPr lang="en-US" altLang="zh-CN" sz="3200" dirty="0">
                <a:latin typeface="华文新魏" panose="02010800040101010101" pitchFamily="2" charset="-122"/>
                <a:ea typeface="华文新魏" panose="02010800040101010101" pitchFamily="2" charset="-122"/>
              </a:rPr>
              <a:t>BST</a:t>
            </a:r>
            <a:r>
              <a:rPr lang="zh-CN" altLang="en-US" sz="3200" dirty="0">
                <a:latin typeface="华文新魏" panose="02010800040101010101" pitchFamily="2" charset="-122"/>
                <a:ea typeface="华文新魏" panose="02010800040101010101" pitchFamily="2" charset="-122"/>
              </a:rPr>
              <a:t>的插入算法</a:t>
            </a:r>
            <a:endParaRPr lang="en-US" sz="3200" dirty="0">
              <a:latin typeface="华文新魏" panose="02010800040101010101" pitchFamily="2" charset="-122"/>
              <a:ea typeface="华文新魏" panose="02010800040101010101" pitchFamily="2" charset="-122"/>
            </a:endParaRPr>
          </a:p>
        </p:txBody>
      </p:sp>
      <p:sp>
        <p:nvSpPr>
          <p:cNvPr id="9" name="内容占位符 8"/>
          <p:cNvSpPr>
            <a:spLocks noGrp="1"/>
          </p:cNvSpPr>
          <p:nvPr>
            <p:ph idx="1"/>
          </p:nvPr>
        </p:nvSpPr>
        <p:spPr>
          <a:xfrm>
            <a:off x="107504" y="649583"/>
            <a:ext cx="7560840" cy="5587729"/>
          </a:xfrm>
        </p:spPr>
        <p:txBody>
          <a:bodyPr>
            <a:noAutofit/>
          </a:bodyPr>
          <a:lstStyle/>
          <a:p>
            <a:pPr>
              <a:spcBef>
                <a:spcPts val="0"/>
              </a:spcBef>
              <a:buClr>
                <a:schemeClr val="accent2"/>
              </a:buClr>
              <a:buSzPct val="80000"/>
              <a:buNone/>
            </a:pPr>
            <a:r>
              <a:rPr lang="en-US" sz="2400" dirty="0">
                <a:latin typeface="Times New Roman" panose="02020603050405020304" pitchFamily="18" charset="0"/>
                <a:ea typeface="华文楷体" panose="02010600040101010101" pitchFamily="2" charset="-122"/>
                <a:cs typeface="Times New Roman" panose="02020603050405020304" pitchFamily="18" charset="0"/>
              </a:rPr>
              <a:t>Status </a:t>
            </a:r>
            <a:r>
              <a:rPr lang="en-US" sz="2400" b="1" dirty="0" err="1">
                <a:solidFill>
                  <a:srgbClr val="6600CC"/>
                </a:solidFill>
                <a:latin typeface="Times New Roman" panose="02020603050405020304" pitchFamily="18" charset="0"/>
                <a:ea typeface="华文楷体" panose="02010600040101010101" pitchFamily="2" charset="-122"/>
                <a:cs typeface="Times New Roman" panose="02020603050405020304" pitchFamily="18" charset="0"/>
              </a:rPr>
              <a:t>InsertBST</a:t>
            </a:r>
            <a:r>
              <a:rPr 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sz="2400" dirty="0" err="1">
                <a:latin typeface="Times New Roman" panose="02020603050405020304" pitchFamily="18" charset="0"/>
                <a:ea typeface="华文楷体" panose="02010600040101010101" pitchFamily="2" charset="-122"/>
                <a:cs typeface="Times New Roman" panose="02020603050405020304" pitchFamily="18" charset="0"/>
              </a:rPr>
              <a:t>BiTree</a:t>
            </a:r>
            <a:r>
              <a:rPr lang="en-US" sz="2400" dirty="0">
                <a:latin typeface="Times New Roman" panose="02020603050405020304" pitchFamily="18" charset="0"/>
                <a:ea typeface="华文楷体" panose="02010600040101010101" pitchFamily="2" charset="-122"/>
                <a:cs typeface="Times New Roman" panose="02020603050405020304" pitchFamily="18" charset="0"/>
              </a:rPr>
              <a:t> &amp;T, </a:t>
            </a:r>
            <a:r>
              <a:rPr lang="en-US" sz="24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sz="2400" dirty="0">
                <a:latin typeface="Times New Roman" panose="02020603050405020304" pitchFamily="18" charset="0"/>
                <a:ea typeface="华文楷体" panose="02010600040101010101" pitchFamily="2" charset="-122"/>
                <a:cs typeface="Times New Roman" panose="02020603050405020304" pitchFamily="18" charset="0"/>
              </a:rPr>
              <a:t> e){ </a:t>
            </a:r>
          </a:p>
          <a:p>
            <a:pPr>
              <a:spcBef>
                <a:spcPts val="0"/>
              </a:spcBef>
              <a:buClr>
                <a:schemeClr val="accent2"/>
              </a:buClr>
              <a:buSzPct val="80000"/>
              <a:buNone/>
            </a:pPr>
            <a:r>
              <a:rPr lang="en-US" altLang="zh-CN" sz="20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当二叉排序树</a:t>
            </a:r>
            <a:r>
              <a:rPr lang="en-US" sz="2000" dirty="0">
                <a:latin typeface="Times New Roman" panose="02020603050405020304" pitchFamily="18" charset="0"/>
                <a:ea typeface="华文楷体" panose="02010600040101010101" pitchFamily="2" charset="-122"/>
                <a:cs typeface="Times New Roman" panose="02020603050405020304" pitchFamily="18" charset="0"/>
              </a:rPr>
              <a:t>T</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中没有关键字等于</a:t>
            </a:r>
            <a:r>
              <a:rPr lang="en-US" sz="2000" dirty="0" err="1">
                <a:latin typeface="Times New Roman" panose="02020603050405020304" pitchFamily="18" charset="0"/>
                <a:ea typeface="华文楷体" panose="02010600040101010101" pitchFamily="2" charset="-122"/>
                <a:cs typeface="Times New Roman" panose="02020603050405020304" pitchFamily="18" charset="0"/>
              </a:rPr>
              <a:t>e.key</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的数据元素时，</a:t>
            </a:r>
            <a:endParaRPr lang="en-US" altLang="zh-CN" sz="2000" dirty="0">
              <a:latin typeface="Times New Roman" panose="02020603050405020304" pitchFamily="18" charset="0"/>
              <a:ea typeface="华文楷体" panose="02010600040101010101" pitchFamily="2" charset="-122"/>
              <a:cs typeface="Times New Roman" panose="02020603050405020304" pitchFamily="18" charset="0"/>
            </a:endParaRPr>
          </a:p>
          <a:p>
            <a:pPr>
              <a:spcBef>
                <a:spcPts val="0"/>
              </a:spcBef>
              <a:buClr>
                <a:schemeClr val="accent2"/>
              </a:buClr>
              <a:buSzPct val="80000"/>
              <a:buNone/>
            </a:pPr>
            <a:r>
              <a:rPr lang="en-US" altLang="zh-CN" sz="20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插入</a:t>
            </a:r>
            <a:r>
              <a:rPr lang="en-US" sz="2000" dirty="0">
                <a:latin typeface="Times New Roman" panose="02020603050405020304" pitchFamily="18" charset="0"/>
                <a:ea typeface="华文楷体" panose="02010600040101010101" pitchFamily="2" charset="-122"/>
                <a:cs typeface="Times New Roman" panose="02020603050405020304" pitchFamily="18" charset="0"/>
              </a:rPr>
              <a:t>e</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并返回</a:t>
            </a:r>
            <a:r>
              <a:rPr lang="en-US" sz="2000" dirty="0">
                <a:latin typeface="Times New Roman" panose="02020603050405020304" pitchFamily="18" charset="0"/>
                <a:ea typeface="华文楷体" panose="02010600040101010101" pitchFamily="2" charset="-122"/>
                <a:cs typeface="Times New Roman" panose="02020603050405020304" pitchFamily="18" charset="0"/>
              </a:rPr>
              <a:t>TRUE，</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否则返回</a:t>
            </a:r>
            <a:r>
              <a:rPr lang="en-US" altLang="zh-CN" sz="2000" dirty="0">
                <a:latin typeface="Times New Roman" panose="02020603050405020304" pitchFamily="18" charset="0"/>
                <a:ea typeface="华文楷体" panose="02010600040101010101" pitchFamily="2" charset="-122"/>
                <a:cs typeface="Times New Roman" panose="02020603050405020304" pitchFamily="18" charset="0"/>
              </a:rPr>
              <a:t>FALSE</a:t>
            </a:r>
            <a:endParaRPr lang="en-US" sz="2000" dirty="0">
              <a:latin typeface="Times New Roman" panose="02020603050405020304" pitchFamily="18" charset="0"/>
              <a:ea typeface="华文楷体" panose="02010600040101010101" pitchFamily="2" charset="-122"/>
              <a:cs typeface="Times New Roman" panose="02020603050405020304" pitchFamily="18" charset="0"/>
            </a:endParaRPr>
          </a:p>
          <a:p>
            <a:pPr>
              <a:spcBef>
                <a:spcPts val="0"/>
              </a:spcBef>
              <a:buClr>
                <a:schemeClr val="accent2"/>
              </a:buClr>
              <a:buSzPct val="80000"/>
              <a:buNone/>
            </a:pPr>
            <a:r>
              <a:rPr lang="en-US" sz="2400" dirty="0" err="1">
                <a:latin typeface="Times New Roman" panose="02020603050405020304" pitchFamily="18" charset="0"/>
                <a:ea typeface="华文楷体" panose="02010600040101010101" pitchFamily="2" charset="-122"/>
                <a:cs typeface="Times New Roman" panose="02020603050405020304" pitchFamily="18" charset="0"/>
              </a:rPr>
              <a:t>BiTree</a:t>
            </a:r>
            <a:r>
              <a:rPr lang="en-US"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sz="2400" dirty="0" err="1">
                <a:latin typeface="Times New Roman" panose="02020603050405020304" pitchFamily="18" charset="0"/>
                <a:ea typeface="华文楷体" panose="02010600040101010101" pitchFamily="2" charset="-122"/>
                <a:cs typeface="Times New Roman" panose="02020603050405020304" pitchFamily="18" charset="0"/>
              </a:rPr>
              <a:t>p,s</a:t>
            </a:r>
            <a:r>
              <a:rPr lang="en-US" sz="2400" dirty="0">
                <a:latin typeface="Times New Roman" panose="02020603050405020304" pitchFamily="18" charset="0"/>
                <a:ea typeface="华文楷体" panose="02010600040101010101" pitchFamily="2" charset="-122"/>
                <a:cs typeface="Times New Roman" panose="02020603050405020304" pitchFamily="18" charset="0"/>
              </a:rPr>
              <a:t>; </a:t>
            </a:r>
          </a:p>
          <a:p>
            <a:pPr indent="-74613">
              <a:spcBef>
                <a:spcPts val="0"/>
              </a:spcBef>
              <a:buClr>
                <a:schemeClr val="accent2"/>
              </a:buClr>
              <a:buSzPct val="80000"/>
              <a:buNone/>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i</a:t>
            </a:r>
            <a:r>
              <a:rPr lang="en-US" sz="2400" dirty="0">
                <a:latin typeface="Times New Roman" panose="02020603050405020304" pitchFamily="18" charset="0"/>
                <a:ea typeface="华文楷体" panose="02010600040101010101" pitchFamily="2" charset="-122"/>
                <a:cs typeface="Times New Roman" panose="02020603050405020304" pitchFamily="18" charset="0"/>
              </a:rPr>
              <a:t>f (!</a:t>
            </a:r>
            <a:r>
              <a:rPr lang="en-US" sz="2400" b="1" dirty="0" err="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SearchBST</a:t>
            </a:r>
            <a:r>
              <a:rPr lang="en-US" sz="2400" dirty="0">
                <a:latin typeface="Times New Roman" panose="02020603050405020304" pitchFamily="18" charset="0"/>
                <a:ea typeface="华文楷体" panose="02010600040101010101" pitchFamily="2" charset="-122"/>
                <a:cs typeface="Times New Roman" panose="02020603050405020304" pitchFamily="18" charset="0"/>
              </a:rPr>
              <a:t>(T, </a:t>
            </a:r>
            <a:r>
              <a:rPr lang="en-US" sz="2400" dirty="0" err="1">
                <a:latin typeface="Times New Roman" panose="02020603050405020304" pitchFamily="18" charset="0"/>
                <a:ea typeface="华文楷体" panose="02010600040101010101" pitchFamily="2" charset="-122"/>
                <a:cs typeface="Times New Roman" panose="02020603050405020304" pitchFamily="18" charset="0"/>
              </a:rPr>
              <a:t>e.key</a:t>
            </a:r>
            <a:r>
              <a:rPr lang="en-US" sz="2400" dirty="0">
                <a:latin typeface="Times New Roman" panose="02020603050405020304" pitchFamily="18" charset="0"/>
                <a:ea typeface="华文楷体" panose="02010600040101010101" pitchFamily="2" charset="-122"/>
                <a:cs typeface="Times New Roman" panose="02020603050405020304" pitchFamily="18" charset="0"/>
              </a:rPr>
              <a:t>, NULL, p)) {  </a:t>
            </a:r>
            <a:r>
              <a:rPr lang="en-US" sz="20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查找不成功</a:t>
            </a:r>
            <a:endParaRPr lang="en-US" altLang="zh-CN" sz="2000" dirty="0">
              <a:latin typeface="Times New Roman" panose="02020603050405020304" pitchFamily="18" charset="0"/>
              <a:ea typeface="华文楷体" panose="02010600040101010101" pitchFamily="2" charset="-122"/>
              <a:cs typeface="Times New Roman" panose="02020603050405020304" pitchFamily="18" charset="0"/>
            </a:endParaRPr>
          </a:p>
          <a:p>
            <a:pPr indent="196850">
              <a:spcBef>
                <a:spcPts val="0"/>
              </a:spcBef>
              <a:buClr>
                <a:schemeClr val="accent2"/>
              </a:buClr>
              <a:buSzPct val="80000"/>
              <a:buNone/>
            </a:pPr>
            <a:r>
              <a:rPr lang="en-US" sz="2400" dirty="0">
                <a:latin typeface="Times New Roman" panose="02020603050405020304" pitchFamily="18" charset="0"/>
                <a:ea typeface="华文楷体" panose="02010600040101010101" pitchFamily="2" charset="-122"/>
                <a:cs typeface="Times New Roman" panose="02020603050405020304" pitchFamily="18" charset="0"/>
              </a:rPr>
              <a:t>s = (</a:t>
            </a:r>
            <a:r>
              <a:rPr lang="en-US" sz="2400" dirty="0" err="1">
                <a:latin typeface="Times New Roman" panose="02020603050405020304" pitchFamily="18" charset="0"/>
                <a:ea typeface="华文楷体" panose="02010600040101010101" pitchFamily="2" charset="-122"/>
                <a:cs typeface="Times New Roman" panose="02020603050405020304" pitchFamily="18" charset="0"/>
              </a:rPr>
              <a:t>BiTree</a:t>
            </a:r>
            <a:r>
              <a:rPr 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sz="2400" dirty="0" err="1">
                <a:latin typeface="Times New Roman" panose="02020603050405020304" pitchFamily="18" charset="0"/>
                <a:ea typeface="华文楷体" panose="02010600040101010101" pitchFamily="2" charset="-122"/>
                <a:cs typeface="Times New Roman" panose="02020603050405020304" pitchFamily="18" charset="0"/>
              </a:rPr>
              <a:t>malloc</a:t>
            </a:r>
            <a:r>
              <a:rPr 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sz="2400" dirty="0" err="1">
                <a:latin typeface="Times New Roman" panose="02020603050405020304" pitchFamily="18" charset="0"/>
                <a:ea typeface="华文楷体" panose="02010600040101010101" pitchFamily="2" charset="-122"/>
                <a:cs typeface="Times New Roman" panose="02020603050405020304" pitchFamily="18" charset="0"/>
              </a:rPr>
              <a:t>sizeof</a:t>
            </a:r>
            <a:r>
              <a:rPr 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sz="2400" dirty="0" err="1">
                <a:latin typeface="Times New Roman" panose="02020603050405020304" pitchFamily="18" charset="0"/>
                <a:ea typeface="华文楷体" panose="02010600040101010101" pitchFamily="2" charset="-122"/>
                <a:cs typeface="Times New Roman" panose="02020603050405020304" pitchFamily="18" charset="0"/>
              </a:rPr>
              <a:t>BiTNode</a:t>
            </a:r>
            <a:r>
              <a:rPr lang="en-US" sz="2400" dirty="0">
                <a:latin typeface="Times New Roman" panose="02020603050405020304" pitchFamily="18" charset="0"/>
                <a:ea typeface="华文楷体" panose="02010600040101010101" pitchFamily="2" charset="-122"/>
                <a:cs typeface="Times New Roman" panose="02020603050405020304" pitchFamily="18" charset="0"/>
              </a:rPr>
              <a:t>)); </a:t>
            </a:r>
          </a:p>
          <a:p>
            <a:pPr indent="196850">
              <a:spcBef>
                <a:spcPts val="0"/>
              </a:spcBef>
              <a:buClr>
                <a:schemeClr val="accent2"/>
              </a:buClr>
              <a:buSzPct val="80000"/>
              <a:buNone/>
            </a:pPr>
            <a:r>
              <a:rPr lang="en-US" sz="2400" dirty="0">
                <a:latin typeface="Times New Roman" panose="02020603050405020304" pitchFamily="18" charset="0"/>
                <a:ea typeface="华文楷体" panose="02010600040101010101" pitchFamily="2" charset="-122"/>
                <a:cs typeface="Times New Roman" panose="02020603050405020304" pitchFamily="18" charset="0"/>
              </a:rPr>
              <a:t>s-&gt;data = e;  s-&gt;</a:t>
            </a:r>
            <a:r>
              <a:rPr lang="en-US" sz="2400" dirty="0" err="1">
                <a:latin typeface="Times New Roman" panose="02020603050405020304" pitchFamily="18" charset="0"/>
                <a:ea typeface="华文楷体" panose="02010600040101010101" pitchFamily="2" charset="-122"/>
                <a:cs typeface="Times New Roman" panose="02020603050405020304" pitchFamily="18" charset="0"/>
              </a:rPr>
              <a:t>lchild</a:t>
            </a:r>
            <a:r>
              <a:rPr lang="en-US" sz="2400" dirty="0">
                <a:latin typeface="Times New Roman" panose="02020603050405020304" pitchFamily="18" charset="0"/>
                <a:ea typeface="华文楷体" panose="02010600040101010101" pitchFamily="2" charset="-122"/>
                <a:cs typeface="Times New Roman" panose="02020603050405020304" pitchFamily="18" charset="0"/>
              </a:rPr>
              <a:t> = s-&gt;</a:t>
            </a:r>
            <a:r>
              <a:rPr lang="en-US" sz="2400" dirty="0" err="1">
                <a:latin typeface="Times New Roman" panose="02020603050405020304" pitchFamily="18" charset="0"/>
                <a:ea typeface="华文楷体" panose="02010600040101010101" pitchFamily="2" charset="-122"/>
                <a:cs typeface="Times New Roman" panose="02020603050405020304" pitchFamily="18" charset="0"/>
              </a:rPr>
              <a:t>rchild</a:t>
            </a:r>
            <a:r>
              <a:rPr lang="en-US" sz="2400" dirty="0">
                <a:latin typeface="Times New Roman" panose="02020603050405020304" pitchFamily="18" charset="0"/>
                <a:ea typeface="华文楷体" panose="02010600040101010101" pitchFamily="2" charset="-122"/>
                <a:cs typeface="Times New Roman" panose="02020603050405020304" pitchFamily="18" charset="0"/>
              </a:rPr>
              <a:t> = NULL; </a:t>
            </a:r>
          </a:p>
          <a:p>
            <a:pPr indent="196850">
              <a:spcBef>
                <a:spcPts val="0"/>
              </a:spcBef>
              <a:buClr>
                <a:schemeClr val="accent2"/>
              </a:buClr>
              <a:buSzPct val="80000"/>
              <a:buNone/>
            </a:pPr>
            <a:r>
              <a:rPr lang="en-US" sz="2400" dirty="0">
                <a:latin typeface="Times New Roman" panose="02020603050405020304" pitchFamily="18" charset="0"/>
                <a:ea typeface="华文楷体" panose="02010600040101010101" pitchFamily="2" charset="-122"/>
                <a:cs typeface="Times New Roman" panose="02020603050405020304" pitchFamily="18" charset="0"/>
              </a:rPr>
              <a:t>if (!p) T = s; </a:t>
            </a:r>
            <a:r>
              <a:rPr lang="en-US" sz="20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插入 </a:t>
            </a:r>
            <a:r>
              <a:rPr lang="en-US" sz="2000" dirty="0">
                <a:latin typeface="Times New Roman" panose="02020603050405020304" pitchFamily="18" charset="0"/>
                <a:ea typeface="华文楷体" panose="02010600040101010101" pitchFamily="2" charset="-122"/>
                <a:cs typeface="Times New Roman" panose="02020603050405020304" pitchFamily="18" charset="0"/>
              </a:rPr>
              <a:t>s </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为新的根结点 </a:t>
            </a:r>
            <a:endParaRPr lang="en-US" altLang="zh-CN" sz="2000" dirty="0">
              <a:latin typeface="Times New Roman" panose="02020603050405020304" pitchFamily="18" charset="0"/>
              <a:ea typeface="华文楷体" panose="02010600040101010101" pitchFamily="2" charset="-122"/>
              <a:cs typeface="Times New Roman" panose="02020603050405020304" pitchFamily="18" charset="0"/>
            </a:endParaRPr>
          </a:p>
          <a:p>
            <a:pPr indent="196850">
              <a:spcBef>
                <a:spcPts val="0"/>
              </a:spcBef>
              <a:buClr>
                <a:schemeClr val="accent2"/>
              </a:buClr>
              <a:buSzPct val="80000"/>
              <a:buNone/>
            </a:pPr>
            <a:r>
              <a:rPr lang="en-US" sz="2400" dirty="0">
                <a:latin typeface="Times New Roman" panose="02020603050405020304" pitchFamily="18" charset="0"/>
                <a:ea typeface="华文楷体" panose="02010600040101010101" pitchFamily="2" charset="-122"/>
                <a:cs typeface="Times New Roman" panose="02020603050405020304" pitchFamily="18" charset="0"/>
              </a:rPr>
              <a:t>else     if (LT(</a:t>
            </a:r>
            <a:r>
              <a:rPr lang="en-US" sz="2400" dirty="0" err="1">
                <a:latin typeface="Times New Roman" panose="02020603050405020304" pitchFamily="18" charset="0"/>
                <a:ea typeface="华文楷体" panose="02010600040101010101" pitchFamily="2" charset="-122"/>
                <a:cs typeface="Times New Roman" panose="02020603050405020304" pitchFamily="18" charset="0"/>
              </a:rPr>
              <a:t>e.key</a:t>
            </a:r>
            <a:r>
              <a:rPr lang="en-US" sz="2400" dirty="0">
                <a:latin typeface="Times New Roman" panose="02020603050405020304" pitchFamily="18" charset="0"/>
                <a:ea typeface="华文楷体" panose="02010600040101010101" pitchFamily="2" charset="-122"/>
                <a:cs typeface="Times New Roman" panose="02020603050405020304" pitchFamily="18" charset="0"/>
              </a:rPr>
              <a:t>, p-&gt;</a:t>
            </a:r>
            <a:r>
              <a:rPr lang="en-US" sz="2400" dirty="0" err="1">
                <a:latin typeface="Times New Roman" panose="02020603050405020304" pitchFamily="18" charset="0"/>
                <a:ea typeface="华文楷体" panose="02010600040101010101" pitchFamily="2" charset="-122"/>
                <a:cs typeface="Times New Roman" panose="02020603050405020304" pitchFamily="18" charset="0"/>
              </a:rPr>
              <a:t>data.key</a:t>
            </a:r>
            <a:r>
              <a:rPr lang="en-US" sz="2400" dirty="0">
                <a:latin typeface="Times New Roman" panose="02020603050405020304" pitchFamily="18" charset="0"/>
                <a:ea typeface="华文楷体" panose="02010600040101010101" pitchFamily="2" charset="-122"/>
                <a:cs typeface="Times New Roman" panose="02020603050405020304" pitchFamily="18" charset="0"/>
              </a:rPr>
              <a:t>))</a:t>
            </a:r>
          </a:p>
          <a:p>
            <a:pPr indent="1452563">
              <a:spcBef>
                <a:spcPts val="0"/>
              </a:spcBef>
              <a:buClr>
                <a:schemeClr val="accent2"/>
              </a:buClr>
              <a:buSzPct val="80000"/>
              <a:buNone/>
            </a:pPr>
            <a:r>
              <a:rPr lang="en-US" sz="2400" dirty="0">
                <a:latin typeface="Times New Roman" panose="02020603050405020304" pitchFamily="18" charset="0"/>
                <a:ea typeface="华文楷体" panose="02010600040101010101" pitchFamily="2" charset="-122"/>
                <a:cs typeface="Times New Roman" panose="02020603050405020304" pitchFamily="18" charset="0"/>
              </a:rPr>
              <a:t>p-&gt;</a:t>
            </a:r>
            <a:r>
              <a:rPr lang="en-US" sz="2400" dirty="0" err="1">
                <a:latin typeface="Times New Roman" panose="02020603050405020304" pitchFamily="18" charset="0"/>
                <a:ea typeface="华文楷体" panose="02010600040101010101" pitchFamily="2" charset="-122"/>
                <a:cs typeface="Times New Roman" panose="02020603050405020304" pitchFamily="18" charset="0"/>
              </a:rPr>
              <a:t>lchild</a:t>
            </a:r>
            <a:r>
              <a:rPr lang="en-US" sz="2400" dirty="0">
                <a:latin typeface="Times New Roman" panose="02020603050405020304" pitchFamily="18" charset="0"/>
                <a:ea typeface="华文楷体" panose="02010600040101010101" pitchFamily="2" charset="-122"/>
                <a:cs typeface="Times New Roman" panose="02020603050405020304" pitchFamily="18" charset="0"/>
              </a:rPr>
              <a:t>=s;  </a:t>
            </a:r>
            <a:r>
              <a:rPr lang="en-US" sz="20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插入</a:t>
            </a:r>
            <a:r>
              <a:rPr lang="en-US" sz="2000" dirty="0">
                <a:latin typeface="Times New Roman" panose="02020603050405020304" pitchFamily="18" charset="0"/>
                <a:ea typeface="华文楷体" panose="02010600040101010101" pitchFamily="2" charset="-122"/>
                <a:cs typeface="Times New Roman" panose="02020603050405020304" pitchFamily="18" charset="0"/>
              </a:rPr>
              <a:t>s</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为左孩子 </a:t>
            </a:r>
            <a:endParaRPr lang="en-US" altLang="zh-CN" sz="2000" dirty="0">
              <a:latin typeface="Times New Roman" panose="02020603050405020304" pitchFamily="18" charset="0"/>
              <a:ea typeface="华文楷体" panose="02010600040101010101" pitchFamily="2" charset="-122"/>
              <a:cs typeface="Times New Roman" panose="02020603050405020304" pitchFamily="18" charset="0"/>
            </a:endParaRPr>
          </a:p>
          <a:p>
            <a:pPr indent="1092200">
              <a:spcBef>
                <a:spcPts val="0"/>
              </a:spcBef>
              <a:buClr>
                <a:schemeClr val="accent2"/>
              </a:buClr>
              <a:buSzPct val="80000"/>
              <a:buNone/>
            </a:pPr>
            <a:r>
              <a:rPr lang="en-US" sz="2400" dirty="0">
                <a:latin typeface="Times New Roman" panose="02020603050405020304" pitchFamily="18" charset="0"/>
                <a:ea typeface="华文楷体" panose="02010600040101010101" pitchFamily="2" charset="-122"/>
                <a:cs typeface="Times New Roman" panose="02020603050405020304" pitchFamily="18" charset="0"/>
              </a:rPr>
              <a:t>else  p-&gt;</a:t>
            </a:r>
            <a:r>
              <a:rPr lang="en-US" sz="2400" dirty="0" err="1">
                <a:latin typeface="Times New Roman" panose="02020603050405020304" pitchFamily="18" charset="0"/>
                <a:ea typeface="华文楷体" panose="02010600040101010101" pitchFamily="2" charset="-122"/>
                <a:cs typeface="Times New Roman" panose="02020603050405020304" pitchFamily="18" charset="0"/>
              </a:rPr>
              <a:t>rchild</a:t>
            </a:r>
            <a:r>
              <a:rPr lang="en-US" sz="2400" dirty="0">
                <a:latin typeface="Times New Roman" panose="02020603050405020304" pitchFamily="18" charset="0"/>
                <a:ea typeface="华文楷体" panose="02010600040101010101" pitchFamily="2" charset="-122"/>
                <a:cs typeface="Times New Roman" panose="02020603050405020304" pitchFamily="18" charset="0"/>
              </a:rPr>
              <a:t>=s;</a:t>
            </a:r>
            <a:r>
              <a:rPr lang="en-US" sz="20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插入 </a:t>
            </a:r>
            <a:r>
              <a:rPr lang="en-US" sz="2000" dirty="0">
                <a:latin typeface="Times New Roman" panose="02020603050405020304" pitchFamily="18" charset="0"/>
                <a:ea typeface="华文楷体" panose="02010600040101010101" pitchFamily="2" charset="-122"/>
                <a:cs typeface="Times New Roman" panose="02020603050405020304" pitchFamily="18" charset="0"/>
              </a:rPr>
              <a:t>s </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为右孩子</a:t>
            </a:r>
            <a:endParaRPr lang="en-US" altLang="zh-CN" sz="2000" dirty="0">
              <a:latin typeface="Times New Roman" panose="02020603050405020304" pitchFamily="18" charset="0"/>
              <a:ea typeface="华文楷体" panose="02010600040101010101" pitchFamily="2" charset="-122"/>
              <a:cs typeface="Times New Roman" panose="02020603050405020304" pitchFamily="18" charset="0"/>
            </a:endParaRPr>
          </a:p>
          <a:p>
            <a:pPr indent="-74613">
              <a:spcBef>
                <a:spcPts val="0"/>
              </a:spcBef>
              <a:buClr>
                <a:schemeClr val="accent2"/>
              </a:buClr>
              <a:buSzPct val="80000"/>
              <a:buNone/>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sz="2400" dirty="0">
                <a:latin typeface="Times New Roman" panose="02020603050405020304" pitchFamily="18" charset="0"/>
                <a:ea typeface="华文楷体" panose="02010600040101010101" pitchFamily="2" charset="-122"/>
                <a:cs typeface="Times New Roman" panose="02020603050405020304" pitchFamily="18" charset="0"/>
              </a:rPr>
              <a:t>return TRUE; </a:t>
            </a:r>
          </a:p>
          <a:p>
            <a:pPr indent="-74613">
              <a:spcBef>
                <a:spcPts val="0"/>
              </a:spcBef>
              <a:buClr>
                <a:schemeClr val="accent2"/>
              </a:buClr>
              <a:buSzPct val="80000"/>
              <a:buNone/>
            </a:pPr>
            <a:r>
              <a:rPr lang="en-US"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en-US" sz="2400" dirty="0" smtClean="0">
              <a:latin typeface="Times New Roman" panose="02020603050405020304" pitchFamily="18" charset="0"/>
              <a:ea typeface="华文楷体" panose="02010600040101010101" pitchFamily="2" charset="-122"/>
              <a:cs typeface="Times New Roman" panose="02020603050405020304" pitchFamily="18" charset="0"/>
            </a:endParaRPr>
          </a:p>
          <a:p>
            <a:pPr indent="-74613">
              <a:spcBef>
                <a:spcPts val="0"/>
              </a:spcBef>
              <a:buClr>
                <a:schemeClr val="accent2"/>
              </a:buClr>
              <a:buSzPct val="80000"/>
              <a:buNone/>
            </a:pPr>
            <a:r>
              <a:rPr lang="en-US" sz="2400" dirty="0" smtClean="0">
                <a:latin typeface="Times New Roman" panose="02020603050405020304" pitchFamily="18" charset="0"/>
                <a:ea typeface="华文楷体" panose="02010600040101010101" pitchFamily="2" charset="-122"/>
                <a:cs typeface="Times New Roman" panose="02020603050405020304" pitchFamily="18" charset="0"/>
              </a:rPr>
              <a:t>else </a:t>
            </a:r>
            <a:r>
              <a:rPr lang="en-US" sz="2400" dirty="0">
                <a:latin typeface="Times New Roman" panose="02020603050405020304" pitchFamily="18" charset="0"/>
                <a:ea typeface="华文楷体" panose="02010600040101010101" pitchFamily="2" charset="-122"/>
                <a:cs typeface="Times New Roman" panose="02020603050405020304" pitchFamily="18" charset="0"/>
              </a:rPr>
              <a:t>return FALSE; </a:t>
            </a:r>
            <a:r>
              <a:rPr lang="en-US" sz="20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树中已有关键字相同的结点，不再插入 </a:t>
            </a:r>
            <a:endParaRPr lang="en-US" altLang="zh-CN" sz="2000" dirty="0">
              <a:latin typeface="Times New Roman" panose="02020603050405020304" pitchFamily="18" charset="0"/>
              <a:ea typeface="华文楷体" panose="02010600040101010101" pitchFamily="2" charset="-122"/>
              <a:cs typeface="Times New Roman" panose="02020603050405020304" pitchFamily="18" charset="0"/>
            </a:endParaRPr>
          </a:p>
          <a:p>
            <a:pPr>
              <a:spcBef>
                <a:spcPts val="0"/>
              </a:spcBef>
              <a:buClr>
                <a:schemeClr val="accent2"/>
              </a:buClr>
              <a:buSzPct val="80000"/>
              <a:buNone/>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sz="2400" dirty="0">
                <a:latin typeface="Times New Roman" panose="02020603050405020304" pitchFamily="18" charset="0"/>
                <a:ea typeface="华文楷体" panose="02010600040101010101" pitchFamily="2" charset="-122"/>
                <a:cs typeface="Times New Roman" panose="02020603050405020304" pitchFamily="18" charset="0"/>
              </a:rPr>
              <a:t>Insert </a:t>
            </a:r>
            <a:r>
              <a:rPr lang="en-US" sz="2400" dirty="0" smtClean="0">
                <a:latin typeface="Times New Roman" panose="02020603050405020304" pitchFamily="18" charset="0"/>
                <a:ea typeface="华文楷体" panose="02010600040101010101" pitchFamily="2" charset="-122"/>
                <a:cs typeface="Times New Roman" panose="02020603050405020304" pitchFamily="18" charset="0"/>
              </a:rPr>
              <a:t>BST</a:t>
            </a:r>
            <a:endParaRPr lang="zh-CN" altLang="en-US" sz="2400" b="1" dirty="0">
              <a:solidFill>
                <a:schemeClr val="folHlink"/>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t>45</a:t>
            </a:fld>
            <a:endParaRPr lang="zh-CN" altLang="en-US"/>
          </a:p>
        </p:txBody>
      </p:sp>
      <p:sp>
        <p:nvSpPr>
          <p:cNvPr id="4" name="流程图: 可选过程 3"/>
          <p:cNvSpPr/>
          <p:nvPr/>
        </p:nvSpPr>
        <p:spPr>
          <a:xfrm>
            <a:off x="8604448" y="0"/>
            <a:ext cx="539552" cy="332656"/>
          </a:xfrm>
          <a:prstGeom prst="flowChartAlternateProcess">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t>9.6</a:t>
            </a:r>
          </a:p>
        </p:txBody>
      </p:sp>
      <p:sp>
        <p:nvSpPr>
          <p:cNvPr id="10" name="TextBox 9"/>
          <p:cNvSpPr txBox="1"/>
          <p:nvPr/>
        </p:nvSpPr>
        <p:spPr>
          <a:xfrm>
            <a:off x="7866112" y="764704"/>
            <a:ext cx="954360" cy="4708981"/>
          </a:xfrm>
          <a:prstGeom prst="rect">
            <a:avLst/>
          </a:prstGeom>
          <a:noFill/>
        </p:spPr>
        <p:txBody>
          <a:bodyPr wrap="square" rtlCol="0">
            <a:spAutoFit/>
          </a:bodyPr>
          <a:lstStyle/>
          <a:p>
            <a:r>
              <a:rPr lang="zh-CN" altLang="en-US" sz="2000" b="1" dirty="0">
                <a:latin typeface="华文楷体" panose="02010600040101010101" pitchFamily="2" charset="-122"/>
                <a:ea typeface="华文楷体" panose="02010600040101010101" pitchFamily="2" charset="-122"/>
              </a:rPr>
              <a:t>每次</a:t>
            </a:r>
            <a:r>
              <a:rPr lang="zh-CN" altLang="en-US" sz="2000" b="1" dirty="0">
                <a:solidFill>
                  <a:srgbClr val="6600CC"/>
                </a:solidFill>
                <a:latin typeface="华文楷体" panose="02010600040101010101" pitchFamily="2" charset="-122"/>
                <a:ea typeface="华文楷体" panose="02010600040101010101" pitchFamily="2" charset="-122"/>
              </a:rPr>
              <a:t>插入的新结点都是</a:t>
            </a:r>
            <a:r>
              <a:rPr lang="en-US" altLang="en-US" sz="2000" b="1" dirty="0">
                <a:solidFill>
                  <a:srgbClr val="6600CC"/>
                </a:solidFill>
                <a:latin typeface="华文楷体" panose="02010600040101010101" pitchFamily="2" charset="-122"/>
                <a:ea typeface="华文楷体" panose="02010600040101010101" pitchFamily="2" charset="-122"/>
              </a:rPr>
              <a:t>BST</a:t>
            </a:r>
            <a:r>
              <a:rPr lang="zh-CN" altLang="en-US" sz="2000" b="1" dirty="0">
                <a:solidFill>
                  <a:srgbClr val="6600CC"/>
                </a:solidFill>
                <a:latin typeface="华文楷体" panose="02010600040101010101" pitchFamily="2" charset="-122"/>
                <a:ea typeface="华文楷体" panose="02010600040101010101" pitchFamily="2" charset="-122"/>
              </a:rPr>
              <a:t>树的叶子结点</a:t>
            </a:r>
            <a:r>
              <a:rPr lang="zh-CN" altLang="en-US" sz="2000" b="1" dirty="0">
                <a:latin typeface="华文楷体" panose="02010600040101010101" pitchFamily="2" charset="-122"/>
                <a:ea typeface="华文楷体" panose="02010600040101010101" pitchFamily="2" charset="-122"/>
              </a:rPr>
              <a:t>，即：在插入时，不必移动其它结点，仅需修改某个结点的指针</a:t>
            </a:r>
            <a:endParaRPr lang="en-US" sz="20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264143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460" y="-9425"/>
            <a:ext cx="8229600" cy="765745"/>
          </a:xfrm>
        </p:spPr>
        <p:txBody>
          <a:bodyPr>
            <a:normAutofit/>
          </a:bodyPr>
          <a:lstStyle/>
          <a:p>
            <a:pPr algn="l"/>
            <a:r>
              <a:rPr lang="en-US" altLang="zh-CN" sz="3200" dirty="0">
                <a:latin typeface="华文新魏" panose="02010800040101010101" pitchFamily="2" charset="-122"/>
                <a:ea typeface="华文新魏" panose="02010800040101010101" pitchFamily="2" charset="-122"/>
              </a:rPr>
              <a:t>BST</a:t>
            </a:r>
            <a:r>
              <a:rPr lang="zh-CN" altLang="en-US" sz="3200" dirty="0">
                <a:latin typeface="华文新魏" panose="02010800040101010101" pitchFamily="2" charset="-122"/>
                <a:ea typeface="华文新魏" panose="02010800040101010101" pitchFamily="2" charset="-122"/>
              </a:rPr>
              <a:t>的插入示例</a:t>
            </a:r>
            <a:endParaRPr lang="en-US" sz="3200" dirty="0">
              <a:latin typeface="华文新魏" panose="02010800040101010101" pitchFamily="2" charset="-122"/>
              <a:ea typeface="华文新魏" panose="02010800040101010101" pitchFamily="2" charset="-122"/>
            </a:endParaRPr>
          </a:p>
        </p:txBody>
      </p:sp>
      <p:sp>
        <p:nvSpPr>
          <p:cNvPr id="3" name="内容占位符 2"/>
          <p:cNvSpPr>
            <a:spLocks noGrp="1"/>
          </p:cNvSpPr>
          <p:nvPr>
            <p:ph idx="1"/>
          </p:nvPr>
        </p:nvSpPr>
        <p:spPr>
          <a:xfrm>
            <a:off x="49088" y="855524"/>
            <a:ext cx="5819056" cy="3725603"/>
          </a:xfrm>
        </p:spPr>
        <p:txBody>
          <a:bodyPr>
            <a:normAutofit fontScale="92500" lnSpcReduction="10000"/>
          </a:bodyPr>
          <a:lstStyle/>
          <a:p>
            <a:r>
              <a:rPr kumimoji="1" lang="zh-CN" altLang="en-US" sz="2400" dirty="0">
                <a:latin typeface="华文楷体" panose="02010600040101010101" pitchFamily="2" charset="-122"/>
                <a:ea typeface="华文楷体" panose="02010600040101010101" pitchFamily="2" charset="-122"/>
              </a:rPr>
              <a:t>由关键字序列 </a:t>
            </a:r>
            <a:r>
              <a:rPr kumimoji="1" lang="en-US" altLang="zh-CN" sz="2400" b="1" dirty="0">
                <a:solidFill>
                  <a:srgbClr val="006600"/>
                </a:solidFill>
                <a:latin typeface="华文楷体" panose="02010600040101010101" pitchFamily="2" charset="-122"/>
                <a:ea typeface="华文楷体" panose="02010600040101010101" pitchFamily="2" charset="-122"/>
              </a:rPr>
              <a:t>1</a:t>
            </a:r>
            <a:r>
              <a:rPr kumimoji="1" lang="zh-CN" altLang="en-US" sz="2400" b="1" dirty="0">
                <a:solidFill>
                  <a:srgbClr val="006600"/>
                </a:solidFill>
                <a:latin typeface="华文楷体" panose="02010600040101010101" pitchFamily="2" charset="-122"/>
                <a:ea typeface="华文楷体" panose="02010600040101010101" pitchFamily="2" charset="-122"/>
              </a:rPr>
              <a:t>，</a:t>
            </a:r>
            <a:r>
              <a:rPr kumimoji="1" lang="en-US" altLang="zh-CN" sz="2400" b="1" dirty="0">
                <a:solidFill>
                  <a:srgbClr val="006600"/>
                </a:solidFill>
                <a:latin typeface="华文楷体" panose="02010600040101010101" pitchFamily="2" charset="-122"/>
                <a:ea typeface="华文楷体" panose="02010600040101010101" pitchFamily="2" charset="-122"/>
              </a:rPr>
              <a:t>2</a:t>
            </a:r>
            <a:r>
              <a:rPr kumimoji="1" lang="zh-CN" altLang="en-US" sz="2400" b="1" dirty="0">
                <a:solidFill>
                  <a:srgbClr val="006600"/>
                </a:solidFill>
                <a:latin typeface="华文楷体" panose="02010600040101010101" pitchFamily="2" charset="-122"/>
                <a:ea typeface="华文楷体" panose="02010600040101010101" pitchFamily="2" charset="-122"/>
              </a:rPr>
              <a:t>，</a:t>
            </a:r>
            <a:r>
              <a:rPr kumimoji="1" lang="en-US" altLang="zh-CN" sz="2400" b="1" dirty="0">
                <a:solidFill>
                  <a:srgbClr val="006600"/>
                </a:solidFill>
                <a:latin typeface="华文楷体" panose="02010600040101010101" pitchFamily="2" charset="-122"/>
                <a:ea typeface="华文楷体" panose="02010600040101010101" pitchFamily="2" charset="-122"/>
              </a:rPr>
              <a:t>3</a:t>
            </a:r>
            <a:r>
              <a:rPr kumimoji="1" lang="zh-CN" altLang="en-US" sz="2400" b="1" dirty="0">
                <a:solidFill>
                  <a:srgbClr val="006600"/>
                </a:solidFill>
                <a:latin typeface="华文楷体" panose="02010600040101010101" pitchFamily="2" charset="-122"/>
                <a:ea typeface="华文楷体" panose="02010600040101010101" pitchFamily="2" charset="-122"/>
              </a:rPr>
              <a:t>，</a:t>
            </a:r>
            <a:r>
              <a:rPr kumimoji="1" lang="en-US" altLang="zh-CN" sz="2400" b="1" dirty="0">
                <a:solidFill>
                  <a:srgbClr val="006600"/>
                </a:solidFill>
                <a:latin typeface="华文楷体" panose="02010600040101010101" pitchFamily="2" charset="-122"/>
                <a:ea typeface="华文楷体" panose="02010600040101010101" pitchFamily="2" charset="-122"/>
              </a:rPr>
              <a:t>4</a:t>
            </a:r>
            <a:r>
              <a:rPr kumimoji="1" lang="zh-CN" altLang="en-US" sz="2400" b="1" dirty="0">
                <a:solidFill>
                  <a:srgbClr val="006600"/>
                </a:solidFill>
                <a:latin typeface="华文楷体" panose="02010600040101010101" pitchFamily="2" charset="-122"/>
                <a:ea typeface="华文楷体" panose="02010600040101010101" pitchFamily="2" charset="-122"/>
              </a:rPr>
              <a:t>，</a:t>
            </a:r>
            <a:r>
              <a:rPr kumimoji="1" lang="en-US" altLang="zh-CN" sz="2400" b="1" dirty="0">
                <a:solidFill>
                  <a:srgbClr val="006600"/>
                </a:solidFill>
                <a:latin typeface="华文楷体" panose="02010600040101010101" pitchFamily="2" charset="-122"/>
                <a:ea typeface="华文楷体" panose="02010600040101010101" pitchFamily="2" charset="-122"/>
              </a:rPr>
              <a:t>5</a:t>
            </a:r>
            <a:r>
              <a:rPr kumimoji="1" lang="zh-CN" altLang="en-US" sz="2400" dirty="0">
                <a:latin typeface="华文楷体" panose="02010600040101010101" pitchFamily="2" charset="-122"/>
                <a:ea typeface="华文楷体" panose="02010600040101010101" pitchFamily="2" charset="-122"/>
              </a:rPr>
              <a:t>构造而得的二叉排序树</a:t>
            </a:r>
            <a:endParaRPr kumimoji="1" lang="en-US" altLang="zh-CN" sz="2400" dirty="0">
              <a:latin typeface="华文楷体" panose="02010600040101010101" pitchFamily="2" charset="-122"/>
              <a:ea typeface="华文楷体" panose="02010600040101010101" pitchFamily="2" charset="-122"/>
            </a:endParaRPr>
          </a:p>
          <a:p>
            <a:pPr lvl="1"/>
            <a:r>
              <a:rPr kumimoji="1" lang="zh-CN" altLang="en-US" sz="2400" dirty="0">
                <a:latin typeface="华文楷体" panose="02010600040101010101" pitchFamily="2" charset="-122"/>
                <a:ea typeface="华文楷体" panose="02010600040101010101" pitchFamily="2" charset="-122"/>
              </a:rPr>
              <a:t>当先后插入的关键字是有序时，构成的</a:t>
            </a:r>
            <a:r>
              <a:rPr kumimoji="1" lang="en-US" altLang="zh-CN" sz="2400" dirty="0">
                <a:latin typeface="华文楷体" panose="02010600040101010101" pitchFamily="2" charset="-122"/>
                <a:ea typeface="华文楷体" panose="02010600040101010101" pitchFamily="2" charset="-122"/>
              </a:rPr>
              <a:t>BST</a:t>
            </a:r>
            <a:r>
              <a:rPr kumimoji="1" lang="zh-CN" altLang="en-US" sz="2400" dirty="0">
                <a:latin typeface="华文楷体" panose="02010600040101010101" pitchFamily="2" charset="-122"/>
                <a:ea typeface="华文楷体" panose="02010600040101010101" pitchFamily="2" charset="-122"/>
              </a:rPr>
              <a:t>蜕变为单支树</a:t>
            </a:r>
            <a:endParaRPr kumimoji="1" lang="en-US" altLang="zh-CN" sz="2400" dirty="0">
              <a:latin typeface="华文楷体" panose="02010600040101010101" pitchFamily="2" charset="-122"/>
              <a:ea typeface="华文楷体" panose="02010600040101010101" pitchFamily="2" charset="-122"/>
            </a:endParaRPr>
          </a:p>
          <a:p>
            <a:pPr lvl="1"/>
            <a:r>
              <a:rPr kumimoji="1" lang="en-US" altLang="zh-CN" sz="2400" dirty="0">
                <a:solidFill>
                  <a:srgbClr val="CC3300"/>
                </a:solidFill>
                <a:latin typeface="华文楷体" panose="02010600040101010101" pitchFamily="2" charset="-122"/>
                <a:ea typeface="华文楷体" panose="02010600040101010101" pitchFamily="2" charset="-122"/>
              </a:rPr>
              <a:t>ASL =</a:t>
            </a:r>
            <a:r>
              <a:rPr kumimoji="1" lang="zh-CN" altLang="en-US" sz="2400" dirty="0">
                <a:solidFill>
                  <a:srgbClr val="CC3300"/>
                </a:solidFill>
                <a:latin typeface="华文楷体" panose="02010600040101010101" pitchFamily="2" charset="-122"/>
                <a:ea typeface="华文楷体" panose="02010600040101010101" pitchFamily="2" charset="-122"/>
              </a:rPr>
              <a:t>（</a:t>
            </a:r>
            <a:r>
              <a:rPr kumimoji="1" lang="en-US" altLang="zh-CN" sz="2400" dirty="0">
                <a:solidFill>
                  <a:srgbClr val="CC3300"/>
                </a:solidFill>
                <a:latin typeface="华文楷体" panose="02010600040101010101" pitchFamily="2" charset="-122"/>
                <a:ea typeface="华文楷体" panose="02010600040101010101" pitchFamily="2" charset="-122"/>
              </a:rPr>
              <a:t>1+2+3+4+5</a:t>
            </a:r>
            <a:r>
              <a:rPr kumimoji="1" lang="zh-CN" altLang="en-US" sz="2400" dirty="0">
                <a:solidFill>
                  <a:srgbClr val="CC3300"/>
                </a:solidFill>
                <a:latin typeface="华文楷体" panose="02010600040101010101" pitchFamily="2" charset="-122"/>
                <a:ea typeface="华文楷体" panose="02010600040101010101" pitchFamily="2" charset="-122"/>
              </a:rPr>
              <a:t>）</a:t>
            </a:r>
            <a:r>
              <a:rPr kumimoji="1" lang="en-US" altLang="zh-CN" sz="2400" dirty="0">
                <a:solidFill>
                  <a:srgbClr val="CC3300"/>
                </a:solidFill>
                <a:latin typeface="华文楷体" panose="02010600040101010101" pitchFamily="2" charset="-122"/>
                <a:ea typeface="华文楷体" panose="02010600040101010101" pitchFamily="2" charset="-122"/>
              </a:rPr>
              <a:t>/ 5  =  3</a:t>
            </a:r>
          </a:p>
          <a:p>
            <a:pPr lvl="1"/>
            <a:r>
              <a:rPr kumimoji="1" lang="en-US" altLang="zh-CN" sz="2400" dirty="0">
                <a:solidFill>
                  <a:srgbClr val="CC3300"/>
                </a:solidFill>
                <a:latin typeface="华文楷体" panose="02010600040101010101" pitchFamily="2" charset="-122"/>
                <a:ea typeface="华文楷体" panose="02010600040101010101" pitchFamily="2" charset="-122"/>
              </a:rPr>
              <a:t>n</a:t>
            </a:r>
            <a:r>
              <a:rPr kumimoji="1" lang="zh-CN" altLang="en-US" sz="2400" dirty="0">
                <a:solidFill>
                  <a:srgbClr val="CC3300"/>
                </a:solidFill>
                <a:latin typeface="华文楷体" panose="02010600040101010101" pitchFamily="2" charset="-122"/>
                <a:ea typeface="华文楷体" panose="02010600040101010101" pitchFamily="2" charset="-122"/>
              </a:rPr>
              <a:t>个节点：平均查找长度为</a:t>
            </a:r>
            <a:r>
              <a:rPr kumimoji="1" lang="en-US" altLang="zh-CN" sz="2400" dirty="0">
                <a:solidFill>
                  <a:srgbClr val="CC3300"/>
                </a:solidFill>
                <a:latin typeface="华文楷体" panose="02010600040101010101" pitchFamily="2" charset="-122"/>
                <a:ea typeface="华文楷体" panose="02010600040101010101" pitchFamily="2" charset="-122"/>
              </a:rPr>
              <a:t>(n+1)/2</a:t>
            </a:r>
            <a:r>
              <a:rPr kumimoji="1" lang="zh-CN" altLang="en-US" sz="2400" dirty="0">
                <a:solidFill>
                  <a:srgbClr val="CC3300"/>
                </a:solidFill>
                <a:latin typeface="华文楷体" panose="02010600040101010101" pitchFamily="2" charset="-122"/>
                <a:ea typeface="华文楷体" panose="02010600040101010101" pitchFamily="2" charset="-122"/>
              </a:rPr>
              <a:t>，与顺序查找相同</a:t>
            </a:r>
            <a:endParaRPr kumimoji="1" lang="en-US" altLang="zh-CN" sz="2400" dirty="0">
              <a:solidFill>
                <a:srgbClr val="CC3300"/>
              </a:solidFill>
              <a:latin typeface="华文楷体" panose="02010600040101010101" pitchFamily="2" charset="-122"/>
              <a:ea typeface="华文楷体" panose="02010600040101010101" pitchFamily="2" charset="-122"/>
            </a:endParaRPr>
          </a:p>
          <a:p>
            <a:r>
              <a:rPr kumimoji="1" lang="zh-CN" altLang="en-US" sz="2400" dirty="0">
                <a:latin typeface="华文楷体" panose="02010600040101010101" pitchFamily="2" charset="-122"/>
                <a:ea typeface="华文楷体" panose="02010600040101010101" pitchFamily="2" charset="-122"/>
              </a:rPr>
              <a:t>由关键字序列 </a:t>
            </a:r>
            <a:r>
              <a:rPr kumimoji="1" lang="en-US" altLang="zh-CN" sz="2400" b="1" dirty="0">
                <a:solidFill>
                  <a:srgbClr val="006600"/>
                </a:solidFill>
                <a:latin typeface="华文楷体" panose="02010600040101010101" pitchFamily="2" charset="-122"/>
                <a:ea typeface="华文楷体" panose="02010600040101010101" pitchFamily="2" charset="-122"/>
              </a:rPr>
              <a:t>3</a:t>
            </a:r>
            <a:r>
              <a:rPr kumimoji="1" lang="zh-CN" altLang="en-US" sz="2400" b="1" dirty="0">
                <a:solidFill>
                  <a:srgbClr val="006600"/>
                </a:solidFill>
                <a:latin typeface="华文楷体" panose="02010600040101010101" pitchFamily="2" charset="-122"/>
                <a:ea typeface="华文楷体" panose="02010600040101010101" pitchFamily="2" charset="-122"/>
              </a:rPr>
              <a:t>，</a:t>
            </a:r>
            <a:r>
              <a:rPr kumimoji="1" lang="en-US" altLang="zh-CN" sz="2400" b="1" dirty="0">
                <a:solidFill>
                  <a:srgbClr val="006600"/>
                </a:solidFill>
                <a:latin typeface="华文楷体" panose="02010600040101010101" pitchFamily="2" charset="-122"/>
                <a:ea typeface="华文楷体" panose="02010600040101010101" pitchFamily="2" charset="-122"/>
              </a:rPr>
              <a:t>1</a:t>
            </a:r>
            <a:r>
              <a:rPr kumimoji="1" lang="zh-CN" altLang="en-US" sz="2400" b="1" dirty="0">
                <a:solidFill>
                  <a:srgbClr val="006600"/>
                </a:solidFill>
                <a:latin typeface="华文楷体" panose="02010600040101010101" pitchFamily="2" charset="-122"/>
                <a:ea typeface="华文楷体" panose="02010600040101010101" pitchFamily="2" charset="-122"/>
              </a:rPr>
              <a:t>，</a:t>
            </a:r>
            <a:r>
              <a:rPr kumimoji="1" lang="en-US" altLang="zh-CN" sz="2400" b="1" dirty="0">
                <a:solidFill>
                  <a:srgbClr val="006600"/>
                </a:solidFill>
                <a:latin typeface="华文楷体" panose="02010600040101010101" pitchFamily="2" charset="-122"/>
                <a:ea typeface="华文楷体" panose="02010600040101010101" pitchFamily="2" charset="-122"/>
              </a:rPr>
              <a:t>2</a:t>
            </a:r>
            <a:r>
              <a:rPr kumimoji="1" lang="zh-CN" altLang="en-US" sz="2400" b="1" dirty="0">
                <a:solidFill>
                  <a:srgbClr val="006600"/>
                </a:solidFill>
                <a:latin typeface="华文楷体" panose="02010600040101010101" pitchFamily="2" charset="-122"/>
                <a:ea typeface="华文楷体" panose="02010600040101010101" pitchFamily="2" charset="-122"/>
              </a:rPr>
              <a:t>，</a:t>
            </a:r>
            <a:r>
              <a:rPr kumimoji="1" lang="en-US" altLang="zh-CN" sz="2400" b="1" dirty="0">
                <a:solidFill>
                  <a:srgbClr val="006600"/>
                </a:solidFill>
                <a:latin typeface="华文楷体" panose="02010600040101010101" pitchFamily="2" charset="-122"/>
                <a:ea typeface="华文楷体" panose="02010600040101010101" pitchFamily="2" charset="-122"/>
              </a:rPr>
              <a:t>5</a:t>
            </a:r>
            <a:r>
              <a:rPr kumimoji="1" lang="zh-CN" altLang="en-US" sz="2400" b="1" dirty="0">
                <a:solidFill>
                  <a:srgbClr val="006600"/>
                </a:solidFill>
                <a:latin typeface="华文楷体" panose="02010600040101010101" pitchFamily="2" charset="-122"/>
                <a:ea typeface="华文楷体" panose="02010600040101010101" pitchFamily="2" charset="-122"/>
              </a:rPr>
              <a:t>，</a:t>
            </a:r>
            <a:r>
              <a:rPr kumimoji="1" lang="en-US" altLang="zh-CN" sz="2400" b="1" dirty="0">
                <a:solidFill>
                  <a:srgbClr val="006600"/>
                </a:solidFill>
                <a:latin typeface="华文楷体" panose="02010600040101010101" pitchFamily="2" charset="-122"/>
                <a:ea typeface="华文楷体" panose="02010600040101010101" pitchFamily="2" charset="-122"/>
              </a:rPr>
              <a:t>4</a:t>
            </a:r>
            <a:r>
              <a:rPr kumimoji="1" lang="zh-CN" altLang="en-US" sz="2400" dirty="0">
                <a:latin typeface="华文楷体" panose="02010600040101010101" pitchFamily="2" charset="-122"/>
                <a:ea typeface="华文楷体" panose="02010600040101010101" pitchFamily="2" charset="-122"/>
              </a:rPr>
              <a:t>构造而得的二叉排序树：</a:t>
            </a:r>
            <a:endParaRPr kumimoji="1" lang="zh-CN" altLang="en-US" sz="2400" dirty="0">
              <a:solidFill>
                <a:srgbClr val="CC3300"/>
              </a:solidFill>
              <a:latin typeface="华文楷体" panose="02010600040101010101" pitchFamily="2" charset="-122"/>
              <a:ea typeface="华文楷体" panose="02010600040101010101" pitchFamily="2" charset="-122"/>
            </a:endParaRPr>
          </a:p>
          <a:p>
            <a:pPr lvl="1"/>
            <a:r>
              <a:rPr kumimoji="1" lang="en-US" altLang="zh-CN" sz="2400" dirty="0">
                <a:solidFill>
                  <a:srgbClr val="CC3300"/>
                </a:solidFill>
                <a:latin typeface="华文楷体" panose="02010600040101010101" pitchFamily="2" charset="-122"/>
                <a:ea typeface="华文楷体" panose="02010600040101010101" pitchFamily="2" charset="-122"/>
              </a:rPr>
              <a:t>ASL =</a:t>
            </a:r>
            <a:r>
              <a:rPr kumimoji="1" lang="zh-CN" altLang="en-US" sz="2400" dirty="0">
                <a:solidFill>
                  <a:srgbClr val="CC3300"/>
                </a:solidFill>
                <a:latin typeface="华文楷体" panose="02010600040101010101" pitchFamily="2" charset="-122"/>
                <a:ea typeface="华文楷体" panose="02010600040101010101" pitchFamily="2" charset="-122"/>
              </a:rPr>
              <a:t>（</a:t>
            </a:r>
            <a:r>
              <a:rPr kumimoji="1" lang="en-US" altLang="zh-CN" sz="2400" dirty="0">
                <a:solidFill>
                  <a:srgbClr val="CC3300"/>
                </a:solidFill>
                <a:latin typeface="华文楷体" panose="02010600040101010101" pitchFamily="2" charset="-122"/>
                <a:ea typeface="华文楷体" panose="02010600040101010101" pitchFamily="2" charset="-122"/>
              </a:rPr>
              <a:t>1+2+3+2+3</a:t>
            </a:r>
            <a:r>
              <a:rPr kumimoji="1" lang="zh-CN" altLang="en-US" sz="2400" dirty="0">
                <a:solidFill>
                  <a:srgbClr val="CC3300"/>
                </a:solidFill>
                <a:latin typeface="华文楷体" panose="02010600040101010101" pitchFamily="2" charset="-122"/>
                <a:ea typeface="华文楷体" panose="02010600040101010101" pitchFamily="2" charset="-122"/>
              </a:rPr>
              <a:t>）</a:t>
            </a:r>
            <a:r>
              <a:rPr kumimoji="1" lang="en-US" altLang="zh-CN" sz="2400" dirty="0">
                <a:solidFill>
                  <a:srgbClr val="CC3300"/>
                </a:solidFill>
                <a:latin typeface="华文楷体" panose="02010600040101010101" pitchFamily="2" charset="-122"/>
                <a:ea typeface="华文楷体" panose="02010600040101010101" pitchFamily="2" charset="-122"/>
              </a:rPr>
              <a:t>/ 5 = 2.2</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46</a:t>
            </a:fld>
            <a:endParaRPr lang="zh-CN" altLang="en-US"/>
          </a:p>
        </p:txBody>
      </p:sp>
      <p:grpSp>
        <p:nvGrpSpPr>
          <p:cNvPr id="14" name="组合 13"/>
          <p:cNvGrpSpPr/>
          <p:nvPr/>
        </p:nvGrpSpPr>
        <p:grpSpPr>
          <a:xfrm>
            <a:off x="6526088" y="260648"/>
            <a:ext cx="2438400" cy="2286000"/>
            <a:chOff x="6400800" y="457200"/>
            <a:chExt cx="2438400" cy="2286000"/>
          </a:xfrm>
        </p:grpSpPr>
        <p:sp>
          <p:nvSpPr>
            <p:cNvPr id="5" name="Oval 7"/>
            <p:cNvSpPr>
              <a:spLocks noChangeArrowheads="1"/>
            </p:cNvSpPr>
            <p:nvPr/>
          </p:nvSpPr>
          <p:spPr bwMode="auto">
            <a:xfrm>
              <a:off x="6934200" y="914400"/>
              <a:ext cx="381000" cy="381000"/>
            </a:xfrm>
            <a:prstGeom prst="ellipse">
              <a:avLst/>
            </a:prstGeom>
            <a:solidFill>
              <a:srgbClr val="CCFFCC"/>
            </a:solidFill>
            <a:ln w="38100">
              <a:solidFill>
                <a:srgbClr val="00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b="1">
                  <a:solidFill>
                    <a:srgbClr val="006600"/>
                  </a:solidFill>
                  <a:latin typeface="Times New Roman" pitchFamily="18" charset="0"/>
                </a:rPr>
                <a:t>2</a:t>
              </a:r>
              <a:endParaRPr kumimoji="1" lang="en-US" altLang="zh-CN" sz="2400">
                <a:latin typeface="Times New Roman" pitchFamily="18" charset="0"/>
              </a:endParaRPr>
            </a:p>
          </p:txBody>
        </p:sp>
        <p:sp>
          <p:nvSpPr>
            <p:cNvPr id="6" name="Oval 8"/>
            <p:cNvSpPr>
              <a:spLocks noChangeArrowheads="1"/>
            </p:cNvSpPr>
            <p:nvPr/>
          </p:nvSpPr>
          <p:spPr bwMode="auto">
            <a:xfrm>
              <a:off x="6400800" y="457200"/>
              <a:ext cx="381000" cy="381000"/>
            </a:xfrm>
            <a:prstGeom prst="ellipse">
              <a:avLst/>
            </a:prstGeom>
            <a:solidFill>
              <a:srgbClr val="CCFFCC"/>
            </a:solidFill>
            <a:ln w="38100">
              <a:solidFill>
                <a:srgbClr val="00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b="1">
                  <a:solidFill>
                    <a:srgbClr val="006600"/>
                  </a:solidFill>
                  <a:latin typeface="Times New Roman" pitchFamily="18" charset="0"/>
                </a:rPr>
                <a:t>1</a:t>
              </a:r>
              <a:endParaRPr kumimoji="1" lang="en-US" altLang="zh-CN" sz="2400">
                <a:latin typeface="Times New Roman" pitchFamily="18" charset="0"/>
              </a:endParaRPr>
            </a:p>
          </p:txBody>
        </p:sp>
        <p:sp>
          <p:nvSpPr>
            <p:cNvPr id="7" name="Oval 9"/>
            <p:cNvSpPr>
              <a:spLocks noChangeArrowheads="1"/>
            </p:cNvSpPr>
            <p:nvPr/>
          </p:nvSpPr>
          <p:spPr bwMode="auto">
            <a:xfrm>
              <a:off x="7391400" y="1371600"/>
              <a:ext cx="381000" cy="381000"/>
            </a:xfrm>
            <a:prstGeom prst="ellipse">
              <a:avLst/>
            </a:prstGeom>
            <a:solidFill>
              <a:srgbClr val="CCFFCC"/>
            </a:solidFill>
            <a:ln w="38100">
              <a:solidFill>
                <a:srgbClr val="00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b="1">
                  <a:solidFill>
                    <a:srgbClr val="006600"/>
                  </a:solidFill>
                  <a:latin typeface="Times New Roman" pitchFamily="18" charset="0"/>
                </a:rPr>
                <a:t>3</a:t>
              </a:r>
              <a:endParaRPr kumimoji="1" lang="en-US" altLang="zh-CN" sz="2400">
                <a:latin typeface="Times New Roman" pitchFamily="18" charset="0"/>
              </a:endParaRPr>
            </a:p>
          </p:txBody>
        </p:sp>
        <p:sp>
          <p:nvSpPr>
            <p:cNvPr id="8" name="Oval 10"/>
            <p:cNvSpPr>
              <a:spLocks noChangeArrowheads="1"/>
            </p:cNvSpPr>
            <p:nvPr/>
          </p:nvSpPr>
          <p:spPr bwMode="auto">
            <a:xfrm>
              <a:off x="7924800" y="1828800"/>
              <a:ext cx="381000" cy="381000"/>
            </a:xfrm>
            <a:prstGeom prst="ellipse">
              <a:avLst/>
            </a:prstGeom>
            <a:solidFill>
              <a:srgbClr val="CCFFCC"/>
            </a:solidFill>
            <a:ln w="38100">
              <a:solidFill>
                <a:srgbClr val="00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b="1">
                  <a:solidFill>
                    <a:srgbClr val="006600"/>
                  </a:solidFill>
                  <a:latin typeface="Times New Roman" pitchFamily="18" charset="0"/>
                </a:rPr>
                <a:t>4</a:t>
              </a:r>
              <a:endParaRPr kumimoji="1" lang="en-US" altLang="zh-CN" sz="2400">
                <a:latin typeface="Times New Roman" pitchFamily="18" charset="0"/>
              </a:endParaRPr>
            </a:p>
          </p:txBody>
        </p:sp>
        <p:sp>
          <p:nvSpPr>
            <p:cNvPr id="9" name="Oval 11"/>
            <p:cNvSpPr>
              <a:spLocks noChangeArrowheads="1"/>
            </p:cNvSpPr>
            <p:nvPr/>
          </p:nvSpPr>
          <p:spPr bwMode="auto">
            <a:xfrm>
              <a:off x="8458200" y="2362200"/>
              <a:ext cx="381000" cy="381000"/>
            </a:xfrm>
            <a:prstGeom prst="ellipse">
              <a:avLst/>
            </a:prstGeom>
            <a:solidFill>
              <a:srgbClr val="CCFFCC"/>
            </a:solidFill>
            <a:ln w="38100">
              <a:solidFill>
                <a:srgbClr val="00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b="1">
                  <a:solidFill>
                    <a:srgbClr val="006600"/>
                  </a:solidFill>
                  <a:latin typeface="Times New Roman" pitchFamily="18" charset="0"/>
                </a:rPr>
                <a:t>5</a:t>
              </a:r>
              <a:endParaRPr kumimoji="1" lang="en-US" altLang="zh-CN" sz="2400">
                <a:latin typeface="Times New Roman" pitchFamily="18" charset="0"/>
              </a:endParaRPr>
            </a:p>
          </p:txBody>
        </p:sp>
        <p:sp>
          <p:nvSpPr>
            <p:cNvPr id="10" name="Line 12"/>
            <p:cNvSpPr>
              <a:spLocks noChangeShapeType="1"/>
            </p:cNvSpPr>
            <p:nvPr/>
          </p:nvSpPr>
          <p:spPr bwMode="auto">
            <a:xfrm>
              <a:off x="6705600" y="762000"/>
              <a:ext cx="304800" cy="228600"/>
            </a:xfrm>
            <a:prstGeom prst="line">
              <a:avLst/>
            </a:prstGeom>
            <a:noFill/>
            <a:ln w="38100">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Line 13"/>
            <p:cNvSpPr>
              <a:spLocks noChangeShapeType="1"/>
            </p:cNvSpPr>
            <p:nvPr/>
          </p:nvSpPr>
          <p:spPr bwMode="auto">
            <a:xfrm>
              <a:off x="7239000" y="1219200"/>
              <a:ext cx="304800" cy="228600"/>
            </a:xfrm>
            <a:prstGeom prst="line">
              <a:avLst/>
            </a:prstGeom>
            <a:noFill/>
            <a:ln w="38100">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Line 14"/>
            <p:cNvSpPr>
              <a:spLocks noChangeShapeType="1"/>
            </p:cNvSpPr>
            <p:nvPr/>
          </p:nvSpPr>
          <p:spPr bwMode="auto">
            <a:xfrm>
              <a:off x="7772400" y="1676400"/>
              <a:ext cx="304800" cy="228600"/>
            </a:xfrm>
            <a:prstGeom prst="line">
              <a:avLst/>
            </a:prstGeom>
            <a:noFill/>
            <a:ln w="38100">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Line 15"/>
            <p:cNvSpPr>
              <a:spLocks noChangeShapeType="1"/>
            </p:cNvSpPr>
            <p:nvPr/>
          </p:nvSpPr>
          <p:spPr bwMode="auto">
            <a:xfrm>
              <a:off x="8229600" y="2133600"/>
              <a:ext cx="304800" cy="228600"/>
            </a:xfrm>
            <a:prstGeom prst="line">
              <a:avLst/>
            </a:prstGeom>
            <a:noFill/>
            <a:ln w="38100">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4" name="组合 23"/>
          <p:cNvGrpSpPr/>
          <p:nvPr/>
        </p:nvGrpSpPr>
        <p:grpSpPr>
          <a:xfrm>
            <a:off x="6526088" y="4005064"/>
            <a:ext cx="2209800" cy="1905000"/>
            <a:chOff x="6629400" y="3810000"/>
            <a:chExt cx="2209800" cy="1905000"/>
          </a:xfrm>
        </p:grpSpPr>
        <p:sp>
          <p:nvSpPr>
            <p:cNvPr id="15" name="Oval 16"/>
            <p:cNvSpPr>
              <a:spLocks noChangeArrowheads="1"/>
            </p:cNvSpPr>
            <p:nvPr/>
          </p:nvSpPr>
          <p:spPr bwMode="auto">
            <a:xfrm>
              <a:off x="7543800" y="3810000"/>
              <a:ext cx="381000" cy="381000"/>
            </a:xfrm>
            <a:prstGeom prst="ellipse">
              <a:avLst/>
            </a:prstGeom>
            <a:solidFill>
              <a:srgbClr val="CCFFCC"/>
            </a:solidFill>
            <a:ln w="38100">
              <a:solidFill>
                <a:srgbClr val="00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b="1">
                  <a:solidFill>
                    <a:srgbClr val="006600"/>
                  </a:solidFill>
                  <a:latin typeface="Times New Roman" pitchFamily="18" charset="0"/>
                </a:rPr>
                <a:t>3</a:t>
              </a:r>
              <a:endParaRPr kumimoji="1" lang="en-US" altLang="zh-CN" sz="2400">
                <a:latin typeface="Times New Roman" pitchFamily="18" charset="0"/>
              </a:endParaRPr>
            </a:p>
          </p:txBody>
        </p:sp>
        <p:sp>
          <p:nvSpPr>
            <p:cNvPr id="16" name="Oval 17"/>
            <p:cNvSpPr>
              <a:spLocks noChangeArrowheads="1"/>
            </p:cNvSpPr>
            <p:nvPr/>
          </p:nvSpPr>
          <p:spPr bwMode="auto">
            <a:xfrm>
              <a:off x="8458200" y="4495800"/>
              <a:ext cx="381000" cy="381000"/>
            </a:xfrm>
            <a:prstGeom prst="ellipse">
              <a:avLst/>
            </a:prstGeom>
            <a:solidFill>
              <a:srgbClr val="CCFFCC"/>
            </a:solidFill>
            <a:ln w="38100">
              <a:solidFill>
                <a:srgbClr val="00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b="1">
                  <a:solidFill>
                    <a:srgbClr val="006600"/>
                  </a:solidFill>
                  <a:latin typeface="Times New Roman" pitchFamily="18" charset="0"/>
                </a:rPr>
                <a:t>5</a:t>
              </a:r>
              <a:endParaRPr kumimoji="1" lang="en-US" altLang="zh-CN" sz="2400">
                <a:latin typeface="Times New Roman" pitchFamily="18" charset="0"/>
              </a:endParaRPr>
            </a:p>
          </p:txBody>
        </p:sp>
        <p:sp>
          <p:nvSpPr>
            <p:cNvPr id="17" name="Oval 18"/>
            <p:cNvSpPr>
              <a:spLocks noChangeArrowheads="1"/>
            </p:cNvSpPr>
            <p:nvPr/>
          </p:nvSpPr>
          <p:spPr bwMode="auto">
            <a:xfrm>
              <a:off x="7924800" y="5334000"/>
              <a:ext cx="381000" cy="381000"/>
            </a:xfrm>
            <a:prstGeom prst="ellipse">
              <a:avLst/>
            </a:prstGeom>
            <a:solidFill>
              <a:srgbClr val="CCFFCC"/>
            </a:solidFill>
            <a:ln w="38100">
              <a:solidFill>
                <a:srgbClr val="00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b="1">
                  <a:solidFill>
                    <a:srgbClr val="006600"/>
                  </a:solidFill>
                  <a:latin typeface="Times New Roman" pitchFamily="18" charset="0"/>
                </a:rPr>
                <a:t>4</a:t>
              </a:r>
              <a:endParaRPr kumimoji="1" lang="en-US" altLang="zh-CN" sz="2400">
                <a:latin typeface="Times New Roman" pitchFamily="18" charset="0"/>
              </a:endParaRPr>
            </a:p>
          </p:txBody>
        </p:sp>
        <p:sp>
          <p:nvSpPr>
            <p:cNvPr id="18" name="Oval 19"/>
            <p:cNvSpPr>
              <a:spLocks noChangeArrowheads="1"/>
            </p:cNvSpPr>
            <p:nvPr/>
          </p:nvSpPr>
          <p:spPr bwMode="auto">
            <a:xfrm>
              <a:off x="6629400" y="4495800"/>
              <a:ext cx="381000" cy="381000"/>
            </a:xfrm>
            <a:prstGeom prst="ellipse">
              <a:avLst/>
            </a:prstGeom>
            <a:solidFill>
              <a:srgbClr val="CCFFCC"/>
            </a:solidFill>
            <a:ln w="38100">
              <a:solidFill>
                <a:srgbClr val="00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b="1">
                  <a:solidFill>
                    <a:srgbClr val="006600"/>
                  </a:solidFill>
                  <a:latin typeface="Times New Roman" pitchFamily="18" charset="0"/>
                </a:rPr>
                <a:t>1</a:t>
              </a:r>
              <a:endParaRPr kumimoji="1" lang="en-US" altLang="zh-CN" sz="2400">
                <a:latin typeface="Times New Roman" pitchFamily="18" charset="0"/>
              </a:endParaRPr>
            </a:p>
          </p:txBody>
        </p:sp>
        <p:sp>
          <p:nvSpPr>
            <p:cNvPr id="19" name="Oval 20"/>
            <p:cNvSpPr>
              <a:spLocks noChangeArrowheads="1"/>
            </p:cNvSpPr>
            <p:nvPr/>
          </p:nvSpPr>
          <p:spPr bwMode="auto">
            <a:xfrm>
              <a:off x="7162800" y="5334000"/>
              <a:ext cx="381000" cy="381000"/>
            </a:xfrm>
            <a:prstGeom prst="ellipse">
              <a:avLst/>
            </a:prstGeom>
            <a:solidFill>
              <a:srgbClr val="CCFFCC"/>
            </a:solidFill>
            <a:ln w="38100">
              <a:solidFill>
                <a:srgbClr val="00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b="1">
                  <a:solidFill>
                    <a:srgbClr val="006600"/>
                  </a:solidFill>
                  <a:latin typeface="Times New Roman" pitchFamily="18" charset="0"/>
                </a:rPr>
                <a:t>2</a:t>
              </a:r>
              <a:endParaRPr kumimoji="1" lang="en-US" altLang="zh-CN" sz="2400">
                <a:latin typeface="Times New Roman" pitchFamily="18" charset="0"/>
              </a:endParaRPr>
            </a:p>
          </p:txBody>
        </p:sp>
        <p:sp>
          <p:nvSpPr>
            <p:cNvPr id="20" name="Line 21"/>
            <p:cNvSpPr>
              <a:spLocks noChangeShapeType="1"/>
            </p:cNvSpPr>
            <p:nvPr/>
          </p:nvSpPr>
          <p:spPr bwMode="auto">
            <a:xfrm flipH="1">
              <a:off x="6858000" y="4038600"/>
              <a:ext cx="685800" cy="457200"/>
            </a:xfrm>
            <a:prstGeom prst="line">
              <a:avLst/>
            </a:prstGeom>
            <a:noFill/>
            <a:ln w="38100">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Line 22"/>
            <p:cNvSpPr>
              <a:spLocks noChangeShapeType="1"/>
            </p:cNvSpPr>
            <p:nvPr/>
          </p:nvSpPr>
          <p:spPr bwMode="auto">
            <a:xfrm>
              <a:off x="7924800" y="4038600"/>
              <a:ext cx="609600" cy="457200"/>
            </a:xfrm>
            <a:prstGeom prst="line">
              <a:avLst/>
            </a:prstGeom>
            <a:noFill/>
            <a:ln w="38100">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Line 23"/>
            <p:cNvSpPr>
              <a:spLocks noChangeShapeType="1"/>
            </p:cNvSpPr>
            <p:nvPr/>
          </p:nvSpPr>
          <p:spPr bwMode="auto">
            <a:xfrm>
              <a:off x="6858000" y="4876800"/>
              <a:ext cx="381000" cy="457200"/>
            </a:xfrm>
            <a:prstGeom prst="line">
              <a:avLst/>
            </a:prstGeom>
            <a:noFill/>
            <a:ln w="38100">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Line 24"/>
            <p:cNvSpPr>
              <a:spLocks noChangeShapeType="1"/>
            </p:cNvSpPr>
            <p:nvPr/>
          </p:nvSpPr>
          <p:spPr bwMode="auto">
            <a:xfrm flipH="1">
              <a:off x="8229600" y="4876800"/>
              <a:ext cx="304800" cy="457200"/>
            </a:xfrm>
            <a:prstGeom prst="line">
              <a:avLst/>
            </a:prstGeom>
            <a:noFill/>
            <a:ln w="38100">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5" name="TextBox 24"/>
          <p:cNvSpPr txBox="1"/>
          <p:nvPr/>
        </p:nvSpPr>
        <p:spPr>
          <a:xfrm>
            <a:off x="126787" y="4888567"/>
            <a:ext cx="5885373" cy="830997"/>
          </a:xfrm>
          <a:prstGeom prst="rect">
            <a:avLst/>
          </a:prstGeom>
          <a:noFill/>
        </p:spPr>
        <p:txBody>
          <a:bodyPr wrap="square" rtlCol="0">
            <a:spAutoFit/>
          </a:bodyPr>
          <a:lstStyle/>
          <a:p>
            <a:r>
              <a:rPr kumimoji="1" lang="zh-CN" altLang="en-US" sz="2400" b="1" dirty="0">
                <a:solidFill>
                  <a:schemeClr val="accent6">
                    <a:lumMod val="75000"/>
                  </a:schemeClr>
                </a:solidFill>
                <a:latin typeface="华文楷体" panose="02010600040101010101" pitchFamily="2" charset="-122"/>
                <a:ea typeface="华文楷体" panose="02010600040101010101" pitchFamily="2" charset="-122"/>
              </a:rPr>
              <a:t>树的形态与</a:t>
            </a:r>
            <a:r>
              <a:rPr kumimoji="1" lang="en-US" altLang="zh-CN" sz="2400" b="1" dirty="0">
                <a:solidFill>
                  <a:schemeClr val="accent6">
                    <a:lumMod val="75000"/>
                  </a:schemeClr>
                </a:solidFill>
                <a:latin typeface="华文楷体" panose="02010600040101010101" pitchFamily="2" charset="-122"/>
                <a:ea typeface="华文楷体" panose="02010600040101010101" pitchFamily="2" charset="-122"/>
              </a:rPr>
              <a:t>BST</a:t>
            </a:r>
            <a:r>
              <a:rPr kumimoji="1" lang="zh-CN" altLang="en-US" sz="2400" b="1" dirty="0">
                <a:solidFill>
                  <a:schemeClr val="accent6">
                    <a:lumMod val="75000"/>
                  </a:schemeClr>
                </a:solidFill>
                <a:latin typeface="华文楷体" panose="02010600040101010101" pitchFamily="2" charset="-122"/>
                <a:ea typeface="华文楷体" panose="02010600040101010101" pitchFamily="2" charset="-122"/>
              </a:rPr>
              <a:t>的插入顺序相关，并直接影响</a:t>
            </a:r>
            <a:r>
              <a:rPr kumimoji="1" lang="en-US" altLang="zh-CN" sz="2400" b="1" dirty="0">
                <a:solidFill>
                  <a:schemeClr val="accent6">
                    <a:lumMod val="75000"/>
                  </a:schemeClr>
                </a:solidFill>
                <a:latin typeface="华文楷体" panose="02010600040101010101" pitchFamily="2" charset="-122"/>
                <a:ea typeface="华文楷体" panose="02010600040101010101" pitchFamily="2" charset="-122"/>
              </a:rPr>
              <a:t>ASL</a:t>
            </a:r>
            <a:endParaRPr lang="en-US" b="1" dirty="0">
              <a:solidFill>
                <a:schemeClr val="accent6">
                  <a:lumMod val="75000"/>
                </a:schemeClr>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48491761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7170" name="Rectangle 2"/>
          <p:cNvSpPr>
            <a:spLocks noGrp="1" noChangeArrowheads="1"/>
          </p:cNvSpPr>
          <p:nvPr>
            <p:ph type="title"/>
          </p:nvPr>
        </p:nvSpPr>
        <p:spPr>
          <a:xfrm>
            <a:off x="42392" y="29296"/>
            <a:ext cx="8229600" cy="710679"/>
          </a:xfrm>
        </p:spPr>
        <p:txBody>
          <a:bodyPr>
            <a:normAutofit/>
          </a:bodyPr>
          <a:lstStyle/>
          <a:p>
            <a:pPr algn="l"/>
            <a:r>
              <a:rPr lang="en-US" altLang="en-US" sz="3200" dirty="0">
                <a:latin typeface="华文新魏" panose="02010800040101010101" pitchFamily="2" charset="-122"/>
                <a:ea typeface="华文新魏" panose="02010800040101010101" pitchFamily="2" charset="-122"/>
              </a:rPr>
              <a:t>BST</a:t>
            </a:r>
            <a:r>
              <a:rPr lang="zh-CN" altLang="en-US" sz="3200" dirty="0">
                <a:latin typeface="华文新魏" panose="02010800040101010101" pitchFamily="2" charset="-122"/>
                <a:ea typeface="华文新魏" panose="02010800040101010101" pitchFamily="2" charset="-122"/>
              </a:rPr>
              <a:t>上结点</a:t>
            </a:r>
            <a:r>
              <a:rPr lang="en-US" altLang="en-US" sz="3200" dirty="0" err="1">
                <a:latin typeface="华文新魏" panose="02010800040101010101" pitchFamily="2" charset="-122"/>
                <a:ea typeface="华文新魏" panose="02010800040101010101" pitchFamily="2" charset="-122"/>
              </a:rPr>
              <a:t>的删除</a:t>
            </a:r>
            <a:r>
              <a:rPr lang="en-US" altLang="en-US" sz="3200" dirty="0">
                <a:latin typeface="华文新魏" panose="02010800040101010101" pitchFamily="2" charset="-122"/>
                <a:ea typeface="华文新魏" panose="02010800040101010101" pitchFamily="2" charset="-122"/>
              </a:rPr>
              <a:t>-I</a:t>
            </a:r>
          </a:p>
        </p:txBody>
      </p:sp>
      <p:sp>
        <p:nvSpPr>
          <p:cNvPr id="6" name="内容占位符 5"/>
          <p:cNvSpPr>
            <a:spLocks noGrp="1"/>
          </p:cNvSpPr>
          <p:nvPr>
            <p:ph idx="1"/>
          </p:nvPr>
        </p:nvSpPr>
        <p:spPr>
          <a:xfrm>
            <a:off x="42392" y="814586"/>
            <a:ext cx="8814592" cy="4702645"/>
          </a:xfrm>
        </p:spPr>
        <p:txBody>
          <a:bodyPr>
            <a:normAutofit fontScale="92500" lnSpcReduction="10000"/>
          </a:bodyPr>
          <a:lstStyle/>
          <a:p>
            <a:r>
              <a:rPr lang="zh-CN" altLang="en-US" sz="2400" dirty="0">
                <a:latin typeface="华文楷体" panose="02010600040101010101" pitchFamily="2" charset="-122"/>
                <a:ea typeface="华文楷体" panose="02010600040101010101" pitchFamily="2" charset="-122"/>
              </a:rPr>
              <a:t>从</a:t>
            </a:r>
            <a:r>
              <a:rPr lang="en-US" altLang="en-US" sz="2400" dirty="0">
                <a:latin typeface="华文楷体" panose="02010600040101010101" pitchFamily="2" charset="-122"/>
                <a:ea typeface="华文楷体" panose="02010600040101010101" pitchFamily="2" charset="-122"/>
              </a:rPr>
              <a:t>BST</a:t>
            </a:r>
            <a:r>
              <a:rPr lang="zh-CN" altLang="en-US" sz="2400" dirty="0">
                <a:latin typeface="华文楷体" panose="02010600040101010101" pitchFamily="2" charset="-122"/>
                <a:ea typeface="华文楷体" panose="02010600040101010101" pitchFamily="2" charset="-122"/>
              </a:rPr>
              <a:t>上删除一个结点，需要保证删除结点后的树仍满足</a:t>
            </a:r>
            <a:r>
              <a:rPr lang="en-US" altLang="en-US" sz="2400" dirty="0">
                <a:latin typeface="华文楷体" panose="02010600040101010101" pitchFamily="2" charset="-122"/>
                <a:ea typeface="华文楷体" panose="02010600040101010101" pitchFamily="2" charset="-122"/>
              </a:rPr>
              <a:t>BST</a:t>
            </a:r>
            <a:r>
              <a:rPr lang="zh-CN" altLang="en-US" sz="2400" dirty="0">
                <a:latin typeface="华文楷体" panose="02010600040101010101" pitchFamily="2" charset="-122"/>
                <a:ea typeface="华文楷体" panose="02010600040101010101" pitchFamily="2" charset="-122"/>
              </a:rPr>
              <a:t>的性质</a:t>
            </a:r>
            <a:endParaRPr lang="en-US" altLang="zh-CN" sz="2400" dirty="0">
              <a:latin typeface="华文楷体" panose="02010600040101010101" pitchFamily="2" charset="-122"/>
              <a:ea typeface="华文楷体" panose="02010600040101010101" pitchFamily="2" charset="-122"/>
            </a:endParaRPr>
          </a:p>
          <a:p>
            <a:r>
              <a:rPr lang="zh-CN" altLang="en-US" sz="2400" dirty="0">
                <a:latin typeface="华文楷体" panose="02010600040101010101" pitchFamily="2" charset="-122"/>
                <a:ea typeface="华文楷体" panose="02010600040101010101" pitchFamily="2" charset="-122"/>
              </a:rPr>
              <a:t>设被删除结点为</a:t>
            </a:r>
            <a:r>
              <a:rPr lang="en-US" altLang="en-US" sz="2400" dirty="0">
                <a:latin typeface="华文楷体" panose="02010600040101010101" pitchFamily="2" charset="-122"/>
                <a:ea typeface="华文楷体" panose="02010600040101010101" pitchFamily="2" charset="-122"/>
              </a:rPr>
              <a:t>p</a:t>
            </a:r>
            <a:r>
              <a:rPr lang="zh-CN" altLang="en-US" sz="2400" dirty="0">
                <a:latin typeface="华文楷体" panose="02010600040101010101" pitchFamily="2" charset="-122"/>
                <a:ea typeface="华文楷体" panose="02010600040101010101" pitchFamily="2" charset="-122"/>
              </a:rPr>
              <a:t>，其父结点为</a:t>
            </a:r>
            <a:r>
              <a:rPr lang="en-US" altLang="en-US" sz="2400" dirty="0">
                <a:latin typeface="华文楷体" panose="02010600040101010101" pitchFamily="2" charset="-122"/>
                <a:ea typeface="华文楷体" panose="02010600040101010101" pitchFamily="2" charset="-122"/>
              </a:rPr>
              <a:t>f </a:t>
            </a:r>
            <a:r>
              <a:rPr lang="zh-CN" altLang="en-US" sz="2400" dirty="0">
                <a:latin typeface="华文楷体" panose="02010600040101010101" pitchFamily="2" charset="-122"/>
                <a:ea typeface="华文楷体" panose="02010600040101010101" pitchFamily="2" charset="-122"/>
              </a:rPr>
              <a:t>，分如下情况：</a:t>
            </a:r>
          </a:p>
          <a:p>
            <a:pPr lvl="1"/>
            <a:r>
              <a:rPr lang="zh-CN" altLang="en-US" sz="2400" dirty="0">
                <a:latin typeface="华文楷体" panose="02010600040101010101" pitchFamily="2" charset="-122"/>
                <a:ea typeface="华文楷体" panose="02010600040101010101" pitchFamily="2" charset="-122"/>
              </a:rPr>
              <a:t>若</a:t>
            </a:r>
            <a:r>
              <a:rPr lang="en-US" altLang="en-US" sz="2400" dirty="0">
                <a:latin typeface="华文楷体" panose="02010600040101010101" pitchFamily="2" charset="-122"/>
                <a:ea typeface="华文楷体" panose="02010600040101010101" pitchFamily="2" charset="-122"/>
              </a:rPr>
              <a:t>p</a:t>
            </a:r>
            <a:r>
              <a:rPr lang="zh-CN" altLang="en-US" sz="2400" dirty="0">
                <a:latin typeface="华文楷体" panose="02010600040101010101" pitchFamily="2" charset="-122"/>
                <a:ea typeface="华文楷体" panose="02010600040101010101" pitchFamily="2" charset="-122"/>
              </a:rPr>
              <a:t>是叶子结点： 直接</a:t>
            </a:r>
            <a:r>
              <a:rPr lang="zh-CN" altLang="en-US" sz="2400" dirty="0" smtClean="0">
                <a:latin typeface="华文楷体" panose="02010600040101010101" pitchFamily="2" charset="-122"/>
                <a:ea typeface="华文楷体" panose="02010600040101010101" pitchFamily="2" charset="-122"/>
              </a:rPr>
              <a:t>删除</a:t>
            </a:r>
            <a:endParaRPr lang="en-US" altLang="zh-CN" sz="2400" dirty="0" smtClean="0">
              <a:latin typeface="华文楷体" panose="02010600040101010101" pitchFamily="2" charset="-122"/>
              <a:ea typeface="华文楷体" panose="02010600040101010101" pitchFamily="2" charset="-122"/>
            </a:endParaRPr>
          </a:p>
          <a:p>
            <a:pPr lvl="1"/>
            <a:r>
              <a:rPr lang="zh-CN" altLang="en-US" sz="2400" dirty="0">
                <a:latin typeface="华文楷体" panose="02010600040101010101" pitchFamily="2" charset="-122"/>
                <a:ea typeface="华文楷体" panose="02010600040101010101" pitchFamily="2" charset="-122"/>
              </a:rPr>
              <a:t>若</a:t>
            </a:r>
            <a:r>
              <a:rPr lang="en-US" altLang="en-US" sz="2400" dirty="0">
                <a:latin typeface="华文楷体" panose="02010600040101010101" pitchFamily="2" charset="-122"/>
                <a:ea typeface="华文楷体" panose="02010600040101010101" pitchFamily="2" charset="-122"/>
              </a:rPr>
              <a:t>p</a:t>
            </a:r>
            <a:r>
              <a:rPr lang="zh-CN" altLang="en-US" sz="2400" dirty="0">
                <a:latin typeface="华文楷体" panose="02010600040101010101" pitchFamily="2" charset="-122"/>
                <a:ea typeface="华文楷体" panose="02010600040101010101" pitchFamily="2" charset="-122"/>
              </a:rPr>
              <a:t>只有一棵子树</a:t>
            </a:r>
            <a:r>
              <a:rPr lang="en-US" altLang="en-US"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左子树或右子树</a:t>
            </a:r>
            <a:r>
              <a:rPr lang="en-US" altLang="en-US"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：直接用</a:t>
            </a:r>
            <a:r>
              <a:rPr lang="en-US" altLang="en-US" sz="2400" dirty="0">
                <a:latin typeface="华文楷体" panose="02010600040101010101" pitchFamily="2" charset="-122"/>
                <a:ea typeface="华文楷体" panose="02010600040101010101" pitchFamily="2" charset="-122"/>
              </a:rPr>
              <a:t>p</a:t>
            </a:r>
            <a:r>
              <a:rPr lang="zh-CN" altLang="en-US" sz="2400" dirty="0">
                <a:latin typeface="华文楷体" panose="02010600040101010101" pitchFamily="2" charset="-122"/>
                <a:ea typeface="华文楷体" panose="02010600040101010101" pitchFamily="2" charset="-122"/>
              </a:rPr>
              <a:t>的左子树</a:t>
            </a:r>
            <a:r>
              <a:rPr lang="en-US" altLang="en-US"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或右子树</a:t>
            </a:r>
            <a:r>
              <a:rPr lang="en-US" altLang="en-US"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取代</a:t>
            </a:r>
            <a:r>
              <a:rPr lang="en-US" altLang="en-US" sz="2400" dirty="0">
                <a:latin typeface="华文楷体" panose="02010600040101010101" pitchFamily="2" charset="-122"/>
                <a:ea typeface="华文楷体" panose="02010600040101010101" pitchFamily="2" charset="-122"/>
              </a:rPr>
              <a:t>p</a:t>
            </a:r>
            <a:r>
              <a:rPr lang="zh-CN" altLang="en-US" sz="2400" dirty="0">
                <a:latin typeface="华文楷体" panose="02010600040101010101" pitchFamily="2" charset="-122"/>
                <a:ea typeface="华文楷体" panose="02010600040101010101" pitchFamily="2" charset="-122"/>
              </a:rPr>
              <a:t>的位置而成为</a:t>
            </a:r>
            <a:r>
              <a:rPr lang="en-US" altLang="en-US" sz="2400" dirty="0">
                <a:latin typeface="华文楷体" panose="02010600040101010101" pitchFamily="2" charset="-122"/>
                <a:ea typeface="华文楷体" panose="02010600040101010101" pitchFamily="2" charset="-122"/>
              </a:rPr>
              <a:t>f</a:t>
            </a:r>
            <a:r>
              <a:rPr lang="zh-CN" altLang="en-US" sz="2400" dirty="0">
                <a:latin typeface="华文楷体" panose="02010600040101010101" pitchFamily="2" charset="-122"/>
                <a:ea typeface="华文楷体" panose="02010600040101010101" pitchFamily="2" charset="-122"/>
              </a:rPr>
              <a:t>的一棵子</a:t>
            </a:r>
            <a:r>
              <a:rPr lang="zh-CN" altLang="en-US" sz="2400" dirty="0" smtClean="0">
                <a:latin typeface="华文楷体" panose="02010600040101010101" pitchFamily="2" charset="-122"/>
                <a:ea typeface="华文楷体" panose="02010600040101010101" pitchFamily="2" charset="-122"/>
              </a:rPr>
              <a:t>树</a:t>
            </a:r>
            <a:endParaRPr lang="en-US" altLang="zh-CN" sz="2400" dirty="0" smtClean="0">
              <a:latin typeface="华文楷体" panose="02010600040101010101" pitchFamily="2" charset="-122"/>
              <a:ea typeface="华文楷体" panose="02010600040101010101" pitchFamily="2" charset="-122"/>
            </a:endParaRPr>
          </a:p>
          <a:p>
            <a:pPr lvl="1" indent="511175">
              <a:buFont typeface="Wingdings" panose="05000000000000000000" pitchFamily="2" charset="2"/>
              <a:buChar char="Ø"/>
            </a:pPr>
            <a:r>
              <a:rPr lang="zh-CN" altLang="en-US" sz="2400" dirty="0" smtClean="0">
                <a:latin typeface="华文楷体" panose="02010600040101010101" pitchFamily="2" charset="-122"/>
                <a:ea typeface="华文楷体" panose="02010600040101010101" pitchFamily="2" charset="-122"/>
              </a:rPr>
              <a:t>原来</a:t>
            </a:r>
            <a:r>
              <a:rPr lang="en-US" altLang="en-US" sz="2400" b="1" dirty="0">
                <a:latin typeface="华文楷体" panose="02010600040101010101" pitchFamily="2" charset="-122"/>
                <a:ea typeface="华文楷体" panose="02010600040101010101" pitchFamily="2" charset="-122"/>
              </a:rPr>
              <a:t>p</a:t>
            </a:r>
            <a:r>
              <a:rPr lang="zh-CN" altLang="en-US" sz="2400" b="1" dirty="0">
                <a:latin typeface="华文楷体" panose="02010600040101010101" pitchFamily="2" charset="-122"/>
                <a:ea typeface="华文楷体" panose="02010600040101010101" pitchFamily="2" charset="-122"/>
              </a:rPr>
              <a:t>是</a:t>
            </a:r>
            <a:r>
              <a:rPr lang="en-US" altLang="en-US" sz="2400" b="1" dirty="0">
                <a:latin typeface="华文楷体" panose="02010600040101010101" pitchFamily="2" charset="-122"/>
                <a:ea typeface="华文楷体" panose="02010600040101010101" pitchFamily="2" charset="-122"/>
              </a:rPr>
              <a:t>f</a:t>
            </a:r>
            <a:r>
              <a:rPr lang="zh-CN" altLang="en-US" sz="2400" b="1" dirty="0">
                <a:latin typeface="华文楷体" panose="02010600040101010101" pitchFamily="2" charset="-122"/>
                <a:ea typeface="华文楷体" panose="02010600040101010101" pitchFamily="2" charset="-122"/>
              </a:rPr>
              <a:t>的左子树</a:t>
            </a:r>
            <a:r>
              <a:rPr lang="zh-CN" altLang="en-US" sz="2400" dirty="0">
                <a:latin typeface="华文楷体" panose="02010600040101010101" pitchFamily="2" charset="-122"/>
                <a:ea typeface="华文楷体" panose="02010600040101010101" pitchFamily="2" charset="-122"/>
              </a:rPr>
              <a:t>，则</a:t>
            </a:r>
            <a:r>
              <a:rPr lang="en-US" altLang="en-US" sz="2400" b="1" dirty="0">
                <a:solidFill>
                  <a:srgbClr val="6600CC"/>
                </a:solidFill>
                <a:latin typeface="华文楷体" panose="02010600040101010101" pitchFamily="2" charset="-122"/>
                <a:ea typeface="华文楷体" panose="02010600040101010101" pitchFamily="2" charset="-122"/>
              </a:rPr>
              <a:t>p</a:t>
            </a:r>
            <a:r>
              <a:rPr lang="zh-CN" altLang="en-US" sz="2400" b="1" dirty="0">
                <a:solidFill>
                  <a:srgbClr val="6600CC"/>
                </a:solidFill>
                <a:latin typeface="华文楷体" panose="02010600040101010101" pitchFamily="2" charset="-122"/>
                <a:ea typeface="华文楷体" panose="02010600040101010101" pitchFamily="2" charset="-122"/>
              </a:rPr>
              <a:t>的子树成为</a:t>
            </a:r>
            <a:r>
              <a:rPr lang="en-US" altLang="en-US" sz="2400" b="1" dirty="0">
                <a:solidFill>
                  <a:srgbClr val="6600CC"/>
                </a:solidFill>
                <a:latin typeface="华文楷体" panose="02010600040101010101" pitchFamily="2" charset="-122"/>
                <a:ea typeface="华文楷体" panose="02010600040101010101" pitchFamily="2" charset="-122"/>
              </a:rPr>
              <a:t>f</a:t>
            </a:r>
            <a:r>
              <a:rPr lang="zh-CN" altLang="en-US" sz="2400" b="1" dirty="0">
                <a:solidFill>
                  <a:srgbClr val="6600CC"/>
                </a:solidFill>
                <a:latin typeface="华文楷体" panose="02010600040101010101" pitchFamily="2" charset="-122"/>
                <a:ea typeface="华文楷体" panose="02010600040101010101" pitchFamily="2" charset="-122"/>
              </a:rPr>
              <a:t>的</a:t>
            </a:r>
            <a:r>
              <a:rPr lang="zh-CN" altLang="en-US" sz="2400" b="1" dirty="0" smtClean="0">
                <a:solidFill>
                  <a:srgbClr val="6600CC"/>
                </a:solidFill>
                <a:latin typeface="华文楷体" panose="02010600040101010101" pitchFamily="2" charset="-122"/>
                <a:ea typeface="华文楷体" panose="02010600040101010101" pitchFamily="2" charset="-122"/>
              </a:rPr>
              <a:t>左子树</a:t>
            </a:r>
            <a:endParaRPr lang="en-US" altLang="zh-CN" sz="2400" b="1" dirty="0" smtClean="0">
              <a:solidFill>
                <a:srgbClr val="6600CC"/>
              </a:solidFill>
              <a:latin typeface="华文楷体" panose="02010600040101010101" pitchFamily="2" charset="-122"/>
              <a:ea typeface="华文楷体" panose="02010600040101010101" pitchFamily="2" charset="-122"/>
            </a:endParaRPr>
          </a:p>
          <a:p>
            <a:pPr lvl="1" indent="511175">
              <a:buFont typeface="Wingdings" panose="05000000000000000000" pitchFamily="2" charset="2"/>
              <a:buChar char="Ø"/>
            </a:pPr>
            <a:r>
              <a:rPr lang="zh-CN" altLang="en-US" sz="2400" dirty="0">
                <a:latin typeface="华文楷体" panose="02010600040101010101" pitchFamily="2" charset="-122"/>
                <a:ea typeface="华文楷体" panose="02010600040101010101" pitchFamily="2" charset="-122"/>
              </a:rPr>
              <a:t>原来</a:t>
            </a:r>
            <a:r>
              <a:rPr lang="en-US" altLang="en-US" sz="2400" b="1" dirty="0">
                <a:latin typeface="华文楷体" panose="02010600040101010101" pitchFamily="2" charset="-122"/>
                <a:ea typeface="华文楷体" panose="02010600040101010101" pitchFamily="2" charset="-122"/>
              </a:rPr>
              <a:t>p</a:t>
            </a:r>
            <a:r>
              <a:rPr lang="zh-CN" altLang="en-US" sz="2400" b="1" dirty="0">
                <a:latin typeface="华文楷体" panose="02010600040101010101" pitchFamily="2" charset="-122"/>
                <a:ea typeface="华文楷体" panose="02010600040101010101" pitchFamily="2" charset="-122"/>
              </a:rPr>
              <a:t>是</a:t>
            </a:r>
            <a:r>
              <a:rPr lang="en-US" altLang="en-US" sz="2400" b="1" dirty="0">
                <a:latin typeface="华文楷体" panose="02010600040101010101" pitchFamily="2" charset="-122"/>
                <a:ea typeface="华文楷体" panose="02010600040101010101" pitchFamily="2" charset="-122"/>
              </a:rPr>
              <a:t>f</a:t>
            </a:r>
            <a:r>
              <a:rPr lang="zh-CN" altLang="en-US" sz="2400" b="1" dirty="0" smtClean="0">
                <a:latin typeface="华文楷体" panose="02010600040101010101" pitchFamily="2" charset="-122"/>
                <a:ea typeface="华文楷体" panose="02010600040101010101" pitchFamily="2" charset="-122"/>
              </a:rPr>
              <a:t>的右子</a:t>
            </a:r>
            <a:r>
              <a:rPr lang="zh-CN" altLang="en-US" sz="2400" b="1" dirty="0">
                <a:latin typeface="华文楷体" panose="02010600040101010101" pitchFamily="2" charset="-122"/>
                <a:ea typeface="华文楷体" panose="02010600040101010101" pitchFamily="2" charset="-122"/>
              </a:rPr>
              <a:t>树</a:t>
            </a:r>
            <a:r>
              <a:rPr lang="zh-CN" altLang="en-US" sz="2400" dirty="0">
                <a:latin typeface="华文楷体" panose="02010600040101010101" pitchFamily="2" charset="-122"/>
                <a:ea typeface="华文楷体" panose="02010600040101010101" pitchFamily="2" charset="-122"/>
              </a:rPr>
              <a:t>，则</a:t>
            </a:r>
            <a:r>
              <a:rPr lang="en-US" altLang="en-US" sz="2400" b="1" dirty="0">
                <a:solidFill>
                  <a:srgbClr val="6600CC"/>
                </a:solidFill>
                <a:latin typeface="华文楷体" panose="02010600040101010101" pitchFamily="2" charset="-122"/>
                <a:ea typeface="华文楷体" panose="02010600040101010101" pitchFamily="2" charset="-122"/>
              </a:rPr>
              <a:t>p</a:t>
            </a:r>
            <a:r>
              <a:rPr lang="zh-CN" altLang="en-US" sz="2400" b="1" dirty="0">
                <a:solidFill>
                  <a:srgbClr val="6600CC"/>
                </a:solidFill>
                <a:latin typeface="华文楷体" panose="02010600040101010101" pitchFamily="2" charset="-122"/>
                <a:ea typeface="华文楷体" panose="02010600040101010101" pitchFamily="2" charset="-122"/>
              </a:rPr>
              <a:t>的子树成为</a:t>
            </a:r>
            <a:r>
              <a:rPr lang="en-US" altLang="en-US" sz="2400" b="1" dirty="0">
                <a:solidFill>
                  <a:srgbClr val="6600CC"/>
                </a:solidFill>
                <a:latin typeface="华文楷体" panose="02010600040101010101" pitchFamily="2" charset="-122"/>
                <a:ea typeface="华文楷体" panose="02010600040101010101" pitchFamily="2" charset="-122"/>
              </a:rPr>
              <a:t>f</a:t>
            </a:r>
            <a:r>
              <a:rPr lang="zh-CN" altLang="en-US" sz="2400" b="1" dirty="0" smtClean="0">
                <a:solidFill>
                  <a:srgbClr val="6600CC"/>
                </a:solidFill>
                <a:latin typeface="华文楷体" panose="02010600040101010101" pitchFamily="2" charset="-122"/>
                <a:ea typeface="华文楷体" panose="02010600040101010101" pitchFamily="2" charset="-122"/>
              </a:rPr>
              <a:t>的右子</a:t>
            </a:r>
            <a:r>
              <a:rPr lang="zh-CN" altLang="en-US" sz="2400" b="1" dirty="0">
                <a:solidFill>
                  <a:srgbClr val="6600CC"/>
                </a:solidFill>
                <a:latin typeface="华文楷体" panose="02010600040101010101" pitchFamily="2" charset="-122"/>
                <a:ea typeface="华文楷体" panose="02010600040101010101" pitchFamily="2" charset="-122"/>
              </a:rPr>
              <a:t>树</a:t>
            </a:r>
            <a:endParaRPr lang="en-US" altLang="zh-CN" sz="2400" dirty="0">
              <a:latin typeface="华文楷体" panose="02010600040101010101" pitchFamily="2" charset="-122"/>
              <a:ea typeface="华文楷体" panose="02010600040101010101" pitchFamily="2" charset="-122"/>
            </a:endParaRPr>
          </a:p>
          <a:p>
            <a:pPr lvl="1"/>
            <a:r>
              <a:rPr lang="zh-CN" altLang="en-US" sz="2400" dirty="0">
                <a:latin typeface="华文楷体" panose="02010600040101010101" pitchFamily="2" charset="-122"/>
                <a:ea typeface="华文楷体" panose="02010600040101010101" pitchFamily="2" charset="-122"/>
              </a:rPr>
              <a:t>若</a:t>
            </a:r>
            <a:r>
              <a:rPr lang="en-US" altLang="en-US" sz="2400" dirty="0">
                <a:latin typeface="华文楷体" panose="02010600040101010101" pitchFamily="2" charset="-122"/>
                <a:ea typeface="华文楷体" panose="02010600040101010101" pitchFamily="2" charset="-122"/>
              </a:rPr>
              <a:t>p</a:t>
            </a:r>
            <a:r>
              <a:rPr lang="zh-CN" altLang="en-US" sz="2400" dirty="0">
                <a:latin typeface="华文楷体" panose="02010600040101010101" pitchFamily="2" charset="-122"/>
                <a:ea typeface="华文楷体" panose="02010600040101010101" pitchFamily="2" charset="-122"/>
              </a:rPr>
              <a:t>既有左子树又有右子树</a:t>
            </a:r>
            <a:endParaRPr lang="en-US" altLang="zh-CN" sz="2400" dirty="0">
              <a:latin typeface="华文楷体" panose="02010600040101010101" pitchFamily="2" charset="-122"/>
              <a:ea typeface="华文楷体" panose="02010600040101010101" pitchFamily="2" charset="-122"/>
            </a:endParaRPr>
          </a:p>
          <a:p>
            <a:pPr marL="1254125" lvl="1" indent="-534988">
              <a:buFont typeface="Wingdings" panose="05000000000000000000" pitchFamily="2" charset="2"/>
              <a:buChar char="Ø"/>
            </a:pPr>
            <a:r>
              <a:rPr lang="zh-CN" altLang="en-US" sz="2400" dirty="0">
                <a:latin typeface="华文楷体" panose="02010600040101010101" pitchFamily="2" charset="-122"/>
                <a:ea typeface="华文楷体" panose="02010600040101010101" pitchFamily="2" charset="-122"/>
              </a:rPr>
              <a:t>方法一：</a:t>
            </a:r>
            <a:r>
              <a:rPr lang="zh-CN" altLang="en-US" sz="2400" dirty="0">
                <a:solidFill>
                  <a:srgbClr val="6600CC"/>
                </a:solidFill>
                <a:latin typeface="华文楷体" panose="02010600040101010101" pitchFamily="2" charset="-122"/>
                <a:ea typeface="华文楷体" panose="02010600040101010101" pitchFamily="2" charset="-122"/>
              </a:rPr>
              <a:t>用</a:t>
            </a:r>
            <a:r>
              <a:rPr lang="en-US" altLang="en-US" sz="2400" dirty="0">
                <a:solidFill>
                  <a:srgbClr val="6600CC"/>
                </a:solidFill>
                <a:latin typeface="华文楷体" panose="02010600040101010101" pitchFamily="2" charset="-122"/>
                <a:ea typeface="华文楷体" panose="02010600040101010101" pitchFamily="2" charset="-122"/>
              </a:rPr>
              <a:t>p</a:t>
            </a:r>
            <a:r>
              <a:rPr lang="zh-CN" altLang="en-US" sz="2400" dirty="0">
                <a:solidFill>
                  <a:srgbClr val="6600CC"/>
                </a:solidFill>
                <a:latin typeface="华文楷体" panose="02010600040101010101" pitchFamily="2" charset="-122"/>
                <a:ea typeface="华文楷体" panose="02010600040101010101" pitchFamily="2" charset="-122"/>
              </a:rPr>
              <a:t>的直接前驱</a:t>
            </a:r>
            <a:r>
              <a:rPr lang="en-US" altLang="zh-CN" sz="2400" dirty="0">
                <a:solidFill>
                  <a:srgbClr val="6600CC"/>
                </a:solidFill>
                <a:latin typeface="华文楷体" panose="02010600040101010101" pitchFamily="2" charset="-122"/>
                <a:ea typeface="华文楷体" panose="02010600040101010101" pitchFamily="2" charset="-122"/>
              </a:rPr>
              <a:t>(</a:t>
            </a:r>
            <a:r>
              <a:rPr lang="zh-CN" altLang="en-US" sz="2400" dirty="0">
                <a:solidFill>
                  <a:srgbClr val="6600CC"/>
                </a:solidFill>
                <a:latin typeface="华文楷体" panose="02010600040101010101" pitchFamily="2" charset="-122"/>
                <a:ea typeface="华文楷体" panose="02010600040101010101" pitchFamily="2" charset="-122"/>
              </a:rPr>
              <a:t>或直接后继</a:t>
            </a:r>
            <a:r>
              <a:rPr lang="en-US" altLang="zh-CN" sz="2400" dirty="0">
                <a:solidFill>
                  <a:srgbClr val="6600CC"/>
                </a:solidFill>
                <a:latin typeface="华文楷体" panose="02010600040101010101" pitchFamily="2" charset="-122"/>
                <a:ea typeface="华文楷体" panose="02010600040101010101" pitchFamily="2" charset="-122"/>
              </a:rPr>
              <a:t>)</a:t>
            </a:r>
            <a:r>
              <a:rPr lang="zh-CN" altLang="en-US" sz="2400" dirty="0">
                <a:solidFill>
                  <a:srgbClr val="6600CC"/>
                </a:solidFill>
                <a:latin typeface="华文楷体" panose="02010600040101010101" pitchFamily="2" charset="-122"/>
                <a:ea typeface="华文楷体" panose="02010600040101010101" pitchFamily="2" charset="-122"/>
              </a:rPr>
              <a:t>结点</a:t>
            </a:r>
            <a:r>
              <a:rPr lang="en-US" altLang="zh-CN" sz="2400" dirty="0">
                <a:solidFill>
                  <a:srgbClr val="6600CC"/>
                </a:solidFill>
                <a:latin typeface="华文楷体" panose="02010600040101010101" pitchFamily="2" charset="-122"/>
                <a:ea typeface="华文楷体" panose="02010600040101010101" pitchFamily="2" charset="-122"/>
              </a:rPr>
              <a:t>s</a:t>
            </a:r>
            <a:r>
              <a:rPr lang="zh-CN" altLang="en-US" sz="2400" dirty="0">
                <a:solidFill>
                  <a:srgbClr val="6600CC"/>
                </a:solidFill>
                <a:latin typeface="华文楷体" panose="02010600040101010101" pitchFamily="2" charset="-122"/>
                <a:ea typeface="华文楷体" panose="02010600040101010101" pitchFamily="2" charset="-122"/>
              </a:rPr>
              <a:t>代替</a:t>
            </a:r>
            <a:r>
              <a:rPr lang="en-US" altLang="en-US" sz="2400" dirty="0">
                <a:solidFill>
                  <a:srgbClr val="6600CC"/>
                </a:solidFill>
                <a:latin typeface="华文楷体" panose="02010600040101010101" pitchFamily="2" charset="-122"/>
                <a:ea typeface="华文楷体" panose="02010600040101010101" pitchFamily="2" charset="-122"/>
              </a:rPr>
              <a:t>p</a:t>
            </a:r>
            <a:r>
              <a:rPr lang="zh-CN" altLang="en-US" sz="2400" dirty="0">
                <a:latin typeface="华文楷体" panose="02010600040101010101" pitchFamily="2" charset="-122"/>
                <a:ea typeface="华文楷体" panose="02010600040101010101" pitchFamily="2" charset="-122"/>
              </a:rPr>
              <a:t>，即从</a:t>
            </a:r>
            <a:r>
              <a:rPr lang="en-US" altLang="en-US" sz="2400" dirty="0">
                <a:latin typeface="华文楷体" panose="02010600040101010101" pitchFamily="2" charset="-122"/>
                <a:ea typeface="华文楷体" panose="02010600040101010101" pitchFamily="2" charset="-122"/>
              </a:rPr>
              <a:t>p</a:t>
            </a:r>
            <a:r>
              <a:rPr lang="zh-CN" altLang="en-US" sz="2400" dirty="0">
                <a:latin typeface="华文楷体" panose="02010600040101010101" pitchFamily="2" charset="-122"/>
                <a:ea typeface="华文楷体" panose="02010600040101010101" pitchFamily="2" charset="-122"/>
              </a:rPr>
              <a:t>的左子树中选择值最大的结点</a:t>
            </a:r>
            <a:r>
              <a:rPr lang="en-US" altLang="en-US" sz="2400" dirty="0">
                <a:latin typeface="华文楷体" panose="02010600040101010101" pitchFamily="2" charset="-122"/>
                <a:ea typeface="华文楷体" panose="02010600040101010101" pitchFamily="2" charset="-122"/>
              </a:rPr>
              <a:t>s</a:t>
            </a:r>
            <a:r>
              <a:rPr lang="zh-CN" altLang="en-US" sz="2400" dirty="0">
                <a:latin typeface="华文楷体" panose="02010600040101010101" pitchFamily="2" charset="-122"/>
                <a:ea typeface="华文楷体" panose="02010600040101010101" pitchFamily="2" charset="-122"/>
              </a:rPr>
              <a:t>放在</a:t>
            </a:r>
            <a:r>
              <a:rPr lang="en-US" altLang="en-US" sz="2400" dirty="0">
                <a:latin typeface="华文楷体" panose="02010600040101010101" pitchFamily="2" charset="-122"/>
                <a:ea typeface="华文楷体" panose="02010600040101010101" pitchFamily="2" charset="-122"/>
              </a:rPr>
              <a:t>p</a:t>
            </a:r>
            <a:r>
              <a:rPr lang="zh-CN" altLang="en-US" sz="2400" dirty="0">
                <a:latin typeface="华文楷体" panose="02010600040101010101" pitchFamily="2" charset="-122"/>
                <a:ea typeface="华文楷体" panose="02010600040101010101" pitchFamily="2" charset="-122"/>
              </a:rPr>
              <a:t>的位置</a:t>
            </a:r>
            <a:r>
              <a:rPr lang="en-US" altLang="en-US"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用结点</a:t>
            </a:r>
            <a:r>
              <a:rPr lang="en-US" altLang="en-US" sz="2400" dirty="0">
                <a:latin typeface="华文楷体" panose="02010600040101010101" pitchFamily="2" charset="-122"/>
                <a:ea typeface="华文楷体" panose="02010600040101010101" pitchFamily="2" charset="-122"/>
              </a:rPr>
              <a:t>s</a:t>
            </a:r>
            <a:r>
              <a:rPr lang="zh-CN" altLang="en-US" sz="2400" dirty="0">
                <a:latin typeface="华文楷体" panose="02010600040101010101" pitchFamily="2" charset="-122"/>
                <a:ea typeface="华文楷体" panose="02010600040101010101" pitchFamily="2" charset="-122"/>
              </a:rPr>
              <a:t>的内容替换结点</a:t>
            </a:r>
            <a:r>
              <a:rPr lang="en-US" altLang="en-US" sz="2400" dirty="0">
                <a:latin typeface="华文楷体" panose="02010600040101010101" pitchFamily="2" charset="-122"/>
                <a:ea typeface="华文楷体" panose="02010600040101010101" pitchFamily="2" charset="-122"/>
              </a:rPr>
              <a:t>p</a:t>
            </a:r>
            <a:r>
              <a:rPr lang="zh-CN" altLang="en-US" sz="2400" dirty="0">
                <a:latin typeface="华文楷体" panose="02010600040101010101" pitchFamily="2" charset="-122"/>
                <a:ea typeface="华文楷体" panose="02010600040101010101" pitchFamily="2" charset="-122"/>
              </a:rPr>
              <a:t>内容</a:t>
            </a:r>
            <a:r>
              <a:rPr lang="en-US" altLang="en-US"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a:t>
            </a:r>
            <a:r>
              <a:rPr lang="zh-CN" altLang="en-US" sz="2400" dirty="0">
                <a:solidFill>
                  <a:srgbClr val="6600CC"/>
                </a:solidFill>
                <a:latin typeface="华文楷体" panose="02010600040101010101" pitchFamily="2" charset="-122"/>
                <a:ea typeface="华文楷体" panose="02010600040101010101" pitchFamily="2" charset="-122"/>
              </a:rPr>
              <a:t>然后删除结点</a:t>
            </a:r>
            <a:r>
              <a:rPr lang="en-US" altLang="en-US" sz="2400" dirty="0">
                <a:solidFill>
                  <a:srgbClr val="6600CC"/>
                </a:solidFill>
                <a:latin typeface="华文楷体" panose="02010600040101010101" pitchFamily="2" charset="-122"/>
                <a:ea typeface="华文楷体" panose="02010600040101010101" pitchFamily="2" charset="-122"/>
              </a:rPr>
              <a:t>s</a:t>
            </a:r>
          </a:p>
          <a:p>
            <a:pPr marL="1254125" lvl="1" indent="-534988">
              <a:buFont typeface="Wingdings" panose="05000000000000000000" pitchFamily="2" charset="2"/>
              <a:buChar char="Ø"/>
            </a:pP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方法二：令</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p</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的左子树为</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f</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的左子树，而</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p</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的右子树为</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s</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的右子树，</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 s</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是</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p</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的左子树中的最右边的结点且没有右子树</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lvl="1"/>
            <a:endParaRPr lang="en-US" altLang="zh-CN" sz="2400" dirty="0">
              <a:latin typeface="华文楷体" panose="02010600040101010101" pitchFamily="2" charset="-122"/>
              <a:ea typeface="华文楷体" panose="02010600040101010101" pitchFamily="2" charset="-122"/>
            </a:endParaRPr>
          </a:p>
          <a:p>
            <a:pPr lvl="1"/>
            <a:endParaRPr lang="en-US" altLang="zh-CN" sz="2400" dirty="0" smtClean="0">
              <a:latin typeface="华文楷体" panose="02010600040101010101" pitchFamily="2" charset="-122"/>
              <a:ea typeface="华文楷体" panose="02010600040101010101" pitchFamily="2" charset="-122"/>
            </a:endParaRPr>
          </a:p>
          <a:p>
            <a:pPr lvl="1"/>
            <a:endParaRPr lang="en-US" altLang="zh-CN" sz="2400" dirty="0">
              <a:latin typeface="华文楷体" panose="02010600040101010101" pitchFamily="2" charset="-122"/>
              <a:ea typeface="华文楷体" panose="02010600040101010101" pitchFamily="2" charset="-122"/>
            </a:endParaRPr>
          </a:p>
          <a:p>
            <a:pPr lvl="1"/>
            <a:endParaRPr lang="en-US" altLang="zh-CN" sz="2400" dirty="0">
              <a:latin typeface="华文楷体" panose="02010600040101010101" pitchFamily="2" charset="-122"/>
              <a:ea typeface="华文楷体" panose="02010600040101010101" pitchFamily="2" charset="-122"/>
            </a:endParaRPr>
          </a:p>
          <a:p>
            <a:pPr lvl="1"/>
            <a:endParaRPr lang="en-US" altLang="zh-CN" sz="2400" dirty="0">
              <a:latin typeface="华文楷体" panose="02010600040101010101" pitchFamily="2" charset="-122"/>
              <a:ea typeface="华文楷体" panose="02010600040101010101" pitchFamily="2" charset="-122"/>
            </a:endParaRPr>
          </a:p>
        </p:txBody>
      </p:sp>
      <p:sp>
        <p:nvSpPr>
          <p:cNvPr id="2" name="灯片编号占位符 1"/>
          <p:cNvSpPr>
            <a:spLocks noGrp="1"/>
          </p:cNvSpPr>
          <p:nvPr>
            <p:ph type="sldNum" sz="quarter" idx="12"/>
          </p:nvPr>
        </p:nvSpPr>
        <p:spPr>
          <a:xfrm>
            <a:off x="8856984" y="6492875"/>
            <a:ext cx="395536" cy="365125"/>
          </a:xfrm>
        </p:spPr>
        <p:txBody>
          <a:bodyPr/>
          <a:lstStyle/>
          <a:p>
            <a:fld id="{0C913308-F349-4B6D-A68A-DD1791B4A57B}" type="slidenum">
              <a:rPr lang="zh-CN" altLang="en-US" smtClean="0"/>
              <a:pPr/>
              <a:t>47</a:t>
            </a:fld>
            <a:endParaRPr lang="zh-CN" altLang="en-US"/>
          </a:p>
        </p:txBody>
      </p:sp>
    </p:spTree>
    <p:extLst>
      <p:ext uri="{BB962C8B-B14F-4D97-AF65-F5344CB8AC3E}">
        <p14:creationId xmlns:p14="http://schemas.microsoft.com/office/powerpoint/2010/main" val="174179612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7170" name="Rectangle 2"/>
          <p:cNvSpPr>
            <a:spLocks noGrp="1" noChangeArrowheads="1"/>
          </p:cNvSpPr>
          <p:nvPr>
            <p:ph type="title"/>
          </p:nvPr>
        </p:nvSpPr>
        <p:spPr>
          <a:xfrm>
            <a:off x="42392" y="29296"/>
            <a:ext cx="8229600" cy="710679"/>
          </a:xfrm>
        </p:spPr>
        <p:txBody>
          <a:bodyPr>
            <a:normAutofit/>
          </a:bodyPr>
          <a:lstStyle/>
          <a:p>
            <a:pPr algn="l"/>
            <a:r>
              <a:rPr lang="en-US" altLang="en-US" sz="3200" dirty="0">
                <a:latin typeface="华文新魏" panose="02010800040101010101" pitchFamily="2" charset="-122"/>
                <a:ea typeface="华文新魏" panose="02010800040101010101" pitchFamily="2" charset="-122"/>
              </a:rPr>
              <a:t>BST</a:t>
            </a:r>
            <a:r>
              <a:rPr lang="zh-CN" altLang="en-US" sz="3200" dirty="0">
                <a:latin typeface="华文新魏" panose="02010800040101010101" pitchFamily="2" charset="-122"/>
                <a:ea typeface="华文新魏" panose="02010800040101010101" pitchFamily="2" charset="-122"/>
              </a:rPr>
              <a:t>上结点</a:t>
            </a:r>
            <a:r>
              <a:rPr lang="en-US" altLang="en-US" sz="3200" dirty="0" err="1" smtClean="0">
                <a:latin typeface="华文新魏" panose="02010800040101010101" pitchFamily="2" charset="-122"/>
                <a:ea typeface="华文新魏" panose="02010800040101010101" pitchFamily="2" charset="-122"/>
              </a:rPr>
              <a:t>的删除</a:t>
            </a:r>
            <a:endParaRPr lang="en-US" altLang="en-US" sz="3200" dirty="0">
              <a:latin typeface="华文新魏" panose="02010800040101010101" pitchFamily="2" charset="-122"/>
              <a:ea typeface="华文新魏" panose="02010800040101010101" pitchFamily="2" charset="-122"/>
            </a:endParaRPr>
          </a:p>
        </p:txBody>
      </p:sp>
      <p:sp>
        <p:nvSpPr>
          <p:cNvPr id="2" name="灯片编号占位符 1"/>
          <p:cNvSpPr>
            <a:spLocks noGrp="1"/>
          </p:cNvSpPr>
          <p:nvPr>
            <p:ph type="sldNum" sz="quarter" idx="12"/>
          </p:nvPr>
        </p:nvSpPr>
        <p:spPr>
          <a:xfrm>
            <a:off x="8856984" y="6492875"/>
            <a:ext cx="395536" cy="365125"/>
          </a:xfrm>
        </p:spPr>
        <p:txBody>
          <a:bodyPr/>
          <a:lstStyle/>
          <a:p>
            <a:fld id="{0C913308-F349-4B6D-A68A-DD1791B4A57B}" type="slidenum">
              <a:rPr lang="zh-CN" altLang="en-US" smtClean="0"/>
              <a:pPr/>
              <a:t>48</a:t>
            </a:fld>
            <a:endParaRPr lang="zh-CN" altLang="en-US"/>
          </a:p>
        </p:txBody>
      </p:sp>
      <p:grpSp>
        <p:nvGrpSpPr>
          <p:cNvPr id="13" name="Group 33"/>
          <p:cNvGrpSpPr>
            <a:grpSpLocks/>
          </p:cNvGrpSpPr>
          <p:nvPr/>
        </p:nvGrpSpPr>
        <p:grpSpPr bwMode="auto">
          <a:xfrm>
            <a:off x="539552" y="1052736"/>
            <a:ext cx="2738438" cy="2570163"/>
            <a:chOff x="0" y="0"/>
            <a:chExt cx="1725" cy="1619"/>
          </a:xfrm>
        </p:grpSpPr>
        <p:grpSp>
          <p:nvGrpSpPr>
            <p:cNvPr id="50" name="Group 34"/>
            <p:cNvGrpSpPr>
              <a:grpSpLocks/>
            </p:cNvGrpSpPr>
            <p:nvPr/>
          </p:nvGrpSpPr>
          <p:grpSpPr bwMode="auto">
            <a:xfrm>
              <a:off x="0" y="0"/>
              <a:ext cx="1725" cy="1304"/>
              <a:chOff x="0" y="0"/>
              <a:chExt cx="1725" cy="1304"/>
            </a:xfrm>
          </p:grpSpPr>
          <p:sp>
            <p:nvSpPr>
              <p:cNvPr id="52" name="Oval 35"/>
              <p:cNvSpPr>
                <a:spLocks noChangeArrowheads="1"/>
              </p:cNvSpPr>
              <p:nvPr/>
            </p:nvSpPr>
            <p:spPr bwMode="auto">
              <a:xfrm>
                <a:off x="672" y="0"/>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dirty="0">
                    <a:latin typeface="Times New Roman" pitchFamily="18" charset="0"/>
                  </a:rPr>
                  <a:t>12</a:t>
                </a:r>
              </a:p>
            </p:txBody>
          </p:sp>
          <p:sp>
            <p:nvSpPr>
              <p:cNvPr id="53" name="Oval 36"/>
              <p:cNvSpPr>
                <a:spLocks noChangeArrowheads="1"/>
              </p:cNvSpPr>
              <p:nvPr/>
            </p:nvSpPr>
            <p:spPr bwMode="auto">
              <a:xfrm>
                <a:off x="296" y="343"/>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8</a:t>
                </a:r>
              </a:p>
            </p:txBody>
          </p:sp>
          <p:sp>
            <p:nvSpPr>
              <p:cNvPr id="54" name="Oval 37"/>
              <p:cNvSpPr>
                <a:spLocks noChangeArrowheads="1"/>
              </p:cNvSpPr>
              <p:nvPr/>
            </p:nvSpPr>
            <p:spPr bwMode="auto">
              <a:xfrm>
                <a:off x="0" y="704"/>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6</a:t>
                </a:r>
              </a:p>
            </p:txBody>
          </p:sp>
          <p:sp>
            <p:nvSpPr>
              <p:cNvPr id="55" name="Oval 38"/>
              <p:cNvSpPr>
                <a:spLocks noChangeArrowheads="1"/>
              </p:cNvSpPr>
              <p:nvPr/>
            </p:nvSpPr>
            <p:spPr bwMode="auto">
              <a:xfrm>
                <a:off x="552" y="712"/>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10</a:t>
                </a:r>
              </a:p>
            </p:txBody>
          </p:sp>
          <p:sp>
            <p:nvSpPr>
              <p:cNvPr id="56" name="Oval 39"/>
              <p:cNvSpPr>
                <a:spLocks noChangeArrowheads="1"/>
              </p:cNvSpPr>
              <p:nvPr/>
            </p:nvSpPr>
            <p:spPr bwMode="auto">
              <a:xfrm>
                <a:off x="1056" y="328"/>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15</a:t>
                </a:r>
              </a:p>
            </p:txBody>
          </p:sp>
          <p:sp>
            <p:nvSpPr>
              <p:cNvPr id="57" name="Oval 40"/>
              <p:cNvSpPr>
                <a:spLocks noChangeArrowheads="1"/>
              </p:cNvSpPr>
              <p:nvPr/>
            </p:nvSpPr>
            <p:spPr bwMode="auto">
              <a:xfrm>
                <a:off x="1408" y="680"/>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19</a:t>
                </a:r>
              </a:p>
            </p:txBody>
          </p:sp>
          <p:sp>
            <p:nvSpPr>
              <p:cNvPr id="58" name="Line 41"/>
              <p:cNvSpPr>
                <a:spLocks noChangeShapeType="1"/>
              </p:cNvSpPr>
              <p:nvPr/>
            </p:nvSpPr>
            <p:spPr bwMode="auto">
              <a:xfrm flipH="1">
                <a:off x="552" y="200"/>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9" name="Line 42"/>
              <p:cNvSpPr>
                <a:spLocks noChangeShapeType="1"/>
              </p:cNvSpPr>
              <p:nvPr/>
            </p:nvSpPr>
            <p:spPr bwMode="auto">
              <a:xfrm>
                <a:off x="936" y="200"/>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0" name="Line 43"/>
              <p:cNvSpPr>
                <a:spLocks noChangeShapeType="1"/>
              </p:cNvSpPr>
              <p:nvPr/>
            </p:nvSpPr>
            <p:spPr bwMode="auto">
              <a:xfrm flipH="1">
                <a:off x="192" y="553"/>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1" name="Line 44"/>
              <p:cNvSpPr>
                <a:spLocks noChangeShapeType="1"/>
              </p:cNvSpPr>
              <p:nvPr/>
            </p:nvSpPr>
            <p:spPr bwMode="auto">
              <a:xfrm>
                <a:off x="504" y="569"/>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2" name="Line 45"/>
              <p:cNvSpPr>
                <a:spLocks noChangeShapeType="1"/>
              </p:cNvSpPr>
              <p:nvPr/>
            </p:nvSpPr>
            <p:spPr bwMode="auto">
              <a:xfrm>
                <a:off x="1323" y="537"/>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3" name="Oval 46"/>
              <p:cNvSpPr>
                <a:spLocks noChangeArrowheads="1"/>
              </p:cNvSpPr>
              <p:nvPr/>
            </p:nvSpPr>
            <p:spPr bwMode="auto">
              <a:xfrm>
                <a:off x="936" y="712"/>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13</a:t>
                </a:r>
              </a:p>
            </p:txBody>
          </p:sp>
          <p:sp>
            <p:nvSpPr>
              <p:cNvPr id="64" name="Line 47"/>
              <p:cNvSpPr>
                <a:spLocks noChangeShapeType="1"/>
              </p:cNvSpPr>
              <p:nvPr/>
            </p:nvSpPr>
            <p:spPr bwMode="auto">
              <a:xfrm flipH="1">
                <a:off x="1043" y="553"/>
                <a:ext cx="159"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5" name="Oval 48"/>
              <p:cNvSpPr>
                <a:spLocks noChangeArrowheads="1"/>
              </p:cNvSpPr>
              <p:nvPr/>
            </p:nvSpPr>
            <p:spPr bwMode="auto">
              <a:xfrm>
                <a:off x="1253" y="1071"/>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14</a:t>
                </a:r>
              </a:p>
            </p:txBody>
          </p:sp>
          <p:sp>
            <p:nvSpPr>
              <p:cNvPr id="66" name="Line 49"/>
              <p:cNvSpPr>
                <a:spLocks noChangeShapeType="1"/>
              </p:cNvSpPr>
              <p:nvPr/>
            </p:nvSpPr>
            <p:spPr bwMode="auto">
              <a:xfrm>
                <a:off x="1168" y="928"/>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7" name="Oval 50"/>
              <p:cNvSpPr>
                <a:spLocks noChangeArrowheads="1"/>
              </p:cNvSpPr>
              <p:nvPr/>
            </p:nvSpPr>
            <p:spPr bwMode="auto">
              <a:xfrm>
                <a:off x="275" y="1077"/>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9</a:t>
                </a:r>
              </a:p>
            </p:txBody>
          </p:sp>
          <p:sp>
            <p:nvSpPr>
              <p:cNvPr id="68" name="Line 51"/>
              <p:cNvSpPr>
                <a:spLocks noChangeShapeType="1"/>
              </p:cNvSpPr>
              <p:nvPr/>
            </p:nvSpPr>
            <p:spPr bwMode="auto">
              <a:xfrm flipH="1">
                <a:off x="467" y="926"/>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51" name="Rectangle 52"/>
            <p:cNvSpPr>
              <a:spLocks noChangeArrowheads="1"/>
            </p:cNvSpPr>
            <p:nvPr/>
          </p:nvSpPr>
          <p:spPr bwMode="auto">
            <a:xfrm>
              <a:off x="508" y="1392"/>
              <a:ext cx="884"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000" b="1" dirty="0">
                  <a:latin typeface="华文楷体" panose="02010600040101010101" pitchFamily="2" charset="-122"/>
                  <a:ea typeface="华文楷体" panose="02010600040101010101" pitchFamily="2" charset="-122"/>
                </a:rPr>
                <a:t>BST</a:t>
              </a:r>
              <a:r>
                <a:rPr lang="zh-CN" altLang="en-US" sz="2000" b="1" dirty="0">
                  <a:latin typeface="华文楷体" panose="02010600040101010101" pitchFamily="2" charset="-122"/>
                  <a:ea typeface="华文楷体" panose="02010600040101010101" pitchFamily="2" charset="-122"/>
                </a:rPr>
                <a:t>树</a:t>
              </a:r>
            </a:p>
          </p:txBody>
        </p:sp>
      </p:grpSp>
      <p:grpSp>
        <p:nvGrpSpPr>
          <p:cNvPr id="14" name="Group 53"/>
          <p:cNvGrpSpPr>
            <a:grpSpLocks/>
          </p:cNvGrpSpPr>
          <p:nvPr/>
        </p:nvGrpSpPr>
        <p:grpSpPr bwMode="auto">
          <a:xfrm>
            <a:off x="5364088" y="124565"/>
            <a:ext cx="2492375" cy="2590800"/>
            <a:chOff x="0" y="0"/>
            <a:chExt cx="1570" cy="1632"/>
          </a:xfrm>
        </p:grpSpPr>
        <p:grpSp>
          <p:nvGrpSpPr>
            <p:cNvPr id="33" name="Group 54"/>
            <p:cNvGrpSpPr>
              <a:grpSpLocks/>
            </p:cNvGrpSpPr>
            <p:nvPr/>
          </p:nvGrpSpPr>
          <p:grpSpPr bwMode="auto">
            <a:xfrm>
              <a:off x="0" y="0"/>
              <a:ext cx="1570" cy="1304"/>
              <a:chOff x="0" y="0"/>
              <a:chExt cx="1570" cy="1304"/>
            </a:xfrm>
          </p:grpSpPr>
          <p:sp>
            <p:nvSpPr>
              <p:cNvPr id="35" name="Oval 55"/>
              <p:cNvSpPr>
                <a:spLocks noChangeArrowheads="1"/>
              </p:cNvSpPr>
              <p:nvPr/>
            </p:nvSpPr>
            <p:spPr bwMode="auto">
              <a:xfrm>
                <a:off x="672" y="0"/>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12</a:t>
                </a:r>
              </a:p>
            </p:txBody>
          </p:sp>
          <p:sp>
            <p:nvSpPr>
              <p:cNvPr id="36" name="Oval 56"/>
              <p:cNvSpPr>
                <a:spLocks noChangeArrowheads="1"/>
              </p:cNvSpPr>
              <p:nvPr/>
            </p:nvSpPr>
            <p:spPr bwMode="auto">
              <a:xfrm>
                <a:off x="296" y="343"/>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8</a:t>
                </a:r>
              </a:p>
            </p:txBody>
          </p:sp>
          <p:sp>
            <p:nvSpPr>
              <p:cNvPr id="37" name="Oval 57"/>
              <p:cNvSpPr>
                <a:spLocks noChangeArrowheads="1"/>
              </p:cNvSpPr>
              <p:nvPr/>
            </p:nvSpPr>
            <p:spPr bwMode="auto">
              <a:xfrm>
                <a:off x="0" y="704"/>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6</a:t>
                </a:r>
              </a:p>
            </p:txBody>
          </p:sp>
          <p:sp>
            <p:nvSpPr>
              <p:cNvPr id="38" name="Oval 58"/>
              <p:cNvSpPr>
                <a:spLocks noChangeArrowheads="1"/>
              </p:cNvSpPr>
              <p:nvPr/>
            </p:nvSpPr>
            <p:spPr bwMode="auto">
              <a:xfrm>
                <a:off x="552" y="712"/>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10</a:t>
                </a:r>
              </a:p>
            </p:txBody>
          </p:sp>
          <p:sp>
            <p:nvSpPr>
              <p:cNvPr id="39" name="Oval 59"/>
              <p:cNvSpPr>
                <a:spLocks noChangeArrowheads="1"/>
              </p:cNvSpPr>
              <p:nvPr/>
            </p:nvSpPr>
            <p:spPr bwMode="auto">
              <a:xfrm>
                <a:off x="1056" y="328"/>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15</a:t>
                </a:r>
              </a:p>
            </p:txBody>
          </p:sp>
          <p:sp>
            <p:nvSpPr>
              <p:cNvPr id="40" name="Line 60"/>
              <p:cNvSpPr>
                <a:spLocks noChangeShapeType="1"/>
              </p:cNvSpPr>
              <p:nvPr/>
            </p:nvSpPr>
            <p:spPr bwMode="auto">
              <a:xfrm flipH="1">
                <a:off x="552" y="200"/>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 name="Line 61"/>
              <p:cNvSpPr>
                <a:spLocks noChangeShapeType="1"/>
              </p:cNvSpPr>
              <p:nvPr/>
            </p:nvSpPr>
            <p:spPr bwMode="auto">
              <a:xfrm>
                <a:off x="936" y="200"/>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 name="Line 62"/>
              <p:cNvSpPr>
                <a:spLocks noChangeShapeType="1"/>
              </p:cNvSpPr>
              <p:nvPr/>
            </p:nvSpPr>
            <p:spPr bwMode="auto">
              <a:xfrm flipH="1">
                <a:off x="192" y="553"/>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3" name="Line 63"/>
              <p:cNvSpPr>
                <a:spLocks noChangeShapeType="1"/>
              </p:cNvSpPr>
              <p:nvPr/>
            </p:nvSpPr>
            <p:spPr bwMode="auto">
              <a:xfrm>
                <a:off x="504" y="569"/>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4" name="Oval 64"/>
              <p:cNvSpPr>
                <a:spLocks noChangeArrowheads="1"/>
              </p:cNvSpPr>
              <p:nvPr/>
            </p:nvSpPr>
            <p:spPr bwMode="auto">
              <a:xfrm>
                <a:off x="936" y="712"/>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13</a:t>
                </a:r>
              </a:p>
            </p:txBody>
          </p:sp>
          <p:sp>
            <p:nvSpPr>
              <p:cNvPr id="45" name="Line 65"/>
              <p:cNvSpPr>
                <a:spLocks noChangeShapeType="1"/>
              </p:cNvSpPr>
              <p:nvPr/>
            </p:nvSpPr>
            <p:spPr bwMode="auto">
              <a:xfrm flipH="1">
                <a:off x="1043" y="553"/>
                <a:ext cx="159"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6" name="Oval 66"/>
              <p:cNvSpPr>
                <a:spLocks noChangeArrowheads="1"/>
              </p:cNvSpPr>
              <p:nvPr/>
            </p:nvSpPr>
            <p:spPr bwMode="auto">
              <a:xfrm>
                <a:off x="1253" y="1071"/>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14</a:t>
                </a:r>
              </a:p>
            </p:txBody>
          </p:sp>
          <p:sp>
            <p:nvSpPr>
              <p:cNvPr id="47" name="Line 67"/>
              <p:cNvSpPr>
                <a:spLocks noChangeShapeType="1"/>
              </p:cNvSpPr>
              <p:nvPr/>
            </p:nvSpPr>
            <p:spPr bwMode="auto">
              <a:xfrm>
                <a:off x="1168" y="928"/>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8" name="Oval 68"/>
              <p:cNvSpPr>
                <a:spLocks noChangeArrowheads="1"/>
              </p:cNvSpPr>
              <p:nvPr/>
            </p:nvSpPr>
            <p:spPr bwMode="auto">
              <a:xfrm>
                <a:off x="275" y="1077"/>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9</a:t>
                </a:r>
              </a:p>
            </p:txBody>
          </p:sp>
          <p:sp>
            <p:nvSpPr>
              <p:cNvPr id="49" name="Line 69"/>
              <p:cNvSpPr>
                <a:spLocks noChangeShapeType="1"/>
              </p:cNvSpPr>
              <p:nvPr/>
            </p:nvSpPr>
            <p:spPr bwMode="auto">
              <a:xfrm flipH="1">
                <a:off x="467" y="926"/>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34" name="Rectangle 70"/>
            <p:cNvSpPr>
              <a:spLocks noChangeArrowheads="1"/>
            </p:cNvSpPr>
            <p:nvPr/>
          </p:nvSpPr>
          <p:spPr bwMode="auto">
            <a:xfrm>
              <a:off x="285" y="1405"/>
              <a:ext cx="1179"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zh-CN" altLang="en-US" sz="2000" b="1" dirty="0">
                  <a:latin typeface="华文楷体" panose="02010600040101010101" pitchFamily="2" charset="-122"/>
                  <a:ea typeface="华文楷体" panose="02010600040101010101" pitchFamily="2" charset="-122"/>
                </a:rPr>
                <a:t>删除结点</a:t>
              </a:r>
              <a:r>
                <a:rPr lang="en-US" altLang="en-US" sz="2000" b="1" dirty="0">
                  <a:latin typeface="华文楷体" panose="02010600040101010101" pitchFamily="2" charset="-122"/>
                  <a:ea typeface="华文楷体" panose="02010600040101010101" pitchFamily="2" charset="-122"/>
                </a:rPr>
                <a:t>19</a:t>
              </a:r>
            </a:p>
          </p:txBody>
        </p:sp>
      </p:grpSp>
      <p:sp>
        <p:nvSpPr>
          <p:cNvPr id="16" name="AutoShape 87"/>
          <p:cNvSpPr>
            <a:spLocks noChangeArrowheads="1"/>
          </p:cNvSpPr>
          <p:nvPr/>
        </p:nvSpPr>
        <p:spPr bwMode="auto">
          <a:xfrm>
            <a:off x="4067944" y="808251"/>
            <a:ext cx="449263" cy="342899"/>
          </a:xfrm>
          <a:prstGeom prst="rightArrow">
            <a:avLst>
              <a:gd name="adj1" fmla="val 50000"/>
              <a:gd name="adj2"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endParaRPr lang="en-US" altLang="en-US" sz="1800">
              <a:latin typeface="Times New Roman" pitchFamily="18" charset="0"/>
            </a:endParaRPr>
          </a:p>
        </p:txBody>
      </p:sp>
      <p:sp>
        <p:nvSpPr>
          <p:cNvPr id="69" name="AutoShape 88"/>
          <p:cNvSpPr>
            <a:spLocks noChangeArrowheads="1"/>
          </p:cNvSpPr>
          <p:nvPr/>
        </p:nvSpPr>
        <p:spPr bwMode="auto">
          <a:xfrm>
            <a:off x="5845660" y="3350841"/>
            <a:ext cx="486470" cy="411881"/>
          </a:xfrm>
          <a:prstGeom prst="rightArrow">
            <a:avLst>
              <a:gd name="adj1" fmla="val 50000"/>
              <a:gd name="adj2"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endParaRPr lang="en-US" altLang="en-US" sz="1800">
              <a:latin typeface="Times New Roman" pitchFamily="18" charset="0"/>
            </a:endParaRPr>
          </a:p>
        </p:txBody>
      </p:sp>
      <p:grpSp>
        <p:nvGrpSpPr>
          <p:cNvPr id="70" name="组合 69"/>
          <p:cNvGrpSpPr/>
          <p:nvPr/>
        </p:nvGrpSpPr>
        <p:grpSpPr>
          <a:xfrm>
            <a:off x="6552505" y="2780928"/>
            <a:ext cx="2339975" cy="2493963"/>
            <a:chOff x="5391993" y="4247405"/>
            <a:chExt cx="2339975" cy="2493963"/>
          </a:xfrm>
        </p:grpSpPr>
        <p:sp>
          <p:nvSpPr>
            <p:cNvPr id="71" name="Oval 73"/>
            <p:cNvSpPr>
              <a:spLocks noChangeArrowheads="1"/>
            </p:cNvSpPr>
            <p:nvPr/>
          </p:nvSpPr>
          <p:spPr bwMode="auto">
            <a:xfrm>
              <a:off x="6458793" y="4247405"/>
              <a:ext cx="503238" cy="36036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12</a:t>
              </a:r>
            </a:p>
          </p:txBody>
        </p:sp>
        <p:sp>
          <p:nvSpPr>
            <p:cNvPr id="72" name="Oval 74"/>
            <p:cNvSpPr>
              <a:spLocks noChangeArrowheads="1"/>
            </p:cNvSpPr>
            <p:nvPr/>
          </p:nvSpPr>
          <p:spPr bwMode="auto">
            <a:xfrm>
              <a:off x="5861893" y="4791918"/>
              <a:ext cx="503238" cy="36036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8</a:t>
              </a:r>
            </a:p>
          </p:txBody>
        </p:sp>
        <p:sp>
          <p:nvSpPr>
            <p:cNvPr id="73" name="Oval 75"/>
            <p:cNvSpPr>
              <a:spLocks noChangeArrowheads="1"/>
            </p:cNvSpPr>
            <p:nvPr/>
          </p:nvSpPr>
          <p:spPr bwMode="auto">
            <a:xfrm>
              <a:off x="5391993" y="5365005"/>
              <a:ext cx="503238" cy="36036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6</a:t>
              </a:r>
            </a:p>
          </p:txBody>
        </p:sp>
        <p:sp>
          <p:nvSpPr>
            <p:cNvPr id="74" name="Oval 76"/>
            <p:cNvSpPr>
              <a:spLocks noChangeArrowheads="1"/>
            </p:cNvSpPr>
            <p:nvPr/>
          </p:nvSpPr>
          <p:spPr bwMode="auto">
            <a:xfrm>
              <a:off x="6268293" y="5377705"/>
              <a:ext cx="503238" cy="36036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10</a:t>
              </a:r>
            </a:p>
          </p:txBody>
        </p:sp>
        <p:sp>
          <p:nvSpPr>
            <p:cNvPr id="75" name="Oval 77"/>
            <p:cNvSpPr>
              <a:spLocks noChangeArrowheads="1"/>
            </p:cNvSpPr>
            <p:nvPr/>
          </p:nvSpPr>
          <p:spPr bwMode="auto">
            <a:xfrm>
              <a:off x="7068393" y="4768105"/>
              <a:ext cx="503238" cy="36036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15</a:t>
              </a:r>
            </a:p>
          </p:txBody>
        </p:sp>
        <p:sp>
          <p:nvSpPr>
            <p:cNvPr id="76" name="Line 78"/>
            <p:cNvSpPr>
              <a:spLocks noChangeShapeType="1"/>
            </p:cNvSpPr>
            <p:nvPr/>
          </p:nvSpPr>
          <p:spPr bwMode="auto">
            <a:xfrm flipH="1">
              <a:off x="6268293" y="4564905"/>
              <a:ext cx="287338" cy="2524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77" name="Line 79"/>
            <p:cNvSpPr>
              <a:spLocks noChangeShapeType="1"/>
            </p:cNvSpPr>
            <p:nvPr/>
          </p:nvSpPr>
          <p:spPr bwMode="auto">
            <a:xfrm>
              <a:off x="6877893" y="4564905"/>
              <a:ext cx="287338" cy="2524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78" name="Line 80"/>
            <p:cNvSpPr>
              <a:spLocks noChangeShapeType="1"/>
            </p:cNvSpPr>
            <p:nvPr/>
          </p:nvSpPr>
          <p:spPr bwMode="auto">
            <a:xfrm flipH="1">
              <a:off x="5696793" y="5125293"/>
              <a:ext cx="287338" cy="2524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79" name="Line 81"/>
            <p:cNvSpPr>
              <a:spLocks noChangeShapeType="1"/>
            </p:cNvSpPr>
            <p:nvPr/>
          </p:nvSpPr>
          <p:spPr bwMode="auto">
            <a:xfrm>
              <a:off x="6192093" y="5150693"/>
              <a:ext cx="287338" cy="2524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80" name="Oval 82"/>
            <p:cNvSpPr>
              <a:spLocks noChangeArrowheads="1"/>
            </p:cNvSpPr>
            <p:nvPr/>
          </p:nvSpPr>
          <p:spPr bwMode="auto">
            <a:xfrm>
              <a:off x="6877893" y="5377705"/>
              <a:ext cx="503238" cy="36036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14</a:t>
              </a:r>
            </a:p>
          </p:txBody>
        </p:sp>
        <p:sp>
          <p:nvSpPr>
            <p:cNvPr id="81" name="Line 83"/>
            <p:cNvSpPr>
              <a:spLocks noChangeShapeType="1"/>
            </p:cNvSpPr>
            <p:nvPr/>
          </p:nvSpPr>
          <p:spPr bwMode="auto">
            <a:xfrm flipH="1">
              <a:off x="7047756" y="5125293"/>
              <a:ext cx="252413" cy="2524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82" name="Rectangle 86"/>
            <p:cNvSpPr>
              <a:spLocks noChangeArrowheads="1"/>
            </p:cNvSpPr>
            <p:nvPr/>
          </p:nvSpPr>
          <p:spPr bwMode="auto">
            <a:xfrm>
              <a:off x="5826968" y="6381005"/>
              <a:ext cx="1905000"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zh-CN" altLang="en-US" sz="2000" b="1">
                  <a:latin typeface="Times New Roman" pitchFamily="18" charset="0"/>
                </a:rPr>
                <a:t>删除结点</a:t>
              </a:r>
              <a:r>
                <a:rPr lang="en-US" altLang="en-US" sz="2000" b="1">
                  <a:latin typeface="Times New Roman" pitchFamily="18" charset="0"/>
                </a:rPr>
                <a:t>13</a:t>
              </a:r>
            </a:p>
          </p:txBody>
        </p:sp>
        <p:sp>
          <p:nvSpPr>
            <p:cNvPr id="83" name="Oval 76"/>
            <p:cNvSpPr>
              <a:spLocks noChangeArrowheads="1"/>
            </p:cNvSpPr>
            <p:nvPr/>
          </p:nvSpPr>
          <p:spPr bwMode="auto">
            <a:xfrm>
              <a:off x="5813345" y="5890468"/>
              <a:ext cx="503238" cy="36036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9</a:t>
              </a:r>
            </a:p>
          </p:txBody>
        </p:sp>
        <p:sp>
          <p:nvSpPr>
            <p:cNvPr id="84" name="Line 80"/>
            <p:cNvSpPr>
              <a:spLocks noChangeShapeType="1"/>
            </p:cNvSpPr>
            <p:nvPr/>
          </p:nvSpPr>
          <p:spPr bwMode="auto">
            <a:xfrm flipH="1">
              <a:off x="6192092" y="5720604"/>
              <a:ext cx="173038" cy="2270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85" name="AutoShape 5"/>
          <p:cNvSpPr>
            <a:spLocks noChangeArrowheads="1"/>
          </p:cNvSpPr>
          <p:nvPr/>
        </p:nvSpPr>
        <p:spPr bwMode="auto">
          <a:xfrm>
            <a:off x="323528" y="5051473"/>
            <a:ext cx="690564" cy="463551"/>
          </a:xfrm>
          <a:prstGeom prst="rightArrow">
            <a:avLst>
              <a:gd name="adj1" fmla="val 50000"/>
              <a:gd name="adj2" fmla="val 7471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endParaRPr lang="en-US" altLang="en-US" sz="1800">
              <a:latin typeface="Times New Roman" pitchFamily="18" charset="0"/>
            </a:endParaRPr>
          </a:p>
        </p:txBody>
      </p:sp>
      <p:grpSp>
        <p:nvGrpSpPr>
          <p:cNvPr id="86" name="Group 20"/>
          <p:cNvGrpSpPr>
            <a:grpSpLocks/>
          </p:cNvGrpSpPr>
          <p:nvPr/>
        </p:nvGrpSpPr>
        <p:grpSpPr bwMode="auto">
          <a:xfrm>
            <a:off x="1370485" y="4580780"/>
            <a:ext cx="2579688" cy="2160588"/>
            <a:chOff x="0" y="0"/>
            <a:chExt cx="1625" cy="1361"/>
          </a:xfrm>
        </p:grpSpPr>
        <p:sp>
          <p:nvSpPr>
            <p:cNvPr id="87" name="Rectangle 21"/>
            <p:cNvSpPr>
              <a:spLocks noChangeArrowheads="1"/>
            </p:cNvSpPr>
            <p:nvPr/>
          </p:nvSpPr>
          <p:spPr bwMode="auto">
            <a:xfrm>
              <a:off x="203" y="1134"/>
              <a:ext cx="1200"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000" b="1" dirty="0">
                  <a:latin typeface="Times New Roman" pitchFamily="18" charset="0"/>
                </a:rPr>
                <a:t>(d</a:t>
              </a:r>
              <a:r>
                <a:rPr lang="en-US" altLang="en-US" sz="2000"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删除结点</a:t>
              </a:r>
              <a:r>
                <a:rPr lang="en-US" altLang="en-US" sz="2000" b="1" dirty="0">
                  <a:latin typeface="Times New Roman" panose="02020603050405020304" pitchFamily="18" charset="0"/>
                  <a:ea typeface="华文楷体" panose="02010600040101010101" pitchFamily="2" charset="-122"/>
                  <a:cs typeface="Times New Roman" panose="02020603050405020304" pitchFamily="18" charset="0"/>
                </a:rPr>
                <a:t>15</a:t>
              </a:r>
            </a:p>
          </p:txBody>
        </p:sp>
        <p:grpSp>
          <p:nvGrpSpPr>
            <p:cNvPr id="88" name="Group 22"/>
            <p:cNvGrpSpPr>
              <a:grpSpLocks/>
            </p:cNvGrpSpPr>
            <p:nvPr/>
          </p:nvGrpSpPr>
          <p:grpSpPr bwMode="auto">
            <a:xfrm>
              <a:off x="0" y="0"/>
              <a:ext cx="1625" cy="931"/>
              <a:chOff x="0" y="0"/>
              <a:chExt cx="1625" cy="931"/>
            </a:xfrm>
          </p:grpSpPr>
          <p:sp>
            <p:nvSpPr>
              <p:cNvPr id="89" name="Oval 23"/>
              <p:cNvSpPr>
                <a:spLocks noChangeArrowheads="1"/>
              </p:cNvSpPr>
              <p:nvPr/>
            </p:nvSpPr>
            <p:spPr bwMode="auto">
              <a:xfrm>
                <a:off x="672" y="0"/>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9</a:t>
                </a:r>
              </a:p>
            </p:txBody>
          </p:sp>
          <p:sp>
            <p:nvSpPr>
              <p:cNvPr id="90" name="Oval 24"/>
              <p:cNvSpPr>
                <a:spLocks noChangeArrowheads="1"/>
              </p:cNvSpPr>
              <p:nvPr/>
            </p:nvSpPr>
            <p:spPr bwMode="auto">
              <a:xfrm>
                <a:off x="296" y="343"/>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8</a:t>
                </a:r>
              </a:p>
            </p:txBody>
          </p:sp>
          <p:sp>
            <p:nvSpPr>
              <p:cNvPr id="91" name="Oval 25"/>
              <p:cNvSpPr>
                <a:spLocks noChangeArrowheads="1"/>
              </p:cNvSpPr>
              <p:nvPr/>
            </p:nvSpPr>
            <p:spPr bwMode="auto">
              <a:xfrm>
                <a:off x="0" y="704"/>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6</a:t>
                </a:r>
              </a:p>
            </p:txBody>
          </p:sp>
          <p:sp>
            <p:nvSpPr>
              <p:cNvPr id="92" name="Oval 26"/>
              <p:cNvSpPr>
                <a:spLocks noChangeArrowheads="1"/>
              </p:cNvSpPr>
              <p:nvPr/>
            </p:nvSpPr>
            <p:spPr bwMode="auto">
              <a:xfrm>
                <a:off x="1056" y="328"/>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13</a:t>
                </a:r>
              </a:p>
            </p:txBody>
          </p:sp>
          <p:sp>
            <p:nvSpPr>
              <p:cNvPr id="93" name="Line 27"/>
              <p:cNvSpPr>
                <a:spLocks noChangeShapeType="1"/>
              </p:cNvSpPr>
              <p:nvPr/>
            </p:nvSpPr>
            <p:spPr bwMode="auto">
              <a:xfrm flipH="1">
                <a:off x="552" y="200"/>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94" name="Line 28"/>
              <p:cNvSpPr>
                <a:spLocks noChangeShapeType="1"/>
              </p:cNvSpPr>
              <p:nvPr/>
            </p:nvSpPr>
            <p:spPr bwMode="auto">
              <a:xfrm>
                <a:off x="936" y="200"/>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95" name="Line 29"/>
              <p:cNvSpPr>
                <a:spLocks noChangeShapeType="1"/>
              </p:cNvSpPr>
              <p:nvPr/>
            </p:nvSpPr>
            <p:spPr bwMode="auto">
              <a:xfrm flipH="1">
                <a:off x="192" y="553"/>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96" name="Oval 30"/>
              <p:cNvSpPr>
                <a:spLocks noChangeArrowheads="1"/>
              </p:cNvSpPr>
              <p:nvPr/>
            </p:nvSpPr>
            <p:spPr bwMode="auto">
              <a:xfrm>
                <a:off x="1308" y="696"/>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14</a:t>
                </a:r>
              </a:p>
            </p:txBody>
          </p:sp>
          <p:sp>
            <p:nvSpPr>
              <p:cNvPr id="97" name="Line 31"/>
              <p:cNvSpPr>
                <a:spLocks noChangeShapeType="1"/>
              </p:cNvSpPr>
              <p:nvPr/>
            </p:nvSpPr>
            <p:spPr bwMode="auto">
              <a:xfrm>
                <a:off x="1283" y="539"/>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sp>
        <p:nvSpPr>
          <p:cNvPr id="98" name="AutoShape 88"/>
          <p:cNvSpPr>
            <a:spLocks noChangeArrowheads="1"/>
          </p:cNvSpPr>
          <p:nvPr/>
        </p:nvSpPr>
        <p:spPr bwMode="auto">
          <a:xfrm>
            <a:off x="4131816" y="5567708"/>
            <a:ext cx="482972" cy="364406"/>
          </a:xfrm>
          <a:prstGeom prst="rightArrow">
            <a:avLst>
              <a:gd name="adj1" fmla="val 50000"/>
              <a:gd name="adj2"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endParaRPr lang="en-US" altLang="en-US" sz="1800">
              <a:latin typeface="Times New Roman" pitchFamily="18" charset="0"/>
            </a:endParaRPr>
          </a:p>
        </p:txBody>
      </p:sp>
      <p:grpSp>
        <p:nvGrpSpPr>
          <p:cNvPr id="99" name="Group 6"/>
          <p:cNvGrpSpPr>
            <a:grpSpLocks/>
          </p:cNvGrpSpPr>
          <p:nvPr/>
        </p:nvGrpSpPr>
        <p:grpSpPr bwMode="auto">
          <a:xfrm>
            <a:off x="5237088" y="4839914"/>
            <a:ext cx="2581275" cy="2046288"/>
            <a:chOff x="0" y="0"/>
            <a:chExt cx="1626" cy="1289"/>
          </a:xfrm>
        </p:grpSpPr>
        <p:sp>
          <p:nvSpPr>
            <p:cNvPr id="100" name="Rectangle 7"/>
            <p:cNvSpPr>
              <a:spLocks noChangeArrowheads="1"/>
            </p:cNvSpPr>
            <p:nvPr/>
          </p:nvSpPr>
          <p:spPr bwMode="auto">
            <a:xfrm>
              <a:off x="27" y="1062"/>
              <a:ext cx="1200"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删除结点</a:t>
              </a:r>
              <a:r>
                <a:rPr lang="en-US" altLang="en-US" sz="2000" b="1" dirty="0">
                  <a:latin typeface="Times New Roman" panose="02020603050405020304" pitchFamily="18" charset="0"/>
                  <a:ea typeface="华文楷体" panose="02010600040101010101" pitchFamily="2" charset="-122"/>
                  <a:cs typeface="Times New Roman" panose="02020603050405020304" pitchFamily="18" charset="0"/>
                </a:rPr>
                <a:t>12</a:t>
              </a:r>
            </a:p>
          </p:txBody>
        </p:sp>
        <p:grpSp>
          <p:nvGrpSpPr>
            <p:cNvPr id="101" name="Group 8"/>
            <p:cNvGrpSpPr>
              <a:grpSpLocks/>
            </p:cNvGrpSpPr>
            <p:nvPr/>
          </p:nvGrpSpPr>
          <p:grpSpPr bwMode="auto">
            <a:xfrm>
              <a:off x="0" y="0"/>
              <a:ext cx="1626" cy="1258"/>
              <a:chOff x="0" y="0"/>
              <a:chExt cx="1626" cy="1258"/>
            </a:xfrm>
          </p:grpSpPr>
          <p:sp>
            <p:nvSpPr>
              <p:cNvPr id="102" name="Oval 9"/>
              <p:cNvSpPr>
                <a:spLocks noChangeArrowheads="1"/>
              </p:cNvSpPr>
              <p:nvPr/>
            </p:nvSpPr>
            <p:spPr bwMode="auto">
              <a:xfrm>
                <a:off x="656" y="0"/>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9</a:t>
                </a:r>
              </a:p>
            </p:txBody>
          </p:sp>
          <p:sp>
            <p:nvSpPr>
              <p:cNvPr id="103" name="Oval 10"/>
              <p:cNvSpPr>
                <a:spLocks noChangeArrowheads="1"/>
              </p:cNvSpPr>
              <p:nvPr/>
            </p:nvSpPr>
            <p:spPr bwMode="auto">
              <a:xfrm>
                <a:off x="296" y="343"/>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8</a:t>
                </a:r>
              </a:p>
            </p:txBody>
          </p:sp>
          <p:sp>
            <p:nvSpPr>
              <p:cNvPr id="104" name="Oval 11"/>
              <p:cNvSpPr>
                <a:spLocks noChangeArrowheads="1"/>
              </p:cNvSpPr>
              <p:nvPr/>
            </p:nvSpPr>
            <p:spPr bwMode="auto">
              <a:xfrm>
                <a:off x="0" y="704"/>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6</a:t>
                </a:r>
              </a:p>
            </p:txBody>
          </p:sp>
          <p:sp>
            <p:nvSpPr>
              <p:cNvPr id="105" name="Oval 12"/>
              <p:cNvSpPr>
                <a:spLocks noChangeArrowheads="1"/>
              </p:cNvSpPr>
              <p:nvPr/>
            </p:nvSpPr>
            <p:spPr bwMode="auto">
              <a:xfrm>
                <a:off x="1032" y="328"/>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15</a:t>
                </a:r>
              </a:p>
            </p:txBody>
          </p:sp>
          <p:sp>
            <p:nvSpPr>
              <p:cNvPr id="106" name="Line 13"/>
              <p:cNvSpPr>
                <a:spLocks noChangeShapeType="1"/>
              </p:cNvSpPr>
              <p:nvPr/>
            </p:nvSpPr>
            <p:spPr bwMode="auto">
              <a:xfrm flipH="1">
                <a:off x="536" y="200"/>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7" name="Line 14"/>
              <p:cNvSpPr>
                <a:spLocks noChangeShapeType="1"/>
              </p:cNvSpPr>
              <p:nvPr/>
            </p:nvSpPr>
            <p:spPr bwMode="auto">
              <a:xfrm>
                <a:off x="912" y="200"/>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8" name="Line 15"/>
              <p:cNvSpPr>
                <a:spLocks noChangeShapeType="1"/>
              </p:cNvSpPr>
              <p:nvPr/>
            </p:nvSpPr>
            <p:spPr bwMode="auto">
              <a:xfrm flipH="1">
                <a:off x="192" y="553"/>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9" name="Oval 16"/>
              <p:cNvSpPr>
                <a:spLocks noChangeArrowheads="1"/>
              </p:cNvSpPr>
              <p:nvPr/>
            </p:nvSpPr>
            <p:spPr bwMode="auto">
              <a:xfrm>
                <a:off x="920" y="712"/>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13</a:t>
                </a:r>
              </a:p>
            </p:txBody>
          </p:sp>
          <p:sp>
            <p:nvSpPr>
              <p:cNvPr id="110" name="Line 17"/>
              <p:cNvSpPr>
                <a:spLocks noChangeShapeType="1"/>
              </p:cNvSpPr>
              <p:nvPr/>
            </p:nvSpPr>
            <p:spPr bwMode="auto">
              <a:xfrm flipH="1">
                <a:off x="1027" y="553"/>
                <a:ext cx="159"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11" name="Oval 18"/>
              <p:cNvSpPr>
                <a:spLocks noChangeArrowheads="1"/>
              </p:cNvSpPr>
              <p:nvPr/>
            </p:nvSpPr>
            <p:spPr bwMode="auto">
              <a:xfrm>
                <a:off x="1309" y="1031"/>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14</a:t>
                </a:r>
              </a:p>
            </p:txBody>
          </p:sp>
          <p:sp>
            <p:nvSpPr>
              <p:cNvPr id="112" name="Line 19"/>
              <p:cNvSpPr>
                <a:spLocks noChangeShapeType="1"/>
              </p:cNvSpPr>
              <p:nvPr/>
            </p:nvSpPr>
            <p:spPr bwMode="auto">
              <a:xfrm>
                <a:off x="1189" y="903"/>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spTree>
    <p:extLst>
      <p:ext uri="{BB962C8B-B14F-4D97-AF65-F5344CB8AC3E}">
        <p14:creationId xmlns:p14="http://schemas.microsoft.com/office/powerpoint/2010/main" val="2050643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69" grpId="0" animBg="1"/>
      <p:bldP spid="85" grpId="0" animBg="1"/>
      <p:bldP spid="98"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标题 20"/>
          <p:cNvSpPr>
            <a:spLocks noGrp="1"/>
          </p:cNvSpPr>
          <p:nvPr>
            <p:ph type="title"/>
          </p:nvPr>
        </p:nvSpPr>
        <p:spPr>
          <a:xfrm>
            <a:off x="53058" y="21796"/>
            <a:ext cx="8229600" cy="759781"/>
          </a:xfrm>
        </p:spPr>
        <p:txBody>
          <a:bodyPr>
            <a:normAutofit/>
          </a:bodyPr>
          <a:lstStyle/>
          <a:p>
            <a:pPr algn="l"/>
            <a:r>
              <a:rPr lang="en-US" altLang="en-US" sz="3200" dirty="0">
                <a:latin typeface="华文新魏" panose="02010800040101010101" pitchFamily="2" charset="-122"/>
                <a:ea typeface="华文新魏" panose="02010800040101010101" pitchFamily="2" charset="-122"/>
              </a:rPr>
              <a:t>BST</a:t>
            </a:r>
            <a:r>
              <a:rPr lang="zh-CN" altLang="en-US" sz="3200" dirty="0">
                <a:latin typeface="华文新魏" panose="02010800040101010101" pitchFamily="2" charset="-122"/>
                <a:ea typeface="华文新魏" panose="02010800040101010101" pitchFamily="2" charset="-122"/>
              </a:rPr>
              <a:t>上结点</a:t>
            </a:r>
            <a:r>
              <a:rPr lang="en-US" altLang="en-US" sz="3200" dirty="0" err="1">
                <a:latin typeface="华文新魏" panose="02010800040101010101" pitchFamily="2" charset="-122"/>
                <a:ea typeface="华文新魏" panose="02010800040101010101" pitchFamily="2" charset="-122"/>
              </a:rPr>
              <a:t>的删除</a:t>
            </a:r>
            <a:r>
              <a:rPr lang="en-US" altLang="en-US" sz="3200" dirty="0">
                <a:latin typeface="华文新魏" panose="02010800040101010101" pitchFamily="2" charset="-122"/>
                <a:ea typeface="华文新魏" panose="02010800040101010101" pitchFamily="2" charset="-122"/>
              </a:rPr>
              <a:t>-II</a:t>
            </a:r>
            <a:endParaRPr lang="zh-CN" altLang="en-US" sz="3200" dirty="0">
              <a:latin typeface="华文新魏" panose="02010800040101010101" pitchFamily="2" charset="-122"/>
              <a:ea typeface="华文新魏" panose="02010800040101010101" pitchFamily="2" charset="-122"/>
            </a:endParaRPr>
          </a:p>
        </p:txBody>
      </p:sp>
      <p:sp>
        <p:nvSpPr>
          <p:cNvPr id="3" name="内容占位符 2"/>
          <p:cNvSpPr>
            <a:spLocks noGrp="1"/>
          </p:cNvSpPr>
          <p:nvPr>
            <p:ph idx="1"/>
          </p:nvPr>
        </p:nvSpPr>
        <p:spPr>
          <a:xfrm>
            <a:off x="147908" y="947356"/>
            <a:ext cx="8229600" cy="1905580"/>
          </a:xfrm>
        </p:spPr>
        <p:txBody>
          <a:bodyPr/>
          <a:lstStyle/>
          <a:p>
            <a:r>
              <a:rPr lang="zh-CN" altLang="en-US" sz="2400" dirty="0">
                <a:latin typeface="华文楷体" panose="02010600040101010101" pitchFamily="2" charset="-122"/>
                <a:ea typeface="华文楷体" panose="02010600040101010101" pitchFamily="2" charset="-122"/>
              </a:rPr>
              <a:t>若</a:t>
            </a:r>
            <a:r>
              <a:rPr lang="en-US" altLang="en-US" sz="2400" dirty="0">
                <a:latin typeface="华文楷体" panose="02010600040101010101" pitchFamily="2" charset="-122"/>
                <a:ea typeface="华文楷体" panose="02010600040101010101" pitchFamily="2" charset="-122"/>
              </a:rPr>
              <a:t>p</a:t>
            </a:r>
            <a:r>
              <a:rPr lang="zh-CN" altLang="en-US" sz="2400" dirty="0">
                <a:latin typeface="华文楷体" panose="02010600040101010101" pitchFamily="2" charset="-122"/>
                <a:ea typeface="华文楷体" panose="02010600040101010101" pitchFamily="2" charset="-122"/>
              </a:rPr>
              <a:t>只有一棵子树</a:t>
            </a:r>
            <a:r>
              <a:rPr lang="en-US" altLang="en-US"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左子树或右子树</a:t>
            </a:r>
            <a:r>
              <a:rPr lang="en-US" altLang="en-US"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：直接用</a:t>
            </a:r>
            <a:r>
              <a:rPr lang="en-US" altLang="en-US" sz="2400" dirty="0">
                <a:latin typeface="华文楷体" panose="02010600040101010101" pitchFamily="2" charset="-122"/>
                <a:ea typeface="华文楷体" panose="02010600040101010101" pitchFamily="2" charset="-122"/>
              </a:rPr>
              <a:t>p</a:t>
            </a:r>
            <a:r>
              <a:rPr lang="zh-CN" altLang="en-US" sz="2400" dirty="0">
                <a:latin typeface="华文楷体" panose="02010600040101010101" pitchFamily="2" charset="-122"/>
                <a:ea typeface="华文楷体" panose="02010600040101010101" pitchFamily="2" charset="-122"/>
              </a:rPr>
              <a:t>的左子树</a:t>
            </a:r>
            <a:r>
              <a:rPr lang="en-US" altLang="en-US"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或右子树</a:t>
            </a:r>
            <a:r>
              <a:rPr lang="en-US" altLang="en-US"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取代</a:t>
            </a:r>
            <a:r>
              <a:rPr lang="en-US" altLang="en-US" sz="2400" dirty="0">
                <a:latin typeface="华文楷体" panose="02010600040101010101" pitchFamily="2" charset="-122"/>
                <a:ea typeface="华文楷体" panose="02010600040101010101" pitchFamily="2" charset="-122"/>
              </a:rPr>
              <a:t>p</a:t>
            </a:r>
            <a:r>
              <a:rPr lang="zh-CN" altLang="en-US" sz="2400" dirty="0">
                <a:latin typeface="华文楷体" panose="02010600040101010101" pitchFamily="2" charset="-122"/>
                <a:ea typeface="华文楷体" panose="02010600040101010101" pitchFamily="2" charset="-122"/>
              </a:rPr>
              <a:t>的位置而成为</a:t>
            </a:r>
            <a:r>
              <a:rPr lang="en-US" altLang="en-US" sz="2400" dirty="0">
                <a:latin typeface="华文楷体" panose="02010600040101010101" pitchFamily="2" charset="-122"/>
                <a:ea typeface="华文楷体" panose="02010600040101010101" pitchFamily="2" charset="-122"/>
              </a:rPr>
              <a:t>f</a:t>
            </a:r>
            <a:r>
              <a:rPr lang="zh-CN" altLang="en-US" sz="2400" dirty="0">
                <a:latin typeface="华文楷体" panose="02010600040101010101" pitchFamily="2" charset="-122"/>
                <a:ea typeface="华文楷体" panose="02010600040101010101" pitchFamily="2" charset="-122"/>
              </a:rPr>
              <a:t>的一棵子树</a:t>
            </a:r>
            <a:endParaRPr lang="en-US" altLang="zh-CN" sz="2400" dirty="0">
              <a:latin typeface="华文楷体" panose="02010600040101010101" pitchFamily="2" charset="-122"/>
              <a:ea typeface="华文楷体" panose="02010600040101010101" pitchFamily="2" charset="-122"/>
            </a:endParaRPr>
          </a:p>
          <a:p>
            <a:pPr lvl="1"/>
            <a:r>
              <a:rPr lang="zh-CN" altLang="en-US" sz="2400" dirty="0">
                <a:latin typeface="华文楷体" panose="02010600040101010101" pitchFamily="2" charset="-122"/>
                <a:ea typeface="华文楷体" panose="02010600040101010101" pitchFamily="2" charset="-122"/>
              </a:rPr>
              <a:t>原来</a:t>
            </a:r>
            <a:r>
              <a:rPr lang="en-US" altLang="en-US" sz="2400" b="1" dirty="0">
                <a:latin typeface="华文楷体" panose="02010600040101010101" pitchFamily="2" charset="-122"/>
                <a:ea typeface="华文楷体" panose="02010600040101010101" pitchFamily="2" charset="-122"/>
              </a:rPr>
              <a:t>p</a:t>
            </a:r>
            <a:r>
              <a:rPr lang="zh-CN" altLang="en-US" sz="2400" b="1" dirty="0">
                <a:latin typeface="华文楷体" panose="02010600040101010101" pitchFamily="2" charset="-122"/>
                <a:ea typeface="华文楷体" panose="02010600040101010101" pitchFamily="2" charset="-122"/>
              </a:rPr>
              <a:t>是</a:t>
            </a:r>
            <a:r>
              <a:rPr lang="en-US" altLang="en-US" sz="2400" b="1" dirty="0">
                <a:latin typeface="华文楷体" panose="02010600040101010101" pitchFamily="2" charset="-122"/>
                <a:ea typeface="华文楷体" panose="02010600040101010101" pitchFamily="2" charset="-122"/>
              </a:rPr>
              <a:t>f</a:t>
            </a:r>
            <a:r>
              <a:rPr lang="zh-CN" altLang="en-US" sz="2400" b="1" dirty="0">
                <a:latin typeface="华文楷体" panose="02010600040101010101" pitchFamily="2" charset="-122"/>
                <a:ea typeface="华文楷体" panose="02010600040101010101" pitchFamily="2" charset="-122"/>
              </a:rPr>
              <a:t>的左子树</a:t>
            </a:r>
            <a:r>
              <a:rPr lang="zh-CN" altLang="en-US" sz="2400" dirty="0">
                <a:latin typeface="华文楷体" panose="02010600040101010101" pitchFamily="2" charset="-122"/>
                <a:ea typeface="华文楷体" panose="02010600040101010101" pitchFamily="2" charset="-122"/>
              </a:rPr>
              <a:t>，则</a:t>
            </a:r>
            <a:r>
              <a:rPr lang="en-US" altLang="en-US" sz="2400" b="1" dirty="0">
                <a:solidFill>
                  <a:srgbClr val="6600CC"/>
                </a:solidFill>
                <a:latin typeface="华文楷体" panose="02010600040101010101" pitchFamily="2" charset="-122"/>
                <a:ea typeface="华文楷体" panose="02010600040101010101" pitchFamily="2" charset="-122"/>
              </a:rPr>
              <a:t>p</a:t>
            </a:r>
            <a:r>
              <a:rPr lang="zh-CN" altLang="en-US" sz="2400" b="1" dirty="0">
                <a:solidFill>
                  <a:srgbClr val="6600CC"/>
                </a:solidFill>
                <a:latin typeface="华文楷体" panose="02010600040101010101" pitchFamily="2" charset="-122"/>
                <a:ea typeface="华文楷体" panose="02010600040101010101" pitchFamily="2" charset="-122"/>
              </a:rPr>
              <a:t>的子树成为</a:t>
            </a:r>
            <a:r>
              <a:rPr lang="en-US" altLang="en-US" sz="2400" b="1" dirty="0">
                <a:solidFill>
                  <a:srgbClr val="6600CC"/>
                </a:solidFill>
                <a:latin typeface="华文楷体" panose="02010600040101010101" pitchFamily="2" charset="-122"/>
                <a:ea typeface="华文楷体" panose="02010600040101010101" pitchFamily="2" charset="-122"/>
              </a:rPr>
              <a:t>f</a:t>
            </a:r>
            <a:r>
              <a:rPr lang="zh-CN" altLang="en-US" sz="2400" b="1" dirty="0">
                <a:solidFill>
                  <a:srgbClr val="6600CC"/>
                </a:solidFill>
                <a:latin typeface="华文楷体" panose="02010600040101010101" pitchFamily="2" charset="-122"/>
                <a:ea typeface="华文楷体" panose="02010600040101010101" pitchFamily="2" charset="-122"/>
              </a:rPr>
              <a:t>的左子树</a:t>
            </a:r>
            <a:endParaRPr lang="en-US" altLang="zh-CN" sz="2400" dirty="0">
              <a:latin typeface="华文楷体" panose="02010600040101010101" pitchFamily="2" charset="-122"/>
              <a:ea typeface="华文楷体" panose="02010600040101010101" pitchFamily="2" charset="-122"/>
            </a:endParaRPr>
          </a:p>
          <a:p>
            <a:pPr lvl="1"/>
            <a:r>
              <a:rPr lang="zh-CN" altLang="en-US" sz="2400" dirty="0">
                <a:latin typeface="华文楷体" panose="02010600040101010101" pitchFamily="2" charset="-122"/>
                <a:ea typeface="华文楷体" panose="02010600040101010101" pitchFamily="2" charset="-122"/>
              </a:rPr>
              <a:t>删除结点</a:t>
            </a:r>
            <a:r>
              <a:rPr lang="en-US" altLang="zh-CN" sz="2400" dirty="0">
                <a:latin typeface="华文楷体" panose="02010600040101010101" pitchFamily="2" charset="-122"/>
                <a:ea typeface="华文楷体" panose="02010600040101010101" pitchFamily="2" charset="-122"/>
              </a:rPr>
              <a:t>13</a:t>
            </a:r>
          </a:p>
          <a:p>
            <a:pPr marL="0" indent="0">
              <a:buNone/>
            </a:pPr>
            <a:endParaRPr lang="en-US" dirty="0"/>
          </a:p>
        </p:txBody>
      </p:sp>
      <p:sp>
        <p:nvSpPr>
          <p:cNvPr id="4" name="灯片编号占位符 3"/>
          <p:cNvSpPr>
            <a:spLocks noGrp="1"/>
          </p:cNvSpPr>
          <p:nvPr>
            <p:ph type="sldNum" sz="quarter" idx="12"/>
          </p:nvPr>
        </p:nvSpPr>
        <p:spPr>
          <a:xfrm>
            <a:off x="8748464" y="6492875"/>
            <a:ext cx="395536" cy="365125"/>
          </a:xfrm>
        </p:spPr>
        <p:txBody>
          <a:bodyPr/>
          <a:lstStyle/>
          <a:p>
            <a:fld id="{0C913308-F349-4B6D-A68A-DD1791B4A57B}" type="slidenum">
              <a:rPr lang="zh-CN" altLang="en-US" smtClean="0"/>
              <a:pPr/>
              <a:t>49</a:t>
            </a:fld>
            <a:endParaRPr lang="zh-CN" altLang="en-US"/>
          </a:p>
        </p:txBody>
      </p:sp>
      <p:grpSp>
        <p:nvGrpSpPr>
          <p:cNvPr id="22" name="Group 54"/>
          <p:cNvGrpSpPr>
            <a:grpSpLocks/>
          </p:cNvGrpSpPr>
          <p:nvPr/>
        </p:nvGrpSpPr>
        <p:grpSpPr bwMode="auto">
          <a:xfrm>
            <a:off x="1475656" y="3241847"/>
            <a:ext cx="2492375" cy="2070100"/>
            <a:chOff x="0" y="0"/>
            <a:chExt cx="1570" cy="1304"/>
          </a:xfrm>
        </p:grpSpPr>
        <p:sp>
          <p:nvSpPr>
            <p:cNvPr id="24" name="Oval 55"/>
            <p:cNvSpPr>
              <a:spLocks noChangeArrowheads="1"/>
            </p:cNvSpPr>
            <p:nvPr/>
          </p:nvSpPr>
          <p:spPr bwMode="auto">
            <a:xfrm>
              <a:off x="672" y="0"/>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12</a:t>
              </a:r>
            </a:p>
          </p:txBody>
        </p:sp>
        <p:sp>
          <p:nvSpPr>
            <p:cNvPr id="25" name="Oval 56"/>
            <p:cNvSpPr>
              <a:spLocks noChangeArrowheads="1"/>
            </p:cNvSpPr>
            <p:nvPr/>
          </p:nvSpPr>
          <p:spPr bwMode="auto">
            <a:xfrm>
              <a:off x="296" y="343"/>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8</a:t>
              </a:r>
            </a:p>
          </p:txBody>
        </p:sp>
        <p:sp>
          <p:nvSpPr>
            <p:cNvPr id="26" name="Oval 57"/>
            <p:cNvSpPr>
              <a:spLocks noChangeArrowheads="1"/>
            </p:cNvSpPr>
            <p:nvPr/>
          </p:nvSpPr>
          <p:spPr bwMode="auto">
            <a:xfrm>
              <a:off x="0" y="704"/>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6</a:t>
              </a:r>
            </a:p>
          </p:txBody>
        </p:sp>
        <p:sp>
          <p:nvSpPr>
            <p:cNvPr id="27" name="Oval 58"/>
            <p:cNvSpPr>
              <a:spLocks noChangeArrowheads="1"/>
            </p:cNvSpPr>
            <p:nvPr/>
          </p:nvSpPr>
          <p:spPr bwMode="auto">
            <a:xfrm>
              <a:off x="552" y="712"/>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10</a:t>
              </a:r>
            </a:p>
          </p:txBody>
        </p:sp>
        <p:sp>
          <p:nvSpPr>
            <p:cNvPr id="28" name="Oval 59"/>
            <p:cNvSpPr>
              <a:spLocks noChangeArrowheads="1"/>
            </p:cNvSpPr>
            <p:nvPr/>
          </p:nvSpPr>
          <p:spPr bwMode="auto">
            <a:xfrm>
              <a:off x="1056" y="328"/>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15</a:t>
              </a:r>
            </a:p>
          </p:txBody>
        </p:sp>
        <p:sp>
          <p:nvSpPr>
            <p:cNvPr id="29" name="Line 60"/>
            <p:cNvSpPr>
              <a:spLocks noChangeShapeType="1"/>
            </p:cNvSpPr>
            <p:nvPr/>
          </p:nvSpPr>
          <p:spPr bwMode="auto">
            <a:xfrm flipH="1">
              <a:off x="552" y="200"/>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0" name="Line 61"/>
            <p:cNvSpPr>
              <a:spLocks noChangeShapeType="1"/>
            </p:cNvSpPr>
            <p:nvPr/>
          </p:nvSpPr>
          <p:spPr bwMode="auto">
            <a:xfrm>
              <a:off x="936" y="200"/>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1" name="Line 62"/>
            <p:cNvSpPr>
              <a:spLocks noChangeShapeType="1"/>
            </p:cNvSpPr>
            <p:nvPr/>
          </p:nvSpPr>
          <p:spPr bwMode="auto">
            <a:xfrm flipH="1">
              <a:off x="192" y="553"/>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2" name="Line 63"/>
            <p:cNvSpPr>
              <a:spLocks noChangeShapeType="1"/>
            </p:cNvSpPr>
            <p:nvPr/>
          </p:nvSpPr>
          <p:spPr bwMode="auto">
            <a:xfrm>
              <a:off x="504" y="569"/>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3" name="Oval 64"/>
            <p:cNvSpPr>
              <a:spLocks noChangeArrowheads="1"/>
            </p:cNvSpPr>
            <p:nvPr/>
          </p:nvSpPr>
          <p:spPr bwMode="auto">
            <a:xfrm>
              <a:off x="936" y="712"/>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13</a:t>
              </a:r>
            </a:p>
          </p:txBody>
        </p:sp>
        <p:sp>
          <p:nvSpPr>
            <p:cNvPr id="34" name="Line 65"/>
            <p:cNvSpPr>
              <a:spLocks noChangeShapeType="1"/>
            </p:cNvSpPr>
            <p:nvPr/>
          </p:nvSpPr>
          <p:spPr bwMode="auto">
            <a:xfrm flipH="1">
              <a:off x="1043" y="553"/>
              <a:ext cx="159"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5" name="Oval 66"/>
            <p:cNvSpPr>
              <a:spLocks noChangeArrowheads="1"/>
            </p:cNvSpPr>
            <p:nvPr/>
          </p:nvSpPr>
          <p:spPr bwMode="auto">
            <a:xfrm>
              <a:off x="1253" y="1071"/>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14</a:t>
              </a:r>
            </a:p>
          </p:txBody>
        </p:sp>
        <p:sp>
          <p:nvSpPr>
            <p:cNvPr id="36" name="Line 67"/>
            <p:cNvSpPr>
              <a:spLocks noChangeShapeType="1"/>
            </p:cNvSpPr>
            <p:nvPr/>
          </p:nvSpPr>
          <p:spPr bwMode="auto">
            <a:xfrm>
              <a:off x="1168" y="928"/>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7" name="Oval 68"/>
            <p:cNvSpPr>
              <a:spLocks noChangeArrowheads="1"/>
            </p:cNvSpPr>
            <p:nvPr/>
          </p:nvSpPr>
          <p:spPr bwMode="auto">
            <a:xfrm>
              <a:off x="275" y="1077"/>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9</a:t>
              </a:r>
            </a:p>
          </p:txBody>
        </p:sp>
        <p:sp>
          <p:nvSpPr>
            <p:cNvPr id="38" name="Line 69"/>
            <p:cNvSpPr>
              <a:spLocks noChangeShapeType="1"/>
            </p:cNvSpPr>
            <p:nvPr/>
          </p:nvSpPr>
          <p:spPr bwMode="auto">
            <a:xfrm flipH="1">
              <a:off x="467" y="926"/>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55" name="TextBox 54"/>
          <p:cNvSpPr txBox="1"/>
          <p:nvPr/>
        </p:nvSpPr>
        <p:spPr>
          <a:xfrm>
            <a:off x="3685856" y="4253061"/>
            <a:ext cx="377026" cy="523220"/>
          </a:xfrm>
          <a:prstGeom prst="rect">
            <a:avLst/>
          </a:prstGeom>
          <a:noFill/>
        </p:spPr>
        <p:txBody>
          <a:bodyPr wrap="none" rtlCol="0">
            <a:spAutoFit/>
          </a:bodyPr>
          <a:lstStyle/>
          <a:p>
            <a:r>
              <a:rPr lang="en-US" sz="2800" b="1">
                <a:solidFill>
                  <a:srgbClr val="6600CC"/>
                </a:solidFill>
              </a:rPr>
              <a:t>p</a:t>
            </a:r>
            <a:endParaRPr lang="en-US" b="1">
              <a:solidFill>
                <a:srgbClr val="6600CC"/>
              </a:solidFill>
            </a:endParaRPr>
          </a:p>
        </p:txBody>
      </p:sp>
      <p:cxnSp>
        <p:nvCxnSpPr>
          <p:cNvPr id="57" name="直接箭头连接符 56"/>
          <p:cNvCxnSpPr>
            <a:stCxn id="55" idx="0"/>
            <a:endCxn id="33" idx="6"/>
          </p:cNvCxnSpPr>
          <p:nvPr/>
        </p:nvCxnSpPr>
        <p:spPr>
          <a:xfrm flipH="1">
            <a:off x="3464794" y="4253061"/>
            <a:ext cx="409575" cy="299268"/>
          </a:xfrm>
          <a:prstGeom prst="straightConnector1">
            <a:avLst/>
          </a:prstGeom>
          <a:ln>
            <a:headEnd type="none" w="med" len="med"/>
            <a:tailEnd type="triangle" w="lg" len="lg"/>
          </a:ln>
        </p:spPr>
        <p:style>
          <a:lnRef idx="3">
            <a:schemeClr val="dk1"/>
          </a:lnRef>
          <a:fillRef idx="0">
            <a:schemeClr val="dk1"/>
          </a:fillRef>
          <a:effectRef idx="2">
            <a:schemeClr val="dk1"/>
          </a:effectRef>
          <a:fontRef idx="minor">
            <a:schemeClr val="tx1"/>
          </a:fontRef>
        </p:style>
      </p:cxnSp>
      <p:cxnSp>
        <p:nvCxnSpPr>
          <p:cNvPr id="60" name="直接箭头连接符 59"/>
          <p:cNvCxnSpPr/>
          <p:nvPr/>
        </p:nvCxnSpPr>
        <p:spPr>
          <a:xfrm flipH="1">
            <a:off x="3453814" y="3341370"/>
            <a:ext cx="326760" cy="444990"/>
          </a:xfrm>
          <a:prstGeom prst="straightConnector1">
            <a:avLst/>
          </a:prstGeom>
          <a:ln>
            <a:headEnd type="none" w="med" len="med"/>
            <a:tailEnd type="triangle" w="lg" len="lg"/>
          </a:ln>
        </p:spPr>
        <p:style>
          <a:lnRef idx="3">
            <a:schemeClr val="dk1"/>
          </a:lnRef>
          <a:fillRef idx="0">
            <a:schemeClr val="dk1"/>
          </a:fillRef>
          <a:effectRef idx="2">
            <a:schemeClr val="dk1"/>
          </a:effectRef>
          <a:fontRef idx="minor">
            <a:schemeClr val="tx1"/>
          </a:fontRef>
        </p:style>
      </p:cxnSp>
      <p:sp>
        <p:nvSpPr>
          <p:cNvPr id="62" name="TextBox 61"/>
          <p:cNvSpPr txBox="1"/>
          <p:nvPr/>
        </p:nvSpPr>
        <p:spPr>
          <a:xfrm>
            <a:off x="3721122" y="3102187"/>
            <a:ext cx="306494" cy="553998"/>
          </a:xfrm>
          <a:prstGeom prst="rect">
            <a:avLst/>
          </a:prstGeom>
          <a:noFill/>
        </p:spPr>
        <p:txBody>
          <a:bodyPr wrap="none" rtlCol="0">
            <a:spAutoFit/>
          </a:bodyPr>
          <a:lstStyle/>
          <a:p>
            <a:r>
              <a:rPr lang="en-US" altLang="zh-CN" sz="3000" b="1">
                <a:solidFill>
                  <a:srgbClr val="6600CC"/>
                </a:solidFill>
              </a:rPr>
              <a:t>f</a:t>
            </a:r>
            <a:endParaRPr lang="en-US" sz="3000" b="1">
              <a:solidFill>
                <a:srgbClr val="6600CC"/>
              </a:solidFill>
            </a:endParaRPr>
          </a:p>
        </p:txBody>
      </p:sp>
      <p:sp>
        <p:nvSpPr>
          <p:cNvPr id="42" name="AutoShape 88"/>
          <p:cNvSpPr>
            <a:spLocks noChangeArrowheads="1"/>
          </p:cNvSpPr>
          <p:nvPr/>
        </p:nvSpPr>
        <p:spPr bwMode="auto">
          <a:xfrm>
            <a:off x="4485322" y="3908598"/>
            <a:ext cx="486470" cy="411881"/>
          </a:xfrm>
          <a:prstGeom prst="rightArrow">
            <a:avLst>
              <a:gd name="adj1" fmla="val 50000"/>
              <a:gd name="adj2"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endParaRPr lang="en-US" altLang="en-US" sz="1800">
              <a:latin typeface="Times New Roman" pitchFamily="18" charset="0"/>
            </a:endParaRPr>
          </a:p>
        </p:txBody>
      </p:sp>
      <p:grpSp>
        <p:nvGrpSpPr>
          <p:cNvPr id="43" name="组合 42"/>
          <p:cNvGrpSpPr/>
          <p:nvPr/>
        </p:nvGrpSpPr>
        <p:grpSpPr>
          <a:xfrm>
            <a:off x="5192167" y="3338685"/>
            <a:ext cx="2339975" cy="2493963"/>
            <a:chOff x="5391993" y="4247405"/>
            <a:chExt cx="2339975" cy="2493963"/>
          </a:xfrm>
        </p:grpSpPr>
        <p:sp>
          <p:nvSpPr>
            <p:cNvPr id="44" name="Oval 73"/>
            <p:cNvSpPr>
              <a:spLocks noChangeArrowheads="1"/>
            </p:cNvSpPr>
            <p:nvPr/>
          </p:nvSpPr>
          <p:spPr bwMode="auto">
            <a:xfrm>
              <a:off x="6458793" y="4247405"/>
              <a:ext cx="503238" cy="36036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12</a:t>
              </a:r>
            </a:p>
          </p:txBody>
        </p:sp>
        <p:sp>
          <p:nvSpPr>
            <p:cNvPr id="47" name="Oval 74"/>
            <p:cNvSpPr>
              <a:spLocks noChangeArrowheads="1"/>
            </p:cNvSpPr>
            <p:nvPr/>
          </p:nvSpPr>
          <p:spPr bwMode="auto">
            <a:xfrm>
              <a:off x="5861893" y="4791918"/>
              <a:ext cx="503238" cy="36036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8</a:t>
              </a:r>
            </a:p>
          </p:txBody>
        </p:sp>
        <p:sp>
          <p:nvSpPr>
            <p:cNvPr id="48" name="Oval 75"/>
            <p:cNvSpPr>
              <a:spLocks noChangeArrowheads="1"/>
            </p:cNvSpPr>
            <p:nvPr/>
          </p:nvSpPr>
          <p:spPr bwMode="auto">
            <a:xfrm>
              <a:off x="5391993" y="5365005"/>
              <a:ext cx="503238" cy="36036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6</a:t>
              </a:r>
            </a:p>
          </p:txBody>
        </p:sp>
        <p:sp>
          <p:nvSpPr>
            <p:cNvPr id="49" name="Oval 76"/>
            <p:cNvSpPr>
              <a:spLocks noChangeArrowheads="1"/>
            </p:cNvSpPr>
            <p:nvPr/>
          </p:nvSpPr>
          <p:spPr bwMode="auto">
            <a:xfrm>
              <a:off x="6268293" y="5377705"/>
              <a:ext cx="503238" cy="36036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10</a:t>
              </a:r>
            </a:p>
          </p:txBody>
        </p:sp>
        <p:sp>
          <p:nvSpPr>
            <p:cNvPr id="50" name="Oval 77"/>
            <p:cNvSpPr>
              <a:spLocks noChangeArrowheads="1"/>
            </p:cNvSpPr>
            <p:nvPr/>
          </p:nvSpPr>
          <p:spPr bwMode="auto">
            <a:xfrm>
              <a:off x="7068393" y="4768105"/>
              <a:ext cx="503238" cy="36036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15</a:t>
              </a:r>
            </a:p>
          </p:txBody>
        </p:sp>
        <p:sp>
          <p:nvSpPr>
            <p:cNvPr id="51" name="Line 78"/>
            <p:cNvSpPr>
              <a:spLocks noChangeShapeType="1"/>
            </p:cNvSpPr>
            <p:nvPr/>
          </p:nvSpPr>
          <p:spPr bwMode="auto">
            <a:xfrm flipH="1">
              <a:off x="6268293" y="4564905"/>
              <a:ext cx="287338" cy="2524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2" name="Line 79"/>
            <p:cNvSpPr>
              <a:spLocks noChangeShapeType="1"/>
            </p:cNvSpPr>
            <p:nvPr/>
          </p:nvSpPr>
          <p:spPr bwMode="auto">
            <a:xfrm>
              <a:off x="6877893" y="4564905"/>
              <a:ext cx="287338" cy="2524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3" name="Line 80"/>
            <p:cNvSpPr>
              <a:spLocks noChangeShapeType="1"/>
            </p:cNvSpPr>
            <p:nvPr/>
          </p:nvSpPr>
          <p:spPr bwMode="auto">
            <a:xfrm flipH="1">
              <a:off x="5696793" y="5125293"/>
              <a:ext cx="287338" cy="2524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4" name="Line 81"/>
            <p:cNvSpPr>
              <a:spLocks noChangeShapeType="1"/>
            </p:cNvSpPr>
            <p:nvPr/>
          </p:nvSpPr>
          <p:spPr bwMode="auto">
            <a:xfrm>
              <a:off x="6192093" y="5150693"/>
              <a:ext cx="287338" cy="2524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6" name="Oval 82"/>
            <p:cNvSpPr>
              <a:spLocks noChangeArrowheads="1"/>
            </p:cNvSpPr>
            <p:nvPr/>
          </p:nvSpPr>
          <p:spPr bwMode="auto">
            <a:xfrm>
              <a:off x="6877893" y="5377705"/>
              <a:ext cx="503238" cy="36036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14</a:t>
              </a:r>
            </a:p>
          </p:txBody>
        </p:sp>
        <p:sp>
          <p:nvSpPr>
            <p:cNvPr id="58" name="Line 83"/>
            <p:cNvSpPr>
              <a:spLocks noChangeShapeType="1"/>
            </p:cNvSpPr>
            <p:nvPr/>
          </p:nvSpPr>
          <p:spPr bwMode="auto">
            <a:xfrm flipH="1">
              <a:off x="7047756" y="5125293"/>
              <a:ext cx="252413" cy="2524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9" name="Rectangle 86"/>
            <p:cNvSpPr>
              <a:spLocks noChangeArrowheads="1"/>
            </p:cNvSpPr>
            <p:nvPr/>
          </p:nvSpPr>
          <p:spPr bwMode="auto">
            <a:xfrm>
              <a:off x="5826968" y="6381005"/>
              <a:ext cx="1905000"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zh-CN" altLang="en-US" sz="2000" b="1">
                  <a:latin typeface="Times New Roman" pitchFamily="18" charset="0"/>
                </a:rPr>
                <a:t>删除结点</a:t>
              </a:r>
              <a:r>
                <a:rPr lang="en-US" altLang="en-US" sz="2000" b="1">
                  <a:latin typeface="Times New Roman" pitchFamily="18" charset="0"/>
                </a:rPr>
                <a:t>13</a:t>
              </a:r>
            </a:p>
          </p:txBody>
        </p:sp>
        <p:sp>
          <p:nvSpPr>
            <p:cNvPr id="61" name="Oval 76"/>
            <p:cNvSpPr>
              <a:spLocks noChangeArrowheads="1"/>
            </p:cNvSpPr>
            <p:nvPr/>
          </p:nvSpPr>
          <p:spPr bwMode="auto">
            <a:xfrm>
              <a:off x="5813345" y="5890468"/>
              <a:ext cx="503238" cy="36036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9</a:t>
              </a:r>
            </a:p>
          </p:txBody>
        </p:sp>
        <p:sp>
          <p:nvSpPr>
            <p:cNvPr id="63" name="Line 80"/>
            <p:cNvSpPr>
              <a:spLocks noChangeShapeType="1"/>
            </p:cNvSpPr>
            <p:nvPr/>
          </p:nvSpPr>
          <p:spPr bwMode="auto">
            <a:xfrm flipH="1">
              <a:off x="6192092" y="5720604"/>
              <a:ext cx="173038" cy="2270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Tree>
    <p:extLst>
      <p:ext uri="{BB962C8B-B14F-4D97-AF65-F5344CB8AC3E}">
        <p14:creationId xmlns:p14="http://schemas.microsoft.com/office/powerpoint/2010/main" val="2541637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62" grpId="0"/>
      <p:bldP spid="42"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5496" y="0"/>
            <a:ext cx="8229600" cy="936104"/>
          </a:xfrm>
        </p:spPr>
        <p:txBody>
          <a:bodyPr>
            <a:normAutofit/>
          </a:bodyPr>
          <a:lstStyle/>
          <a:p>
            <a:pPr algn="l"/>
            <a:r>
              <a:rPr lang="en-US" altLang="en-US" sz="3200" dirty="0">
                <a:latin typeface="华文新魏" panose="02010800040101010101" pitchFamily="2" charset="-122"/>
                <a:ea typeface="华文新魏" panose="02010800040101010101" pitchFamily="2" charset="-122"/>
              </a:rPr>
              <a:t>BST</a:t>
            </a:r>
            <a:r>
              <a:rPr lang="zh-CN" altLang="en-US" sz="3200" dirty="0">
                <a:latin typeface="华文新魏" panose="02010800040101010101" pitchFamily="2" charset="-122"/>
                <a:ea typeface="华文新魏" panose="02010800040101010101" pitchFamily="2" charset="-122"/>
              </a:rPr>
              <a:t>上结点</a:t>
            </a:r>
            <a:r>
              <a:rPr lang="en-US" altLang="en-US" sz="3200" dirty="0" err="1">
                <a:latin typeface="华文新魏" panose="02010800040101010101" pitchFamily="2" charset="-122"/>
                <a:ea typeface="华文新魏" panose="02010800040101010101" pitchFamily="2" charset="-122"/>
              </a:rPr>
              <a:t>的删除</a:t>
            </a:r>
            <a:r>
              <a:rPr lang="en-US" altLang="en-US" sz="3200" dirty="0">
                <a:latin typeface="华文新魏" panose="02010800040101010101" pitchFamily="2" charset="-122"/>
                <a:ea typeface="华文新魏" panose="02010800040101010101" pitchFamily="2" charset="-122"/>
              </a:rPr>
              <a:t>-III</a:t>
            </a:r>
            <a:endParaRPr lang="zh-CN" altLang="en-US" sz="3200" dirty="0">
              <a:latin typeface="华文新魏" panose="02010800040101010101" pitchFamily="2" charset="-122"/>
              <a:ea typeface="华文新魏" panose="02010800040101010101" pitchFamily="2" charset="-122"/>
            </a:endParaRPr>
          </a:p>
        </p:txBody>
      </p:sp>
      <p:sp>
        <p:nvSpPr>
          <p:cNvPr id="30" name="内容占位符 29"/>
          <p:cNvSpPr>
            <a:spLocks noGrp="1"/>
          </p:cNvSpPr>
          <p:nvPr>
            <p:ph idx="1"/>
          </p:nvPr>
        </p:nvSpPr>
        <p:spPr>
          <a:xfrm>
            <a:off x="107504" y="842789"/>
            <a:ext cx="8229600" cy="1722115"/>
          </a:xfrm>
        </p:spPr>
        <p:txBody>
          <a:bodyPr/>
          <a:lstStyle/>
          <a:p>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若</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p</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只有一棵子树</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左子树或右子树</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：直接用</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p</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的左子树</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或右子树</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取代</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p</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的位置而成为</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f</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的一棵子树</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marL="742950" lvl="2" indent="-342900"/>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原来</a:t>
            </a:r>
            <a:r>
              <a:rPr lang="en-US" altLang="en-US" b="1" dirty="0">
                <a:latin typeface="Times New Roman" panose="02020603050405020304" pitchFamily="18" charset="0"/>
                <a:ea typeface="华文楷体" panose="02010600040101010101" pitchFamily="2" charset="-122"/>
                <a:cs typeface="Times New Roman" panose="02020603050405020304" pitchFamily="18" charset="0"/>
              </a:rPr>
              <a:t>p</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是</a:t>
            </a:r>
            <a:r>
              <a:rPr lang="en-US" altLang="en-US" b="1" dirty="0">
                <a:latin typeface="Times New Roman" panose="02020603050405020304" pitchFamily="18" charset="0"/>
                <a:ea typeface="华文楷体" panose="02010600040101010101" pitchFamily="2" charset="-122"/>
                <a:cs typeface="Times New Roman" panose="02020603050405020304" pitchFamily="18" charset="0"/>
              </a:rPr>
              <a:t>f</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的右子树</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，则</a:t>
            </a:r>
            <a:r>
              <a:rPr lang="en-US" altLang="en-US" b="1" dirty="0">
                <a:solidFill>
                  <a:srgbClr val="6600CC"/>
                </a:solidFill>
                <a:latin typeface="Times New Roman" panose="02020603050405020304" pitchFamily="18" charset="0"/>
                <a:ea typeface="华文楷体" panose="02010600040101010101" pitchFamily="2" charset="-122"/>
                <a:cs typeface="Times New Roman" panose="02020603050405020304" pitchFamily="18" charset="0"/>
              </a:rPr>
              <a:t>p</a:t>
            </a:r>
            <a:r>
              <a:rPr lang="zh-CN" altLang="en-US" b="1" dirty="0">
                <a:solidFill>
                  <a:srgbClr val="6600CC"/>
                </a:solidFill>
                <a:latin typeface="Times New Roman" panose="02020603050405020304" pitchFamily="18" charset="0"/>
                <a:ea typeface="华文楷体" panose="02010600040101010101" pitchFamily="2" charset="-122"/>
                <a:cs typeface="Times New Roman" panose="02020603050405020304" pitchFamily="18" charset="0"/>
              </a:rPr>
              <a:t>的子树成为</a:t>
            </a:r>
            <a:r>
              <a:rPr lang="en-US" altLang="en-US" b="1" dirty="0">
                <a:solidFill>
                  <a:srgbClr val="6600CC"/>
                </a:solidFill>
                <a:latin typeface="Times New Roman" panose="02020603050405020304" pitchFamily="18" charset="0"/>
                <a:ea typeface="华文楷体" panose="02010600040101010101" pitchFamily="2" charset="-122"/>
                <a:cs typeface="Times New Roman" panose="02020603050405020304" pitchFamily="18" charset="0"/>
              </a:rPr>
              <a:t>f</a:t>
            </a:r>
            <a:r>
              <a:rPr lang="zh-CN" altLang="en-US" b="1" dirty="0">
                <a:solidFill>
                  <a:srgbClr val="6600CC"/>
                </a:solidFill>
                <a:latin typeface="Times New Roman" panose="02020603050405020304" pitchFamily="18" charset="0"/>
                <a:ea typeface="华文楷体" panose="02010600040101010101" pitchFamily="2" charset="-122"/>
                <a:cs typeface="Times New Roman" panose="02020603050405020304" pitchFamily="18" charset="0"/>
              </a:rPr>
              <a:t>的右子树</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742950" lvl="2" indent="-342900"/>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删除结点</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15</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50</a:t>
            </a:fld>
            <a:endParaRPr lang="zh-CN" altLang="en-US"/>
          </a:p>
        </p:txBody>
      </p:sp>
      <p:sp>
        <p:nvSpPr>
          <p:cNvPr id="5" name="AutoShape 5"/>
          <p:cNvSpPr>
            <a:spLocks noChangeArrowheads="1"/>
          </p:cNvSpPr>
          <p:nvPr/>
        </p:nvSpPr>
        <p:spPr bwMode="auto">
          <a:xfrm>
            <a:off x="3684191" y="4289291"/>
            <a:ext cx="690564" cy="463551"/>
          </a:xfrm>
          <a:prstGeom prst="rightArrow">
            <a:avLst>
              <a:gd name="adj1" fmla="val 50000"/>
              <a:gd name="adj2" fmla="val 7471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endParaRPr lang="en-US" altLang="en-US" sz="1800">
              <a:latin typeface="Times New Roman" pitchFamily="18" charset="0"/>
            </a:endParaRPr>
          </a:p>
        </p:txBody>
      </p:sp>
      <p:grpSp>
        <p:nvGrpSpPr>
          <p:cNvPr id="6" name="Group 8"/>
          <p:cNvGrpSpPr>
            <a:grpSpLocks/>
          </p:cNvGrpSpPr>
          <p:nvPr/>
        </p:nvGrpSpPr>
        <p:grpSpPr bwMode="auto">
          <a:xfrm>
            <a:off x="1115616" y="3768591"/>
            <a:ext cx="2581275" cy="1997075"/>
            <a:chOff x="0" y="0"/>
            <a:chExt cx="1626" cy="1258"/>
          </a:xfrm>
        </p:grpSpPr>
        <p:sp>
          <p:nvSpPr>
            <p:cNvPr id="7" name="Oval 9"/>
            <p:cNvSpPr>
              <a:spLocks noChangeArrowheads="1"/>
            </p:cNvSpPr>
            <p:nvPr/>
          </p:nvSpPr>
          <p:spPr bwMode="auto">
            <a:xfrm>
              <a:off x="656" y="0"/>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9</a:t>
              </a:r>
            </a:p>
          </p:txBody>
        </p:sp>
        <p:sp>
          <p:nvSpPr>
            <p:cNvPr id="8" name="Oval 10"/>
            <p:cNvSpPr>
              <a:spLocks noChangeArrowheads="1"/>
            </p:cNvSpPr>
            <p:nvPr/>
          </p:nvSpPr>
          <p:spPr bwMode="auto">
            <a:xfrm>
              <a:off x="296" y="343"/>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8</a:t>
              </a:r>
            </a:p>
          </p:txBody>
        </p:sp>
        <p:sp>
          <p:nvSpPr>
            <p:cNvPr id="9" name="Oval 11"/>
            <p:cNvSpPr>
              <a:spLocks noChangeArrowheads="1"/>
            </p:cNvSpPr>
            <p:nvPr/>
          </p:nvSpPr>
          <p:spPr bwMode="auto">
            <a:xfrm>
              <a:off x="0" y="704"/>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6</a:t>
              </a:r>
            </a:p>
          </p:txBody>
        </p:sp>
        <p:sp>
          <p:nvSpPr>
            <p:cNvPr id="10" name="Oval 12"/>
            <p:cNvSpPr>
              <a:spLocks noChangeArrowheads="1"/>
            </p:cNvSpPr>
            <p:nvPr/>
          </p:nvSpPr>
          <p:spPr bwMode="auto">
            <a:xfrm>
              <a:off x="1032" y="328"/>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15</a:t>
              </a:r>
            </a:p>
          </p:txBody>
        </p:sp>
        <p:sp>
          <p:nvSpPr>
            <p:cNvPr id="11" name="Line 13"/>
            <p:cNvSpPr>
              <a:spLocks noChangeShapeType="1"/>
            </p:cNvSpPr>
            <p:nvPr/>
          </p:nvSpPr>
          <p:spPr bwMode="auto">
            <a:xfrm flipH="1">
              <a:off x="536" y="200"/>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2" name="Line 14"/>
            <p:cNvSpPr>
              <a:spLocks noChangeShapeType="1"/>
            </p:cNvSpPr>
            <p:nvPr/>
          </p:nvSpPr>
          <p:spPr bwMode="auto">
            <a:xfrm>
              <a:off x="912" y="200"/>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3" name="Line 15"/>
            <p:cNvSpPr>
              <a:spLocks noChangeShapeType="1"/>
            </p:cNvSpPr>
            <p:nvPr/>
          </p:nvSpPr>
          <p:spPr bwMode="auto">
            <a:xfrm flipH="1">
              <a:off x="192" y="553"/>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4" name="Oval 16"/>
            <p:cNvSpPr>
              <a:spLocks noChangeArrowheads="1"/>
            </p:cNvSpPr>
            <p:nvPr/>
          </p:nvSpPr>
          <p:spPr bwMode="auto">
            <a:xfrm>
              <a:off x="920" y="712"/>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13</a:t>
              </a:r>
            </a:p>
          </p:txBody>
        </p:sp>
        <p:sp>
          <p:nvSpPr>
            <p:cNvPr id="15" name="Line 17"/>
            <p:cNvSpPr>
              <a:spLocks noChangeShapeType="1"/>
            </p:cNvSpPr>
            <p:nvPr/>
          </p:nvSpPr>
          <p:spPr bwMode="auto">
            <a:xfrm flipH="1">
              <a:off x="1027" y="553"/>
              <a:ext cx="159"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6" name="Oval 18"/>
            <p:cNvSpPr>
              <a:spLocks noChangeArrowheads="1"/>
            </p:cNvSpPr>
            <p:nvPr/>
          </p:nvSpPr>
          <p:spPr bwMode="auto">
            <a:xfrm>
              <a:off x="1309" y="1031"/>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14</a:t>
              </a:r>
            </a:p>
          </p:txBody>
        </p:sp>
        <p:sp>
          <p:nvSpPr>
            <p:cNvPr id="17" name="Line 19"/>
            <p:cNvSpPr>
              <a:spLocks noChangeShapeType="1"/>
            </p:cNvSpPr>
            <p:nvPr/>
          </p:nvSpPr>
          <p:spPr bwMode="auto">
            <a:xfrm>
              <a:off x="1189" y="903"/>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18" name="Group 20"/>
          <p:cNvGrpSpPr>
            <a:grpSpLocks/>
          </p:cNvGrpSpPr>
          <p:nvPr/>
        </p:nvGrpSpPr>
        <p:grpSpPr bwMode="auto">
          <a:xfrm>
            <a:off x="4731148" y="3818598"/>
            <a:ext cx="2579688" cy="2160588"/>
            <a:chOff x="0" y="0"/>
            <a:chExt cx="1625" cy="1361"/>
          </a:xfrm>
        </p:grpSpPr>
        <p:sp>
          <p:nvSpPr>
            <p:cNvPr id="19" name="Rectangle 21"/>
            <p:cNvSpPr>
              <a:spLocks noChangeArrowheads="1"/>
            </p:cNvSpPr>
            <p:nvPr/>
          </p:nvSpPr>
          <p:spPr bwMode="auto">
            <a:xfrm>
              <a:off x="203" y="1134"/>
              <a:ext cx="1200"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000" b="1" dirty="0">
                  <a:latin typeface="Times New Roman" pitchFamily="18" charset="0"/>
                </a:rPr>
                <a:t>(d</a:t>
              </a:r>
              <a:r>
                <a:rPr lang="en-US" altLang="en-US" sz="2000"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删除结点</a:t>
              </a:r>
              <a:r>
                <a:rPr lang="en-US" altLang="en-US" sz="2000" b="1" dirty="0">
                  <a:latin typeface="Times New Roman" panose="02020603050405020304" pitchFamily="18" charset="0"/>
                  <a:ea typeface="华文楷体" panose="02010600040101010101" pitchFamily="2" charset="-122"/>
                  <a:cs typeface="Times New Roman" panose="02020603050405020304" pitchFamily="18" charset="0"/>
                </a:rPr>
                <a:t>15</a:t>
              </a:r>
            </a:p>
          </p:txBody>
        </p:sp>
        <p:grpSp>
          <p:nvGrpSpPr>
            <p:cNvPr id="20" name="Group 22"/>
            <p:cNvGrpSpPr>
              <a:grpSpLocks/>
            </p:cNvGrpSpPr>
            <p:nvPr/>
          </p:nvGrpSpPr>
          <p:grpSpPr bwMode="auto">
            <a:xfrm>
              <a:off x="0" y="0"/>
              <a:ext cx="1625" cy="931"/>
              <a:chOff x="0" y="0"/>
              <a:chExt cx="1625" cy="931"/>
            </a:xfrm>
          </p:grpSpPr>
          <p:sp>
            <p:nvSpPr>
              <p:cNvPr id="21" name="Oval 23"/>
              <p:cNvSpPr>
                <a:spLocks noChangeArrowheads="1"/>
              </p:cNvSpPr>
              <p:nvPr/>
            </p:nvSpPr>
            <p:spPr bwMode="auto">
              <a:xfrm>
                <a:off x="672" y="0"/>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9</a:t>
                </a:r>
              </a:p>
            </p:txBody>
          </p:sp>
          <p:sp>
            <p:nvSpPr>
              <p:cNvPr id="22" name="Oval 24"/>
              <p:cNvSpPr>
                <a:spLocks noChangeArrowheads="1"/>
              </p:cNvSpPr>
              <p:nvPr/>
            </p:nvSpPr>
            <p:spPr bwMode="auto">
              <a:xfrm>
                <a:off x="296" y="343"/>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8</a:t>
                </a:r>
              </a:p>
            </p:txBody>
          </p:sp>
          <p:sp>
            <p:nvSpPr>
              <p:cNvPr id="23" name="Oval 25"/>
              <p:cNvSpPr>
                <a:spLocks noChangeArrowheads="1"/>
              </p:cNvSpPr>
              <p:nvPr/>
            </p:nvSpPr>
            <p:spPr bwMode="auto">
              <a:xfrm>
                <a:off x="0" y="704"/>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6</a:t>
                </a:r>
              </a:p>
            </p:txBody>
          </p:sp>
          <p:sp>
            <p:nvSpPr>
              <p:cNvPr id="24" name="Oval 26"/>
              <p:cNvSpPr>
                <a:spLocks noChangeArrowheads="1"/>
              </p:cNvSpPr>
              <p:nvPr/>
            </p:nvSpPr>
            <p:spPr bwMode="auto">
              <a:xfrm>
                <a:off x="1056" y="328"/>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13</a:t>
                </a:r>
              </a:p>
            </p:txBody>
          </p:sp>
          <p:sp>
            <p:nvSpPr>
              <p:cNvPr id="25" name="Line 27"/>
              <p:cNvSpPr>
                <a:spLocks noChangeShapeType="1"/>
              </p:cNvSpPr>
              <p:nvPr/>
            </p:nvSpPr>
            <p:spPr bwMode="auto">
              <a:xfrm flipH="1">
                <a:off x="552" y="200"/>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 name="Line 28"/>
              <p:cNvSpPr>
                <a:spLocks noChangeShapeType="1"/>
              </p:cNvSpPr>
              <p:nvPr/>
            </p:nvSpPr>
            <p:spPr bwMode="auto">
              <a:xfrm>
                <a:off x="936" y="200"/>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7" name="Line 29"/>
              <p:cNvSpPr>
                <a:spLocks noChangeShapeType="1"/>
              </p:cNvSpPr>
              <p:nvPr/>
            </p:nvSpPr>
            <p:spPr bwMode="auto">
              <a:xfrm flipH="1">
                <a:off x="192" y="553"/>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8" name="Oval 30"/>
              <p:cNvSpPr>
                <a:spLocks noChangeArrowheads="1"/>
              </p:cNvSpPr>
              <p:nvPr/>
            </p:nvSpPr>
            <p:spPr bwMode="auto">
              <a:xfrm>
                <a:off x="1308" y="696"/>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14</a:t>
                </a:r>
              </a:p>
            </p:txBody>
          </p:sp>
          <p:sp>
            <p:nvSpPr>
              <p:cNvPr id="29" name="Line 31"/>
              <p:cNvSpPr>
                <a:spLocks noChangeShapeType="1"/>
              </p:cNvSpPr>
              <p:nvPr/>
            </p:nvSpPr>
            <p:spPr bwMode="auto">
              <a:xfrm>
                <a:off x="1283" y="539"/>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sp>
        <p:nvSpPr>
          <p:cNvPr id="31" name="TextBox 30"/>
          <p:cNvSpPr txBox="1"/>
          <p:nvPr/>
        </p:nvSpPr>
        <p:spPr>
          <a:xfrm>
            <a:off x="1273305" y="3783319"/>
            <a:ext cx="377026" cy="523220"/>
          </a:xfrm>
          <a:prstGeom prst="rect">
            <a:avLst/>
          </a:prstGeom>
          <a:noFill/>
        </p:spPr>
        <p:txBody>
          <a:bodyPr wrap="none" rtlCol="0">
            <a:spAutoFit/>
          </a:bodyPr>
          <a:lstStyle/>
          <a:p>
            <a:r>
              <a:rPr lang="en-US" sz="2800" b="1">
                <a:solidFill>
                  <a:srgbClr val="6600CC"/>
                </a:solidFill>
              </a:rPr>
              <a:t>p</a:t>
            </a:r>
            <a:endParaRPr lang="en-US" b="1">
              <a:solidFill>
                <a:srgbClr val="6600CC"/>
              </a:solidFill>
            </a:endParaRPr>
          </a:p>
        </p:txBody>
      </p:sp>
      <p:cxnSp>
        <p:nvCxnSpPr>
          <p:cNvPr id="32" name="直接箭头连接符 31"/>
          <p:cNvCxnSpPr/>
          <p:nvPr/>
        </p:nvCxnSpPr>
        <p:spPr>
          <a:xfrm>
            <a:off x="1648729" y="4193220"/>
            <a:ext cx="1011525" cy="203227"/>
          </a:xfrm>
          <a:prstGeom prst="straightConnector1">
            <a:avLst/>
          </a:prstGeom>
          <a:ln>
            <a:headEnd type="none" w="med" len="med"/>
            <a:tailEnd type="triangle" w="lg" len="lg"/>
          </a:ln>
        </p:spPr>
        <p:style>
          <a:lnRef idx="3">
            <a:schemeClr val="dk1"/>
          </a:lnRef>
          <a:fillRef idx="0">
            <a:schemeClr val="dk1"/>
          </a:fillRef>
          <a:effectRef idx="2">
            <a:schemeClr val="dk1"/>
          </a:effectRef>
          <a:fontRef idx="minor">
            <a:schemeClr val="tx1"/>
          </a:fontRef>
        </p:style>
      </p:cxnSp>
      <p:cxnSp>
        <p:nvCxnSpPr>
          <p:cNvPr id="33" name="直接箭头连接符 32"/>
          <p:cNvCxnSpPr/>
          <p:nvPr/>
        </p:nvCxnSpPr>
        <p:spPr>
          <a:xfrm>
            <a:off x="1614662" y="3532832"/>
            <a:ext cx="567467" cy="300025"/>
          </a:xfrm>
          <a:prstGeom prst="straightConnector1">
            <a:avLst/>
          </a:prstGeom>
          <a:ln>
            <a:headEnd type="none" w="med" len="med"/>
            <a:tailEnd type="triangle" w="lg" len="lg"/>
          </a:ln>
        </p:spPr>
        <p:style>
          <a:lnRef idx="3">
            <a:schemeClr val="dk1"/>
          </a:lnRef>
          <a:fillRef idx="0">
            <a:schemeClr val="dk1"/>
          </a:fillRef>
          <a:effectRef idx="2">
            <a:schemeClr val="dk1"/>
          </a:effectRef>
          <a:fontRef idx="minor">
            <a:schemeClr val="tx1"/>
          </a:fontRef>
        </p:style>
      </p:cxnSp>
      <p:sp>
        <p:nvSpPr>
          <p:cNvPr id="34" name="TextBox 33"/>
          <p:cNvSpPr txBox="1"/>
          <p:nvPr/>
        </p:nvSpPr>
        <p:spPr>
          <a:xfrm>
            <a:off x="1258913" y="3284984"/>
            <a:ext cx="306494" cy="553998"/>
          </a:xfrm>
          <a:prstGeom prst="rect">
            <a:avLst/>
          </a:prstGeom>
          <a:noFill/>
        </p:spPr>
        <p:txBody>
          <a:bodyPr wrap="none" rtlCol="0">
            <a:spAutoFit/>
          </a:bodyPr>
          <a:lstStyle/>
          <a:p>
            <a:r>
              <a:rPr lang="en-US" altLang="zh-CN" sz="3000" b="1">
                <a:solidFill>
                  <a:srgbClr val="6600CC"/>
                </a:solidFill>
              </a:rPr>
              <a:t>f</a:t>
            </a:r>
            <a:endParaRPr lang="en-US" sz="3000" b="1">
              <a:solidFill>
                <a:srgbClr val="6600CC"/>
              </a:solidFill>
            </a:endParaRPr>
          </a:p>
        </p:txBody>
      </p:sp>
    </p:spTree>
    <p:extLst>
      <p:ext uri="{BB962C8B-B14F-4D97-AF65-F5344CB8AC3E}">
        <p14:creationId xmlns:p14="http://schemas.microsoft.com/office/powerpoint/2010/main" val="2057479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1" grpId="0"/>
      <p:bldP spid="34"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07504" y="6663"/>
            <a:ext cx="8229600" cy="936104"/>
          </a:xfrm>
        </p:spPr>
        <p:txBody>
          <a:bodyPr>
            <a:normAutofit/>
          </a:bodyPr>
          <a:lstStyle/>
          <a:p>
            <a:pPr algn="l"/>
            <a:r>
              <a:rPr lang="en-US" altLang="en-US" sz="3200" dirty="0">
                <a:latin typeface="华文新魏" panose="02010800040101010101" pitchFamily="2" charset="-122"/>
                <a:ea typeface="华文新魏" panose="02010800040101010101" pitchFamily="2" charset="-122"/>
              </a:rPr>
              <a:t>BST</a:t>
            </a:r>
            <a:r>
              <a:rPr lang="zh-CN" altLang="en-US" sz="3200" dirty="0">
                <a:latin typeface="华文新魏" panose="02010800040101010101" pitchFamily="2" charset="-122"/>
                <a:ea typeface="华文新魏" panose="02010800040101010101" pitchFamily="2" charset="-122"/>
              </a:rPr>
              <a:t>上结点</a:t>
            </a:r>
            <a:r>
              <a:rPr lang="en-US" altLang="en-US" sz="3200" dirty="0" err="1">
                <a:latin typeface="华文新魏" panose="02010800040101010101" pitchFamily="2" charset="-122"/>
                <a:ea typeface="华文新魏" panose="02010800040101010101" pitchFamily="2" charset="-122"/>
              </a:rPr>
              <a:t>的删除</a:t>
            </a:r>
            <a:r>
              <a:rPr lang="en-US" altLang="en-US" sz="3200" dirty="0">
                <a:latin typeface="华文新魏" panose="02010800040101010101" pitchFamily="2" charset="-122"/>
                <a:ea typeface="华文新魏" panose="02010800040101010101" pitchFamily="2" charset="-122"/>
              </a:rPr>
              <a:t>-I</a:t>
            </a:r>
            <a:r>
              <a:rPr lang="en-US" altLang="zh-CN" sz="3200" dirty="0">
                <a:latin typeface="华文新魏" panose="02010800040101010101" pitchFamily="2" charset="-122"/>
                <a:ea typeface="华文新魏" panose="02010800040101010101" pitchFamily="2" charset="-122"/>
              </a:rPr>
              <a:t>V</a:t>
            </a:r>
            <a:endParaRPr lang="zh-CN" altLang="en-US" sz="3200" dirty="0">
              <a:latin typeface="华文新魏" panose="02010800040101010101" pitchFamily="2" charset="-122"/>
              <a:ea typeface="华文新魏" panose="02010800040101010101" pitchFamily="2" charset="-122"/>
            </a:endParaRPr>
          </a:p>
        </p:txBody>
      </p:sp>
      <p:sp>
        <p:nvSpPr>
          <p:cNvPr id="3" name="内容占位符 2"/>
          <p:cNvSpPr>
            <a:spLocks noGrp="1"/>
          </p:cNvSpPr>
          <p:nvPr>
            <p:ph idx="1"/>
          </p:nvPr>
        </p:nvSpPr>
        <p:spPr>
          <a:xfrm>
            <a:off x="179512" y="861428"/>
            <a:ext cx="8784976" cy="2351548"/>
          </a:xfrm>
        </p:spPr>
        <p:txBody>
          <a:bodyPr>
            <a:normAutofit/>
          </a:bodyPr>
          <a:lstStyle/>
          <a:p>
            <a:r>
              <a:rPr lang="zh-CN" altLang="en-US" sz="2400" dirty="0">
                <a:latin typeface="华文楷体" panose="02010600040101010101" pitchFamily="2" charset="-122"/>
                <a:ea typeface="华文楷体" panose="02010600040101010101" pitchFamily="2" charset="-122"/>
              </a:rPr>
              <a:t>若</a:t>
            </a:r>
            <a:r>
              <a:rPr lang="en-US" altLang="en-US" sz="2400" dirty="0">
                <a:latin typeface="华文楷体" panose="02010600040101010101" pitchFamily="2" charset="-122"/>
                <a:ea typeface="华文楷体" panose="02010600040101010101" pitchFamily="2" charset="-122"/>
              </a:rPr>
              <a:t>p</a:t>
            </a:r>
            <a:r>
              <a:rPr lang="zh-CN" altLang="en-US" sz="2400" dirty="0">
                <a:latin typeface="华文楷体" panose="02010600040101010101" pitchFamily="2" charset="-122"/>
                <a:ea typeface="华文楷体" panose="02010600040101010101" pitchFamily="2" charset="-122"/>
              </a:rPr>
              <a:t>既有左子树又有右子树</a:t>
            </a:r>
            <a:endParaRPr lang="en-US" altLang="zh-CN" sz="2400" dirty="0">
              <a:latin typeface="华文楷体" panose="02010600040101010101" pitchFamily="2" charset="-122"/>
              <a:ea typeface="华文楷体" panose="02010600040101010101" pitchFamily="2" charset="-122"/>
            </a:endParaRPr>
          </a:p>
          <a:p>
            <a:r>
              <a:rPr lang="zh-CN" altLang="en-US" sz="2400" dirty="0">
                <a:latin typeface="华文楷体" panose="02010600040101010101" pitchFamily="2" charset="-122"/>
                <a:ea typeface="华文楷体" panose="02010600040101010101" pitchFamily="2" charset="-122"/>
              </a:rPr>
              <a:t>方法一：</a:t>
            </a:r>
            <a:r>
              <a:rPr lang="zh-CN" altLang="en-US" sz="2400" dirty="0">
                <a:solidFill>
                  <a:srgbClr val="6600CC"/>
                </a:solidFill>
                <a:latin typeface="华文楷体" panose="02010600040101010101" pitchFamily="2" charset="-122"/>
                <a:ea typeface="华文楷体" panose="02010600040101010101" pitchFamily="2" charset="-122"/>
              </a:rPr>
              <a:t>用</a:t>
            </a:r>
            <a:r>
              <a:rPr lang="en-US" altLang="en-US" sz="2400" dirty="0">
                <a:solidFill>
                  <a:srgbClr val="6600CC"/>
                </a:solidFill>
                <a:latin typeface="华文楷体" panose="02010600040101010101" pitchFamily="2" charset="-122"/>
                <a:ea typeface="华文楷体" panose="02010600040101010101" pitchFamily="2" charset="-122"/>
              </a:rPr>
              <a:t>p</a:t>
            </a:r>
            <a:r>
              <a:rPr lang="zh-CN" altLang="en-US" sz="2400" dirty="0">
                <a:solidFill>
                  <a:srgbClr val="6600CC"/>
                </a:solidFill>
                <a:latin typeface="华文楷体" panose="02010600040101010101" pitchFamily="2" charset="-122"/>
                <a:ea typeface="华文楷体" panose="02010600040101010101" pitchFamily="2" charset="-122"/>
              </a:rPr>
              <a:t>的直接前驱</a:t>
            </a:r>
            <a:r>
              <a:rPr lang="en-US" altLang="zh-CN" sz="2400" dirty="0">
                <a:solidFill>
                  <a:srgbClr val="6600CC"/>
                </a:solidFill>
                <a:latin typeface="华文楷体" panose="02010600040101010101" pitchFamily="2" charset="-122"/>
                <a:ea typeface="华文楷体" panose="02010600040101010101" pitchFamily="2" charset="-122"/>
              </a:rPr>
              <a:t>(</a:t>
            </a:r>
            <a:r>
              <a:rPr lang="zh-CN" altLang="en-US" sz="2400" dirty="0">
                <a:solidFill>
                  <a:srgbClr val="6600CC"/>
                </a:solidFill>
                <a:latin typeface="华文楷体" panose="02010600040101010101" pitchFamily="2" charset="-122"/>
                <a:ea typeface="华文楷体" panose="02010600040101010101" pitchFamily="2" charset="-122"/>
              </a:rPr>
              <a:t>或直接后继</a:t>
            </a:r>
            <a:r>
              <a:rPr lang="en-US" altLang="zh-CN" sz="2400" dirty="0">
                <a:solidFill>
                  <a:srgbClr val="6600CC"/>
                </a:solidFill>
                <a:latin typeface="华文楷体" panose="02010600040101010101" pitchFamily="2" charset="-122"/>
                <a:ea typeface="华文楷体" panose="02010600040101010101" pitchFamily="2" charset="-122"/>
              </a:rPr>
              <a:t>)</a:t>
            </a:r>
            <a:r>
              <a:rPr lang="zh-CN" altLang="en-US" sz="2400" dirty="0">
                <a:solidFill>
                  <a:srgbClr val="6600CC"/>
                </a:solidFill>
                <a:latin typeface="华文楷体" panose="02010600040101010101" pitchFamily="2" charset="-122"/>
                <a:ea typeface="华文楷体" panose="02010600040101010101" pitchFamily="2" charset="-122"/>
              </a:rPr>
              <a:t>结点</a:t>
            </a:r>
            <a:r>
              <a:rPr lang="en-US" altLang="zh-CN" sz="2400" dirty="0">
                <a:solidFill>
                  <a:srgbClr val="6600CC"/>
                </a:solidFill>
                <a:latin typeface="华文楷体" panose="02010600040101010101" pitchFamily="2" charset="-122"/>
                <a:ea typeface="华文楷体" panose="02010600040101010101" pitchFamily="2" charset="-122"/>
              </a:rPr>
              <a:t>s</a:t>
            </a:r>
            <a:r>
              <a:rPr lang="zh-CN" altLang="en-US" sz="2400" dirty="0">
                <a:solidFill>
                  <a:srgbClr val="6600CC"/>
                </a:solidFill>
                <a:latin typeface="华文楷体" panose="02010600040101010101" pitchFamily="2" charset="-122"/>
                <a:ea typeface="华文楷体" panose="02010600040101010101" pitchFamily="2" charset="-122"/>
              </a:rPr>
              <a:t>代替</a:t>
            </a:r>
            <a:r>
              <a:rPr lang="en-US" altLang="en-US" sz="2400" dirty="0">
                <a:solidFill>
                  <a:srgbClr val="6600CC"/>
                </a:solidFill>
                <a:latin typeface="华文楷体" panose="02010600040101010101" pitchFamily="2" charset="-122"/>
                <a:ea typeface="华文楷体" panose="02010600040101010101" pitchFamily="2" charset="-122"/>
              </a:rPr>
              <a:t>p</a:t>
            </a:r>
            <a:r>
              <a:rPr lang="zh-CN" altLang="en-US" sz="2400" dirty="0">
                <a:latin typeface="华文楷体" panose="02010600040101010101" pitchFamily="2" charset="-122"/>
                <a:ea typeface="华文楷体" panose="02010600040101010101" pitchFamily="2" charset="-122"/>
              </a:rPr>
              <a:t>，即从</a:t>
            </a:r>
            <a:r>
              <a:rPr lang="en-US" altLang="en-US" sz="2400" dirty="0">
                <a:latin typeface="华文楷体" panose="02010600040101010101" pitchFamily="2" charset="-122"/>
                <a:ea typeface="华文楷体" panose="02010600040101010101" pitchFamily="2" charset="-122"/>
              </a:rPr>
              <a:t>p</a:t>
            </a:r>
            <a:r>
              <a:rPr lang="zh-CN" altLang="en-US" sz="2400" dirty="0">
                <a:latin typeface="华文楷体" panose="02010600040101010101" pitchFamily="2" charset="-122"/>
                <a:ea typeface="华文楷体" panose="02010600040101010101" pitchFamily="2" charset="-122"/>
              </a:rPr>
              <a:t>的左子树中选择值最大的结点</a:t>
            </a:r>
            <a:r>
              <a:rPr lang="en-US" altLang="en-US" sz="2400" dirty="0">
                <a:latin typeface="华文楷体" panose="02010600040101010101" pitchFamily="2" charset="-122"/>
                <a:ea typeface="华文楷体" panose="02010600040101010101" pitchFamily="2" charset="-122"/>
              </a:rPr>
              <a:t>s</a:t>
            </a:r>
            <a:r>
              <a:rPr lang="zh-CN" altLang="en-US" sz="2400" dirty="0">
                <a:latin typeface="华文楷体" panose="02010600040101010101" pitchFamily="2" charset="-122"/>
                <a:ea typeface="华文楷体" panose="02010600040101010101" pitchFamily="2" charset="-122"/>
              </a:rPr>
              <a:t>放在</a:t>
            </a:r>
            <a:r>
              <a:rPr lang="en-US" altLang="en-US" sz="2400" dirty="0">
                <a:latin typeface="华文楷体" panose="02010600040101010101" pitchFamily="2" charset="-122"/>
                <a:ea typeface="华文楷体" panose="02010600040101010101" pitchFamily="2" charset="-122"/>
              </a:rPr>
              <a:t>p</a:t>
            </a:r>
            <a:r>
              <a:rPr lang="zh-CN" altLang="en-US" sz="2400" dirty="0">
                <a:latin typeface="华文楷体" panose="02010600040101010101" pitchFamily="2" charset="-122"/>
                <a:ea typeface="华文楷体" panose="02010600040101010101" pitchFamily="2" charset="-122"/>
              </a:rPr>
              <a:t>的位置</a:t>
            </a:r>
            <a:r>
              <a:rPr lang="en-US" altLang="en-US"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用结点</a:t>
            </a:r>
            <a:r>
              <a:rPr lang="en-US" altLang="en-US" sz="2400" dirty="0">
                <a:latin typeface="华文楷体" panose="02010600040101010101" pitchFamily="2" charset="-122"/>
                <a:ea typeface="华文楷体" panose="02010600040101010101" pitchFamily="2" charset="-122"/>
              </a:rPr>
              <a:t>s</a:t>
            </a:r>
            <a:r>
              <a:rPr lang="zh-CN" altLang="en-US" sz="2400" dirty="0">
                <a:latin typeface="华文楷体" panose="02010600040101010101" pitchFamily="2" charset="-122"/>
                <a:ea typeface="华文楷体" panose="02010600040101010101" pitchFamily="2" charset="-122"/>
              </a:rPr>
              <a:t>的内容替换结点</a:t>
            </a:r>
            <a:r>
              <a:rPr lang="en-US" altLang="en-US" sz="2400" dirty="0">
                <a:latin typeface="华文楷体" panose="02010600040101010101" pitchFamily="2" charset="-122"/>
                <a:ea typeface="华文楷体" panose="02010600040101010101" pitchFamily="2" charset="-122"/>
              </a:rPr>
              <a:t>p</a:t>
            </a:r>
            <a:r>
              <a:rPr lang="zh-CN" altLang="en-US" sz="2400" dirty="0">
                <a:latin typeface="华文楷体" panose="02010600040101010101" pitchFamily="2" charset="-122"/>
                <a:ea typeface="华文楷体" panose="02010600040101010101" pitchFamily="2" charset="-122"/>
              </a:rPr>
              <a:t>内容</a:t>
            </a:r>
            <a:r>
              <a:rPr lang="en-US" altLang="en-US"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a:t>
            </a:r>
            <a:r>
              <a:rPr lang="zh-CN" altLang="en-US" sz="2400" dirty="0">
                <a:solidFill>
                  <a:srgbClr val="6600CC"/>
                </a:solidFill>
                <a:latin typeface="华文楷体" panose="02010600040101010101" pitchFamily="2" charset="-122"/>
                <a:ea typeface="华文楷体" panose="02010600040101010101" pitchFamily="2" charset="-122"/>
              </a:rPr>
              <a:t>然后删除结点</a:t>
            </a:r>
            <a:r>
              <a:rPr lang="en-US" altLang="en-US" sz="2400" dirty="0">
                <a:solidFill>
                  <a:srgbClr val="6600CC"/>
                </a:solidFill>
                <a:latin typeface="华文楷体" panose="02010600040101010101" pitchFamily="2" charset="-122"/>
                <a:ea typeface="华文楷体" panose="02010600040101010101" pitchFamily="2" charset="-122"/>
              </a:rPr>
              <a:t>s</a:t>
            </a:r>
          </a:p>
          <a:p>
            <a:r>
              <a:rPr lang="zh-CN" altLang="en-US" sz="2400" dirty="0">
                <a:latin typeface="华文楷体" panose="02010600040101010101" pitchFamily="2" charset="-122"/>
                <a:ea typeface="华文楷体" panose="02010600040101010101" pitchFamily="2" charset="-122"/>
              </a:rPr>
              <a:t>删除结点</a:t>
            </a:r>
            <a:r>
              <a:rPr lang="en-US" altLang="zh-CN" sz="2400" dirty="0">
                <a:latin typeface="华文楷体" panose="02010600040101010101" pitchFamily="2" charset="-122"/>
                <a:ea typeface="华文楷体" panose="02010600040101010101" pitchFamily="2" charset="-122"/>
              </a:rPr>
              <a:t>12</a:t>
            </a:r>
            <a:r>
              <a:rPr lang="zh-CN" altLang="en-US" sz="2400" dirty="0">
                <a:latin typeface="华文楷体" panose="02010600040101010101" pitchFamily="2" charset="-122"/>
                <a:ea typeface="华文楷体" panose="02010600040101010101" pitchFamily="2" charset="-122"/>
              </a:rPr>
              <a:t>：</a:t>
            </a:r>
            <a:r>
              <a:rPr lang="en-US" altLang="en-US" sz="2400" dirty="0">
                <a:latin typeface="华文楷体" panose="02010600040101010101" pitchFamily="2" charset="-122"/>
                <a:ea typeface="华文楷体" panose="02010600040101010101" pitchFamily="2" charset="-122"/>
              </a:rPr>
              <a:t>s</a:t>
            </a:r>
            <a:r>
              <a:rPr lang="zh-CN" altLang="en-US" sz="2400" dirty="0">
                <a:latin typeface="华文楷体" panose="02010600040101010101" pitchFamily="2" charset="-122"/>
                <a:ea typeface="华文楷体" panose="02010600040101010101" pitchFamily="2" charset="-122"/>
              </a:rPr>
              <a:t>是</a:t>
            </a:r>
            <a:r>
              <a:rPr lang="en-US" altLang="en-US" sz="2400" dirty="0">
                <a:latin typeface="华文楷体" panose="02010600040101010101" pitchFamily="2" charset="-122"/>
                <a:ea typeface="华文楷体" panose="02010600040101010101" pitchFamily="2" charset="-122"/>
              </a:rPr>
              <a:t>p</a:t>
            </a:r>
            <a:r>
              <a:rPr lang="zh-CN" altLang="en-US" sz="2400" dirty="0">
                <a:latin typeface="华文楷体" panose="02010600040101010101" pitchFamily="2" charset="-122"/>
                <a:ea typeface="华文楷体" panose="02010600040101010101" pitchFamily="2" charset="-122"/>
              </a:rPr>
              <a:t>的左子树中的最右边的结点且没有右子树</a:t>
            </a:r>
          </a:p>
        </p:txBody>
      </p:sp>
      <p:sp>
        <p:nvSpPr>
          <p:cNvPr id="2" name="灯片编号占位符 1"/>
          <p:cNvSpPr>
            <a:spLocks noGrp="1"/>
          </p:cNvSpPr>
          <p:nvPr>
            <p:ph type="sldNum" sz="quarter" idx="12"/>
          </p:nvPr>
        </p:nvSpPr>
        <p:spPr>
          <a:xfrm>
            <a:off x="8748797" y="6492875"/>
            <a:ext cx="395536" cy="365125"/>
          </a:xfrm>
        </p:spPr>
        <p:txBody>
          <a:bodyPr/>
          <a:lstStyle/>
          <a:p>
            <a:fld id="{0C913308-F349-4B6D-A68A-DD1791B4A57B}" type="slidenum">
              <a:rPr lang="zh-CN" altLang="en-US" smtClean="0"/>
              <a:pPr/>
              <a:t>51</a:t>
            </a:fld>
            <a:endParaRPr lang="zh-CN" altLang="en-US"/>
          </a:p>
        </p:txBody>
      </p:sp>
      <p:grpSp>
        <p:nvGrpSpPr>
          <p:cNvPr id="8" name="Group 72"/>
          <p:cNvGrpSpPr>
            <a:grpSpLocks/>
          </p:cNvGrpSpPr>
          <p:nvPr/>
        </p:nvGrpSpPr>
        <p:grpSpPr bwMode="auto">
          <a:xfrm>
            <a:off x="1259632" y="3960713"/>
            <a:ext cx="2492375" cy="2060575"/>
            <a:chOff x="0" y="0"/>
            <a:chExt cx="1570" cy="1298"/>
          </a:xfrm>
        </p:grpSpPr>
        <p:sp>
          <p:nvSpPr>
            <p:cNvPr id="10" name="Oval 73"/>
            <p:cNvSpPr>
              <a:spLocks noChangeArrowheads="1"/>
            </p:cNvSpPr>
            <p:nvPr/>
          </p:nvSpPr>
          <p:spPr bwMode="auto">
            <a:xfrm>
              <a:off x="672" y="0"/>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12</a:t>
              </a:r>
            </a:p>
          </p:txBody>
        </p:sp>
        <p:sp>
          <p:nvSpPr>
            <p:cNvPr id="11" name="Oval 74"/>
            <p:cNvSpPr>
              <a:spLocks noChangeArrowheads="1"/>
            </p:cNvSpPr>
            <p:nvPr/>
          </p:nvSpPr>
          <p:spPr bwMode="auto">
            <a:xfrm>
              <a:off x="296" y="343"/>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8</a:t>
              </a:r>
            </a:p>
          </p:txBody>
        </p:sp>
        <p:sp>
          <p:nvSpPr>
            <p:cNvPr id="12" name="Oval 75"/>
            <p:cNvSpPr>
              <a:spLocks noChangeArrowheads="1"/>
            </p:cNvSpPr>
            <p:nvPr/>
          </p:nvSpPr>
          <p:spPr bwMode="auto">
            <a:xfrm>
              <a:off x="0" y="704"/>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6</a:t>
              </a:r>
            </a:p>
          </p:txBody>
        </p:sp>
        <p:sp>
          <p:nvSpPr>
            <p:cNvPr id="13" name="Oval 76"/>
            <p:cNvSpPr>
              <a:spLocks noChangeArrowheads="1"/>
            </p:cNvSpPr>
            <p:nvPr/>
          </p:nvSpPr>
          <p:spPr bwMode="auto">
            <a:xfrm>
              <a:off x="552" y="712"/>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9</a:t>
              </a:r>
            </a:p>
          </p:txBody>
        </p:sp>
        <p:sp>
          <p:nvSpPr>
            <p:cNvPr id="14" name="Oval 77"/>
            <p:cNvSpPr>
              <a:spLocks noChangeArrowheads="1"/>
            </p:cNvSpPr>
            <p:nvPr/>
          </p:nvSpPr>
          <p:spPr bwMode="auto">
            <a:xfrm>
              <a:off x="1056" y="328"/>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15</a:t>
              </a:r>
            </a:p>
          </p:txBody>
        </p:sp>
        <p:sp>
          <p:nvSpPr>
            <p:cNvPr id="15" name="Line 78"/>
            <p:cNvSpPr>
              <a:spLocks noChangeShapeType="1"/>
            </p:cNvSpPr>
            <p:nvPr/>
          </p:nvSpPr>
          <p:spPr bwMode="auto">
            <a:xfrm flipH="1">
              <a:off x="552" y="200"/>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6" name="Line 79"/>
            <p:cNvSpPr>
              <a:spLocks noChangeShapeType="1"/>
            </p:cNvSpPr>
            <p:nvPr/>
          </p:nvSpPr>
          <p:spPr bwMode="auto">
            <a:xfrm>
              <a:off x="936" y="200"/>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7" name="Line 80"/>
            <p:cNvSpPr>
              <a:spLocks noChangeShapeType="1"/>
            </p:cNvSpPr>
            <p:nvPr/>
          </p:nvSpPr>
          <p:spPr bwMode="auto">
            <a:xfrm flipH="1">
              <a:off x="192" y="553"/>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8" name="Line 81"/>
            <p:cNvSpPr>
              <a:spLocks noChangeShapeType="1"/>
            </p:cNvSpPr>
            <p:nvPr/>
          </p:nvSpPr>
          <p:spPr bwMode="auto">
            <a:xfrm>
              <a:off x="504" y="569"/>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 name="Oval 82"/>
            <p:cNvSpPr>
              <a:spLocks noChangeArrowheads="1"/>
            </p:cNvSpPr>
            <p:nvPr/>
          </p:nvSpPr>
          <p:spPr bwMode="auto">
            <a:xfrm>
              <a:off x="936" y="712"/>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13</a:t>
              </a:r>
            </a:p>
          </p:txBody>
        </p:sp>
        <p:sp>
          <p:nvSpPr>
            <p:cNvPr id="20" name="Line 83"/>
            <p:cNvSpPr>
              <a:spLocks noChangeShapeType="1"/>
            </p:cNvSpPr>
            <p:nvPr/>
          </p:nvSpPr>
          <p:spPr bwMode="auto">
            <a:xfrm flipH="1">
              <a:off x="1043" y="553"/>
              <a:ext cx="159"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1" name="Oval 84"/>
            <p:cNvSpPr>
              <a:spLocks noChangeArrowheads="1"/>
            </p:cNvSpPr>
            <p:nvPr/>
          </p:nvSpPr>
          <p:spPr bwMode="auto">
            <a:xfrm>
              <a:off x="1253" y="1071"/>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14</a:t>
              </a:r>
            </a:p>
          </p:txBody>
        </p:sp>
        <p:sp>
          <p:nvSpPr>
            <p:cNvPr id="22" name="Line 85"/>
            <p:cNvSpPr>
              <a:spLocks noChangeShapeType="1"/>
            </p:cNvSpPr>
            <p:nvPr/>
          </p:nvSpPr>
          <p:spPr bwMode="auto">
            <a:xfrm>
              <a:off x="1168" y="928"/>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23" name="AutoShape 88"/>
          <p:cNvSpPr>
            <a:spLocks noChangeArrowheads="1"/>
          </p:cNvSpPr>
          <p:nvPr/>
        </p:nvSpPr>
        <p:spPr bwMode="auto">
          <a:xfrm>
            <a:off x="4258816" y="4547343"/>
            <a:ext cx="482972" cy="364406"/>
          </a:xfrm>
          <a:prstGeom prst="rightArrow">
            <a:avLst>
              <a:gd name="adj1" fmla="val 50000"/>
              <a:gd name="adj2"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endParaRPr lang="en-US" altLang="en-US" sz="1800">
              <a:latin typeface="Times New Roman" pitchFamily="18" charset="0"/>
            </a:endParaRPr>
          </a:p>
        </p:txBody>
      </p:sp>
      <p:grpSp>
        <p:nvGrpSpPr>
          <p:cNvPr id="24" name="Group 6"/>
          <p:cNvGrpSpPr>
            <a:grpSpLocks/>
          </p:cNvGrpSpPr>
          <p:nvPr/>
        </p:nvGrpSpPr>
        <p:grpSpPr bwMode="auto">
          <a:xfrm>
            <a:off x="5364088" y="3819549"/>
            <a:ext cx="2581275" cy="2046288"/>
            <a:chOff x="0" y="0"/>
            <a:chExt cx="1626" cy="1289"/>
          </a:xfrm>
        </p:grpSpPr>
        <p:sp>
          <p:nvSpPr>
            <p:cNvPr id="25" name="Rectangle 7"/>
            <p:cNvSpPr>
              <a:spLocks noChangeArrowheads="1"/>
            </p:cNvSpPr>
            <p:nvPr/>
          </p:nvSpPr>
          <p:spPr bwMode="auto">
            <a:xfrm>
              <a:off x="27" y="1062"/>
              <a:ext cx="1200"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删除结点</a:t>
              </a:r>
              <a:r>
                <a:rPr lang="en-US" altLang="en-US" sz="2000" b="1" dirty="0">
                  <a:latin typeface="Times New Roman" panose="02020603050405020304" pitchFamily="18" charset="0"/>
                  <a:ea typeface="华文楷体" panose="02010600040101010101" pitchFamily="2" charset="-122"/>
                  <a:cs typeface="Times New Roman" panose="02020603050405020304" pitchFamily="18" charset="0"/>
                </a:rPr>
                <a:t>12</a:t>
              </a:r>
            </a:p>
          </p:txBody>
        </p:sp>
        <p:grpSp>
          <p:nvGrpSpPr>
            <p:cNvPr id="26" name="Group 8"/>
            <p:cNvGrpSpPr>
              <a:grpSpLocks/>
            </p:cNvGrpSpPr>
            <p:nvPr/>
          </p:nvGrpSpPr>
          <p:grpSpPr bwMode="auto">
            <a:xfrm>
              <a:off x="0" y="0"/>
              <a:ext cx="1626" cy="1258"/>
              <a:chOff x="0" y="0"/>
              <a:chExt cx="1626" cy="1258"/>
            </a:xfrm>
          </p:grpSpPr>
          <p:sp>
            <p:nvSpPr>
              <p:cNvPr id="27" name="Oval 9"/>
              <p:cNvSpPr>
                <a:spLocks noChangeArrowheads="1"/>
              </p:cNvSpPr>
              <p:nvPr/>
            </p:nvSpPr>
            <p:spPr bwMode="auto">
              <a:xfrm>
                <a:off x="656" y="0"/>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9</a:t>
                </a:r>
              </a:p>
            </p:txBody>
          </p:sp>
          <p:sp>
            <p:nvSpPr>
              <p:cNvPr id="28" name="Oval 10"/>
              <p:cNvSpPr>
                <a:spLocks noChangeArrowheads="1"/>
              </p:cNvSpPr>
              <p:nvPr/>
            </p:nvSpPr>
            <p:spPr bwMode="auto">
              <a:xfrm>
                <a:off x="296" y="343"/>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8</a:t>
                </a:r>
              </a:p>
            </p:txBody>
          </p:sp>
          <p:sp>
            <p:nvSpPr>
              <p:cNvPr id="29" name="Oval 11"/>
              <p:cNvSpPr>
                <a:spLocks noChangeArrowheads="1"/>
              </p:cNvSpPr>
              <p:nvPr/>
            </p:nvSpPr>
            <p:spPr bwMode="auto">
              <a:xfrm>
                <a:off x="0" y="704"/>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6</a:t>
                </a:r>
              </a:p>
            </p:txBody>
          </p:sp>
          <p:sp>
            <p:nvSpPr>
              <p:cNvPr id="30" name="Oval 12"/>
              <p:cNvSpPr>
                <a:spLocks noChangeArrowheads="1"/>
              </p:cNvSpPr>
              <p:nvPr/>
            </p:nvSpPr>
            <p:spPr bwMode="auto">
              <a:xfrm>
                <a:off x="1032" y="328"/>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15</a:t>
                </a:r>
              </a:p>
            </p:txBody>
          </p:sp>
          <p:sp>
            <p:nvSpPr>
              <p:cNvPr id="31" name="Line 13"/>
              <p:cNvSpPr>
                <a:spLocks noChangeShapeType="1"/>
              </p:cNvSpPr>
              <p:nvPr/>
            </p:nvSpPr>
            <p:spPr bwMode="auto">
              <a:xfrm flipH="1">
                <a:off x="536" y="200"/>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2" name="Line 14"/>
              <p:cNvSpPr>
                <a:spLocks noChangeShapeType="1"/>
              </p:cNvSpPr>
              <p:nvPr/>
            </p:nvSpPr>
            <p:spPr bwMode="auto">
              <a:xfrm>
                <a:off x="912" y="200"/>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3" name="Line 15"/>
              <p:cNvSpPr>
                <a:spLocks noChangeShapeType="1"/>
              </p:cNvSpPr>
              <p:nvPr/>
            </p:nvSpPr>
            <p:spPr bwMode="auto">
              <a:xfrm flipH="1">
                <a:off x="192" y="553"/>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4" name="Oval 16"/>
              <p:cNvSpPr>
                <a:spLocks noChangeArrowheads="1"/>
              </p:cNvSpPr>
              <p:nvPr/>
            </p:nvSpPr>
            <p:spPr bwMode="auto">
              <a:xfrm>
                <a:off x="920" y="712"/>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13</a:t>
                </a:r>
              </a:p>
            </p:txBody>
          </p:sp>
          <p:sp>
            <p:nvSpPr>
              <p:cNvPr id="35" name="Line 17"/>
              <p:cNvSpPr>
                <a:spLocks noChangeShapeType="1"/>
              </p:cNvSpPr>
              <p:nvPr/>
            </p:nvSpPr>
            <p:spPr bwMode="auto">
              <a:xfrm flipH="1">
                <a:off x="1027" y="553"/>
                <a:ext cx="159"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6" name="Oval 18"/>
              <p:cNvSpPr>
                <a:spLocks noChangeArrowheads="1"/>
              </p:cNvSpPr>
              <p:nvPr/>
            </p:nvSpPr>
            <p:spPr bwMode="auto">
              <a:xfrm>
                <a:off x="1309" y="1031"/>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14</a:t>
                </a:r>
              </a:p>
            </p:txBody>
          </p:sp>
          <p:sp>
            <p:nvSpPr>
              <p:cNvPr id="37" name="Line 19"/>
              <p:cNvSpPr>
                <a:spLocks noChangeShapeType="1"/>
              </p:cNvSpPr>
              <p:nvPr/>
            </p:nvSpPr>
            <p:spPr bwMode="auto">
              <a:xfrm>
                <a:off x="1189" y="903"/>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sp>
        <p:nvSpPr>
          <p:cNvPr id="38" name="TextBox 37"/>
          <p:cNvSpPr txBox="1"/>
          <p:nvPr/>
        </p:nvSpPr>
        <p:spPr>
          <a:xfrm>
            <a:off x="1244248" y="3933056"/>
            <a:ext cx="377026" cy="523220"/>
          </a:xfrm>
          <a:prstGeom prst="rect">
            <a:avLst/>
          </a:prstGeom>
          <a:noFill/>
        </p:spPr>
        <p:txBody>
          <a:bodyPr wrap="none" rtlCol="0">
            <a:spAutoFit/>
          </a:bodyPr>
          <a:lstStyle/>
          <a:p>
            <a:r>
              <a:rPr lang="en-US" altLang="zh-CN" sz="2800" b="1">
                <a:solidFill>
                  <a:srgbClr val="6600CC"/>
                </a:solidFill>
              </a:rPr>
              <a:t>p</a:t>
            </a:r>
            <a:endParaRPr lang="en-US" b="1">
              <a:solidFill>
                <a:srgbClr val="6600CC"/>
              </a:solidFill>
            </a:endParaRPr>
          </a:p>
        </p:txBody>
      </p:sp>
      <p:cxnSp>
        <p:nvCxnSpPr>
          <p:cNvPr id="39" name="直接箭头连接符 38"/>
          <p:cNvCxnSpPr/>
          <p:nvPr/>
        </p:nvCxnSpPr>
        <p:spPr>
          <a:xfrm flipV="1">
            <a:off x="1564432" y="4143746"/>
            <a:ext cx="858838" cy="55276"/>
          </a:xfrm>
          <a:prstGeom prst="straightConnector1">
            <a:avLst/>
          </a:prstGeom>
          <a:ln>
            <a:headEnd type="none" w="med" len="med"/>
            <a:tailEnd type="triangle" w="lg" len="lg"/>
          </a:ln>
        </p:spPr>
        <p:style>
          <a:lnRef idx="3">
            <a:schemeClr val="dk1"/>
          </a:lnRef>
          <a:fillRef idx="0">
            <a:schemeClr val="dk1"/>
          </a:fillRef>
          <a:effectRef idx="2">
            <a:schemeClr val="dk1"/>
          </a:effectRef>
          <a:fontRef idx="minor">
            <a:schemeClr val="tx1"/>
          </a:fontRef>
        </p:style>
      </p:cxnSp>
      <p:cxnSp>
        <p:nvCxnSpPr>
          <p:cNvPr id="40" name="直接箭头连接符 39"/>
          <p:cNvCxnSpPr/>
          <p:nvPr/>
        </p:nvCxnSpPr>
        <p:spPr>
          <a:xfrm>
            <a:off x="1369683" y="3819549"/>
            <a:ext cx="1136180" cy="247923"/>
          </a:xfrm>
          <a:prstGeom prst="straightConnector1">
            <a:avLst/>
          </a:prstGeom>
          <a:ln>
            <a:headEnd type="none" w="med" len="med"/>
            <a:tailEnd type="triangle" w="lg" len="lg"/>
          </a:ln>
        </p:spPr>
        <p:style>
          <a:lnRef idx="3">
            <a:schemeClr val="dk1"/>
          </a:lnRef>
          <a:fillRef idx="0">
            <a:schemeClr val="dk1"/>
          </a:fillRef>
          <a:effectRef idx="2">
            <a:schemeClr val="dk1"/>
          </a:effectRef>
          <a:fontRef idx="minor">
            <a:schemeClr val="tx1"/>
          </a:fontRef>
        </p:style>
      </p:cxnSp>
      <p:sp>
        <p:nvSpPr>
          <p:cNvPr id="41" name="TextBox 40"/>
          <p:cNvSpPr txBox="1"/>
          <p:nvPr/>
        </p:nvSpPr>
        <p:spPr>
          <a:xfrm>
            <a:off x="1043608" y="3573016"/>
            <a:ext cx="306494" cy="553998"/>
          </a:xfrm>
          <a:prstGeom prst="rect">
            <a:avLst/>
          </a:prstGeom>
          <a:noFill/>
        </p:spPr>
        <p:txBody>
          <a:bodyPr wrap="none" rtlCol="0">
            <a:spAutoFit/>
          </a:bodyPr>
          <a:lstStyle/>
          <a:p>
            <a:r>
              <a:rPr lang="en-US" altLang="zh-CN" sz="3000" b="1">
                <a:solidFill>
                  <a:srgbClr val="6600CC"/>
                </a:solidFill>
              </a:rPr>
              <a:t>f</a:t>
            </a:r>
            <a:endParaRPr lang="en-US" sz="3000" b="1">
              <a:solidFill>
                <a:srgbClr val="6600CC"/>
              </a:solidFill>
            </a:endParaRPr>
          </a:p>
        </p:txBody>
      </p:sp>
    </p:spTree>
    <p:extLst>
      <p:ext uri="{BB962C8B-B14F-4D97-AF65-F5344CB8AC3E}">
        <p14:creationId xmlns:p14="http://schemas.microsoft.com/office/powerpoint/2010/main" val="3122018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38" grpId="0"/>
      <p:bldP spid="41"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35496" y="5755"/>
            <a:ext cx="8229600" cy="936104"/>
          </a:xfrm>
        </p:spPr>
        <p:txBody>
          <a:bodyPr>
            <a:normAutofit/>
          </a:bodyPr>
          <a:lstStyle/>
          <a:p>
            <a:pPr algn="l"/>
            <a:r>
              <a:rPr lang="en-US" altLang="en-US" sz="3200" dirty="0">
                <a:latin typeface="华文新魏" panose="02010800040101010101" pitchFamily="2" charset="-122"/>
                <a:ea typeface="华文新魏" panose="02010800040101010101" pitchFamily="2" charset="-122"/>
              </a:rPr>
              <a:t>BST</a:t>
            </a:r>
            <a:r>
              <a:rPr lang="zh-CN" altLang="en-US" sz="3200" dirty="0">
                <a:latin typeface="华文新魏" panose="02010800040101010101" pitchFamily="2" charset="-122"/>
                <a:ea typeface="华文新魏" panose="02010800040101010101" pitchFamily="2" charset="-122"/>
              </a:rPr>
              <a:t>上结点</a:t>
            </a:r>
            <a:r>
              <a:rPr lang="en-US" altLang="en-US" sz="3200" dirty="0" err="1">
                <a:latin typeface="华文新魏" panose="02010800040101010101" pitchFamily="2" charset="-122"/>
                <a:ea typeface="华文新魏" panose="02010800040101010101" pitchFamily="2" charset="-122"/>
              </a:rPr>
              <a:t>的删除</a:t>
            </a:r>
            <a:r>
              <a:rPr lang="en-US" altLang="en-US" sz="3200" dirty="0">
                <a:latin typeface="华文新魏" panose="02010800040101010101" pitchFamily="2" charset="-122"/>
                <a:ea typeface="华文新魏" panose="02010800040101010101" pitchFamily="2" charset="-122"/>
              </a:rPr>
              <a:t>-</a:t>
            </a:r>
            <a:r>
              <a:rPr lang="en-US" altLang="zh-CN" sz="3200" dirty="0">
                <a:latin typeface="华文新魏" panose="02010800040101010101" pitchFamily="2" charset="-122"/>
                <a:ea typeface="华文新魏" panose="02010800040101010101" pitchFamily="2" charset="-122"/>
              </a:rPr>
              <a:t>V</a:t>
            </a:r>
            <a:endParaRPr lang="zh-CN" altLang="en-US" sz="3200" dirty="0">
              <a:latin typeface="华文新魏" panose="02010800040101010101" pitchFamily="2" charset="-122"/>
              <a:ea typeface="华文新魏" panose="02010800040101010101" pitchFamily="2" charset="-122"/>
            </a:endParaRPr>
          </a:p>
        </p:txBody>
      </p:sp>
      <p:sp>
        <p:nvSpPr>
          <p:cNvPr id="2" name="内容占位符 1"/>
          <p:cNvSpPr>
            <a:spLocks noGrp="1"/>
          </p:cNvSpPr>
          <p:nvPr>
            <p:ph idx="1"/>
          </p:nvPr>
        </p:nvSpPr>
        <p:spPr>
          <a:xfrm>
            <a:off x="52412" y="941859"/>
            <a:ext cx="8840068" cy="1925338"/>
          </a:xfrm>
        </p:spPr>
        <p:txBody>
          <a:bodyPr>
            <a:normAutofit/>
          </a:bodyPr>
          <a:lstStyle/>
          <a:p>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若</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p</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既有左子树又有右子树</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方法二：令</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p</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的左子树为</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f</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的左子树，而</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p</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的右子树为</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s</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的右子树，</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 s</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是</a:t>
            </a:r>
            <a:r>
              <a:rPr lang="en-US" altLang="en-US" sz="2400" dirty="0">
                <a:latin typeface="Times New Roman" panose="02020603050405020304" pitchFamily="18" charset="0"/>
                <a:ea typeface="华文楷体" panose="02010600040101010101" pitchFamily="2" charset="-122"/>
                <a:cs typeface="Times New Roman" panose="02020603050405020304" pitchFamily="18" charset="0"/>
              </a:rPr>
              <a:t>p</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的左子树中的最右边的结点且没有右子树</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删除结点</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12</a:t>
            </a:r>
            <a:endParaRPr 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 name="灯片编号占位符 2"/>
          <p:cNvSpPr>
            <a:spLocks noGrp="1"/>
          </p:cNvSpPr>
          <p:nvPr>
            <p:ph type="sldNum" sz="quarter" idx="12"/>
          </p:nvPr>
        </p:nvSpPr>
        <p:spPr/>
        <p:txBody>
          <a:bodyPr/>
          <a:lstStyle/>
          <a:p>
            <a:fld id="{0C913308-F349-4B6D-A68A-DD1791B4A57B}" type="slidenum">
              <a:rPr lang="zh-CN" altLang="en-US" smtClean="0"/>
              <a:pPr/>
              <a:t>52</a:t>
            </a:fld>
            <a:endParaRPr lang="zh-CN" altLang="en-US"/>
          </a:p>
        </p:txBody>
      </p:sp>
      <p:grpSp>
        <p:nvGrpSpPr>
          <p:cNvPr id="7" name="Group 72"/>
          <p:cNvGrpSpPr>
            <a:grpSpLocks/>
          </p:cNvGrpSpPr>
          <p:nvPr/>
        </p:nvGrpSpPr>
        <p:grpSpPr bwMode="auto">
          <a:xfrm>
            <a:off x="1547664" y="3886051"/>
            <a:ext cx="2492375" cy="2060575"/>
            <a:chOff x="0" y="0"/>
            <a:chExt cx="1570" cy="1298"/>
          </a:xfrm>
        </p:grpSpPr>
        <p:sp>
          <p:nvSpPr>
            <p:cNvPr id="8" name="Oval 73"/>
            <p:cNvSpPr>
              <a:spLocks noChangeArrowheads="1"/>
            </p:cNvSpPr>
            <p:nvPr/>
          </p:nvSpPr>
          <p:spPr bwMode="auto">
            <a:xfrm>
              <a:off x="672" y="0"/>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12</a:t>
              </a:r>
            </a:p>
          </p:txBody>
        </p:sp>
        <p:sp>
          <p:nvSpPr>
            <p:cNvPr id="9" name="Oval 74"/>
            <p:cNvSpPr>
              <a:spLocks noChangeArrowheads="1"/>
            </p:cNvSpPr>
            <p:nvPr/>
          </p:nvSpPr>
          <p:spPr bwMode="auto">
            <a:xfrm>
              <a:off x="296" y="343"/>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8</a:t>
              </a:r>
            </a:p>
          </p:txBody>
        </p:sp>
        <p:sp>
          <p:nvSpPr>
            <p:cNvPr id="10" name="Oval 75"/>
            <p:cNvSpPr>
              <a:spLocks noChangeArrowheads="1"/>
            </p:cNvSpPr>
            <p:nvPr/>
          </p:nvSpPr>
          <p:spPr bwMode="auto">
            <a:xfrm>
              <a:off x="0" y="704"/>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6</a:t>
              </a:r>
            </a:p>
          </p:txBody>
        </p:sp>
        <p:sp>
          <p:nvSpPr>
            <p:cNvPr id="11" name="Oval 76"/>
            <p:cNvSpPr>
              <a:spLocks noChangeArrowheads="1"/>
            </p:cNvSpPr>
            <p:nvPr/>
          </p:nvSpPr>
          <p:spPr bwMode="auto">
            <a:xfrm>
              <a:off x="552" y="712"/>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9</a:t>
              </a:r>
            </a:p>
          </p:txBody>
        </p:sp>
        <p:sp>
          <p:nvSpPr>
            <p:cNvPr id="12" name="Oval 77"/>
            <p:cNvSpPr>
              <a:spLocks noChangeArrowheads="1"/>
            </p:cNvSpPr>
            <p:nvPr/>
          </p:nvSpPr>
          <p:spPr bwMode="auto">
            <a:xfrm>
              <a:off x="1056" y="328"/>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15</a:t>
              </a:r>
            </a:p>
          </p:txBody>
        </p:sp>
        <p:sp>
          <p:nvSpPr>
            <p:cNvPr id="13" name="Line 78"/>
            <p:cNvSpPr>
              <a:spLocks noChangeShapeType="1"/>
            </p:cNvSpPr>
            <p:nvPr/>
          </p:nvSpPr>
          <p:spPr bwMode="auto">
            <a:xfrm flipH="1">
              <a:off x="552" y="200"/>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4" name="Line 79"/>
            <p:cNvSpPr>
              <a:spLocks noChangeShapeType="1"/>
            </p:cNvSpPr>
            <p:nvPr/>
          </p:nvSpPr>
          <p:spPr bwMode="auto">
            <a:xfrm>
              <a:off x="936" y="200"/>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 name="Line 80"/>
            <p:cNvSpPr>
              <a:spLocks noChangeShapeType="1"/>
            </p:cNvSpPr>
            <p:nvPr/>
          </p:nvSpPr>
          <p:spPr bwMode="auto">
            <a:xfrm flipH="1">
              <a:off x="192" y="553"/>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6" name="Line 81"/>
            <p:cNvSpPr>
              <a:spLocks noChangeShapeType="1"/>
            </p:cNvSpPr>
            <p:nvPr/>
          </p:nvSpPr>
          <p:spPr bwMode="auto">
            <a:xfrm>
              <a:off x="504" y="569"/>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7" name="Oval 82"/>
            <p:cNvSpPr>
              <a:spLocks noChangeArrowheads="1"/>
            </p:cNvSpPr>
            <p:nvPr/>
          </p:nvSpPr>
          <p:spPr bwMode="auto">
            <a:xfrm>
              <a:off x="936" y="712"/>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13</a:t>
              </a:r>
            </a:p>
          </p:txBody>
        </p:sp>
        <p:sp>
          <p:nvSpPr>
            <p:cNvPr id="18" name="Line 83"/>
            <p:cNvSpPr>
              <a:spLocks noChangeShapeType="1"/>
            </p:cNvSpPr>
            <p:nvPr/>
          </p:nvSpPr>
          <p:spPr bwMode="auto">
            <a:xfrm flipH="1">
              <a:off x="1043" y="553"/>
              <a:ext cx="159"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 name="Oval 84"/>
            <p:cNvSpPr>
              <a:spLocks noChangeArrowheads="1"/>
            </p:cNvSpPr>
            <p:nvPr/>
          </p:nvSpPr>
          <p:spPr bwMode="auto">
            <a:xfrm>
              <a:off x="1253" y="1071"/>
              <a:ext cx="317" cy="22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14</a:t>
              </a:r>
            </a:p>
          </p:txBody>
        </p:sp>
        <p:sp>
          <p:nvSpPr>
            <p:cNvPr id="20" name="Line 85"/>
            <p:cNvSpPr>
              <a:spLocks noChangeShapeType="1"/>
            </p:cNvSpPr>
            <p:nvPr/>
          </p:nvSpPr>
          <p:spPr bwMode="auto">
            <a:xfrm>
              <a:off x="1168" y="928"/>
              <a:ext cx="181" cy="1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21" name="AutoShape 88"/>
          <p:cNvSpPr>
            <a:spLocks noChangeArrowheads="1"/>
          </p:cNvSpPr>
          <p:nvPr/>
        </p:nvSpPr>
        <p:spPr bwMode="auto">
          <a:xfrm>
            <a:off x="4546848" y="4472681"/>
            <a:ext cx="482972" cy="364406"/>
          </a:xfrm>
          <a:prstGeom prst="rightArrow">
            <a:avLst>
              <a:gd name="adj1" fmla="val 50000"/>
              <a:gd name="adj2"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endParaRPr lang="en-US" altLang="en-US" sz="1800">
              <a:latin typeface="Times New Roman" pitchFamily="18" charset="0"/>
            </a:endParaRPr>
          </a:p>
        </p:txBody>
      </p:sp>
      <p:sp>
        <p:nvSpPr>
          <p:cNvPr id="22" name="TextBox 37"/>
          <p:cNvSpPr txBox="1"/>
          <p:nvPr/>
        </p:nvSpPr>
        <p:spPr>
          <a:xfrm>
            <a:off x="1532280" y="3858394"/>
            <a:ext cx="377026" cy="523220"/>
          </a:xfrm>
          <a:prstGeom prst="rect">
            <a:avLst/>
          </a:prstGeom>
          <a:noFill/>
        </p:spPr>
        <p:txBody>
          <a:bodyPr wrap="none" rtlCol="0">
            <a:spAutoFit/>
          </a:bodyPr>
          <a:lstStyle/>
          <a:p>
            <a:r>
              <a:rPr lang="en-US" altLang="zh-CN" sz="2800" b="1">
                <a:solidFill>
                  <a:srgbClr val="6600CC"/>
                </a:solidFill>
              </a:rPr>
              <a:t>p</a:t>
            </a:r>
            <a:endParaRPr lang="en-US" b="1">
              <a:solidFill>
                <a:srgbClr val="6600CC"/>
              </a:solidFill>
            </a:endParaRPr>
          </a:p>
        </p:txBody>
      </p:sp>
      <p:cxnSp>
        <p:nvCxnSpPr>
          <p:cNvPr id="23" name="直接箭头连接符 22"/>
          <p:cNvCxnSpPr/>
          <p:nvPr/>
        </p:nvCxnSpPr>
        <p:spPr>
          <a:xfrm flipV="1">
            <a:off x="1852464" y="4069084"/>
            <a:ext cx="858838" cy="55276"/>
          </a:xfrm>
          <a:prstGeom prst="straightConnector1">
            <a:avLst/>
          </a:prstGeom>
          <a:ln>
            <a:headEnd type="none" w="med" len="med"/>
            <a:tailEnd type="triangle" w="lg" len="lg"/>
          </a:ln>
        </p:spPr>
        <p:style>
          <a:lnRef idx="3">
            <a:schemeClr val="dk1"/>
          </a:lnRef>
          <a:fillRef idx="0">
            <a:schemeClr val="dk1"/>
          </a:fillRef>
          <a:effectRef idx="2">
            <a:schemeClr val="dk1"/>
          </a:effectRef>
          <a:fontRef idx="minor">
            <a:schemeClr val="tx1"/>
          </a:fontRef>
        </p:style>
      </p:cxnSp>
      <p:cxnSp>
        <p:nvCxnSpPr>
          <p:cNvPr id="24" name="直接箭头连接符 23"/>
          <p:cNvCxnSpPr/>
          <p:nvPr/>
        </p:nvCxnSpPr>
        <p:spPr>
          <a:xfrm>
            <a:off x="1657715" y="3744887"/>
            <a:ext cx="1136180" cy="247923"/>
          </a:xfrm>
          <a:prstGeom prst="straightConnector1">
            <a:avLst/>
          </a:prstGeom>
          <a:ln>
            <a:headEnd type="none" w="med" len="med"/>
            <a:tailEnd type="triangle" w="lg" len="lg"/>
          </a:ln>
        </p:spPr>
        <p:style>
          <a:lnRef idx="3">
            <a:schemeClr val="dk1"/>
          </a:lnRef>
          <a:fillRef idx="0">
            <a:schemeClr val="dk1"/>
          </a:fillRef>
          <a:effectRef idx="2">
            <a:schemeClr val="dk1"/>
          </a:effectRef>
          <a:fontRef idx="minor">
            <a:schemeClr val="tx1"/>
          </a:fontRef>
        </p:style>
      </p:cxnSp>
      <p:sp>
        <p:nvSpPr>
          <p:cNvPr id="25" name="TextBox 40"/>
          <p:cNvSpPr txBox="1"/>
          <p:nvPr/>
        </p:nvSpPr>
        <p:spPr>
          <a:xfrm>
            <a:off x="1331640" y="3498354"/>
            <a:ext cx="306494" cy="553998"/>
          </a:xfrm>
          <a:prstGeom prst="rect">
            <a:avLst/>
          </a:prstGeom>
          <a:noFill/>
        </p:spPr>
        <p:txBody>
          <a:bodyPr wrap="none" rtlCol="0">
            <a:spAutoFit/>
          </a:bodyPr>
          <a:lstStyle/>
          <a:p>
            <a:r>
              <a:rPr lang="en-US" altLang="zh-CN" sz="3000" b="1">
                <a:solidFill>
                  <a:srgbClr val="6600CC"/>
                </a:solidFill>
              </a:rPr>
              <a:t>f</a:t>
            </a:r>
            <a:endParaRPr lang="en-US" sz="3000" b="1">
              <a:solidFill>
                <a:srgbClr val="6600CC"/>
              </a:solidFill>
            </a:endParaRPr>
          </a:p>
        </p:txBody>
      </p:sp>
      <p:sp>
        <p:nvSpPr>
          <p:cNvPr id="27" name="Rectangle 7"/>
          <p:cNvSpPr>
            <a:spLocks noChangeArrowheads="1"/>
          </p:cNvSpPr>
          <p:nvPr/>
        </p:nvSpPr>
        <p:spPr bwMode="auto">
          <a:xfrm>
            <a:off x="709464" y="5550259"/>
            <a:ext cx="1905000"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zh-CN" altLang="en-US" sz="2000" b="1" dirty="0">
                <a:latin typeface="华文楷体" panose="02010600040101010101" pitchFamily="2" charset="-122"/>
                <a:ea typeface="华文楷体" panose="02010600040101010101" pitchFamily="2" charset="-122"/>
              </a:rPr>
              <a:t>删除结点</a:t>
            </a:r>
            <a:r>
              <a:rPr lang="en-US" altLang="en-US" sz="2000" b="1" dirty="0">
                <a:latin typeface="华文楷体" panose="02010600040101010101" pitchFamily="2" charset="-122"/>
                <a:ea typeface="华文楷体" panose="02010600040101010101" pitchFamily="2" charset="-122"/>
              </a:rPr>
              <a:t>12</a:t>
            </a:r>
          </a:p>
        </p:txBody>
      </p:sp>
      <p:grpSp>
        <p:nvGrpSpPr>
          <p:cNvPr id="40" name="组合 39"/>
          <p:cNvGrpSpPr/>
          <p:nvPr/>
        </p:nvGrpSpPr>
        <p:grpSpPr>
          <a:xfrm>
            <a:off x="5738018" y="3212976"/>
            <a:ext cx="2495378" cy="2528987"/>
            <a:chOff x="5738018" y="4079726"/>
            <a:chExt cx="2495378" cy="2528987"/>
          </a:xfrm>
        </p:grpSpPr>
        <p:sp>
          <p:nvSpPr>
            <p:cNvPr id="29" name="Oval 9"/>
            <p:cNvSpPr>
              <a:spLocks noChangeArrowheads="1"/>
            </p:cNvSpPr>
            <p:nvPr/>
          </p:nvSpPr>
          <p:spPr bwMode="auto">
            <a:xfrm>
              <a:off x="6693520" y="4611637"/>
              <a:ext cx="503238" cy="36036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9</a:t>
              </a:r>
            </a:p>
          </p:txBody>
        </p:sp>
        <p:sp>
          <p:nvSpPr>
            <p:cNvPr id="30" name="Oval 10"/>
            <p:cNvSpPr>
              <a:spLocks noChangeArrowheads="1"/>
            </p:cNvSpPr>
            <p:nvPr/>
          </p:nvSpPr>
          <p:spPr bwMode="auto">
            <a:xfrm>
              <a:off x="6207918" y="4079726"/>
              <a:ext cx="503238" cy="36036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8</a:t>
              </a:r>
            </a:p>
          </p:txBody>
        </p:sp>
        <p:sp>
          <p:nvSpPr>
            <p:cNvPr id="31" name="Oval 11"/>
            <p:cNvSpPr>
              <a:spLocks noChangeArrowheads="1"/>
            </p:cNvSpPr>
            <p:nvPr/>
          </p:nvSpPr>
          <p:spPr bwMode="auto">
            <a:xfrm>
              <a:off x="5738018" y="4652813"/>
              <a:ext cx="503238" cy="36036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algn="ctr" eaLnBrk="1" hangingPunct="1">
                <a:spcBef>
                  <a:spcPct val="0"/>
                </a:spcBef>
                <a:buClrTx/>
                <a:buSzTx/>
                <a:buFontTx/>
                <a:buNone/>
              </a:pPr>
              <a:r>
                <a:rPr lang="en-US" altLang="en-US" sz="2400" b="1">
                  <a:latin typeface="Times New Roman" pitchFamily="18" charset="0"/>
                </a:rPr>
                <a:t>6</a:t>
              </a:r>
            </a:p>
          </p:txBody>
        </p:sp>
        <p:sp>
          <p:nvSpPr>
            <p:cNvPr id="32" name="Oval 12"/>
            <p:cNvSpPr>
              <a:spLocks noChangeArrowheads="1"/>
            </p:cNvSpPr>
            <p:nvPr/>
          </p:nvSpPr>
          <p:spPr bwMode="auto">
            <a:xfrm>
              <a:off x="7290420" y="5132337"/>
              <a:ext cx="503238" cy="36036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15</a:t>
              </a:r>
            </a:p>
          </p:txBody>
        </p:sp>
        <p:sp>
          <p:nvSpPr>
            <p:cNvPr id="33" name="Line 13"/>
            <p:cNvSpPr>
              <a:spLocks noChangeShapeType="1"/>
            </p:cNvSpPr>
            <p:nvPr/>
          </p:nvSpPr>
          <p:spPr bwMode="auto">
            <a:xfrm flipH="1" flipV="1">
              <a:off x="6660232" y="4402087"/>
              <a:ext cx="216024" cy="2095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4" name="Line 14"/>
            <p:cNvSpPr>
              <a:spLocks noChangeShapeType="1"/>
            </p:cNvSpPr>
            <p:nvPr/>
          </p:nvSpPr>
          <p:spPr bwMode="auto">
            <a:xfrm>
              <a:off x="7099920" y="4929137"/>
              <a:ext cx="287338" cy="2524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5" name="Line 15"/>
            <p:cNvSpPr>
              <a:spLocks noChangeShapeType="1"/>
            </p:cNvSpPr>
            <p:nvPr/>
          </p:nvSpPr>
          <p:spPr bwMode="auto">
            <a:xfrm flipH="1">
              <a:off x="6042818" y="4413101"/>
              <a:ext cx="287338" cy="2524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6" name="Oval 16"/>
            <p:cNvSpPr>
              <a:spLocks noChangeArrowheads="1"/>
            </p:cNvSpPr>
            <p:nvPr/>
          </p:nvSpPr>
          <p:spPr bwMode="auto">
            <a:xfrm>
              <a:off x="7112620" y="5741937"/>
              <a:ext cx="503238" cy="36036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13</a:t>
              </a:r>
            </a:p>
          </p:txBody>
        </p:sp>
        <p:sp>
          <p:nvSpPr>
            <p:cNvPr id="37" name="Line 17"/>
            <p:cNvSpPr>
              <a:spLocks noChangeShapeType="1"/>
            </p:cNvSpPr>
            <p:nvPr/>
          </p:nvSpPr>
          <p:spPr bwMode="auto">
            <a:xfrm flipH="1">
              <a:off x="7282483" y="5489525"/>
              <a:ext cx="252413" cy="2524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8" name="Oval 18"/>
            <p:cNvSpPr>
              <a:spLocks noChangeArrowheads="1"/>
            </p:cNvSpPr>
            <p:nvPr/>
          </p:nvSpPr>
          <p:spPr bwMode="auto">
            <a:xfrm>
              <a:off x="7730158" y="6248350"/>
              <a:ext cx="503238" cy="36036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hlink"/>
                </a:buClr>
                <a:buSzPct val="60000"/>
                <a:buFont typeface="Wingdings" pitchFamily="2" charset="2"/>
                <a:buChar char="n"/>
                <a:defRPr sz="3200">
                  <a:solidFill>
                    <a:schemeClr val="tx1"/>
                  </a:solidFill>
                  <a:latin typeface="Verdana" pitchFamily="34" charset="0"/>
                  <a:ea typeface="宋体" pitchFamily="2" charset="-122"/>
                </a:defRPr>
              </a:lvl1pPr>
              <a:lvl2pPr marL="742950" indent="-285750" eaLnBrk="0" hangingPunct="0">
                <a:spcBef>
                  <a:spcPct val="20000"/>
                </a:spcBef>
                <a:buClr>
                  <a:schemeClr val="tx1"/>
                </a:buClr>
                <a:buChar char="•"/>
                <a:defRPr sz="2800">
                  <a:solidFill>
                    <a:schemeClr val="tx1"/>
                  </a:solidFill>
                  <a:latin typeface="Verdana" pitchFamily="34" charset="0"/>
                  <a:ea typeface="宋体" pitchFamily="2" charset="-122"/>
                </a:defRPr>
              </a:lvl2pPr>
              <a:lvl3pPr marL="1143000" indent="-228600" eaLnBrk="0" hangingPunct="0">
                <a:spcBef>
                  <a:spcPct val="20000"/>
                </a:spcBef>
                <a:buClr>
                  <a:schemeClr val="accent2"/>
                </a:buClr>
                <a:buSzPct val="60000"/>
                <a:buFont typeface="Wingdings" pitchFamily="2" charset="2"/>
                <a:buChar char="n"/>
                <a:defRPr sz="2400">
                  <a:solidFill>
                    <a:schemeClr val="tx1"/>
                  </a:solidFill>
                  <a:latin typeface="Verdana" pitchFamily="34" charset="0"/>
                  <a:ea typeface="宋体" pitchFamily="2" charset="-122"/>
                </a:defRPr>
              </a:lvl3pPr>
              <a:lvl4pPr marL="1600200" indent="-228600" eaLnBrk="0" hangingPunct="0">
                <a:spcBef>
                  <a:spcPct val="20000"/>
                </a:spcBef>
                <a:buClr>
                  <a:schemeClr val="tx2"/>
                </a:buClr>
                <a:buChar char="•"/>
                <a:defRPr sz="2000">
                  <a:solidFill>
                    <a:schemeClr val="tx1"/>
                  </a:solidFill>
                  <a:latin typeface="Verdana" pitchFamily="34" charset="0"/>
                  <a:ea typeface="宋体" pitchFamily="2" charset="-122"/>
                </a:defRPr>
              </a:lvl4pPr>
              <a:lvl5pPr marL="2057400" indent="-228600" eaLnBrk="0" hangingPunct="0">
                <a:spcBef>
                  <a:spcPct val="20000"/>
                </a:spcBef>
                <a:buClr>
                  <a:schemeClr val="folHlink"/>
                </a:buClr>
                <a:buSzPct val="60000"/>
                <a:buFont typeface="Wingdings" pitchFamily="2" charset="2"/>
                <a:buChar char="n"/>
                <a:defRPr sz="2000">
                  <a:solidFill>
                    <a:schemeClr val="tx1"/>
                  </a:solidFill>
                  <a:latin typeface="Verdana" pitchFamily="34" charset="0"/>
                  <a:ea typeface="宋体"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pitchFamily="2" charset="-122"/>
                </a:defRPr>
              </a:lvl9pPr>
            </a:lstStyle>
            <a:p>
              <a:pPr eaLnBrk="1" hangingPunct="1">
                <a:spcBef>
                  <a:spcPct val="0"/>
                </a:spcBef>
                <a:buClrTx/>
                <a:buSzTx/>
                <a:buFontTx/>
                <a:buNone/>
              </a:pPr>
              <a:r>
                <a:rPr lang="en-US" altLang="en-US" sz="2400" b="1">
                  <a:latin typeface="Times New Roman" pitchFamily="18" charset="0"/>
                </a:rPr>
                <a:t>14</a:t>
              </a:r>
            </a:p>
          </p:txBody>
        </p:sp>
        <p:sp>
          <p:nvSpPr>
            <p:cNvPr id="39" name="Line 19"/>
            <p:cNvSpPr>
              <a:spLocks noChangeShapeType="1"/>
            </p:cNvSpPr>
            <p:nvPr/>
          </p:nvSpPr>
          <p:spPr bwMode="auto">
            <a:xfrm>
              <a:off x="7539658" y="6045150"/>
              <a:ext cx="287338" cy="2524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Tree>
    <p:extLst>
      <p:ext uri="{BB962C8B-B14F-4D97-AF65-F5344CB8AC3E}">
        <p14:creationId xmlns:p14="http://schemas.microsoft.com/office/powerpoint/2010/main" val="716796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p:bldP spid="25" grpId="0"/>
      <p:bldP spid="27"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5496" y="22312"/>
            <a:ext cx="8229600" cy="620688"/>
          </a:xfrm>
        </p:spPr>
        <p:txBody>
          <a:bodyPr>
            <a:normAutofit/>
          </a:bodyPr>
          <a:lstStyle/>
          <a:p>
            <a:pPr algn="l"/>
            <a:r>
              <a:rPr lang="zh-CN" altLang="en-US" sz="3200" dirty="0">
                <a:latin typeface="华文新魏" panose="02010800040101010101" pitchFamily="2" charset="-122"/>
                <a:ea typeface="华文新魏" panose="02010800040101010101" pitchFamily="2" charset="-122"/>
              </a:rPr>
              <a:t>算法实现</a:t>
            </a:r>
            <a:endParaRPr lang="en-US" sz="3200" dirty="0">
              <a:latin typeface="华文新魏" panose="02010800040101010101" pitchFamily="2" charset="-122"/>
              <a:ea typeface="华文新魏" panose="02010800040101010101" pitchFamily="2" charset="-122"/>
            </a:endParaRPr>
          </a:p>
        </p:txBody>
      </p:sp>
      <p:sp>
        <p:nvSpPr>
          <p:cNvPr id="5" name="内容占位符 4"/>
          <p:cNvSpPr>
            <a:spLocks noGrp="1"/>
          </p:cNvSpPr>
          <p:nvPr>
            <p:ph idx="1"/>
          </p:nvPr>
        </p:nvSpPr>
        <p:spPr>
          <a:xfrm>
            <a:off x="107504" y="754547"/>
            <a:ext cx="8686800" cy="6048672"/>
          </a:xfrm>
        </p:spPr>
        <p:txBody>
          <a:bodyPr>
            <a:noAutofit/>
          </a:bodyPr>
          <a:lstStyle/>
          <a:p>
            <a:pPr marL="0" indent="0">
              <a:spcBef>
                <a:spcPts val="0"/>
              </a:spcBef>
              <a:buNone/>
            </a:pPr>
            <a:r>
              <a:rPr lang="en-US" sz="2400" dirty="0">
                <a:latin typeface="Times New Roman" panose="02020603050405020304" pitchFamily="18" charset="0"/>
                <a:ea typeface="华文楷体" panose="02010600040101010101" pitchFamily="2" charset="-122"/>
                <a:cs typeface="Times New Roman" panose="02020603050405020304" pitchFamily="18" charset="0"/>
              </a:rPr>
              <a:t>Status </a:t>
            </a:r>
            <a:r>
              <a:rPr lang="en-US" sz="2400" b="1" dirty="0" err="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DeleteBST</a:t>
            </a:r>
            <a:r>
              <a:rPr 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sz="2400" dirty="0" err="1">
                <a:latin typeface="Times New Roman" panose="02020603050405020304" pitchFamily="18" charset="0"/>
                <a:ea typeface="华文楷体" panose="02010600040101010101" pitchFamily="2" charset="-122"/>
                <a:cs typeface="Times New Roman" panose="02020603050405020304" pitchFamily="18" charset="0"/>
              </a:rPr>
              <a:t>BiTree</a:t>
            </a:r>
            <a:r>
              <a:rPr lang="en-US" sz="2400" dirty="0">
                <a:latin typeface="Times New Roman" panose="02020603050405020304" pitchFamily="18" charset="0"/>
                <a:ea typeface="华文楷体" panose="02010600040101010101" pitchFamily="2" charset="-122"/>
                <a:cs typeface="Times New Roman" panose="02020603050405020304" pitchFamily="18" charset="0"/>
              </a:rPr>
              <a:t> &amp;T, </a:t>
            </a:r>
            <a:r>
              <a:rPr lang="en-US" sz="2400" dirty="0" err="1">
                <a:latin typeface="Times New Roman" panose="02020603050405020304" pitchFamily="18" charset="0"/>
                <a:ea typeface="华文楷体" panose="02010600040101010101" pitchFamily="2" charset="-122"/>
                <a:cs typeface="Times New Roman" panose="02020603050405020304" pitchFamily="18" charset="0"/>
              </a:rPr>
              <a:t>KeyType</a:t>
            </a:r>
            <a:r>
              <a:rPr lang="en-US" sz="2400" dirty="0">
                <a:latin typeface="Times New Roman" panose="02020603050405020304" pitchFamily="18" charset="0"/>
                <a:ea typeface="华文楷体" panose="02010600040101010101" pitchFamily="2" charset="-122"/>
                <a:cs typeface="Times New Roman" panose="02020603050405020304" pitchFamily="18" charset="0"/>
              </a:rPr>
              <a:t> key)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en-US" sz="2400" dirty="0">
              <a:latin typeface="Times New Roman" panose="02020603050405020304" pitchFamily="18" charset="0"/>
              <a:ea typeface="华文楷体" panose="02010600040101010101" pitchFamily="2" charset="-122"/>
              <a:cs typeface="Times New Roman" panose="02020603050405020304" pitchFamily="18" charset="0"/>
            </a:endParaRPr>
          </a:p>
          <a:p>
            <a:pPr marL="0" indent="0">
              <a:spcBef>
                <a:spcPts val="0"/>
              </a:spcBef>
              <a:buNone/>
            </a:pPr>
            <a:r>
              <a:rPr lang="en-US" altLang="zh-CN" sz="20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若二叉排序树</a:t>
            </a:r>
            <a:r>
              <a:rPr lang="en-US" sz="2000" dirty="0">
                <a:latin typeface="Times New Roman" panose="02020603050405020304" pitchFamily="18" charset="0"/>
                <a:ea typeface="华文楷体" panose="02010600040101010101" pitchFamily="2" charset="-122"/>
                <a:cs typeface="Times New Roman" panose="02020603050405020304" pitchFamily="18" charset="0"/>
              </a:rPr>
              <a:t>T</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中存在关键字等于</a:t>
            </a:r>
            <a:r>
              <a:rPr lang="en-US" sz="2000" dirty="0">
                <a:latin typeface="Times New Roman" panose="02020603050405020304" pitchFamily="18" charset="0"/>
                <a:ea typeface="华文楷体" panose="02010600040101010101" pitchFamily="2" charset="-122"/>
                <a:cs typeface="Times New Roman" panose="02020603050405020304" pitchFamily="18" charset="0"/>
              </a:rPr>
              <a:t>key</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的数据元素时，</a:t>
            </a:r>
            <a:endParaRPr lang="en-US" altLang="zh-CN" sz="2000" dirty="0">
              <a:latin typeface="Times New Roman" panose="02020603050405020304" pitchFamily="18" charset="0"/>
              <a:ea typeface="华文楷体" panose="02010600040101010101" pitchFamily="2" charset="-122"/>
              <a:cs typeface="Times New Roman" panose="02020603050405020304" pitchFamily="18" charset="0"/>
            </a:endParaRPr>
          </a:p>
          <a:p>
            <a:pPr marL="0" indent="0">
              <a:spcBef>
                <a:spcPts val="0"/>
              </a:spcBef>
              <a:buNone/>
            </a:pPr>
            <a:r>
              <a:rPr lang="en-US" altLang="zh-CN" sz="20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则删除该数据元素结点</a:t>
            </a:r>
            <a:r>
              <a:rPr lang="en-US" sz="2000" dirty="0">
                <a:latin typeface="Times New Roman" panose="02020603050405020304" pitchFamily="18" charset="0"/>
                <a:ea typeface="华文楷体" panose="02010600040101010101" pitchFamily="2" charset="-122"/>
                <a:cs typeface="Times New Roman" panose="02020603050405020304" pitchFamily="18" charset="0"/>
              </a:rPr>
              <a:t>p，</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返回</a:t>
            </a:r>
            <a:r>
              <a:rPr lang="en-US" sz="2000" dirty="0">
                <a:latin typeface="Times New Roman" panose="02020603050405020304" pitchFamily="18" charset="0"/>
                <a:ea typeface="华文楷体" panose="02010600040101010101" pitchFamily="2" charset="-122"/>
                <a:cs typeface="Times New Roman" panose="02020603050405020304" pitchFamily="18" charset="0"/>
              </a:rPr>
              <a:t>TRUE；</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否则返回</a:t>
            </a:r>
            <a:r>
              <a:rPr lang="en-US" sz="2000" dirty="0">
                <a:latin typeface="Times New Roman" panose="02020603050405020304" pitchFamily="18" charset="0"/>
                <a:ea typeface="华文楷体" panose="02010600040101010101" pitchFamily="2" charset="-122"/>
                <a:cs typeface="Times New Roman" panose="02020603050405020304" pitchFamily="18" charset="0"/>
              </a:rPr>
              <a:t>FALSE </a:t>
            </a:r>
          </a:p>
          <a:p>
            <a:pPr marL="0" indent="268288">
              <a:spcBef>
                <a:spcPts val="0"/>
              </a:spcBef>
              <a:buNone/>
            </a:pPr>
            <a:r>
              <a:rPr lang="en-US" sz="2400" dirty="0">
                <a:latin typeface="Times New Roman" panose="02020603050405020304" pitchFamily="18" charset="0"/>
                <a:ea typeface="华文楷体" panose="02010600040101010101" pitchFamily="2" charset="-122"/>
                <a:cs typeface="Times New Roman" panose="02020603050405020304" pitchFamily="18" charset="0"/>
              </a:rPr>
              <a:t>if (!T) </a:t>
            </a:r>
          </a:p>
          <a:p>
            <a:pPr marL="0" indent="627063">
              <a:spcBef>
                <a:spcPts val="0"/>
              </a:spcBef>
              <a:buNone/>
            </a:pPr>
            <a:r>
              <a:rPr lang="en-US" sz="2400" dirty="0">
                <a:latin typeface="Times New Roman" panose="02020603050405020304" pitchFamily="18" charset="0"/>
                <a:ea typeface="华文楷体" panose="02010600040101010101" pitchFamily="2" charset="-122"/>
                <a:cs typeface="Times New Roman" panose="02020603050405020304" pitchFamily="18" charset="0"/>
              </a:rPr>
              <a:t>return FALSE</a:t>
            </a:r>
            <a:r>
              <a:rPr lang="en-US" sz="20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不存在关键字等于</a:t>
            </a:r>
            <a:r>
              <a:rPr lang="en-US" sz="2000" dirty="0">
                <a:latin typeface="Times New Roman" panose="02020603050405020304" pitchFamily="18" charset="0"/>
                <a:ea typeface="华文楷体" panose="02010600040101010101" pitchFamily="2" charset="-122"/>
                <a:cs typeface="Times New Roman" panose="02020603050405020304" pitchFamily="18" charset="0"/>
              </a:rPr>
              <a:t>key</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的数据元素</a:t>
            </a:r>
            <a:endParaRPr lang="en-US" altLang="zh-CN" sz="2000" dirty="0">
              <a:latin typeface="Times New Roman" panose="02020603050405020304" pitchFamily="18" charset="0"/>
              <a:ea typeface="华文楷体" panose="02010600040101010101" pitchFamily="2" charset="-122"/>
              <a:cs typeface="Times New Roman" panose="02020603050405020304" pitchFamily="18" charset="0"/>
            </a:endParaRPr>
          </a:p>
          <a:p>
            <a:pPr marL="0" indent="268288">
              <a:spcBef>
                <a:spcPts val="0"/>
              </a:spcBef>
              <a:buNone/>
            </a:pPr>
            <a:r>
              <a:rPr lang="en-US" sz="2400" dirty="0">
                <a:latin typeface="Times New Roman" panose="02020603050405020304" pitchFamily="18" charset="0"/>
                <a:ea typeface="华文楷体" panose="02010600040101010101" pitchFamily="2" charset="-122"/>
                <a:cs typeface="Times New Roman" panose="02020603050405020304" pitchFamily="18" charset="0"/>
              </a:rPr>
              <a:t>else { </a:t>
            </a:r>
          </a:p>
          <a:p>
            <a:pPr marL="0" indent="987425">
              <a:spcBef>
                <a:spcPts val="0"/>
              </a:spcBef>
              <a:buNone/>
            </a:pPr>
            <a:r>
              <a:rPr lang="en-US" sz="2400" dirty="0">
                <a:latin typeface="Times New Roman" panose="02020603050405020304" pitchFamily="18" charset="0"/>
                <a:ea typeface="华文楷体" panose="02010600040101010101" pitchFamily="2" charset="-122"/>
                <a:cs typeface="Times New Roman" panose="02020603050405020304" pitchFamily="18" charset="0"/>
              </a:rPr>
              <a:t>if (EQ(key, T-&gt;</a:t>
            </a:r>
            <a:r>
              <a:rPr lang="en-US" sz="2400" dirty="0" err="1">
                <a:latin typeface="Times New Roman" panose="02020603050405020304" pitchFamily="18" charset="0"/>
                <a:ea typeface="华文楷体" panose="02010600040101010101" pitchFamily="2" charset="-122"/>
                <a:cs typeface="Times New Roman" panose="02020603050405020304" pitchFamily="18" charset="0"/>
              </a:rPr>
              <a:t>data.key</a:t>
            </a:r>
            <a:r>
              <a:rPr lang="en-US" sz="2400" dirty="0">
                <a:latin typeface="Times New Roman" panose="02020603050405020304" pitchFamily="18" charset="0"/>
                <a:ea typeface="华文楷体" panose="02010600040101010101" pitchFamily="2" charset="-122"/>
                <a:cs typeface="Times New Roman" panose="02020603050405020304" pitchFamily="18" charset="0"/>
              </a:rPr>
              <a:t>))</a:t>
            </a:r>
          </a:p>
          <a:p>
            <a:pPr marL="0" indent="1343025">
              <a:spcBef>
                <a:spcPts val="0"/>
              </a:spcBef>
              <a:buNone/>
            </a:pPr>
            <a:r>
              <a:rPr lang="en-US" sz="20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找到关键字等于</a:t>
            </a:r>
            <a:r>
              <a:rPr lang="en-US" sz="2000" dirty="0">
                <a:latin typeface="Times New Roman" panose="02020603050405020304" pitchFamily="18" charset="0"/>
                <a:ea typeface="华文楷体" panose="02010600040101010101" pitchFamily="2" charset="-122"/>
                <a:cs typeface="Times New Roman" panose="02020603050405020304" pitchFamily="18" charset="0"/>
              </a:rPr>
              <a:t>key</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的数据元素</a:t>
            </a:r>
            <a:endParaRPr lang="en-US" altLang="zh-CN" sz="2000" dirty="0">
              <a:latin typeface="Times New Roman" panose="02020603050405020304" pitchFamily="18" charset="0"/>
              <a:ea typeface="华文楷体" panose="02010600040101010101" pitchFamily="2" charset="-122"/>
              <a:cs typeface="Times New Roman" panose="02020603050405020304" pitchFamily="18" charset="0"/>
            </a:endParaRPr>
          </a:p>
          <a:p>
            <a:pPr marL="0" indent="1343025">
              <a:spcBef>
                <a:spcPts val="0"/>
              </a:spcBef>
              <a:buNone/>
            </a:pPr>
            <a:r>
              <a:rPr lang="en-US" sz="2400" dirty="0">
                <a:latin typeface="Times New Roman" panose="02020603050405020304" pitchFamily="18" charset="0"/>
                <a:ea typeface="华文楷体" panose="02010600040101010101" pitchFamily="2" charset="-122"/>
                <a:cs typeface="Times New Roman" panose="02020603050405020304" pitchFamily="18" charset="0"/>
              </a:rPr>
              <a:t>return </a:t>
            </a:r>
            <a:r>
              <a:rPr lang="en-US" sz="2400" b="1" dirty="0">
                <a:solidFill>
                  <a:srgbClr val="6600CC"/>
                </a:solidFill>
                <a:latin typeface="Times New Roman" panose="02020603050405020304" pitchFamily="18" charset="0"/>
                <a:ea typeface="华文楷体" panose="02010600040101010101" pitchFamily="2" charset="-122"/>
                <a:cs typeface="Times New Roman" panose="02020603050405020304" pitchFamily="18" charset="0"/>
              </a:rPr>
              <a:t>Delete</a:t>
            </a:r>
            <a:r>
              <a:rPr lang="en-US" sz="2400" dirty="0">
                <a:latin typeface="Times New Roman" panose="02020603050405020304" pitchFamily="18" charset="0"/>
                <a:ea typeface="华文楷体" panose="02010600040101010101" pitchFamily="2" charset="-122"/>
                <a:cs typeface="Times New Roman" panose="02020603050405020304" pitchFamily="18" charset="0"/>
              </a:rPr>
              <a:t>(T); </a:t>
            </a:r>
          </a:p>
          <a:p>
            <a:pPr marL="0" indent="987425">
              <a:spcBef>
                <a:spcPts val="0"/>
              </a:spcBef>
              <a:buNone/>
            </a:pPr>
            <a:r>
              <a:rPr lang="en-US" sz="2400" dirty="0">
                <a:latin typeface="Times New Roman" panose="02020603050405020304" pitchFamily="18" charset="0"/>
                <a:ea typeface="华文楷体" panose="02010600040101010101" pitchFamily="2" charset="-122"/>
                <a:cs typeface="Times New Roman" panose="02020603050405020304" pitchFamily="18" charset="0"/>
              </a:rPr>
              <a:t>else if (LT(key, T-&gt;</a:t>
            </a:r>
            <a:r>
              <a:rPr lang="en-US" sz="2400" dirty="0" err="1">
                <a:latin typeface="Times New Roman" panose="02020603050405020304" pitchFamily="18" charset="0"/>
                <a:ea typeface="华文楷体" panose="02010600040101010101" pitchFamily="2" charset="-122"/>
                <a:cs typeface="Times New Roman" panose="02020603050405020304" pitchFamily="18" charset="0"/>
              </a:rPr>
              <a:t>data.key</a:t>
            </a:r>
            <a:r>
              <a:rPr lang="en-US" sz="2400" dirty="0">
                <a:latin typeface="Times New Roman" panose="02020603050405020304" pitchFamily="18" charset="0"/>
                <a:ea typeface="华文楷体" panose="02010600040101010101" pitchFamily="2" charset="-122"/>
                <a:cs typeface="Times New Roman" panose="02020603050405020304" pitchFamily="18" charset="0"/>
              </a:rPr>
              <a:t>)) </a:t>
            </a:r>
          </a:p>
          <a:p>
            <a:pPr marL="0" indent="1882775">
              <a:spcBef>
                <a:spcPts val="0"/>
              </a:spcBef>
              <a:buNone/>
            </a:pPr>
            <a:r>
              <a:rPr lang="en-US" sz="2400" dirty="0">
                <a:latin typeface="Times New Roman" panose="02020603050405020304" pitchFamily="18" charset="0"/>
                <a:ea typeface="华文楷体" panose="02010600040101010101" pitchFamily="2" charset="-122"/>
                <a:cs typeface="Times New Roman" panose="02020603050405020304" pitchFamily="18" charset="0"/>
              </a:rPr>
              <a:t>return </a:t>
            </a:r>
            <a:r>
              <a:rPr lang="en-US" sz="2400" b="1" dirty="0" err="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DeleteBST</a:t>
            </a:r>
            <a:r>
              <a:rPr lang="en-US" sz="2400"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(T-&gt;</a:t>
            </a:r>
            <a:r>
              <a:rPr lang="en-US" sz="2400" b="1" dirty="0" err="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lchild</a:t>
            </a:r>
            <a:r>
              <a:rPr lang="en-US" sz="2400"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key)</a:t>
            </a:r>
            <a:r>
              <a:rPr lang="en-US" sz="2400" dirty="0">
                <a:latin typeface="Times New Roman" panose="02020603050405020304" pitchFamily="18" charset="0"/>
                <a:ea typeface="华文楷体" panose="02010600040101010101" pitchFamily="2" charset="-122"/>
                <a:cs typeface="Times New Roman" panose="02020603050405020304" pitchFamily="18" charset="0"/>
              </a:rPr>
              <a:t>; </a:t>
            </a:r>
          </a:p>
          <a:p>
            <a:pPr marL="0" indent="1522413">
              <a:spcBef>
                <a:spcPts val="0"/>
              </a:spcBef>
              <a:buNone/>
            </a:pPr>
            <a:r>
              <a:rPr lang="en-US" sz="2400" dirty="0">
                <a:latin typeface="Times New Roman" panose="02020603050405020304" pitchFamily="18" charset="0"/>
                <a:ea typeface="华文楷体" panose="02010600040101010101" pitchFamily="2" charset="-122"/>
                <a:cs typeface="Times New Roman" panose="02020603050405020304" pitchFamily="18" charset="0"/>
              </a:rPr>
              <a:t>else </a:t>
            </a:r>
          </a:p>
          <a:p>
            <a:pPr marL="0" indent="1882775">
              <a:spcBef>
                <a:spcPts val="0"/>
              </a:spcBef>
              <a:buNone/>
            </a:pPr>
            <a:r>
              <a:rPr lang="en-US" sz="2400" dirty="0">
                <a:latin typeface="Times New Roman" panose="02020603050405020304" pitchFamily="18" charset="0"/>
                <a:ea typeface="华文楷体" panose="02010600040101010101" pitchFamily="2" charset="-122"/>
                <a:cs typeface="Times New Roman" panose="02020603050405020304" pitchFamily="18" charset="0"/>
              </a:rPr>
              <a:t>return </a:t>
            </a:r>
            <a:r>
              <a:rPr lang="en-US" sz="2400" b="1" dirty="0" err="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DeleteBST</a:t>
            </a:r>
            <a:r>
              <a:rPr lang="en-US" sz="2400"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(T-&gt;</a:t>
            </a:r>
            <a:r>
              <a:rPr lang="en-US" sz="2400" b="1" dirty="0" err="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rchild</a:t>
            </a:r>
            <a:r>
              <a:rPr lang="en-US" sz="2400"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key)</a:t>
            </a:r>
            <a:r>
              <a:rPr lang="en-US" sz="2400" dirty="0">
                <a:latin typeface="Times New Roman" panose="02020603050405020304" pitchFamily="18" charset="0"/>
                <a:ea typeface="华文楷体" panose="02010600040101010101" pitchFamily="2" charset="-122"/>
                <a:cs typeface="Times New Roman" panose="02020603050405020304" pitchFamily="18" charset="0"/>
              </a:rPr>
              <a:t>; </a:t>
            </a:r>
          </a:p>
          <a:p>
            <a:pPr marL="0" indent="808038">
              <a:spcBef>
                <a:spcPts val="0"/>
              </a:spcBef>
              <a:buNone/>
            </a:pPr>
            <a:r>
              <a:rPr lang="en-US" sz="2400" dirty="0">
                <a:latin typeface="Times New Roman" panose="02020603050405020304" pitchFamily="18" charset="0"/>
                <a:ea typeface="华文楷体" panose="02010600040101010101" pitchFamily="2" charset="-122"/>
                <a:cs typeface="Times New Roman" panose="02020603050405020304" pitchFamily="18" charset="0"/>
              </a:rPr>
              <a:t>} </a:t>
            </a:r>
          </a:p>
          <a:p>
            <a:pPr marL="0" indent="0">
              <a:spcBef>
                <a:spcPts val="0"/>
              </a:spcBef>
              <a:buNone/>
            </a:pPr>
            <a:r>
              <a:rPr lang="en-US"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sz="2400" dirty="0" err="1">
                <a:latin typeface="Times New Roman" panose="02020603050405020304" pitchFamily="18" charset="0"/>
                <a:ea typeface="华文楷体" panose="02010600040101010101" pitchFamily="2" charset="-122"/>
                <a:cs typeface="Times New Roman" panose="02020603050405020304" pitchFamily="18" charset="0"/>
              </a:rPr>
              <a:t>DeleteBST</a:t>
            </a:r>
            <a:endParaRPr 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 name="灯片编号占位符 2"/>
          <p:cNvSpPr>
            <a:spLocks noGrp="1"/>
          </p:cNvSpPr>
          <p:nvPr>
            <p:ph type="sldNum" sz="quarter" idx="12"/>
          </p:nvPr>
        </p:nvSpPr>
        <p:spPr/>
        <p:txBody>
          <a:bodyPr/>
          <a:lstStyle/>
          <a:p>
            <a:fld id="{0C913308-F349-4B6D-A68A-DD1791B4A57B}" type="slidenum">
              <a:rPr lang="zh-CN" altLang="en-US" smtClean="0"/>
              <a:pPr/>
              <a:t>53</a:t>
            </a:fld>
            <a:endParaRPr lang="zh-CN" altLang="en-US"/>
          </a:p>
        </p:txBody>
      </p:sp>
      <p:sp>
        <p:nvSpPr>
          <p:cNvPr id="6" name="流程图: 可选过程 5"/>
          <p:cNvSpPr/>
          <p:nvPr/>
        </p:nvSpPr>
        <p:spPr>
          <a:xfrm>
            <a:off x="8604448" y="0"/>
            <a:ext cx="539552" cy="332656"/>
          </a:xfrm>
          <a:prstGeom prst="flowChartAlternateProcess">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t>9.7</a:t>
            </a:r>
          </a:p>
        </p:txBody>
      </p:sp>
    </p:spTree>
    <p:extLst>
      <p:ext uri="{BB962C8B-B14F-4D97-AF65-F5344CB8AC3E}">
        <p14:creationId xmlns:p14="http://schemas.microsoft.com/office/powerpoint/2010/main" val="84261163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107504" y="197427"/>
            <a:ext cx="8686800" cy="6552728"/>
          </a:xfrm>
        </p:spPr>
        <p:txBody>
          <a:bodyPr>
            <a:noAutofit/>
          </a:bodyPr>
          <a:lstStyle/>
          <a:p>
            <a:pPr marL="0" indent="0">
              <a:spcBef>
                <a:spcPts val="0"/>
              </a:spcBef>
              <a:buNone/>
            </a:pPr>
            <a:r>
              <a:rPr lang="en-US" sz="2400" dirty="0">
                <a:latin typeface="华文楷体" panose="02010600040101010101" pitchFamily="2" charset="-122"/>
                <a:ea typeface="华文楷体" panose="02010600040101010101" pitchFamily="2" charset="-122"/>
              </a:rPr>
              <a:t>Status </a:t>
            </a:r>
            <a:r>
              <a:rPr lang="en-US" sz="2400" b="1" dirty="0">
                <a:solidFill>
                  <a:srgbClr val="6600CC"/>
                </a:solidFill>
                <a:latin typeface="华文楷体" panose="02010600040101010101" pitchFamily="2" charset="-122"/>
                <a:ea typeface="华文楷体" panose="02010600040101010101" pitchFamily="2" charset="-122"/>
              </a:rPr>
              <a:t>Delete(</a:t>
            </a:r>
            <a:r>
              <a:rPr lang="en-US" sz="2400" b="1" dirty="0" err="1">
                <a:solidFill>
                  <a:srgbClr val="6600CC"/>
                </a:solidFill>
                <a:latin typeface="华文楷体" panose="02010600040101010101" pitchFamily="2" charset="-122"/>
                <a:ea typeface="华文楷体" panose="02010600040101010101" pitchFamily="2" charset="-122"/>
              </a:rPr>
              <a:t>BiTree</a:t>
            </a:r>
            <a:r>
              <a:rPr lang="en-US" sz="2400" b="1" dirty="0">
                <a:solidFill>
                  <a:srgbClr val="6600CC"/>
                </a:solidFill>
                <a:latin typeface="华文楷体" panose="02010600040101010101" pitchFamily="2" charset="-122"/>
                <a:ea typeface="华文楷体" panose="02010600040101010101" pitchFamily="2" charset="-122"/>
              </a:rPr>
              <a:t> &amp;p)</a:t>
            </a:r>
            <a:r>
              <a:rPr lang="en-US" sz="2400" dirty="0">
                <a:latin typeface="华文楷体" panose="02010600040101010101" pitchFamily="2" charset="-122"/>
                <a:ea typeface="华文楷体" panose="02010600040101010101" pitchFamily="2" charset="-122"/>
              </a:rPr>
              <a:t> { </a:t>
            </a:r>
          </a:p>
          <a:p>
            <a:pPr marL="0" indent="0">
              <a:spcBef>
                <a:spcPts val="0"/>
              </a:spcBef>
              <a:buNone/>
            </a:pPr>
            <a:r>
              <a:rPr lang="en-US" altLang="zh-CN" sz="2000" dirty="0">
                <a:latin typeface="华文楷体" panose="02010600040101010101" pitchFamily="2" charset="-122"/>
                <a:ea typeface="华文楷体" panose="02010600040101010101" pitchFamily="2" charset="-122"/>
              </a:rPr>
              <a:t>//</a:t>
            </a:r>
            <a:r>
              <a:rPr lang="zh-CN" altLang="en-US" sz="2000" dirty="0">
                <a:latin typeface="华文楷体" panose="02010600040101010101" pitchFamily="2" charset="-122"/>
                <a:ea typeface="华文楷体" panose="02010600040101010101" pitchFamily="2" charset="-122"/>
              </a:rPr>
              <a:t>从二叉排序树中删除结点</a:t>
            </a:r>
            <a:r>
              <a:rPr lang="en-US" sz="2000" dirty="0">
                <a:latin typeface="华文楷体" panose="02010600040101010101" pitchFamily="2" charset="-122"/>
                <a:ea typeface="华文楷体" panose="02010600040101010101" pitchFamily="2" charset="-122"/>
              </a:rPr>
              <a:t>p，</a:t>
            </a:r>
            <a:r>
              <a:rPr lang="zh-CN" altLang="en-US" sz="2000" dirty="0">
                <a:latin typeface="华文楷体" panose="02010600040101010101" pitchFamily="2" charset="-122"/>
                <a:ea typeface="华文楷体" panose="02010600040101010101" pitchFamily="2" charset="-122"/>
              </a:rPr>
              <a:t>并重接它的左或右子树 </a:t>
            </a:r>
            <a:endParaRPr lang="en-US" altLang="zh-CN" sz="2000" dirty="0">
              <a:latin typeface="华文楷体" panose="02010600040101010101" pitchFamily="2" charset="-122"/>
              <a:ea typeface="华文楷体" panose="02010600040101010101" pitchFamily="2" charset="-122"/>
            </a:endParaRPr>
          </a:p>
          <a:p>
            <a:pPr marL="0" indent="0">
              <a:spcBef>
                <a:spcPts val="0"/>
              </a:spcBef>
              <a:buNone/>
            </a:pPr>
            <a:r>
              <a:rPr lang="en-US" sz="2400" dirty="0" err="1">
                <a:latin typeface="华文楷体" panose="02010600040101010101" pitchFamily="2" charset="-122"/>
                <a:ea typeface="华文楷体" panose="02010600040101010101" pitchFamily="2" charset="-122"/>
              </a:rPr>
              <a:t>BiTree</a:t>
            </a:r>
            <a:r>
              <a:rPr lang="en-US" sz="2400" dirty="0">
                <a:latin typeface="华文楷体" panose="02010600040101010101" pitchFamily="2" charset="-122"/>
                <a:ea typeface="华文楷体" panose="02010600040101010101" pitchFamily="2" charset="-122"/>
              </a:rPr>
              <a:t> q, s; </a:t>
            </a:r>
          </a:p>
          <a:p>
            <a:pPr marL="0" indent="268288">
              <a:spcBef>
                <a:spcPts val="0"/>
              </a:spcBef>
              <a:buNone/>
            </a:pPr>
            <a:r>
              <a:rPr lang="en-US" sz="2400" dirty="0">
                <a:latin typeface="华文楷体" panose="02010600040101010101" pitchFamily="2" charset="-122"/>
                <a:ea typeface="华文楷体" panose="02010600040101010101" pitchFamily="2" charset="-122"/>
              </a:rPr>
              <a:t>if (!p-&gt;</a:t>
            </a:r>
            <a:r>
              <a:rPr lang="en-US" sz="2400" dirty="0" err="1">
                <a:latin typeface="华文楷体" panose="02010600040101010101" pitchFamily="2" charset="-122"/>
                <a:ea typeface="华文楷体" panose="02010600040101010101" pitchFamily="2" charset="-122"/>
              </a:rPr>
              <a:t>rchild</a:t>
            </a:r>
            <a:r>
              <a:rPr lang="en-US" sz="2400" dirty="0">
                <a:latin typeface="华文楷体" panose="02010600040101010101" pitchFamily="2" charset="-122"/>
                <a:ea typeface="华文楷体" panose="02010600040101010101" pitchFamily="2" charset="-122"/>
              </a:rPr>
              <a:t>) {</a:t>
            </a:r>
            <a:r>
              <a:rPr lang="en-US" sz="2000" dirty="0">
                <a:latin typeface="华文楷体" panose="02010600040101010101" pitchFamily="2" charset="-122"/>
                <a:ea typeface="华文楷体" panose="02010600040101010101" pitchFamily="2" charset="-122"/>
              </a:rPr>
              <a:t>//</a:t>
            </a:r>
            <a:r>
              <a:rPr lang="zh-CN" altLang="en-US" sz="2000" dirty="0">
                <a:latin typeface="华文楷体" panose="02010600040101010101" pitchFamily="2" charset="-122"/>
                <a:ea typeface="华文楷体" panose="02010600040101010101" pitchFamily="2" charset="-122"/>
              </a:rPr>
              <a:t>右子树空则只需重接它的左子树</a:t>
            </a:r>
            <a:endParaRPr lang="en-US" altLang="zh-CN" sz="2000" dirty="0">
              <a:latin typeface="华文楷体" panose="02010600040101010101" pitchFamily="2" charset="-122"/>
              <a:ea typeface="华文楷体" panose="02010600040101010101" pitchFamily="2" charset="-122"/>
            </a:endParaRPr>
          </a:p>
          <a:p>
            <a:pPr marL="0" indent="0">
              <a:spcBef>
                <a:spcPts val="0"/>
              </a:spcBef>
              <a:buNone/>
            </a:pPr>
            <a:r>
              <a:rPr lang="en-US" sz="2400" dirty="0">
                <a:latin typeface="华文楷体" panose="02010600040101010101" pitchFamily="2" charset="-122"/>
                <a:ea typeface="华文楷体" panose="02010600040101010101" pitchFamily="2" charset="-122"/>
              </a:rPr>
              <a:t>	q = p; p = p-&gt;</a:t>
            </a:r>
            <a:r>
              <a:rPr lang="en-US" sz="2400" dirty="0" err="1">
                <a:latin typeface="华文楷体" panose="02010600040101010101" pitchFamily="2" charset="-122"/>
                <a:ea typeface="华文楷体" panose="02010600040101010101" pitchFamily="2" charset="-122"/>
              </a:rPr>
              <a:t>lchild</a:t>
            </a:r>
            <a:r>
              <a:rPr lang="en-US" sz="2400" dirty="0">
                <a:latin typeface="华文楷体" panose="02010600040101010101" pitchFamily="2" charset="-122"/>
                <a:ea typeface="华文楷体" panose="02010600040101010101" pitchFamily="2" charset="-122"/>
              </a:rPr>
              <a:t>; free(q); } </a:t>
            </a:r>
          </a:p>
          <a:p>
            <a:pPr marL="0" indent="268288">
              <a:spcBef>
                <a:spcPts val="0"/>
              </a:spcBef>
              <a:buNone/>
            </a:pPr>
            <a:r>
              <a:rPr lang="en-US" sz="2400" dirty="0">
                <a:latin typeface="华文楷体" panose="02010600040101010101" pitchFamily="2" charset="-122"/>
                <a:ea typeface="华文楷体" panose="02010600040101010101" pitchFamily="2" charset="-122"/>
              </a:rPr>
              <a:t>else if (!p-&gt;</a:t>
            </a:r>
            <a:r>
              <a:rPr lang="en-US" sz="2400" dirty="0" err="1">
                <a:latin typeface="华文楷体" panose="02010600040101010101" pitchFamily="2" charset="-122"/>
                <a:ea typeface="华文楷体" panose="02010600040101010101" pitchFamily="2" charset="-122"/>
              </a:rPr>
              <a:t>lchild</a:t>
            </a:r>
            <a:r>
              <a:rPr lang="en-US" sz="2400" dirty="0">
                <a:latin typeface="华文楷体" panose="02010600040101010101" pitchFamily="2" charset="-122"/>
                <a:ea typeface="华文楷体" panose="02010600040101010101" pitchFamily="2" charset="-122"/>
              </a:rPr>
              <a:t>) {</a:t>
            </a:r>
            <a:r>
              <a:rPr lang="en-US" sz="2000" dirty="0">
                <a:latin typeface="华文楷体" panose="02010600040101010101" pitchFamily="2" charset="-122"/>
                <a:ea typeface="华文楷体" panose="02010600040101010101" pitchFamily="2" charset="-122"/>
              </a:rPr>
              <a:t>//</a:t>
            </a:r>
            <a:r>
              <a:rPr lang="zh-CN" altLang="en-US" sz="2000" dirty="0">
                <a:latin typeface="华文楷体" panose="02010600040101010101" pitchFamily="2" charset="-122"/>
                <a:ea typeface="华文楷体" panose="02010600040101010101" pitchFamily="2" charset="-122"/>
              </a:rPr>
              <a:t>只需重接它的右子树</a:t>
            </a:r>
            <a:endParaRPr lang="en-US" altLang="zh-CN" sz="2000" dirty="0">
              <a:latin typeface="华文楷体" panose="02010600040101010101" pitchFamily="2" charset="-122"/>
              <a:ea typeface="华文楷体" panose="02010600040101010101" pitchFamily="2" charset="-122"/>
            </a:endParaRPr>
          </a:p>
          <a:p>
            <a:pPr marL="0" indent="1166813">
              <a:spcBef>
                <a:spcPts val="0"/>
              </a:spcBef>
              <a:buNone/>
            </a:pPr>
            <a:r>
              <a:rPr lang="en-US" sz="2400" dirty="0">
                <a:latin typeface="华文楷体" panose="02010600040101010101" pitchFamily="2" charset="-122"/>
                <a:ea typeface="华文楷体" panose="02010600040101010101" pitchFamily="2" charset="-122"/>
              </a:rPr>
              <a:t>q = p; p = p-&gt;</a:t>
            </a:r>
            <a:r>
              <a:rPr lang="en-US" sz="2400" dirty="0" err="1">
                <a:latin typeface="华文楷体" panose="02010600040101010101" pitchFamily="2" charset="-122"/>
                <a:ea typeface="华文楷体" panose="02010600040101010101" pitchFamily="2" charset="-122"/>
              </a:rPr>
              <a:t>rchild</a:t>
            </a:r>
            <a:r>
              <a:rPr lang="en-US" sz="2400" dirty="0">
                <a:latin typeface="华文楷体" panose="02010600040101010101" pitchFamily="2" charset="-122"/>
                <a:ea typeface="华文楷体" panose="02010600040101010101" pitchFamily="2" charset="-122"/>
              </a:rPr>
              <a:t>; free(q); } </a:t>
            </a:r>
          </a:p>
          <a:p>
            <a:pPr marL="0" indent="719138">
              <a:spcBef>
                <a:spcPts val="0"/>
              </a:spcBef>
              <a:buNone/>
            </a:pPr>
            <a:r>
              <a:rPr lang="en-US" sz="2400" dirty="0">
                <a:latin typeface="华文楷体" panose="02010600040101010101" pitchFamily="2" charset="-122"/>
                <a:ea typeface="华文楷体" panose="02010600040101010101" pitchFamily="2" charset="-122"/>
              </a:rPr>
              <a:t>else { </a:t>
            </a:r>
            <a:r>
              <a:rPr lang="en-US" sz="2000" dirty="0">
                <a:latin typeface="华文楷体" panose="02010600040101010101" pitchFamily="2" charset="-122"/>
                <a:ea typeface="华文楷体" panose="02010600040101010101" pitchFamily="2" charset="-122"/>
              </a:rPr>
              <a:t>//</a:t>
            </a:r>
            <a:r>
              <a:rPr lang="zh-CN" altLang="en-US" sz="2000" dirty="0">
                <a:latin typeface="华文楷体" panose="02010600040101010101" pitchFamily="2" charset="-122"/>
                <a:ea typeface="华文楷体" panose="02010600040101010101" pitchFamily="2" charset="-122"/>
              </a:rPr>
              <a:t>左右子树均不空</a:t>
            </a:r>
            <a:endParaRPr lang="en-US" altLang="zh-CN" sz="2000" dirty="0">
              <a:latin typeface="华文楷体" panose="02010600040101010101" pitchFamily="2" charset="-122"/>
              <a:ea typeface="华文楷体" panose="02010600040101010101" pitchFamily="2" charset="-122"/>
            </a:endParaRPr>
          </a:p>
          <a:p>
            <a:pPr marL="0" indent="1435100">
              <a:spcBef>
                <a:spcPts val="0"/>
              </a:spcBef>
              <a:buNone/>
            </a:pPr>
            <a:r>
              <a:rPr lang="en-US" sz="2400" dirty="0">
                <a:latin typeface="华文楷体" panose="02010600040101010101" pitchFamily="2" charset="-122"/>
                <a:ea typeface="华文楷体" panose="02010600040101010101" pitchFamily="2" charset="-122"/>
              </a:rPr>
              <a:t>q = p; s = p-&gt;</a:t>
            </a:r>
            <a:r>
              <a:rPr lang="en-US" sz="2400" dirty="0" err="1">
                <a:latin typeface="华文楷体" panose="02010600040101010101" pitchFamily="2" charset="-122"/>
                <a:ea typeface="华文楷体" panose="02010600040101010101" pitchFamily="2" charset="-122"/>
              </a:rPr>
              <a:t>lchild</a:t>
            </a:r>
            <a:r>
              <a:rPr lang="en-US" sz="2400" dirty="0">
                <a:latin typeface="华文楷体" panose="02010600040101010101" pitchFamily="2" charset="-122"/>
                <a:ea typeface="华文楷体" panose="02010600040101010101" pitchFamily="2" charset="-122"/>
              </a:rPr>
              <a:t>; </a:t>
            </a:r>
          </a:p>
          <a:p>
            <a:pPr marL="0" indent="1435100">
              <a:spcBef>
                <a:spcPts val="0"/>
              </a:spcBef>
              <a:buNone/>
            </a:pPr>
            <a:r>
              <a:rPr lang="en-US" sz="2400" dirty="0">
                <a:latin typeface="华文楷体" panose="02010600040101010101" pitchFamily="2" charset="-122"/>
                <a:ea typeface="华文楷体" panose="02010600040101010101" pitchFamily="2" charset="-122"/>
              </a:rPr>
              <a:t>while (s-&gt;</a:t>
            </a:r>
            <a:r>
              <a:rPr lang="en-US" sz="2400" dirty="0" err="1">
                <a:latin typeface="华文楷体" panose="02010600040101010101" pitchFamily="2" charset="-122"/>
                <a:ea typeface="华文楷体" panose="02010600040101010101" pitchFamily="2" charset="-122"/>
              </a:rPr>
              <a:t>rchild</a:t>
            </a:r>
            <a:r>
              <a:rPr lang="en-US" sz="2400" dirty="0">
                <a:latin typeface="华文楷体" panose="02010600040101010101" pitchFamily="2" charset="-122"/>
                <a:ea typeface="华文楷体" panose="02010600040101010101" pitchFamily="2" charset="-122"/>
              </a:rPr>
              <a:t>) </a:t>
            </a:r>
            <a:r>
              <a:rPr lang="en-US" sz="2000" dirty="0">
                <a:latin typeface="华文楷体" panose="02010600040101010101" pitchFamily="2" charset="-122"/>
                <a:ea typeface="华文楷体" panose="02010600040101010101" pitchFamily="2" charset="-122"/>
              </a:rPr>
              <a:t>// </a:t>
            </a:r>
            <a:r>
              <a:rPr lang="zh-CN" altLang="en-US" sz="2000" dirty="0">
                <a:latin typeface="华文楷体" panose="02010600040101010101" pitchFamily="2" charset="-122"/>
                <a:ea typeface="华文楷体" panose="02010600040101010101" pitchFamily="2" charset="-122"/>
              </a:rPr>
              <a:t>转左，然后向右到尽头 </a:t>
            </a:r>
            <a:endParaRPr lang="en-US" altLang="zh-CN" sz="2000" dirty="0">
              <a:latin typeface="华文楷体" panose="02010600040101010101" pitchFamily="2" charset="-122"/>
              <a:ea typeface="华文楷体" panose="02010600040101010101" pitchFamily="2" charset="-122"/>
            </a:endParaRPr>
          </a:p>
          <a:p>
            <a:pPr marL="0" indent="0">
              <a:spcBef>
                <a:spcPts val="0"/>
              </a:spcBef>
              <a:buNone/>
            </a:pPr>
            <a:r>
              <a:rPr lang="en-US" altLang="zh-CN" sz="2400" dirty="0">
                <a:latin typeface="华文楷体" panose="02010600040101010101" pitchFamily="2" charset="-122"/>
                <a:ea typeface="华文楷体" panose="02010600040101010101" pitchFamily="2" charset="-122"/>
              </a:rPr>
              <a:t>		{ </a:t>
            </a:r>
            <a:r>
              <a:rPr lang="en-US" sz="2400" dirty="0">
                <a:latin typeface="华文楷体" panose="02010600040101010101" pitchFamily="2" charset="-122"/>
                <a:ea typeface="华文楷体" panose="02010600040101010101" pitchFamily="2" charset="-122"/>
              </a:rPr>
              <a:t>q = s; s = s-&gt;</a:t>
            </a:r>
            <a:r>
              <a:rPr lang="en-US" sz="2400" dirty="0" err="1">
                <a:latin typeface="华文楷体" panose="02010600040101010101" pitchFamily="2" charset="-122"/>
                <a:ea typeface="华文楷体" panose="02010600040101010101" pitchFamily="2" charset="-122"/>
              </a:rPr>
              <a:t>rchild</a:t>
            </a:r>
            <a:r>
              <a:rPr lang="en-US" sz="2400" dirty="0">
                <a:latin typeface="华文楷体" panose="02010600040101010101" pitchFamily="2" charset="-122"/>
                <a:ea typeface="华文楷体" panose="02010600040101010101" pitchFamily="2" charset="-122"/>
              </a:rPr>
              <a:t>; } </a:t>
            </a:r>
          </a:p>
          <a:p>
            <a:pPr marL="0" indent="1435100">
              <a:spcBef>
                <a:spcPts val="0"/>
              </a:spcBef>
              <a:buNone/>
            </a:pPr>
            <a:r>
              <a:rPr lang="en-US" sz="2400" dirty="0">
                <a:latin typeface="华文楷体" panose="02010600040101010101" pitchFamily="2" charset="-122"/>
                <a:ea typeface="华文楷体" panose="02010600040101010101" pitchFamily="2" charset="-122"/>
              </a:rPr>
              <a:t>p-&gt;data = s-&gt;data; </a:t>
            </a:r>
            <a:r>
              <a:rPr lang="en-US" sz="2000" dirty="0">
                <a:latin typeface="华文楷体" panose="02010600040101010101" pitchFamily="2" charset="-122"/>
                <a:ea typeface="华文楷体" panose="02010600040101010101" pitchFamily="2" charset="-122"/>
              </a:rPr>
              <a:t>// s</a:t>
            </a:r>
            <a:r>
              <a:rPr lang="zh-CN" altLang="en-US" sz="2000" dirty="0">
                <a:latin typeface="华文楷体" panose="02010600040101010101" pitchFamily="2" charset="-122"/>
                <a:ea typeface="华文楷体" panose="02010600040101010101" pitchFamily="2" charset="-122"/>
              </a:rPr>
              <a:t>指向被删结点的“后继” </a:t>
            </a:r>
            <a:endParaRPr lang="en-US" altLang="zh-CN" sz="2000" dirty="0">
              <a:latin typeface="华文楷体" panose="02010600040101010101" pitchFamily="2" charset="-122"/>
              <a:ea typeface="华文楷体" panose="02010600040101010101" pitchFamily="2" charset="-122"/>
            </a:endParaRPr>
          </a:p>
          <a:p>
            <a:pPr marL="0" indent="1435100">
              <a:spcBef>
                <a:spcPts val="0"/>
              </a:spcBef>
              <a:buNone/>
            </a:pPr>
            <a:r>
              <a:rPr lang="en-US" sz="2400" dirty="0">
                <a:latin typeface="华文楷体" panose="02010600040101010101" pitchFamily="2" charset="-122"/>
                <a:ea typeface="华文楷体" panose="02010600040101010101" pitchFamily="2" charset="-122"/>
              </a:rPr>
              <a:t>if (q != p) q-&gt;</a:t>
            </a:r>
            <a:r>
              <a:rPr lang="en-US" sz="2400" dirty="0" err="1">
                <a:latin typeface="华文楷体" panose="02010600040101010101" pitchFamily="2" charset="-122"/>
                <a:ea typeface="华文楷体" panose="02010600040101010101" pitchFamily="2" charset="-122"/>
              </a:rPr>
              <a:t>rchild</a:t>
            </a:r>
            <a:r>
              <a:rPr lang="en-US" sz="2400" dirty="0">
                <a:latin typeface="华文楷体" panose="02010600040101010101" pitchFamily="2" charset="-122"/>
                <a:ea typeface="华文楷体" panose="02010600040101010101" pitchFamily="2" charset="-122"/>
              </a:rPr>
              <a:t> = s-&gt;</a:t>
            </a:r>
            <a:r>
              <a:rPr lang="en-US" sz="2400" dirty="0" err="1">
                <a:latin typeface="华文楷体" panose="02010600040101010101" pitchFamily="2" charset="-122"/>
                <a:ea typeface="华文楷体" panose="02010600040101010101" pitchFamily="2" charset="-122"/>
              </a:rPr>
              <a:t>lchild</a:t>
            </a:r>
            <a:r>
              <a:rPr lang="en-US" sz="2400" dirty="0">
                <a:latin typeface="华文楷体" panose="02010600040101010101" pitchFamily="2" charset="-122"/>
                <a:ea typeface="华文楷体" panose="02010600040101010101" pitchFamily="2" charset="-122"/>
              </a:rPr>
              <a:t>; </a:t>
            </a:r>
            <a:r>
              <a:rPr lang="en-US" sz="2000" dirty="0">
                <a:latin typeface="华文楷体" panose="02010600040101010101" pitchFamily="2" charset="-122"/>
                <a:ea typeface="华文楷体" panose="02010600040101010101" pitchFamily="2" charset="-122"/>
              </a:rPr>
              <a:t>// </a:t>
            </a:r>
            <a:r>
              <a:rPr lang="zh-CN" altLang="en-US" sz="2000" dirty="0">
                <a:latin typeface="华文楷体" panose="02010600040101010101" pitchFamily="2" charset="-122"/>
                <a:ea typeface="华文楷体" panose="02010600040101010101" pitchFamily="2" charset="-122"/>
              </a:rPr>
              <a:t>重接*</a:t>
            </a:r>
            <a:r>
              <a:rPr lang="en-US" sz="2000" dirty="0">
                <a:latin typeface="华文楷体" panose="02010600040101010101" pitchFamily="2" charset="-122"/>
                <a:ea typeface="华文楷体" panose="02010600040101010101" pitchFamily="2" charset="-122"/>
              </a:rPr>
              <a:t>q</a:t>
            </a:r>
            <a:r>
              <a:rPr lang="zh-CN" altLang="en-US" sz="2000" dirty="0">
                <a:latin typeface="华文楷体" panose="02010600040101010101" pitchFamily="2" charset="-122"/>
                <a:ea typeface="华文楷体" panose="02010600040101010101" pitchFamily="2" charset="-122"/>
              </a:rPr>
              <a:t>的右子树 </a:t>
            </a:r>
            <a:endParaRPr lang="en-US" altLang="zh-CN" sz="2000" dirty="0">
              <a:latin typeface="华文楷体" panose="02010600040101010101" pitchFamily="2" charset="-122"/>
              <a:ea typeface="华文楷体" panose="02010600040101010101" pitchFamily="2" charset="-122"/>
            </a:endParaRPr>
          </a:p>
          <a:p>
            <a:pPr marL="0" indent="1435100">
              <a:spcBef>
                <a:spcPts val="0"/>
              </a:spcBef>
              <a:buNone/>
            </a:pPr>
            <a:r>
              <a:rPr lang="en-US" sz="2400" dirty="0">
                <a:latin typeface="华文楷体" panose="02010600040101010101" pitchFamily="2" charset="-122"/>
                <a:ea typeface="华文楷体" panose="02010600040101010101" pitchFamily="2" charset="-122"/>
              </a:rPr>
              <a:t>else q-&gt;</a:t>
            </a:r>
            <a:r>
              <a:rPr lang="en-US" sz="2400" dirty="0" err="1">
                <a:latin typeface="华文楷体" panose="02010600040101010101" pitchFamily="2" charset="-122"/>
                <a:ea typeface="华文楷体" panose="02010600040101010101" pitchFamily="2" charset="-122"/>
              </a:rPr>
              <a:t>lchild</a:t>
            </a:r>
            <a:r>
              <a:rPr lang="en-US" sz="2400" dirty="0">
                <a:latin typeface="华文楷体" panose="02010600040101010101" pitchFamily="2" charset="-122"/>
                <a:ea typeface="华文楷体" panose="02010600040101010101" pitchFamily="2" charset="-122"/>
              </a:rPr>
              <a:t> = s-&gt;</a:t>
            </a:r>
            <a:r>
              <a:rPr lang="en-US" sz="2400" dirty="0" err="1">
                <a:latin typeface="华文楷体" panose="02010600040101010101" pitchFamily="2" charset="-122"/>
                <a:ea typeface="华文楷体" panose="02010600040101010101" pitchFamily="2" charset="-122"/>
              </a:rPr>
              <a:t>lchild</a:t>
            </a:r>
            <a:r>
              <a:rPr lang="en-US" sz="2400" dirty="0">
                <a:latin typeface="华文楷体" panose="02010600040101010101" pitchFamily="2" charset="-122"/>
                <a:ea typeface="华文楷体" panose="02010600040101010101" pitchFamily="2" charset="-122"/>
              </a:rPr>
              <a:t>; </a:t>
            </a:r>
            <a:r>
              <a:rPr lang="en-US" sz="2000" dirty="0">
                <a:latin typeface="华文楷体" panose="02010600040101010101" pitchFamily="2" charset="-122"/>
                <a:ea typeface="华文楷体" panose="02010600040101010101" pitchFamily="2" charset="-122"/>
              </a:rPr>
              <a:t>// </a:t>
            </a:r>
            <a:r>
              <a:rPr lang="zh-CN" altLang="en-US" sz="2000" dirty="0">
                <a:latin typeface="华文楷体" panose="02010600040101010101" pitchFamily="2" charset="-122"/>
                <a:ea typeface="华文楷体" panose="02010600040101010101" pitchFamily="2" charset="-122"/>
              </a:rPr>
              <a:t>重接*</a:t>
            </a:r>
            <a:r>
              <a:rPr lang="en-US" sz="2000" dirty="0">
                <a:latin typeface="华文楷体" panose="02010600040101010101" pitchFamily="2" charset="-122"/>
                <a:ea typeface="华文楷体" panose="02010600040101010101" pitchFamily="2" charset="-122"/>
              </a:rPr>
              <a:t>q</a:t>
            </a:r>
            <a:r>
              <a:rPr lang="zh-CN" altLang="en-US" sz="2000" dirty="0">
                <a:latin typeface="华文楷体" panose="02010600040101010101" pitchFamily="2" charset="-122"/>
                <a:ea typeface="华文楷体" panose="02010600040101010101" pitchFamily="2" charset="-122"/>
              </a:rPr>
              <a:t>的左子树</a:t>
            </a:r>
            <a:endParaRPr lang="en-US" altLang="zh-CN" sz="2000" dirty="0">
              <a:latin typeface="华文楷体" panose="02010600040101010101" pitchFamily="2" charset="-122"/>
              <a:ea typeface="华文楷体" panose="02010600040101010101" pitchFamily="2" charset="-122"/>
            </a:endParaRPr>
          </a:p>
          <a:p>
            <a:pPr marL="0" indent="1435100">
              <a:spcBef>
                <a:spcPts val="0"/>
              </a:spcBef>
              <a:buNone/>
            </a:pPr>
            <a:r>
              <a:rPr lang="en-US" sz="2400" dirty="0">
                <a:latin typeface="华文楷体" panose="02010600040101010101" pitchFamily="2" charset="-122"/>
                <a:ea typeface="华文楷体" panose="02010600040101010101" pitchFamily="2" charset="-122"/>
              </a:rPr>
              <a:t>free(s); </a:t>
            </a:r>
          </a:p>
          <a:p>
            <a:pPr marL="0" indent="1254125">
              <a:spcBef>
                <a:spcPts val="0"/>
              </a:spcBef>
              <a:buNone/>
            </a:pPr>
            <a:r>
              <a:rPr lang="en-US" sz="2400" dirty="0">
                <a:latin typeface="华文楷体" panose="02010600040101010101" pitchFamily="2" charset="-122"/>
                <a:ea typeface="华文楷体" panose="02010600040101010101" pitchFamily="2" charset="-122"/>
              </a:rPr>
              <a:t>} </a:t>
            </a:r>
          </a:p>
          <a:p>
            <a:pPr marL="0" indent="268288">
              <a:spcBef>
                <a:spcPts val="0"/>
              </a:spcBef>
              <a:buNone/>
            </a:pPr>
            <a:r>
              <a:rPr lang="en-US" sz="2400" dirty="0">
                <a:latin typeface="华文楷体" panose="02010600040101010101" pitchFamily="2" charset="-122"/>
                <a:ea typeface="华文楷体" panose="02010600040101010101" pitchFamily="2" charset="-122"/>
              </a:rPr>
              <a:t>return TRUE; </a:t>
            </a:r>
          </a:p>
          <a:p>
            <a:pPr marL="0" indent="0">
              <a:spcBef>
                <a:spcPts val="0"/>
              </a:spcBef>
              <a:buNone/>
            </a:pPr>
            <a:r>
              <a:rPr lang="en-US" sz="2400" dirty="0">
                <a:latin typeface="华文楷体" panose="02010600040101010101" pitchFamily="2" charset="-122"/>
                <a:ea typeface="华文楷体" panose="02010600040101010101" pitchFamily="2" charset="-122"/>
              </a:rPr>
              <a:t>} // Delete</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54</a:t>
            </a:fld>
            <a:endParaRPr lang="zh-CN" altLang="en-US"/>
          </a:p>
        </p:txBody>
      </p:sp>
      <p:sp>
        <p:nvSpPr>
          <p:cNvPr id="6" name="流程图: 可选过程 5"/>
          <p:cNvSpPr/>
          <p:nvPr/>
        </p:nvSpPr>
        <p:spPr>
          <a:xfrm>
            <a:off x="8604448" y="0"/>
            <a:ext cx="539552" cy="332656"/>
          </a:xfrm>
          <a:prstGeom prst="flowChartAlternateProcess">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t>9.8</a:t>
            </a:r>
          </a:p>
        </p:txBody>
      </p:sp>
    </p:spTree>
    <p:extLst>
      <p:ext uri="{BB962C8B-B14F-4D97-AF65-F5344CB8AC3E}">
        <p14:creationId xmlns:p14="http://schemas.microsoft.com/office/powerpoint/2010/main" val="300583077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07504" y="21254"/>
            <a:ext cx="8229600" cy="936104"/>
          </a:xfrm>
        </p:spPr>
        <p:txBody>
          <a:bodyPr>
            <a:normAutofit/>
          </a:bodyPr>
          <a:lstStyle/>
          <a:p>
            <a:pPr algn="l"/>
            <a:r>
              <a:rPr lang="en-US" altLang="zh-CN" sz="3200" dirty="0">
                <a:latin typeface="华文新魏" panose="02010800040101010101" pitchFamily="2" charset="-122"/>
                <a:ea typeface="华文新魏" panose="02010800040101010101" pitchFamily="2" charset="-122"/>
              </a:rPr>
              <a:t>BST</a:t>
            </a:r>
            <a:r>
              <a:rPr lang="zh-CN" altLang="en-US" sz="3200" dirty="0">
                <a:latin typeface="华文新魏" panose="02010800040101010101" pitchFamily="2" charset="-122"/>
                <a:ea typeface="华文新魏" panose="02010800040101010101" pitchFamily="2" charset="-122"/>
              </a:rPr>
              <a:t>的查找性能分析</a:t>
            </a:r>
            <a:endParaRPr lang="en-US" sz="3200" dirty="0">
              <a:latin typeface="华文新魏" panose="02010800040101010101" pitchFamily="2" charset="-122"/>
              <a:ea typeface="华文新魏" panose="02010800040101010101" pitchFamily="2" charset="-122"/>
            </a:endParaRPr>
          </a:p>
        </p:txBody>
      </p:sp>
      <p:sp>
        <p:nvSpPr>
          <p:cNvPr id="5" name="内容占位符 4"/>
          <p:cNvSpPr>
            <a:spLocks noGrp="1"/>
          </p:cNvSpPr>
          <p:nvPr>
            <p:ph idx="1"/>
          </p:nvPr>
        </p:nvSpPr>
        <p:spPr>
          <a:xfrm>
            <a:off x="251520" y="908720"/>
            <a:ext cx="8229600" cy="3096344"/>
          </a:xfrm>
        </p:spPr>
        <p:txBody>
          <a:bodyPr>
            <a:normAutofit/>
          </a:bodyPr>
          <a:lstStyle/>
          <a:p>
            <a:r>
              <a:rPr lang="en-US" altLang="en-US" sz="2400" b="1" dirty="0" err="1">
                <a:solidFill>
                  <a:srgbClr val="0000FF"/>
                </a:solidFill>
                <a:latin typeface="华文楷体" panose="02010600040101010101" pitchFamily="2" charset="-122"/>
                <a:ea typeface="华文楷体" panose="02010600040101010101" pitchFamily="2" charset="-122"/>
              </a:rPr>
              <a:t>在随机情况下，n</a:t>
            </a:r>
            <a:r>
              <a:rPr lang="zh-CN" altLang="en-US" sz="2400" b="1" dirty="0">
                <a:solidFill>
                  <a:srgbClr val="0000FF"/>
                </a:solidFill>
                <a:latin typeface="华文楷体" panose="02010600040101010101" pitchFamily="2" charset="-122"/>
                <a:ea typeface="华文楷体" panose="02010600040101010101" pitchFamily="2" charset="-122"/>
              </a:rPr>
              <a:t>个结点的</a:t>
            </a:r>
            <a:r>
              <a:rPr lang="en-US" altLang="en-US" sz="2400" b="1" dirty="0" err="1">
                <a:solidFill>
                  <a:srgbClr val="0000FF"/>
                </a:solidFill>
                <a:latin typeface="华文楷体" panose="02010600040101010101" pitchFamily="2" charset="-122"/>
                <a:ea typeface="华文楷体" panose="02010600040101010101" pitchFamily="2" charset="-122"/>
              </a:rPr>
              <a:t>二叉排序树的平均查找长度</a:t>
            </a:r>
            <a:r>
              <a:rPr lang="en-US" altLang="en-US" sz="2400" b="1" dirty="0">
                <a:solidFill>
                  <a:srgbClr val="0000FF"/>
                </a:solidFill>
                <a:latin typeface="华文楷体" panose="02010600040101010101" pitchFamily="2" charset="-122"/>
                <a:ea typeface="华文楷体" panose="02010600040101010101" pitchFamily="2" charset="-122"/>
              </a:rPr>
              <a:t>(ASL)和㏒</a:t>
            </a:r>
            <a:r>
              <a:rPr lang="en-US" altLang="en-US" sz="2400" b="1" baseline="-25000" dirty="0">
                <a:solidFill>
                  <a:srgbClr val="0000FF"/>
                </a:solidFill>
                <a:latin typeface="华文楷体" panose="02010600040101010101" pitchFamily="2" charset="-122"/>
                <a:ea typeface="华文楷体" panose="02010600040101010101" pitchFamily="2" charset="-122"/>
              </a:rPr>
              <a:t>2</a:t>
            </a:r>
            <a:r>
              <a:rPr lang="en-US" altLang="en-US" sz="2400" b="1" dirty="0">
                <a:solidFill>
                  <a:srgbClr val="0000FF"/>
                </a:solidFill>
                <a:latin typeface="华文楷体" panose="02010600040101010101" pitchFamily="2" charset="-122"/>
                <a:ea typeface="华文楷体" panose="02010600040101010101" pitchFamily="2" charset="-122"/>
              </a:rPr>
              <a:t>n (</a:t>
            </a:r>
            <a:r>
              <a:rPr lang="en-US" altLang="en-US" sz="2400" b="1" dirty="0" err="1">
                <a:solidFill>
                  <a:srgbClr val="0000FF"/>
                </a:solidFill>
                <a:latin typeface="华文楷体" panose="02010600040101010101" pitchFamily="2" charset="-122"/>
                <a:ea typeface="华文楷体" panose="02010600040101010101" pitchFamily="2" charset="-122"/>
              </a:rPr>
              <a:t>树的深度</a:t>
            </a:r>
            <a:r>
              <a:rPr lang="en-US" altLang="en-US" sz="2400" b="1" dirty="0">
                <a:solidFill>
                  <a:srgbClr val="0000FF"/>
                </a:solidFill>
                <a:latin typeface="华文楷体" panose="02010600040101010101" pitchFamily="2" charset="-122"/>
                <a:ea typeface="华文楷体" panose="02010600040101010101" pitchFamily="2" charset="-122"/>
              </a:rPr>
              <a:t>)</a:t>
            </a:r>
            <a:r>
              <a:rPr lang="en-US" altLang="en-US" sz="2400" b="1" dirty="0" err="1">
                <a:solidFill>
                  <a:srgbClr val="0000FF"/>
                </a:solidFill>
                <a:latin typeface="华文楷体" panose="02010600040101010101" pitchFamily="2" charset="-122"/>
                <a:ea typeface="华文楷体" panose="02010600040101010101" pitchFamily="2" charset="-122"/>
              </a:rPr>
              <a:t>是等数量级的</a:t>
            </a:r>
            <a:endParaRPr lang="en-US" altLang="en-US" sz="2400" b="1" dirty="0">
              <a:solidFill>
                <a:srgbClr val="0000FF"/>
              </a:solidFill>
              <a:latin typeface="华文楷体" panose="02010600040101010101" pitchFamily="2" charset="-122"/>
              <a:ea typeface="华文楷体" panose="02010600040101010101" pitchFamily="2" charset="-122"/>
            </a:endParaRPr>
          </a:p>
          <a:p>
            <a:pPr lvl="1"/>
            <a:r>
              <a:rPr lang="en-US" altLang="en-US" sz="2400" b="1" dirty="0" err="1">
                <a:solidFill>
                  <a:srgbClr val="0000FF"/>
                </a:solidFill>
                <a:latin typeface="华文楷体" panose="02010600040101010101" pitchFamily="2" charset="-122"/>
                <a:ea typeface="华文楷体" panose="02010600040101010101" pitchFamily="2" charset="-122"/>
              </a:rPr>
              <a:t>随机</a:t>
            </a:r>
            <a:r>
              <a:rPr lang="zh-CN" altLang="en-US" sz="2400" b="1" dirty="0">
                <a:solidFill>
                  <a:srgbClr val="0000FF"/>
                </a:solidFill>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各个元素的查找概率相同</a:t>
            </a:r>
            <a:endParaRPr lang="en-US" altLang="en-US" sz="2400" b="1" dirty="0">
              <a:solidFill>
                <a:srgbClr val="0000FF"/>
              </a:solidFill>
              <a:latin typeface="华文楷体" panose="02010600040101010101" pitchFamily="2" charset="-122"/>
              <a:ea typeface="华文楷体" panose="02010600040101010101" pitchFamily="2" charset="-122"/>
            </a:endParaRPr>
          </a:p>
          <a:p>
            <a:pPr>
              <a:spcBef>
                <a:spcPts val="1800"/>
              </a:spcBef>
            </a:pPr>
            <a:r>
              <a:rPr lang="zh-CN" altLang="en-US" sz="2400" dirty="0">
                <a:latin typeface="华文楷体" panose="02010600040101010101" pitchFamily="2" charset="-122"/>
                <a:ea typeface="华文楷体" panose="02010600040101010101" pitchFamily="2" charset="-122"/>
              </a:rPr>
              <a:t>成功的查找次数不会超过二叉树的深度，而具有</a:t>
            </a:r>
            <a:r>
              <a:rPr lang="en-US" altLang="zh-CN" sz="2400" dirty="0">
                <a:latin typeface="华文楷体" panose="02010600040101010101" pitchFamily="2" charset="-122"/>
                <a:ea typeface="华文楷体" panose="02010600040101010101" pitchFamily="2" charset="-122"/>
              </a:rPr>
              <a:t>n</a:t>
            </a:r>
            <a:r>
              <a:rPr lang="zh-CN" altLang="en-US" sz="2400" dirty="0">
                <a:latin typeface="华文楷体" panose="02010600040101010101" pitchFamily="2" charset="-122"/>
                <a:ea typeface="华文楷体" panose="02010600040101010101" pitchFamily="2" charset="-122"/>
              </a:rPr>
              <a:t>个结点的二叉排序树的深度，最好为</a:t>
            </a:r>
            <a:r>
              <a:rPr lang="en-US" altLang="zh-CN" sz="2400" dirty="0">
                <a:latin typeface="华文楷体" panose="02010600040101010101" pitchFamily="2" charset="-122"/>
                <a:ea typeface="华文楷体" panose="02010600040101010101" pitchFamily="2" charset="-122"/>
              </a:rPr>
              <a:t>log</a:t>
            </a:r>
            <a:r>
              <a:rPr lang="en-US" altLang="zh-CN" sz="2400" baseline="-25000" dirty="0">
                <a:latin typeface="华文楷体" panose="02010600040101010101" pitchFamily="2" charset="-122"/>
                <a:ea typeface="华文楷体" panose="02010600040101010101" pitchFamily="2" charset="-122"/>
              </a:rPr>
              <a:t>2</a:t>
            </a:r>
            <a:r>
              <a:rPr lang="en-US" altLang="zh-CN" sz="2400" dirty="0">
                <a:latin typeface="华文楷体" panose="02010600040101010101" pitchFamily="2" charset="-122"/>
                <a:ea typeface="华文楷体" panose="02010600040101010101" pitchFamily="2" charset="-122"/>
              </a:rPr>
              <a:t>n</a:t>
            </a:r>
            <a:r>
              <a:rPr lang="zh-CN" altLang="en-US" sz="2400" dirty="0">
                <a:latin typeface="华文楷体" panose="02010600040101010101" pitchFamily="2" charset="-122"/>
                <a:ea typeface="华文楷体" panose="02010600040101010101" pitchFamily="2" charset="-122"/>
              </a:rPr>
              <a:t>，最坏为</a:t>
            </a:r>
            <a:r>
              <a:rPr lang="en-US" altLang="zh-CN" sz="2400" dirty="0">
                <a:latin typeface="华文楷体" panose="02010600040101010101" pitchFamily="2" charset="-122"/>
                <a:ea typeface="华文楷体" panose="02010600040101010101" pitchFamily="2" charset="-122"/>
              </a:rPr>
              <a:t>n</a:t>
            </a:r>
            <a:r>
              <a:rPr lang="zh-CN" altLang="en-US" sz="2400" dirty="0">
                <a:latin typeface="华文楷体" panose="02010600040101010101" pitchFamily="2" charset="-122"/>
                <a:ea typeface="华文楷体" panose="02010600040101010101" pitchFamily="2" charset="-122"/>
              </a:rPr>
              <a:t>。因此，二叉排序树查找的最好时间复杂度为</a:t>
            </a:r>
            <a:r>
              <a:rPr lang="en-US" altLang="zh-CN" sz="2400" dirty="0">
                <a:latin typeface="华文楷体" panose="02010600040101010101" pitchFamily="2" charset="-122"/>
                <a:ea typeface="华文楷体" panose="02010600040101010101" pitchFamily="2" charset="-122"/>
              </a:rPr>
              <a:t>O(log</a:t>
            </a:r>
            <a:r>
              <a:rPr lang="en-US" altLang="zh-CN" sz="2400" baseline="-25000" dirty="0">
                <a:latin typeface="华文楷体" panose="02010600040101010101" pitchFamily="2" charset="-122"/>
                <a:ea typeface="华文楷体" panose="02010600040101010101" pitchFamily="2" charset="-122"/>
              </a:rPr>
              <a:t>2</a:t>
            </a:r>
            <a:r>
              <a:rPr lang="en-US" altLang="zh-CN" sz="2400" dirty="0">
                <a:latin typeface="华文楷体" panose="02010600040101010101" pitchFamily="2" charset="-122"/>
                <a:ea typeface="华文楷体" panose="02010600040101010101" pitchFamily="2" charset="-122"/>
              </a:rPr>
              <a:t>n)</a:t>
            </a:r>
            <a:r>
              <a:rPr lang="zh-CN" altLang="en-US" sz="2400" dirty="0">
                <a:latin typeface="华文楷体" panose="02010600040101010101" pitchFamily="2" charset="-122"/>
                <a:ea typeface="华文楷体" panose="02010600040101010101" pitchFamily="2" charset="-122"/>
              </a:rPr>
              <a:t>，最坏的时间复杂度为</a:t>
            </a:r>
            <a:r>
              <a:rPr lang="en-US" altLang="zh-CN" sz="2400" dirty="0">
                <a:latin typeface="华文楷体" panose="02010600040101010101" pitchFamily="2" charset="-122"/>
                <a:ea typeface="华文楷体" panose="02010600040101010101" pitchFamily="2" charset="-122"/>
              </a:rPr>
              <a:t>O(n)</a:t>
            </a:r>
            <a:endParaRPr lang="en-US" sz="2400" dirty="0">
              <a:solidFill>
                <a:srgbClr val="0000FF"/>
              </a:solidFill>
              <a:latin typeface="华文楷体" panose="02010600040101010101" pitchFamily="2" charset="-122"/>
              <a:ea typeface="华文楷体" panose="02010600040101010101" pitchFamily="2" charset="-122"/>
            </a:endParaRPr>
          </a:p>
        </p:txBody>
      </p:sp>
      <p:sp>
        <p:nvSpPr>
          <p:cNvPr id="3" name="灯片编号占位符 2"/>
          <p:cNvSpPr>
            <a:spLocks noGrp="1"/>
          </p:cNvSpPr>
          <p:nvPr>
            <p:ph type="sldNum" sz="quarter" idx="12"/>
          </p:nvPr>
        </p:nvSpPr>
        <p:spPr/>
        <p:txBody>
          <a:bodyPr/>
          <a:lstStyle/>
          <a:p>
            <a:fld id="{0C913308-F349-4B6D-A68A-DD1791B4A57B}" type="slidenum">
              <a:rPr lang="zh-CN" altLang="en-US" smtClean="0"/>
              <a:pPr/>
              <a:t>55</a:t>
            </a:fld>
            <a:endParaRPr lang="zh-CN" altLang="en-US"/>
          </a:p>
        </p:txBody>
      </p:sp>
    </p:spTree>
    <p:extLst>
      <p:ext uri="{BB962C8B-B14F-4D97-AF65-F5344CB8AC3E}">
        <p14:creationId xmlns:p14="http://schemas.microsoft.com/office/powerpoint/2010/main" val="4873757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7300</TotalTime>
  <Words>5240</Words>
  <Application>Microsoft Office PowerPoint</Application>
  <PresentationFormat>全屏显示(4:3)</PresentationFormat>
  <Paragraphs>963</Paragraphs>
  <Slides>55</Slides>
  <Notes>34</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55</vt:i4>
      </vt:variant>
    </vt:vector>
  </HeadingPairs>
  <TitlesOfParts>
    <vt:vector size="69" baseType="lpstr">
      <vt:lpstr>华文行楷</vt:lpstr>
      <vt:lpstr>华文琥珀</vt:lpstr>
      <vt:lpstr>华文楷体</vt:lpstr>
      <vt:lpstr>华文新魏</vt:lpstr>
      <vt:lpstr>楷体_GB2312</vt:lpstr>
      <vt:lpstr>隶书</vt:lpstr>
      <vt:lpstr>宋体</vt:lpstr>
      <vt:lpstr>Arial</vt:lpstr>
      <vt:lpstr>Calibri</vt:lpstr>
      <vt:lpstr>Cambria Math</vt:lpstr>
      <vt:lpstr>Symbol</vt:lpstr>
      <vt:lpstr>Times New Roman</vt:lpstr>
      <vt:lpstr>Wingdings</vt:lpstr>
      <vt:lpstr>Office 主题</vt:lpstr>
      <vt:lpstr>第9章 查找/搜索</vt:lpstr>
      <vt:lpstr>目录</vt:lpstr>
      <vt:lpstr>1 基本概念</vt:lpstr>
      <vt:lpstr>基本概念(1)</vt:lpstr>
      <vt:lpstr>基本概念(2)</vt:lpstr>
      <vt:lpstr>查找方法评价指标</vt:lpstr>
      <vt:lpstr>2 静态查找表</vt:lpstr>
      <vt:lpstr>PowerPoint 演示文稿</vt:lpstr>
      <vt:lpstr>顺序查找-算法分析</vt:lpstr>
      <vt:lpstr>顺序查找-算法分析（1）</vt:lpstr>
      <vt:lpstr>顺序查找-改进</vt:lpstr>
      <vt:lpstr>有序表的查找</vt:lpstr>
      <vt:lpstr>折半（二分）查找-算法思想</vt:lpstr>
      <vt:lpstr>折半（二分）查找- 算法实现</vt:lpstr>
      <vt:lpstr>折半（二分）查找- 算法运行实例I</vt:lpstr>
      <vt:lpstr>PowerPoint 演示文稿</vt:lpstr>
      <vt:lpstr>折半（二分）查找-算法分析-I</vt:lpstr>
      <vt:lpstr>PowerPoint 演示文稿</vt:lpstr>
      <vt:lpstr>折半（二分）查找算法分析-算法分析-查找实例</vt:lpstr>
      <vt:lpstr>折半（二分）查找算法分析- 优缺点比较</vt:lpstr>
      <vt:lpstr>2.3 Fibonacci查找</vt:lpstr>
      <vt:lpstr>Fibonacci查找-算法思想</vt:lpstr>
      <vt:lpstr>有序表的查找的进一步分析</vt:lpstr>
      <vt:lpstr>2.3 索引顺序查找/分块查找</vt:lpstr>
      <vt:lpstr>索引顺序查找-算法实现</vt:lpstr>
      <vt:lpstr>索引顺序查找- 算法实现</vt:lpstr>
      <vt:lpstr>索引顺序查找-算法分析</vt:lpstr>
      <vt:lpstr>查找方法比较</vt:lpstr>
      <vt:lpstr>2.4 静态树表/次优查找树的查找</vt:lpstr>
      <vt:lpstr>算法思路</vt:lpstr>
      <vt:lpstr>次优查找树的构建</vt:lpstr>
      <vt:lpstr>∆P的计算</vt:lpstr>
      <vt:lpstr>递归构造次优查找树T</vt:lpstr>
      <vt:lpstr>次优查找树构造示例</vt:lpstr>
      <vt:lpstr>静态查找表的查找</vt:lpstr>
      <vt:lpstr>3 动态查找表的ADT</vt:lpstr>
      <vt:lpstr>查找表的组织方式</vt:lpstr>
      <vt:lpstr>3.1 二叉排序树(Binary Sort Tree, BST)</vt:lpstr>
      <vt:lpstr>BST树的顺序性</vt:lpstr>
      <vt:lpstr>二叉排序树查找举例</vt:lpstr>
      <vt:lpstr>BST的查找算法-I</vt:lpstr>
      <vt:lpstr>二叉排序树查找举例</vt:lpstr>
      <vt:lpstr>BST的插入</vt:lpstr>
      <vt:lpstr>BST的查找算法-II</vt:lpstr>
      <vt:lpstr>BST的插入算法</vt:lpstr>
      <vt:lpstr>BST的插入示例</vt:lpstr>
      <vt:lpstr>BST上结点的删除-I</vt:lpstr>
      <vt:lpstr>BST上结点的删除</vt:lpstr>
      <vt:lpstr>BST上结点的删除-II</vt:lpstr>
      <vt:lpstr>BST上结点的删除-III</vt:lpstr>
      <vt:lpstr>BST上结点的删除-IV</vt:lpstr>
      <vt:lpstr>BST上结点的删除-V</vt:lpstr>
      <vt:lpstr>算法实现</vt:lpstr>
      <vt:lpstr>PowerPoint 演示文稿</vt:lpstr>
      <vt:lpstr>BST的查找性能分析</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Beihong</dc:creator>
  <cp:lastModifiedBy>Windows 用户</cp:lastModifiedBy>
  <cp:revision>523</cp:revision>
  <cp:lastPrinted>2015-09-24T12:11:53Z</cp:lastPrinted>
  <dcterms:created xsi:type="dcterms:W3CDTF">2015-07-19T09:35:25Z</dcterms:created>
  <dcterms:modified xsi:type="dcterms:W3CDTF">2019-05-24T04:32:06Z</dcterms:modified>
</cp:coreProperties>
</file>